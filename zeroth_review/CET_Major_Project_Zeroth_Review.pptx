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4d1e7c-a0b5-7d92-b2cc-8133f0b88a09}">
          <p14:sldIdLst>
            <p14:sldId id="256"/>
            <p14:sldId id="257"/>
          </p14:sldIdLst>
        </p14:section>
        <p14:section name="Introduction" id="{dff25afb-105f-ccd4-6823-a578babb28c7}">
          <p14:sldIdLst>
            <p14:sldId id="258"/>
            <p14:sldId id="259"/>
          </p14:sldIdLst>
        </p14:section>
        <p14:section name="Literature" id="{60a1b741-d327-deb0-e780-f551d7455390}">
          <p14:sldIdLst>
            <p14:sldId id="260"/>
            <p14:sldId id="261"/>
            <p14:sldId id="262"/>
            <p14:sldId id="263"/>
          </p14:sldIdLst>
        </p14:section>
        <p14:section name="Gaps" id="{46f5bda8-2351-5b4e-3d6f-d5bd2f3fbca4}">
          <p14:sldIdLst>
            <p14:sldId id="264"/>
            <p14:sldId id="265"/>
          </p14:sldIdLst>
        </p14:section>
        <p14:section name="Objectives" id="{8437a04f-228c-e717-7f23-463ef1819fc4}">
          <p14:sldIdLst>
            <p14:sldId id="266"/>
            <p14:sldId id="267"/>
          </p14:sldIdLst>
        </p14:section>
        <p14:section name="SDG" id="{c2922f44-cdaf-3ae5-8ee6-b690a1e95728}">
          <p14:sldIdLst>
            <p14:sldId id="268"/>
          </p14:sldIdLst>
        </p14:section>
        <p14:section name="Plan" id="{55d4e97a-b572-93e2-3b7a-fa2417d07be0}">
          <p14:sldIdLst>
            <p14:sldId id="269"/>
            <p14:sldId id="270"/>
            <p14:sldId id="271"/>
          </p14:sldIdLst>
        </p14:section>
        <p14:section name="Close" id="{109e2bf5-c7f7-7922-e3af-66736c9a2dd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D"/>
                </a:solidFill>
                <a:latin typeface="+mn-lt"/>
              </a:defRPr>
            </a:pPr>
            <a:r>
              <a:rPr sz="1400" b="0" i="0" u="none" strike="noStrike">
                <a:solidFill>
                  <a:srgbClr val="0F2A3D"/>
                </a:solidFill>
                <a:latin typeface="+mn-lt"/>
              </a:rPr>
              <a:t>Branch (A) minus matched no-branch control (G), accuracy points</a:t>
            </a:r>
          </a:p>
        </c:rich>
      </c:tx>
      <c:layout/>
      <c:overlay val="0"/>
    </c:title>
    <c:autoTitleDeleted val="0"/>
    <c:plotArea>
      <c:layout/>
      <c:barChart>
        <c:barDir val="col"/>
        <c:grouping val="clustered"/>
        <c:varyColors val="0"/>
        <c:ser>
          <c:idx val="0"/>
          <c:order val="0"/>
          <c:tx>
            <c:strRef>
              <c:f>Sheet1!$B$1</c:f>
              <c:strCache>
                <c:ptCount val="1"/>
                <c:pt idx="0">
                  <c:v>CIFAR-100</c:v>
                </c:pt>
              </c:strCache>
            </c:strRef>
          </c:tx>
          <c:spPr>
            <a:solidFill>
              <a:srgbClr val="1B7F8C"/>
            </a:solidFill>
            <a:effectLst/>
          </c:spPr>
          <c:invertIfNegative val="0"/>
          <c:dLbls>
            <c:numFmt formatCode="+0.00;-0.00" sourceLinked="0"/>
            <c:txPr>
              <a:bodyPr/>
              <a:lstStyle/>
              <a:p>
                <a:pPr>
                  <a:defRPr b="0" i="0" strike="noStrike" sz="1200" u="none">
                    <a:solidFill>
                      <a:srgbClr val="1A2530"/>
                    </a:solidFill>
                    <a:latin typeface="+mn-lt"/>
                  </a:defRPr>
                </a:pPr>
              </a:p>
            </c:txPr>
            <c:showLegendKey val="0"/>
            <c:showVal val="1"/>
            <c:showCatName val="0"/>
            <c:showSerName val="0"/>
            <c:showPercent val="0"/>
            <c:showBubbleSize val="0"/>
            <c:showLeaderLines val="0"/>
          </c:dLbls>
          <c:cat>
            <c:multiLvlStrRef>
              <c:f>Sheet1!$A$2:$A$4</c:f>
              <c:multiLvlStrCache>
                <c:ptCount val="3"/>
                <c:lvl>
                  <c:pt idx="0">
                    <c:v>Locked LR 5e-4
(confirmatory)</c:v>
                  </c:pt>
                  <c:pt idx="1">
                    <c:v>Each arm at selected LR
(exploratory)</c:v>
                  </c:pt>
                  <c:pt idx="2">
                    <c:v>Common LR 2.5e-4
(exploratory)</c:v>
                  </c:pt>
                </c:lvl>
              </c:multiLvlStrCache>
            </c:multiLvlStrRef>
          </c:cat>
          <c:val>
            <c:numRef>
              <c:f>Sheet1!$B$2:$B$4</c:f>
              <c:numCache>
                <c:formatCode>General</c:formatCode>
                <c:ptCount val="3"/>
                <c:pt idx="0">
                  <c:v>-1.16</c:v>
                </c:pt>
                <c:pt idx="1">
                  <c:v>0.39</c:v>
                </c:pt>
                <c:pt idx="2">
                  <c:v>0.76</c:v>
                </c:pt>
              </c:numCache>
            </c:numRef>
          </c:val>
        </c:ser>
        <c:ser>
          <c:idx val="1"/>
          <c:order val="1"/>
          <c:tx>
            <c:strRef>
              <c:f>Sheet1!$C$1</c:f>
              <c:strCache>
                <c:ptCount val="1"/>
                <c:pt idx="0">
                  <c:v>Tiny-ImageNet</c:v>
                </c:pt>
              </c:strCache>
            </c:strRef>
          </c:tx>
          <c:spPr>
            <a:solidFill>
              <a:srgbClr val="F4A261"/>
            </a:solidFill>
            <a:effectLst/>
          </c:spPr>
          <c:invertIfNegative val="0"/>
          <c:dLbls>
            <c:numFmt formatCode="+0.00;-0.00" sourceLinked="0"/>
            <c:txPr>
              <a:bodyPr/>
              <a:lstStyle/>
              <a:p>
                <a:pPr>
                  <a:defRPr b="0" i="0" strike="noStrike" sz="1200" u="none">
                    <a:solidFill>
                      <a:srgbClr val="1A2530"/>
                    </a:solidFill>
                    <a:latin typeface="+mn-lt"/>
                  </a:defRPr>
                </a:pPr>
              </a:p>
            </c:txPr>
            <c:showLegendKey val="0"/>
            <c:showVal val="1"/>
            <c:showCatName val="0"/>
            <c:showSerName val="0"/>
            <c:showPercent val="0"/>
            <c:showBubbleSize val="0"/>
            <c:showLeaderLines val="0"/>
          </c:dLbls>
          <c:cat>
            <c:multiLvlStrRef>
              <c:f>Sheet1!$A$2:$A$4</c:f>
              <c:multiLvlStrCache>
                <c:ptCount val="3"/>
                <c:lvl>
                  <c:pt idx="0">
                    <c:v>Locked LR 5e-4
(confirmatory)</c:v>
                  </c:pt>
                  <c:pt idx="1">
                    <c:v>Each arm at selected LR
(exploratory)</c:v>
                  </c:pt>
                  <c:pt idx="2">
                    <c:v>Common LR 2.5e-4
(exploratory)</c:v>
                  </c:pt>
                </c:lvl>
              </c:multiLvlStrCache>
            </c:multiLvlStrRef>
          </c:cat>
          <c:val>
            <c:numRef>
              <c:f>Sheet1!$C$2:$C$4</c:f>
              <c:numCache>
                <c:formatCode>General</c:formatCode>
                <c:ptCount val="3"/>
                <c:pt idx="0">
                  <c:v>-1.67</c:v>
                </c:pt>
                <c:pt idx="1">
                  <c:v>-1.04</c:v>
                </c:pt>
                <c:pt idx="2">
                  <c:v>0.14</c:v>
                </c:pt>
              </c:numCache>
            </c:numRef>
          </c:val>
        </c:ser>
        <c:dLbls>
          <c:numFmt formatCode="+0.00;-0.00" sourceLinked="0"/>
          <c:txPr>
            <a:bodyPr/>
            <a:lstStyle/>
            <a:p>
              <a:pPr>
                <a:defRPr b="0" i="0" strike="noStrike" sz="1200" u="none">
                  <a:solidFill>
                    <a:srgbClr val="1A25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7"/>
                </a:solidFill>
                <a:latin typeface="+mn-lt"/>
              </a:defRPr>
            </a:pPr>
            <a:endParaRPr lang="en-US"/>
          </a:p>
        </c:txPr>
        <c:crossAx val="2094734552"/>
        <c:crosses val="autoZero"/>
        <c:auto val="1"/>
        <c:lblAlgn val="ctr"/>
        <c:noMultiLvlLbl val="1"/>
      </c:catAx>
      <c:valAx>
        <c:axId val="2094734552"/>
        <c:scaling>
          <c:orientation val="minMax"/>
          <c:max val="1.5"/>
          <c:min val="-2.5"/>
        </c:scaling>
        <c:delete val="0"/>
        <c:axPos val="l"/>
        <c:majorGridlines>
          <c:spPr>
            <a:ln w="6350" cap="flat">
              <a:solidFill>
                <a:srgbClr val="D3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7"/>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1A25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guide. This is the Zeroth Review for the Major Project 2026-27. We are proposing to extend our minor project, CET-ViT, into a research-oriented major project. Note the framing: it is an extension, and it is built on what we found when we audited our own minor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at a high level: the minor project proposed learned token grouping; our own audit showed the headline margin does not survive a compute-matched control; so the major project asks what grouping contributes beyond extra capacity. Four contributions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the highlighted V-CEO router is the only learned grouping step. The third card is the key framing: we audited ourselves, and that audit defines this major project. The causal-emergence framing of the original submission did not survive verification and is not part of this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status. Only the locked-rate bars are confirmatory, and the locked rate is not the branch's own selected rate. At selected rates the CIFAR-100 difference is +0.39 with an interval that includes zero; at the common rate it is above zero only. Tiny-ImageNet is below the control at selected rates, and neither arm was swept there. The +3.91 over Swin in the minor paper compared against a single-seed baseline trained without Mixup; the audit attributes it to no single cause. Take-away: the sign depends on learning rate and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is organised around the question we want to answer. Learned grouping is the largest cluster because that is the family CET-ViT belongs to. Evaluation rigour is deliberately included: the same literature that shows how training recipe and tuning change rankings is what exposed the weakness of our own minor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hierarchies and token-reduction methods. The recurring gap: these target inference efficiency on pretrained backbones, discard tokens irreversibly, and are not tested against capacity controls. Our from-scratch ToMe number was single-seed and should not be read as a verdict on ToMe. We could not obtain a stable LTM implementation, so it remains an unverified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Learned grouping family. TokenLearner and PatchMerger are the closest prior art and were not compared in the minor project. Registers is the key control: extra input-independent tokens alone help, so any benefit of routing must be shown beyond added tokens. Slot Attention, GroupViT and DINOSAUR bracket the design space by iteration, text supervision and pretrained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side. DINO shows regions emerging qualitatively; ImageNet-S supplies a mask protocol. Hoel's theory motivated the minor project but was never faithfully operationalised, and we withdrew that framing. Steiner, Lucic, Musgrave and Bouthillier are the methodological basis for per-arm tuning, equal budgets and multiple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limitations identified from the survey, each mapped to a research objective. G1 and G4 are the ones we most need to own: our minor project had no capacity-matched control and used single-seed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is deliberately narrow and falsifiable. H1 is that learned routing beats capacity controls; we state in advance what result would refute it, using the same 0.5-point margin as the audit. RQ4 is methodological: how many seeds and how much tuning before the conclusion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an epic. RO1 and RO5 are enabling objectives (corrected release, registered protocol, publication); RO2 to RO4 are the scientific core. The right column is the success criterion, stated so a panel can check it at Review I and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A is the minor-project branch. R replaces the data-dependent assignment with learned input-independent slots, the register-style control. X keeps the routing structure but freezes a random projection. B2 uses fixed block routing. G spends the same capacity in the backbone. S is a MAC-matched Swin. Evaluation protocol follows the lessons of Lucic, Musgrave and Bouthillier: equal tuning budgets, multiple seeds, test set touched once. Compute estimate: about 200 runs for RO2 at the audit's mean of roughly 1 H100-hour per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9 is the primary alignment: strengthening scientific research and open infrastructure. SDG 12 and 13 are supporting and we keep the claims modest: we do not claim to measure emissions reductions, only to report compute honestly and avoid wasted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follow the SRM schedule: Review 0 on 6 to 10 November, changes window 6 to 13 January, Review I on 23 to 30 January, Review II on 2 to 9 March, Review III on 20 to 24 April, report 28 April to 6 May, viva 7 to 15 May. WP1 and WP2 run first because the corrected release and the registered plan must exist before the final runs. ImageNet-100 (WP4) is the compute risk and will be reduced to three arms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TRL is a research-project TRL: we move from an experimental proof of concept to a validated laboratory-grade harness. Publication is mandatory at SRM, so Paper 1, which already exists as draft v13, goes out first after the co-authors and guide have reviewed the erratum.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is the main practical risk, and the null-result risk is the main scientific one. We address the second by registering the plan so a null result is still a defensible, publishable answer to RQ1.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a proposed split so that individual contribution can be assessed at each review. The next 30 days all precede Review I, and the first item, sharing the erratum with the guide and co-authors, is the gate for everything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requested: approval to extend the minor project, subject to the guide's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0058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063240"/>
            <a:ext cx="6583680" cy="1188720"/>
          </a:xfrm>
          <a:prstGeom prst="rect">
            <a:avLst/>
          </a:prstGeom>
          <a:noFill/>
          <a:ln/>
        </p:spPr>
        <p:txBody>
          <a:bodyPr wrap="square" rtlCol="0"/>
          <a:lstStyle>
            <a:lvl1pPr algn="l" indent="0" marL="0">
              <a:buNone/>
              <a:defRPr lang="en-US" sz="2400" dirty="0">
                <a:solidFill>
                  <a:schemeClr val="bg2"/>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CET Major Project  |  Zeroth Review  |  SRMIST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6949440" cy="365760"/>
          </a:xfrm>
          <a:prstGeom prst="rect">
            <a:avLst/>
          </a:prstGeom>
          <a:noFill/>
          <a:ln/>
        </p:spPr>
        <p:txBody>
          <a:bodyPr wrap="square" lIns="0" tIns="0" rIns="0" bIns="0" rtlCol="0" anchor="t"/>
          <a:lstStyle/>
          <a:p>
            <a:pPr indent="0" marL="0">
              <a:buNone/>
            </a:pPr>
            <a:r>
              <a:rPr lang="en-US" sz="1400" b="1" spc="300" kern="0" dirty="0">
                <a:solidFill>
                  <a:srgbClr val="F4A261"/>
                </a:solidFill>
                <a:latin typeface="Calibri" pitchFamily="34" charset="0"/>
                <a:ea typeface="Calibri" pitchFamily="34" charset="-122"/>
                <a:cs typeface="Calibri" pitchFamily="34" charset="-120"/>
              </a:rPr>
              <a:t>MAJOR PROJECT 2026-27  |  ZEROTH REVIEW</a:t>
            </a:r>
            <a:endParaRPr lang="en-US" sz="1400" dirty="0"/>
          </a:p>
        </p:txBody>
      </p:sp>
      <p:sp>
        <p:nvSpPr>
          <p:cNvPr id="3" name="Text 0"/>
          <p:cNvSpPr/>
          <p:nvPr>
            <p:ph idx="100" type="title" hasCustomPrompt="1"/>
          </p:nvPr>
        </p:nvSpPr>
        <p:spPr>
          <a:xfrm>
            <a:off x="731520" y="2011680"/>
            <a:ext cx="6949440" cy="100584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Beyond CET-ViT</a:t>
            </a:r>
            <a:endParaRPr lang="en-US" sz="5400" dirty="0"/>
          </a:p>
        </p:txBody>
      </p:sp>
      <p:sp>
        <p:nvSpPr>
          <p:cNvPr id="4" name="Text 0"/>
          <p:cNvSpPr/>
          <p:nvPr>
            <p:ph idx="101" type="body" hasCustomPrompt="1"/>
          </p:nvPr>
        </p:nvSpPr>
        <p:spPr>
          <a:xfrm>
            <a:off x="731520" y="3063240"/>
            <a:ext cx="6583680" cy="1188720"/>
          </a:xfrm>
          <a:prstGeom prst="rect">
            <a:avLst/>
          </a:prstGeom>
          <a:noFill/>
          <a:ln/>
        </p:spPr>
        <p:txBody>
          <a:bodyPr wrap="square" lIns="0" tIns="0" rIns="0" bIns="0" rtlCol="0" anchor="t"/>
          <a:lstStyle/>
          <a:p>
            <a:pPr algn="l" indent="0" marL="0">
              <a:buNone/>
            </a:pPr>
            <a:r>
              <a:rPr lang="en-US" sz="2400" dirty="0">
                <a:solidFill>
                  <a:schemeClr val="bg2"/>
                </a:solidFill>
                <a:latin typeface="Calibri" pitchFamily="34" charset="0"/>
                <a:ea typeface="Calibri" pitchFamily="34" charset="-122"/>
                <a:cs typeface="Calibri" pitchFamily="34" charset="-120"/>
              </a:rPr>
              <a:t>A capacity-controlled study of learned token grouping in vision transformers</a:t>
            </a:r>
            <a:endParaRPr lang="en-US" sz="2400" dirty="0"/>
          </a:p>
        </p:txBody>
      </p:sp>
      <p:sp>
        <p:nvSpPr>
          <p:cNvPr id="5" name="Team block"/>
          <p:cNvSpPr txBox="1"/>
          <p:nvPr/>
        </p:nvSpPr>
        <p:spPr>
          <a:xfrm>
            <a:off x="731520" y="4572000"/>
            <a:ext cx="7132320" cy="1463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Dhruv Jyoti Das  |  Raghav Sharma</a:t>
            </a:r>
            <a:endParaRPr lang="en-US" sz="1400" dirty="0"/>
          </a:p>
          <a:p>
            <a:pPr indent="0" marL="0">
              <a:buNone/>
            </a:pPr>
            <a:r>
              <a:rPr lang="en-US" sz="1600" dirty="0">
                <a:solidFill>
                  <a:srgbClr val="CADCE4"/>
                </a:solidFill>
                <a:latin typeface="Calibri" pitchFamily="34" charset="0"/>
                <a:ea typeface="Calibri" pitchFamily="34" charset="-122"/>
                <a:cs typeface="Calibri" pitchFamily="34" charset="-120"/>
              </a:rPr>
              <a:t>Guide: Dr. Eliazer M, Associate Professor</a:t>
            </a:r>
            <a:endParaRPr lang="en-US" sz="1400" dirty="0"/>
          </a:p>
          <a:p>
            <a:pPr indent="0" marL="0">
              <a:buNone/>
            </a:pPr>
            <a:r>
              <a:rPr lang="en-US" sz="1400" dirty="0">
                <a:solidFill>
                  <a:srgbClr val="CADCE4"/>
                </a:solidFill>
                <a:latin typeface="Calibri" pitchFamily="34" charset="0"/>
                <a:ea typeface="Calibri" pitchFamily="34" charset="-122"/>
                <a:cs typeface="Calibri" pitchFamily="34" charset="-120"/>
              </a:rPr>
              <a:t>Department of Computing Technologies, School of Computing</a:t>
            </a:r>
            <a:endParaRPr lang="en-US" sz="1400" dirty="0"/>
          </a:p>
          <a:p>
            <a:pPr indent="0" marL="0">
              <a:buNone/>
            </a:pPr>
            <a:r>
              <a:rPr lang="en-US" sz="1400" dirty="0">
                <a:solidFill>
                  <a:srgbClr val="CADCE4"/>
                </a:solidFill>
                <a:latin typeface="Calibri" pitchFamily="34" charset="0"/>
                <a:ea typeface="Calibri" pitchFamily="34" charset="-122"/>
                <a:cs typeface="Calibri" pitchFamily="34" charset="-120"/>
              </a:rPr>
              <a:t>21CSP401L Major Project  |  Research-oriented  |  Extension of minor project</a:t>
            </a:r>
            <a:endParaRPr lang="en-US" sz="1400" dirty="0"/>
          </a:p>
        </p:txBody>
      </p:sp>
      <p:sp>
        <p:nvSpPr>
          <p:cNvPr id="6" name="token 0-0"/>
          <p:cNvSpPr/>
          <p:nvPr/>
        </p:nvSpPr>
        <p:spPr>
          <a:xfrm>
            <a:off x="8183880" y="1417320"/>
            <a:ext cx="182880" cy="182880"/>
          </a:xfrm>
          <a:prstGeom prst="ellipse">
            <a:avLst/>
          </a:prstGeom>
          <a:solidFill>
            <a:srgbClr val="1B7F8C">
              <a:alpha val="55000"/>
            </a:srgbClr>
          </a:solidFill>
          <a:ln/>
        </p:spPr>
      </p:sp>
      <p:sp>
        <p:nvSpPr>
          <p:cNvPr id="7" name="token 1-0"/>
          <p:cNvSpPr/>
          <p:nvPr/>
        </p:nvSpPr>
        <p:spPr>
          <a:xfrm>
            <a:off x="8494776" y="1417320"/>
            <a:ext cx="182880" cy="182880"/>
          </a:xfrm>
          <a:prstGeom prst="ellipse">
            <a:avLst/>
          </a:prstGeom>
          <a:solidFill>
            <a:srgbClr val="1B7F8C">
              <a:alpha val="55000"/>
            </a:srgbClr>
          </a:solidFill>
          <a:ln/>
        </p:spPr>
      </p:sp>
      <p:sp>
        <p:nvSpPr>
          <p:cNvPr id="8" name="token 2-0"/>
          <p:cNvSpPr/>
          <p:nvPr/>
        </p:nvSpPr>
        <p:spPr>
          <a:xfrm>
            <a:off x="8805672" y="1417320"/>
            <a:ext cx="182880" cy="182880"/>
          </a:xfrm>
          <a:prstGeom prst="ellipse">
            <a:avLst/>
          </a:prstGeom>
          <a:solidFill>
            <a:srgbClr val="1B7F8C">
              <a:alpha val="55000"/>
            </a:srgbClr>
          </a:solidFill>
          <a:ln/>
        </p:spPr>
      </p:sp>
      <p:sp>
        <p:nvSpPr>
          <p:cNvPr id="9" name="token 3-0"/>
          <p:cNvSpPr/>
          <p:nvPr/>
        </p:nvSpPr>
        <p:spPr>
          <a:xfrm>
            <a:off x="9116568" y="1417320"/>
            <a:ext cx="182880" cy="182880"/>
          </a:xfrm>
          <a:prstGeom prst="ellipse">
            <a:avLst/>
          </a:prstGeom>
          <a:solidFill>
            <a:srgbClr val="1B7F8C">
              <a:alpha val="55000"/>
            </a:srgbClr>
          </a:solidFill>
          <a:ln/>
        </p:spPr>
      </p:sp>
      <p:sp>
        <p:nvSpPr>
          <p:cNvPr id="10" name="token 4-0"/>
          <p:cNvSpPr/>
          <p:nvPr/>
        </p:nvSpPr>
        <p:spPr>
          <a:xfrm>
            <a:off x="9427464" y="1417320"/>
            <a:ext cx="182880" cy="182880"/>
          </a:xfrm>
          <a:prstGeom prst="ellipse">
            <a:avLst/>
          </a:prstGeom>
          <a:solidFill>
            <a:srgbClr val="1B7F8C">
              <a:alpha val="55000"/>
            </a:srgbClr>
          </a:solidFill>
          <a:ln/>
        </p:spPr>
      </p:sp>
      <p:sp>
        <p:nvSpPr>
          <p:cNvPr id="11" name="token 5-0"/>
          <p:cNvSpPr/>
          <p:nvPr/>
        </p:nvSpPr>
        <p:spPr>
          <a:xfrm>
            <a:off x="9738360" y="1417320"/>
            <a:ext cx="182880" cy="182880"/>
          </a:xfrm>
          <a:prstGeom prst="ellipse">
            <a:avLst/>
          </a:prstGeom>
          <a:solidFill>
            <a:srgbClr val="1B7F8C">
              <a:alpha val="55000"/>
            </a:srgbClr>
          </a:solidFill>
          <a:ln/>
        </p:spPr>
      </p:sp>
      <p:sp>
        <p:nvSpPr>
          <p:cNvPr id="12" name="token 6-0"/>
          <p:cNvSpPr/>
          <p:nvPr/>
        </p:nvSpPr>
        <p:spPr>
          <a:xfrm>
            <a:off x="10049256" y="1417320"/>
            <a:ext cx="182880" cy="182880"/>
          </a:xfrm>
          <a:prstGeom prst="ellipse">
            <a:avLst/>
          </a:prstGeom>
          <a:solidFill>
            <a:srgbClr val="1B7F8C">
              <a:alpha val="55000"/>
            </a:srgbClr>
          </a:solidFill>
          <a:ln/>
        </p:spPr>
      </p:sp>
      <p:sp>
        <p:nvSpPr>
          <p:cNvPr id="13" name="token 7-0"/>
          <p:cNvSpPr/>
          <p:nvPr/>
        </p:nvSpPr>
        <p:spPr>
          <a:xfrm>
            <a:off x="10360152" y="1417320"/>
            <a:ext cx="182880" cy="182880"/>
          </a:xfrm>
          <a:prstGeom prst="ellipse">
            <a:avLst/>
          </a:prstGeom>
          <a:solidFill>
            <a:srgbClr val="1B7F8C">
              <a:alpha val="55000"/>
            </a:srgbClr>
          </a:solidFill>
          <a:ln/>
        </p:spPr>
      </p:sp>
      <p:sp>
        <p:nvSpPr>
          <p:cNvPr id="14" name="token 8-0"/>
          <p:cNvSpPr/>
          <p:nvPr/>
        </p:nvSpPr>
        <p:spPr>
          <a:xfrm>
            <a:off x="10671048" y="1417320"/>
            <a:ext cx="182880" cy="182880"/>
          </a:xfrm>
          <a:prstGeom prst="ellipse">
            <a:avLst/>
          </a:prstGeom>
          <a:solidFill>
            <a:srgbClr val="1B7F8C">
              <a:alpha val="55000"/>
            </a:srgbClr>
          </a:solidFill>
          <a:ln/>
        </p:spPr>
      </p:sp>
      <p:sp>
        <p:nvSpPr>
          <p:cNvPr id="15" name="token 9-0"/>
          <p:cNvSpPr/>
          <p:nvPr/>
        </p:nvSpPr>
        <p:spPr>
          <a:xfrm>
            <a:off x="10981944" y="1417320"/>
            <a:ext cx="182880" cy="182880"/>
          </a:xfrm>
          <a:prstGeom prst="ellipse">
            <a:avLst/>
          </a:prstGeom>
          <a:solidFill>
            <a:srgbClr val="1B7F8C">
              <a:alpha val="55000"/>
            </a:srgbClr>
          </a:solidFill>
          <a:ln/>
        </p:spPr>
      </p:sp>
      <p:sp>
        <p:nvSpPr>
          <p:cNvPr id="16" name="token 10-0"/>
          <p:cNvSpPr/>
          <p:nvPr/>
        </p:nvSpPr>
        <p:spPr>
          <a:xfrm>
            <a:off x="11292840" y="1417320"/>
            <a:ext cx="182880" cy="182880"/>
          </a:xfrm>
          <a:prstGeom prst="ellipse">
            <a:avLst/>
          </a:prstGeom>
          <a:solidFill>
            <a:srgbClr val="1B7F8C">
              <a:alpha val="55000"/>
            </a:srgbClr>
          </a:solidFill>
          <a:ln/>
        </p:spPr>
      </p:sp>
      <p:sp>
        <p:nvSpPr>
          <p:cNvPr id="17" name="token 11-0"/>
          <p:cNvSpPr/>
          <p:nvPr/>
        </p:nvSpPr>
        <p:spPr>
          <a:xfrm>
            <a:off x="11603736" y="1417320"/>
            <a:ext cx="182880" cy="182880"/>
          </a:xfrm>
          <a:prstGeom prst="ellipse">
            <a:avLst/>
          </a:prstGeom>
          <a:solidFill>
            <a:srgbClr val="1B7F8C">
              <a:alpha val="55000"/>
            </a:srgbClr>
          </a:solidFill>
          <a:ln/>
        </p:spPr>
      </p:sp>
      <p:sp>
        <p:nvSpPr>
          <p:cNvPr id="18" name="token 0-1"/>
          <p:cNvSpPr/>
          <p:nvPr/>
        </p:nvSpPr>
        <p:spPr>
          <a:xfrm>
            <a:off x="8183880" y="1728216"/>
            <a:ext cx="182880" cy="182880"/>
          </a:xfrm>
          <a:prstGeom prst="ellipse">
            <a:avLst/>
          </a:prstGeom>
          <a:solidFill>
            <a:srgbClr val="1B7F8C">
              <a:alpha val="55000"/>
            </a:srgbClr>
          </a:solidFill>
          <a:ln/>
        </p:spPr>
      </p:sp>
      <p:sp>
        <p:nvSpPr>
          <p:cNvPr id="19" name="token 1-1"/>
          <p:cNvSpPr/>
          <p:nvPr/>
        </p:nvSpPr>
        <p:spPr>
          <a:xfrm>
            <a:off x="8494776" y="1728216"/>
            <a:ext cx="182880" cy="182880"/>
          </a:xfrm>
          <a:prstGeom prst="ellipse">
            <a:avLst/>
          </a:prstGeom>
          <a:solidFill>
            <a:srgbClr val="1B7F8C">
              <a:alpha val="55000"/>
            </a:srgbClr>
          </a:solidFill>
          <a:ln/>
        </p:spPr>
      </p:sp>
      <p:sp>
        <p:nvSpPr>
          <p:cNvPr id="20" name="token 2-1"/>
          <p:cNvSpPr/>
          <p:nvPr/>
        </p:nvSpPr>
        <p:spPr>
          <a:xfrm>
            <a:off x="8805672" y="1728216"/>
            <a:ext cx="182880" cy="182880"/>
          </a:xfrm>
          <a:prstGeom prst="ellipse">
            <a:avLst/>
          </a:prstGeom>
          <a:solidFill>
            <a:srgbClr val="1B7F8C">
              <a:alpha val="55000"/>
            </a:srgbClr>
          </a:solidFill>
          <a:ln/>
        </p:spPr>
      </p:sp>
      <p:sp>
        <p:nvSpPr>
          <p:cNvPr id="21" name="token 3-1"/>
          <p:cNvSpPr/>
          <p:nvPr/>
        </p:nvSpPr>
        <p:spPr>
          <a:xfrm>
            <a:off x="9116568" y="1728216"/>
            <a:ext cx="182880" cy="182880"/>
          </a:xfrm>
          <a:prstGeom prst="ellipse">
            <a:avLst/>
          </a:prstGeom>
          <a:solidFill>
            <a:srgbClr val="1B7F8C">
              <a:alpha val="55000"/>
            </a:srgbClr>
          </a:solidFill>
          <a:ln/>
        </p:spPr>
      </p:sp>
      <p:sp>
        <p:nvSpPr>
          <p:cNvPr id="22" name="token 4-1"/>
          <p:cNvSpPr/>
          <p:nvPr/>
        </p:nvSpPr>
        <p:spPr>
          <a:xfrm>
            <a:off x="9427464" y="1728216"/>
            <a:ext cx="182880" cy="182880"/>
          </a:xfrm>
          <a:prstGeom prst="ellipse">
            <a:avLst/>
          </a:prstGeom>
          <a:solidFill>
            <a:srgbClr val="1B7F8C">
              <a:alpha val="55000"/>
            </a:srgbClr>
          </a:solidFill>
          <a:ln/>
        </p:spPr>
      </p:sp>
      <p:sp>
        <p:nvSpPr>
          <p:cNvPr id="23" name="token 5-1"/>
          <p:cNvSpPr/>
          <p:nvPr/>
        </p:nvSpPr>
        <p:spPr>
          <a:xfrm>
            <a:off x="9738360" y="1728216"/>
            <a:ext cx="182880" cy="182880"/>
          </a:xfrm>
          <a:prstGeom prst="ellipse">
            <a:avLst/>
          </a:prstGeom>
          <a:solidFill>
            <a:srgbClr val="1B7F8C">
              <a:alpha val="55000"/>
            </a:srgbClr>
          </a:solidFill>
          <a:ln/>
        </p:spPr>
      </p:sp>
      <p:sp>
        <p:nvSpPr>
          <p:cNvPr id="24" name="token 6-1"/>
          <p:cNvSpPr/>
          <p:nvPr/>
        </p:nvSpPr>
        <p:spPr>
          <a:xfrm>
            <a:off x="10049256" y="1728216"/>
            <a:ext cx="182880" cy="182880"/>
          </a:xfrm>
          <a:prstGeom prst="ellipse">
            <a:avLst/>
          </a:prstGeom>
          <a:solidFill>
            <a:srgbClr val="1B7F8C">
              <a:alpha val="55000"/>
            </a:srgbClr>
          </a:solidFill>
          <a:ln/>
        </p:spPr>
      </p:sp>
      <p:sp>
        <p:nvSpPr>
          <p:cNvPr id="25" name="token 7-1"/>
          <p:cNvSpPr/>
          <p:nvPr/>
        </p:nvSpPr>
        <p:spPr>
          <a:xfrm>
            <a:off x="10360152" y="1728216"/>
            <a:ext cx="182880" cy="182880"/>
          </a:xfrm>
          <a:prstGeom prst="ellipse">
            <a:avLst/>
          </a:prstGeom>
          <a:solidFill>
            <a:srgbClr val="1B7F8C">
              <a:alpha val="55000"/>
            </a:srgbClr>
          </a:solidFill>
          <a:ln/>
        </p:spPr>
      </p:sp>
      <p:sp>
        <p:nvSpPr>
          <p:cNvPr id="26" name="token 8-1"/>
          <p:cNvSpPr/>
          <p:nvPr/>
        </p:nvSpPr>
        <p:spPr>
          <a:xfrm>
            <a:off x="10671048" y="1728216"/>
            <a:ext cx="182880" cy="182880"/>
          </a:xfrm>
          <a:prstGeom prst="ellipse">
            <a:avLst/>
          </a:prstGeom>
          <a:solidFill>
            <a:srgbClr val="1B7F8C">
              <a:alpha val="55000"/>
            </a:srgbClr>
          </a:solidFill>
          <a:ln/>
        </p:spPr>
      </p:sp>
      <p:sp>
        <p:nvSpPr>
          <p:cNvPr id="27" name="token 9-1"/>
          <p:cNvSpPr/>
          <p:nvPr/>
        </p:nvSpPr>
        <p:spPr>
          <a:xfrm>
            <a:off x="10981944" y="1728216"/>
            <a:ext cx="182880" cy="182880"/>
          </a:xfrm>
          <a:prstGeom prst="ellipse">
            <a:avLst/>
          </a:prstGeom>
          <a:solidFill>
            <a:srgbClr val="F4A261"/>
          </a:solidFill>
          <a:ln/>
        </p:spPr>
      </p:sp>
      <p:sp>
        <p:nvSpPr>
          <p:cNvPr id="28" name="token 10-1"/>
          <p:cNvSpPr/>
          <p:nvPr/>
        </p:nvSpPr>
        <p:spPr>
          <a:xfrm>
            <a:off x="11292840" y="1728216"/>
            <a:ext cx="182880" cy="182880"/>
          </a:xfrm>
          <a:prstGeom prst="ellipse">
            <a:avLst/>
          </a:prstGeom>
          <a:solidFill>
            <a:srgbClr val="F4A261"/>
          </a:solidFill>
          <a:ln/>
        </p:spPr>
      </p:sp>
      <p:sp>
        <p:nvSpPr>
          <p:cNvPr id="29" name="token 11-1"/>
          <p:cNvSpPr/>
          <p:nvPr/>
        </p:nvSpPr>
        <p:spPr>
          <a:xfrm>
            <a:off x="11603736" y="1728216"/>
            <a:ext cx="182880" cy="182880"/>
          </a:xfrm>
          <a:prstGeom prst="ellipse">
            <a:avLst/>
          </a:prstGeom>
          <a:solidFill>
            <a:srgbClr val="1B7F8C">
              <a:alpha val="55000"/>
            </a:srgbClr>
          </a:solidFill>
          <a:ln/>
        </p:spPr>
      </p:sp>
      <p:sp>
        <p:nvSpPr>
          <p:cNvPr id="30" name="token 0-2"/>
          <p:cNvSpPr/>
          <p:nvPr/>
        </p:nvSpPr>
        <p:spPr>
          <a:xfrm>
            <a:off x="8183880" y="2039112"/>
            <a:ext cx="182880" cy="182880"/>
          </a:xfrm>
          <a:prstGeom prst="ellipse">
            <a:avLst/>
          </a:prstGeom>
          <a:solidFill>
            <a:srgbClr val="1B7F8C">
              <a:alpha val="55000"/>
            </a:srgbClr>
          </a:solidFill>
          <a:ln/>
        </p:spPr>
      </p:sp>
      <p:sp>
        <p:nvSpPr>
          <p:cNvPr id="31" name="token 1-2"/>
          <p:cNvSpPr/>
          <p:nvPr/>
        </p:nvSpPr>
        <p:spPr>
          <a:xfrm>
            <a:off x="8494776" y="2039112"/>
            <a:ext cx="182880" cy="182880"/>
          </a:xfrm>
          <a:prstGeom prst="ellipse">
            <a:avLst/>
          </a:prstGeom>
          <a:solidFill>
            <a:srgbClr val="1B7F8C">
              <a:alpha val="55000"/>
            </a:srgbClr>
          </a:solidFill>
          <a:ln/>
        </p:spPr>
      </p:sp>
      <p:sp>
        <p:nvSpPr>
          <p:cNvPr id="32" name="token 2-2"/>
          <p:cNvSpPr/>
          <p:nvPr/>
        </p:nvSpPr>
        <p:spPr>
          <a:xfrm>
            <a:off x="8805672" y="2039112"/>
            <a:ext cx="182880" cy="182880"/>
          </a:xfrm>
          <a:prstGeom prst="ellipse">
            <a:avLst/>
          </a:prstGeom>
          <a:solidFill>
            <a:srgbClr val="1B7F8C">
              <a:alpha val="55000"/>
            </a:srgbClr>
          </a:solidFill>
          <a:ln/>
        </p:spPr>
      </p:sp>
      <p:sp>
        <p:nvSpPr>
          <p:cNvPr id="33" name="token 3-2"/>
          <p:cNvSpPr/>
          <p:nvPr/>
        </p:nvSpPr>
        <p:spPr>
          <a:xfrm>
            <a:off x="9116568" y="2039112"/>
            <a:ext cx="182880" cy="182880"/>
          </a:xfrm>
          <a:prstGeom prst="ellipse">
            <a:avLst/>
          </a:prstGeom>
          <a:solidFill>
            <a:srgbClr val="F4A261"/>
          </a:solidFill>
          <a:ln/>
        </p:spPr>
      </p:sp>
      <p:sp>
        <p:nvSpPr>
          <p:cNvPr id="34" name="token 4-2"/>
          <p:cNvSpPr/>
          <p:nvPr/>
        </p:nvSpPr>
        <p:spPr>
          <a:xfrm>
            <a:off x="9427464" y="2039112"/>
            <a:ext cx="182880" cy="182880"/>
          </a:xfrm>
          <a:prstGeom prst="ellipse">
            <a:avLst/>
          </a:prstGeom>
          <a:solidFill>
            <a:srgbClr val="F4A261"/>
          </a:solidFill>
          <a:ln/>
        </p:spPr>
      </p:sp>
      <p:sp>
        <p:nvSpPr>
          <p:cNvPr id="35" name="token 5-2"/>
          <p:cNvSpPr/>
          <p:nvPr/>
        </p:nvSpPr>
        <p:spPr>
          <a:xfrm>
            <a:off x="9738360" y="2039112"/>
            <a:ext cx="182880" cy="182880"/>
          </a:xfrm>
          <a:prstGeom prst="ellipse">
            <a:avLst/>
          </a:prstGeom>
          <a:solidFill>
            <a:srgbClr val="1B7F8C">
              <a:alpha val="55000"/>
            </a:srgbClr>
          </a:solidFill>
          <a:ln/>
        </p:spPr>
      </p:sp>
      <p:sp>
        <p:nvSpPr>
          <p:cNvPr id="36" name="token 6-2"/>
          <p:cNvSpPr/>
          <p:nvPr/>
        </p:nvSpPr>
        <p:spPr>
          <a:xfrm>
            <a:off x="10049256" y="2039112"/>
            <a:ext cx="182880" cy="182880"/>
          </a:xfrm>
          <a:prstGeom prst="ellipse">
            <a:avLst/>
          </a:prstGeom>
          <a:solidFill>
            <a:srgbClr val="1B7F8C">
              <a:alpha val="55000"/>
            </a:srgbClr>
          </a:solidFill>
          <a:ln/>
        </p:spPr>
      </p:sp>
      <p:sp>
        <p:nvSpPr>
          <p:cNvPr id="37" name="token 7-2"/>
          <p:cNvSpPr/>
          <p:nvPr/>
        </p:nvSpPr>
        <p:spPr>
          <a:xfrm>
            <a:off x="10360152" y="2039112"/>
            <a:ext cx="182880" cy="182880"/>
          </a:xfrm>
          <a:prstGeom prst="ellipse">
            <a:avLst/>
          </a:prstGeom>
          <a:solidFill>
            <a:srgbClr val="1B7F8C">
              <a:alpha val="55000"/>
            </a:srgbClr>
          </a:solidFill>
          <a:ln/>
        </p:spPr>
      </p:sp>
      <p:sp>
        <p:nvSpPr>
          <p:cNvPr id="38" name="token 8-2"/>
          <p:cNvSpPr/>
          <p:nvPr/>
        </p:nvSpPr>
        <p:spPr>
          <a:xfrm>
            <a:off x="10671048" y="2039112"/>
            <a:ext cx="182880" cy="182880"/>
          </a:xfrm>
          <a:prstGeom prst="ellipse">
            <a:avLst/>
          </a:prstGeom>
          <a:solidFill>
            <a:srgbClr val="1B7F8C">
              <a:alpha val="55000"/>
            </a:srgbClr>
          </a:solidFill>
          <a:ln/>
        </p:spPr>
      </p:sp>
      <p:sp>
        <p:nvSpPr>
          <p:cNvPr id="39" name="token 9-2"/>
          <p:cNvSpPr/>
          <p:nvPr/>
        </p:nvSpPr>
        <p:spPr>
          <a:xfrm>
            <a:off x="10981944" y="2039112"/>
            <a:ext cx="182880" cy="182880"/>
          </a:xfrm>
          <a:prstGeom prst="ellipse">
            <a:avLst/>
          </a:prstGeom>
          <a:solidFill>
            <a:srgbClr val="1B7F8C">
              <a:alpha val="55000"/>
            </a:srgbClr>
          </a:solidFill>
          <a:ln/>
        </p:spPr>
      </p:sp>
      <p:sp>
        <p:nvSpPr>
          <p:cNvPr id="40" name="token 10-2"/>
          <p:cNvSpPr/>
          <p:nvPr/>
        </p:nvSpPr>
        <p:spPr>
          <a:xfrm>
            <a:off x="11292840" y="2039112"/>
            <a:ext cx="182880" cy="182880"/>
          </a:xfrm>
          <a:prstGeom prst="ellipse">
            <a:avLst/>
          </a:prstGeom>
          <a:solidFill>
            <a:srgbClr val="F4A261"/>
          </a:solidFill>
          <a:ln/>
        </p:spPr>
      </p:sp>
      <p:sp>
        <p:nvSpPr>
          <p:cNvPr id="41" name="token 11-2"/>
          <p:cNvSpPr/>
          <p:nvPr/>
        </p:nvSpPr>
        <p:spPr>
          <a:xfrm>
            <a:off x="11603736" y="2039112"/>
            <a:ext cx="182880" cy="182880"/>
          </a:xfrm>
          <a:prstGeom prst="ellipse">
            <a:avLst/>
          </a:prstGeom>
          <a:solidFill>
            <a:srgbClr val="1B7F8C">
              <a:alpha val="55000"/>
            </a:srgbClr>
          </a:solidFill>
          <a:ln/>
        </p:spPr>
      </p:sp>
      <p:sp>
        <p:nvSpPr>
          <p:cNvPr id="42" name="token 0-3"/>
          <p:cNvSpPr/>
          <p:nvPr/>
        </p:nvSpPr>
        <p:spPr>
          <a:xfrm>
            <a:off x="8183880" y="2350008"/>
            <a:ext cx="182880" cy="182880"/>
          </a:xfrm>
          <a:prstGeom prst="ellipse">
            <a:avLst/>
          </a:prstGeom>
          <a:solidFill>
            <a:srgbClr val="1B7F8C">
              <a:alpha val="55000"/>
            </a:srgbClr>
          </a:solidFill>
          <a:ln/>
        </p:spPr>
      </p:sp>
      <p:sp>
        <p:nvSpPr>
          <p:cNvPr id="43" name="token 1-3"/>
          <p:cNvSpPr/>
          <p:nvPr/>
        </p:nvSpPr>
        <p:spPr>
          <a:xfrm>
            <a:off x="8494776" y="2350008"/>
            <a:ext cx="182880" cy="182880"/>
          </a:xfrm>
          <a:prstGeom prst="ellipse">
            <a:avLst/>
          </a:prstGeom>
          <a:solidFill>
            <a:srgbClr val="1B7F8C">
              <a:alpha val="55000"/>
            </a:srgbClr>
          </a:solidFill>
          <a:ln/>
        </p:spPr>
      </p:sp>
      <p:sp>
        <p:nvSpPr>
          <p:cNvPr id="44" name="token 2-3"/>
          <p:cNvSpPr/>
          <p:nvPr/>
        </p:nvSpPr>
        <p:spPr>
          <a:xfrm>
            <a:off x="8805672" y="2350008"/>
            <a:ext cx="182880" cy="182880"/>
          </a:xfrm>
          <a:prstGeom prst="ellipse">
            <a:avLst/>
          </a:prstGeom>
          <a:solidFill>
            <a:srgbClr val="1B7F8C">
              <a:alpha val="55000"/>
            </a:srgbClr>
          </a:solidFill>
          <a:ln/>
        </p:spPr>
      </p:sp>
      <p:sp>
        <p:nvSpPr>
          <p:cNvPr id="45" name="token 3-3"/>
          <p:cNvSpPr/>
          <p:nvPr/>
        </p:nvSpPr>
        <p:spPr>
          <a:xfrm>
            <a:off x="9116568" y="2350008"/>
            <a:ext cx="182880" cy="182880"/>
          </a:xfrm>
          <a:prstGeom prst="ellipse">
            <a:avLst/>
          </a:prstGeom>
          <a:solidFill>
            <a:srgbClr val="F4A261"/>
          </a:solidFill>
          <a:ln/>
        </p:spPr>
      </p:sp>
      <p:sp>
        <p:nvSpPr>
          <p:cNvPr id="46" name="token 4-3"/>
          <p:cNvSpPr/>
          <p:nvPr/>
        </p:nvSpPr>
        <p:spPr>
          <a:xfrm>
            <a:off x="9427464" y="2350008"/>
            <a:ext cx="182880" cy="182880"/>
          </a:xfrm>
          <a:prstGeom prst="ellipse">
            <a:avLst/>
          </a:prstGeom>
          <a:solidFill>
            <a:srgbClr val="F4A261"/>
          </a:solidFill>
          <a:ln/>
        </p:spPr>
      </p:sp>
      <p:sp>
        <p:nvSpPr>
          <p:cNvPr id="47" name="token 5-3"/>
          <p:cNvSpPr/>
          <p:nvPr/>
        </p:nvSpPr>
        <p:spPr>
          <a:xfrm>
            <a:off x="9738360" y="2350008"/>
            <a:ext cx="182880" cy="182880"/>
          </a:xfrm>
          <a:prstGeom prst="ellipse">
            <a:avLst/>
          </a:prstGeom>
          <a:solidFill>
            <a:srgbClr val="F4A261"/>
          </a:solidFill>
          <a:ln/>
        </p:spPr>
      </p:sp>
      <p:sp>
        <p:nvSpPr>
          <p:cNvPr id="48" name="token 6-3"/>
          <p:cNvSpPr/>
          <p:nvPr/>
        </p:nvSpPr>
        <p:spPr>
          <a:xfrm>
            <a:off x="10049256" y="2350008"/>
            <a:ext cx="182880" cy="182880"/>
          </a:xfrm>
          <a:prstGeom prst="ellipse">
            <a:avLst/>
          </a:prstGeom>
          <a:solidFill>
            <a:srgbClr val="1B7F8C">
              <a:alpha val="55000"/>
            </a:srgbClr>
          </a:solidFill>
          <a:ln/>
        </p:spPr>
      </p:sp>
      <p:sp>
        <p:nvSpPr>
          <p:cNvPr id="49" name="token 7-3"/>
          <p:cNvSpPr/>
          <p:nvPr/>
        </p:nvSpPr>
        <p:spPr>
          <a:xfrm>
            <a:off x="10360152" y="2350008"/>
            <a:ext cx="182880" cy="182880"/>
          </a:xfrm>
          <a:prstGeom prst="ellipse">
            <a:avLst/>
          </a:prstGeom>
          <a:solidFill>
            <a:srgbClr val="1B7F8C">
              <a:alpha val="55000"/>
            </a:srgbClr>
          </a:solidFill>
          <a:ln/>
        </p:spPr>
      </p:sp>
      <p:sp>
        <p:nvSpPr>
          <p:cNvPr id="50" name="token 8-3"/>
          <p:cNvSpPr/>
          <p:nvPr/>
        </p:nvSpPr>
        <p:spPr>
          <a:xfrm>
            <a:off x="10671048" y="2350008"/>
            <a:ext cx="182880" cy="182880"/>
          </a:xfrm>
          <a:prstGeom prst="ellipse">
            <a:avLst/>
          </a:prstGeom>
          <a:solidFill>
            <a:srgbClr val="1B7F8C">
              <a:alpha val="55000"/>
            </a:srgbClr>
          </a:solidFill>
          <a:ln/>
        </p:spPr>
      </p:sp>
      <p:sp>
        <p:nvSpPr>
          <p:cNvPr id="51" name="token 9-3"/>
          <p:cNvSpPr/>
          <p:nvPr/>
        </p:nvSpPr>
        <p:spPr>
          <a:xfrm>
            <a:off x="10981944" y="2350008"/>
            <a:ext cx="182880" cy="182880"/>
          </a:xfrm>
          <a:prstGeom prst="ellipse">
            <a:avLst/>
          </a:prstGeom>
          <a:solidFill>
            <a:srgbClr val="1B7F8C">
              <a:alpha val="55000"/>
            </a:srgbClr>
          </a:solidFill>
          <a:ln/>
        </p:spPr>
      </p:sp>
      <p:sp>
        <p:nvSpPr>
          <p:cNvPr id="52" name="token 10-3"/>
          <p:cNvSpPr/>
          <p:nvPr/>
        </p:nvSpPr>
        <p:spPr>
          <a:xfrm>
            <a:off x="11292840" y="2350008"/>
            <a:ext cx="182880" cy="182880"/>
          </a:xfrm>
          <a:prstGeom prst="ellipse">
            <a:avLst/>
          </a:prstGeom>
          <a:solidFill>
            <a:srgbClr val="1B7F8C">
              <a:alpha val="55000"/>
            </a:srgbClr>
          </a:solidFill>
          <a:ln/>
        </p:spPr>
      </p:sp>
      <p:sp>
        <p:nvSpPr>
          <p:cNvPr id="53" name="token 11-3"/>
          <p:cNvSpPr/>
          <p:nvPr/>
        </p:nvSpPr>
        <p:spPr>
          <a:xfrm>
            <a:off x="11603736" y="2350008"/>
            <a:ext cx="182880" cy="182880"/>
          </a:xfrm>
          <a:prstGeom prst="ellipse">
            <a:avLst/>
          </a:prstGeom>
          <a:solidFill>
            <a:srgbClr val="1B7F8C">
              <a:alpha val="55000"/>
            </a:srgbClr>
          </a:solidFill>
          <a:ln/>
        </p:spPr>
      </p:sp>
      <p:sp>
        <p:nvSpPr>
          <p:cNvPr id="54" name="token 0-4"/>
          <p:cNvSpPr/>
          <p:nvPr/>
        </p:nvSpPr>
        <p:spPr>
          <a:xfrm>
            <a:off x="8183880" y="2660904"/>
            <a:ext cx="182880" cy="182880"/>
          </a:xfrm>
          <a:prstGeom prst="ellipse">
            <a:avLst/>
          </a:prstGeom>
          <a:solidFill>
            <a:srgbClr val="1B7F8C">
              <a:alpha val="55000"/>
            </a:srgbClr>
          </a:solidFill>
          <a:ln/>
        </p:spPr>
      </p:sp>
      <p:sp>
        <p:nvSpPr>
          <p:cNvPr id="55" name="token 1-4"/>
          <p:cNvSpPr/>
          <p:nvPr/>
        </p:nvSpPr>
        <p:spPr>
          <a:xfrm>
            <a:off x="8494776" y="2660904"/>
            <a:ext cx="182880" cy="182880"/>
          </a:xfrm>
          <a:prstGeom prst="ellipse">
            <a:avLst/>
          </a:prstGeom>
          <a:solidFill>
            <a:srgbClr val="1B7F8C">
              <a:alpha val="55000"/>
            </a:srgbClr>
          </a:solidFill>
          <a:ln/>
        </p:spPr>
      </p:sp>
      <p:sp>
        <p:nvSpPr>
          <p:cNvPr id="56" name="token 2-4"/>
          <p:cNvSpPr/>
          <p:nvPr/>
        </p:nvSpPr>
        <p:spPr>
          <a:xfrm>
            <a:off x="8805672" y="2660904"/>
            <a:ext cx="182880" cy="182880"/>
          </a:xfrm>
          <a:prstGeom prst="ellipse">
            <a:avLst/>
          </a:prstGeom>
          <a:solidFill>
            <a:srgbClr val="1B7F8C">
              <a:alpha val="55000"/>
            </a:srgbClr>
          </a:solidFill>
          <a:ln/>
        </p:spPr>
      </p:sp>
      <p:sp>
        <p:nvSpPr>
          <p:cNvPr id="57" name="token 3-4"/>
          <p:cNvSpPr/>
          <p:nvPr/>
        </p:nvSpPr>
        <p:spPr>
          <a:xfrm>
            <a:off x="9116568" y="2660904"/>
            <a:ext cx="182880" cy="182880"/>
          </a:xfrm>
          <a:prstGeom prst="ellipse">
            <a:avLst/>
          </a:prstGeom>
          <a:solidFill>
            <a:srgbClr val="1B7F8C">
              <a:alpha val="55000"/>
            </a:srgbClr>
          </a:solidFill>
          <a:ln/>
        </p:spPr>
      </p:sp>
      <p:sp>
        <p:nvSpPr>
          <p:cNvPr id="58" name="token 4-4"/>
          <p:cNvSpPr/>
          <p:nvPr/>
        </p:nvSpPr>
        <p:spPr>
          <a:xfrm>
            <a:off x="9427464" y="2660904"/>
            <a:ext cx="182880" cy="182880"/>
          </a:xfrm>
          <a:prstGeom prst="ellipse">
            <a:avLst/>
          </a:prstGeom>
          <a:solidFill>
            <a:srgbClr val="F4A261"/>
          </a:solidFill>
          <a:ln/>
        </p:spPr>
      </p:sp>
      <p:sp>
        <p:nvSpPr>
          <p:cNvPr id="59" name="token 5-4"/>
          <p:cNvSpPr/>
          <p:nvPr/>
        </p:nvSpPr>
        <p:spPr>
          <a:xfrm>
            <a:off x="9738360" y="2660904"/>
            <a:ext cx="182880" cy="182880"/>
          </a:xfrm>
          <a:prstGeom prst="ellipse">
            <a:avLst/>
          </a:prstGeom>
          <a:solidFill>
            <a:srgbClr val="F4A261"/>
          </a:solidFill>
          <a:ln/>
        </p:spPr>
      </p:sp>
      <p:sp>
        <p:nvSpPr>
          <p:cNvPr id="60" name="token 6-4"/>
          <p:cNvSpPr/>
          <p:nvPr/>
        </p:nvSpPr>
        <p:spPr>
          <a:xfrm>
            <a:off x="10049256" y="2660904"/>
            <a:ext cx="182880" cy="182880"/>
          </a:xfrm>
          <a:prstGeom prst="ellipse">
            <a:avLst/>
          </a:prstGeom>
          <a:solidFill>
            <a:srgbClr val="1B7F8C">
              <a:alpha val="55000"/>
            </a:srgbClr>
          </a:solidFill>
          <a:ln/>
        </p:spPr>
      </p:sp>
      <p:sp>
        <p:nvSpPr>
          <p:cNvPr id="61" name="token 7-4"/>
          <p:cNvSpPr/>
          <p:nvPr/>
        </p:nvSpPr>
        <p:spPr>
          <a:xfrm>
            <a:off x="10360152" y="2660904"/>
            <a:ext cx="182880" cy="182880"/>
          </a:xfrm>
          <a:prstGeom prst="ellipse">
            <a:avLst/>
          </a:prstGeom>
          <a:solidFill>
            <a:srgbClr val="1B7F8C">
              <a:alpha val="55000"/>
            </a:srgbClr>
          </a:solidFill>
          <a:ln/>
        </p:spPr>
      </p:sp>
      <p:sp>
        <p:nvSpPr>
          <p:cNvPr id="62" name="token 8-4"/>
          <p:cNvSpPr/>
          <p:nvPr/>
        </p:nvSpPr>
        <p:spPr>
          <a:xfrm>
            <a:off x="10671048" y="2660904"/>
            <a:ext cx="182880" cy="182880"/>
          </a:xfrm>
          <a:prstGeom prst="ellipse">
            <a:avLst/>
          </a:prstGeom>
          <a:solidFill>
            <a:srgbClr val="1B7F8C">
              <a:alpha val="55000"/>
            </a:srgbClr>
          </a:solidFill>
          <a:ln/>
        </p:spPr>
      </p:sp>
      <p:sp>
        <p:nvSpPr>
          <p:cNvPr id="63" name="token 9-4"/>
          <p:cNvSpPr/>
          <p:nvPr/>
        </p:nvSpPr>
        <p:spPr>
          <a:xfrm>
            <a:off x="10981944" y="2660904"/>
            <a:ext cx="182880" cy="182880"/>
          </a:xfrm>
          <a:prstGeom prst="ellipse">
            <a:avLst/>
          </a:prstGeom>
          <a:solidFill>
            <a:srgbClr val="F4A261"/>
          </a:solidFill>
          <a:ln/>
        </p:spPr>
      </p:sp>
      <p:sp>
        <p:nvSpPr>
          <p:cNvPr id="64" name="token 10-4"/>
          <p:cNvSpPr/>
          <p:nvPr/>
        </p:nvSpPr>
        <p:spPr>
          <a:xfrm>
            <a:off x="11292840" y="2660904"/>
            <a:ext cx="182880" cy="182880"/>
          </a:xfrm>
          <a:prstGeom prst="ellipse">
            <a:avLst/>
          </a:prstGeom>
          <a:solidFill>
            <a:srgbClr val="F4A261"/>
          </a:solidFill>
          <a:ln/>
        </p:spPr>
      </p:sp>
      <p:sp>
        <p:nvSpPr>
          <p:cNvPr id="65" name="token 11-4"/>
          <p:cNvSpPr/>
          <p:nvPr/>
        </p:nvSpPr>
        <p:spPr>
          <a:xfrm>
            <a:off x="11603736" y="2660904"/>
            <a:ext cx="182880" cy="182880"/>
          </a:xfrm>
          <a:prstGeom prst="ellipse">
            <a:avLst/>
          </a:prstGeom>
          <a:solidFill>
            <a:srgbClr val="1B7F8C">
              <a:alpha val="55000"/>
            </a:srgbClr>
          </a:solidFill>
          <a:ln/>
        </p:spPr>
      </p:sp>
      <p:sp>
        <p:nvSpPr>
          <p:cNvPr id="66" name="token 0-5"/>
          <p:cNvSpPr/>
          <p:nvPr/>
        </p:nvSpPr>
        <p:spPr>
          <a:xfrm>
            <a:off x="8183880" y="2971800"/>
            <a:ext cx="182880" cy="182880"/>
          </a:xfrm>
          <a:prstGeom prst="ellipse">
            <a:avLst/>
          </a:prstGeom>
          <a:solidFill>
            <a:srgbClr val="1B7F8C">
              <a:alpha val="55000"/>
            </a:srgbClr>
          </a:solidFill>
          <a:ln/>
        </p:spPr>
      </p:sp>
      <p:sp>
        <p:nvSpPr>
          <p:cNvPr id="67" name="token 1-5"/>
          <p:cNvSpPr/>
          <p:nvPr/>
        </p:nvSpPr>
        <p:spPr>
          <a:xfrm>
            <a:off x="8494776" y="2971800"/>
            <a:ext cx="182880" cy="182880"/>
          </a:xfrm>
          <a:prstGeom prst="ellipse">
            <a:avLst/>
          </a:prstGeom>
          <a:solidFill>
            <a:srgbClr val="1B7F8C">
              <a:alpha val="55000"/>
            </a:srgbClr>
          </a:solidFill>
          <a:ln/>
        </p:spPr>
      </p:sp>
      <p:sp>
        <p:nvSpPr>
          <p:cNvPr id="68" name="token 2-5"/>
          <p:cNvSpPr/>
          <p:nvPr/>
        </p:nvSpPr>
        <p:spPr>
          <a:xfrm>
            <a:off x="8805672" y="2971800"/>
            <a:ext cx="182880" cy="182880"/>
          </a:xfrm>
          <a:prstGeom prst="ellipse">
            <a:avLst/>
          </a:prstGeom>
          <a:solidFill>
            <a:srgbClr val="1B7F8C">
              <a:alpha val="55000"/>
            </a:srgbClr>
          </a:solidFill>
          <a:ln/>
        </p:spPr>
      </p:sp>
      <p:sp>
        <p:nvSpPr>
          <p:cNvPr id="69" name="token 3-5"/>
          <p:cNvSpPr/>
          <p:nvPr/>
        </p:nvSpPr>
        <p:spPr>
          <a:xfrm>
            <a:off x="9116568" y="2971800"/>
            <a:ext cx="182880" cy="182880"/>
          </a:xfrm>
          <a:prstGeom prst="ellipse">
            <a:avLst/>
          </a:prstGeom>
          <a:solidFill>
            <a:srgbClr val="1B7F8C">
              <a:alpha val="55000"/>
            </a:srgbClr>
          </a:solidFill>
          <a:ln/>
        </p:spPr>
      </p:sp>
      <p:sp>
        <p:nvSpPr>
          <p:cNvPr id="70" name="token 4-5"/>
          <p:cNvSpPr/>
          <p:nvPr/>
        </p:nvSpPr>
        <p:spPr>
          <a:xfrm>
            <a:off x="9427464" y="2971800"/>
            <a:ext cx="182880" cy="182880"/>
          </a:xfrm>
          <a:prstGeom prst="ellipse">
            <a:avLst/>
          </a:prstGeom>
          <a:solidFill>
            <a:srgbClr val="1B7F8C">
              <a:alpha val="55000"/>
            </a:srgbClr>
          </a:solidFill>
          <a:ln/>
        </p:spPr>
      </p:sp>
      <p:sp>
        <p:nvSpPr>
          <p:cNvPr id="71" name="token 5-5"/>
          <p:cNvSpPr/>
          <p:nvPr/>
        </p:nvSpPr>
        <p:spPr>
          <a:xfrm>
            <a:off x="9738360" y="2971800"/>
            <a:ext cx="182880" cy="182880"/>
          </a:xfrm>
          <a:prstGeom prst="ellipse">
            <a:avLst/>
          </a:prstGeom>
          <a:solidFill>
            <a:srgbClr val="1B7F8C">
              <a:alpha val="55000"/>
            </a:srgbClr>
          </a:solidFill>
          <a:ln/>
        </p:spPr>
      </p:sp>
      <p:sp>
        <p:nvSpPr>
          <p:cNvPr id="72" name="token 6-5"/>
          <p:cNvSpPr/>
          <p:nvPr/>
        </p:nvSpPr>
        <p:spPr>
          <a:xfrm>
            <a:off x="10049256" y="2971800"/>
            <a:ext cx="182880" cy="182880"/>
          </a:xfrm>
          <a:prstGeom prst="ellipse">
            <a:avLst/>
          </a:prstGeom>
          <a:solidFill>
            <a:srgbClr val="1B7F8C">
              <a:alpha val="55000"/>
            </a:srgbClr>
          </a:solidFill>
          <a:ln/>
        </p:spPr>
      </p:sp>
      <p:sp>
        <p:nvSpPr>
          <p:cNvPr id="73" name="token 7-5"/>
          <p:cNvSpPr/>
          <p:nvPr/>
        </p:nvSpPr>
        <p:spPr>
          <a:xfrm>
            <a:off x="10360152" y="2971800"/>
            <a:ext cx="182880" cy="182880"/>
          </a:xfrm>
          <a:prstGeom prst="ellipse">
            <a:avLst/>
          </a:prstGeom>
          <a:solidFill>
            <a:srgbClr val="1B7F8C">
              <a:alpha val="55000"/>
            </a:srgbClr>
          </a:solidFill>
          <a:ln/>
        </p:spPr>
      </p:sp>
      <p:sp>
        <p:nvSpPr>
          <p:cNvPr id="74" name="token 8-5"/>
          <p:cNvSpPr/>
          <p:nvPr/>
        </p:nvSpPr>
        <p:spPr>
          <a:xfrm>
            <a:off x="10671048" y="2971800"/>
            <a:ext cx="182880" cy="182880"/>
          </a:xfrm>
          <a:prstGeom prst="ellipse">
            <a:avLst/>
          </a:prstGeom>
          <a:solidFill>
            <a:srgbClr val="1B7F8C">
              <a:alpha val="55000"/>
            </a:srgbClr>
          </a:solidFill>
          <a:ln/>
        </p:spPr>
      </p:sp>
      <p:sp>
        <p:nvSpPr>
          <p:cNvPr id="75" name="token 9-5"/>
          <p:cNvSpPr/>
          <p:nvPr/>
        </p:nvSpPr>
        <p:spPr>
          <a:xfrm>
            <a:off x="10981944" y="2971800"/>
            <a:ext cx="182880" cy="182880"/>
          </a:xfrm>
          <a:prstGeom prst="ellipse">
            <a:avLst/>
          </a:prstGeom>
          <a:solidFill>
            <a:srgbClr val="F4A261"/>
          </a:solidFill>
          <a:ln/>
        </p:spPr>
      </p:sp>
      <p:sp>
        <p:nvSpPr>
          <p:cNvPr id="76" name="token 10-5"/>
          <p:cNvSpPr/>
          <p:nvPr/>
        </p:nvSpPr>
        <p:spPr>
          <a:xfrm>
            <a:off x="11292840" y="2971800"/>
            <a:ext cx="182880" cy="182880"/>
          </a:xfrm>
          <a:prstGeom prst="ellipse">
            <a:avLst/>
          </a:prstGeom>
          <a:solidFill>
            <a:srgbClr val="F4A261"/>
          </a:solidFill>
          <a:ln/>
        </p:spPr>
      </p:sp>
      <p:sp>
        <p:nvSpPr>
          <p:cNvPr id="77" name="token 11-5"/>
          <p:cNvSpPr/>
          <p:nvPr/>
        </p:nvSpPr>
        <p:spPr>
          <a:xfrm>
            <a:off x="11603736" y="2971800"/>
            <a:ext cx="182880" cy="182880"/>
          </a:xfrm>
          <a:prstGeom prst="ellipse">
            <a:avLst/>
          </a:prstGeom>
          <a:solidFill>
            <a:srgbClr val="1B7F8C">
              <a:alpha val="55000"/>
            </a:srgbClr>
          </a:solidFill>
          <a:ln/>
        </p:spPr>
      </p:sp>
      <p:sp>
        <p:nvSpPr>
          <p:cNvPr id="78" name="token 0-6"/>
          <p:cNvSpPr/>
          <p:nvPr/>
        </p:nvSpPr>
        <p:spPr>
          <a:xfrm>
            <a:off x="8183880" y="3282696"/>
            <a:ext cx="182880" cy="182880"/>
          </a:xfrm>
          <a:prstGeom prst="ellipse">
            <a:avLst/>
          </a:prstGeom>
          <a:solidFill>
            <a:srgbClr val="1B7F8C">
              <a:alpha val="55000"/>
            </a:srgbClr>
          </a:solidFill>
          <a:ln/>
        </p:spPr>
      </p:sp>
      <p:sp>
        <p:nvSpPr>
          <p:cNvPr id="79" name="token 1-6"/>
          <p:cNvSpPr/>
          <p:nvPr/>
        </p:nvSpPr>
        <p:spPr>
          <a:xfrm>
            <a:off x="8494776" y="3282696"/>
            <a:ext cx="182880" cy="182880"/>
          </a:xfrm>
          <a:prstGeom prst="ellipse">
            <a:avLst/>
          </a:prstGeom>
          <a:solidFill>
            <a:srgbClr val="1B7F8C">
              <a:alpha val="55000"/>
            </a:srgbClr>
          </a:solidFill>
          <a:ln/>
        </p:spPr>
      </p:sp>
      <p:sp>
        <p:nvSpPr>
          <p:cNvPr id="80" name="token 2-6"/>
          <p:cNvSpPr/>
          <p:nvPr/>
        </p:nvSpPr>
        <p:spPr>
          <a:xfrm>
            <a:off x="8805672" y="3282696"/>
            <a:ext cx="182880" cy="182880"/>
          </a:xfrm>
          <a:prstGeom prst="ellipse">
            <a:avLst/>
          </a:prstGeom>
          <a:solidFill>
            <a:srgbClr val="1B7F8C">
              <a:alpha val="55000"/>
            </a:srgbClr>
          </a:solidFill>
          <a:ln/>
        </p:spPr>
      </p:sp>
      <p:sp>
        <p:nvSpPr>
          <p:cNvPr id="81" name="token 3-6"/>
          <p:cNvSpPr/>
          <p:nvPr/>
        </p:nvSpPr>
        <p:spPr>
          <a:xfrm>
            <a:off x="9116568" y="3282696"/>
            <a:ext cx="182880" cy="182880"/>
          </a:xfrm>
          <a:prstGeom prst="ellipse">
            <a:avLst/>
          </a:prstGeom>
          <a:solidFill>
            <a:srgbClr val="1B7F8C">
              <a:alpha val="55000"/>
            </a:srgbClr>
          </a:solidFill>
          <a:ln/>
        </p:spPr>
      </p:sp>
      <p:sp>
        <p:nvSpPr>
          <p:cNvPr id="82" name="token 4-6"/>
          <p:cNvSpPr/>
          <p:nvPr/>
        </p:nvSpPr>
        <p:spPr>
          <a:xfrm>
            <a:off x="9427464" y="3282696"/>
            <a:ext cx="182880" cy="182880"/>
          </a:xfrm>
          <a:prstGeom prst="ellipse">
            <a:avLst/>
          </a:prstGeom>
          <a:solidFill>
            <a:srgbClr val="1B7F8C">
              <a:alpha val="55000"/>
            </a:srgbClr>
          </a:solidFill>
          <a:ln/>
        </p:spPr>
      </p:sp>
      <p:sp>
        <p:nvSpPr>
          <p:cNvPr id="83" name="token 5-6"/>
          <p:cNvSpPr/>
          <p:nvPr/>
        </p:nvSpPr>
        <p:spPr>
          <a:xfrm>
            <a:off x="9738360" y="3282696"/>
            <a:ext cx="182880" cy="182880"/>
          </a:xfrm>
          <a:prstGeom prst="ellipse">
            <a:avLst/>
          </a:prstGeom>
          <a:solidFill>
            <a:srgbClr val="1B7F8C">
              <a:alpha val="55000"/>
            </a:srgbClr>
          </a:solidFill>
          <a:ln/>
        </p:spPr>
      </p:sp>
      <p:sp>
        <p:nvSpPr>
          <p:cNvPr id="84" name="token 6-6"/>
          <p:cNvSpPr/>
          <p:nvPr/>
        </p:nvSpPr>
        <p:spPr>
          <a:xfrm>
            <a:off x="10049256" y="3282696"/>
            <a:ext cx="182880" cy="182880"/>
          </a:xfrm>
          <a:prstGeom prst="ellipse">
            <a:avLst/>
          </a:prstGeom>
          <a:solidFill>
            <a:srgbClr val="1B7F8C">
              <a:alpha val="55000"/>
            </a:srgbClr>
          </a:solidFill>
          <a:ln/>
        </p:spPr>
      </p:sp>
      <p:sp>
        <p:nvSpPr>
          <p:cNvPr id="85" name="token 7-6"/>
          <p:cNvSpPr/>
          <p:nvPr/>
        </p:nvSpPr>
        <p:spPr>
          <a:xfrm>
            <a:off x="10360152" y="3282696"/>
            <a:ext cx="182880" cy="182880"/>
          </a:xfrm>
          <a:prstGeom prst="ellipse">
            <a:avLst/>
          </a:prstGeom>
          <a:solidFill>
            <a:srgbClr val="1B7F8C">
              <a:alpha val="55000"/>
            </a:srgbClr>
          </a:solidFill>
          <a:ln/>
        </p:spPr>
      </p:sp>
      <p:sp>
        <p:nvSpPr>
          <p:cNvPr id="86" name="token 8-6"/>
          <p:cNvSpPr/>
          <p:nvPr/>
        </p:nvSpPr>
        <p:spPr>
          <a:xfrm>
            <a:off x="10671048" y="3282696"/>
            <a:ext cx="182880" cy="182880"/>
          </a:xfrm>
          <a:prstGeom prst="ellipse">
            <a:avLst/>
          </a:prstGeom>
          <a:solidFill>
            <a:srgbClr val="1B7F8C">
              <a:alpha val="55000"/>
            </a:srgbClr>
          </a:solidFill>
          <a:ln/>
        </p:spPr>
      </p:sp>
      <p:sp>
        <p:nvSpPr>
          <p:cNvPr id="87" name="token 9-6"/>
          <p:cNvSpPr/>
          <p:nvPr/>
        </p:nvSpPr>
        <p:spPr>
          <a:xfrm>
            <a:off x="10981944" y="3282696"/>
            <a:ext cx="182880" cy="182880"/>
          </a:xfrm>
          <a:prstGeom prst="ellipse">
            <a:avLst/>
          </a:prstGeom>
          <a:solidFill>
            <a:srgbClr val="1B7F8C">
              <a:alpha val="55000"/>
            </a:srgbClr>
          </a:solidFill>
          <a:ln/>
        </p:spPr>
      </p:sp>
      <p:sp>
        <p:nvSpPr>
          <p:cNvPr id="88" name="token 10-6"/>
          <p:cNvSpPr/>
          <p:nvPr/>
        </p:nvSpPr>
        <p:spPr>
          <a:xfrm>
            <a:off x="11292840" y="3282696"/>
            <a:ext cx="182880" cy="182880"/>
          </a:xfrm>
          <a:prstGeom prst="ellipse">
            <a:avLst/>
          </a:prstGeom>
          <a:solidFill>
            <a:srgbClr val="1B7F8C">
              <a:alpha val="55000"/>
            </a:srgbClr>
          </a:solidFill>
          <a:ln/>
        </p:spPr>
      </p:sp>
      <p:sp>
        <p:nvSpPr>
          <p:cNvPr id="89" name="token 11-6"/>
          <p:cNvSpPr/>
          <p:nvPr/>
        </p:nvSpPr>
        <p:spPr>
          <a:xfrm>
            <a:off x="11603736" y="3282696"/>
            <a:ext cx="182880" cy="182880"/>
          </a:xfrm>
          <a:prstGeom prst="ellipse">
            <a:avLst/>
          </a:prstGeom>
          <a:solidFill>
            <a:srgbClr val="1B7F8C">
              <a:alpha val="55000"/>
            </a:srgbClr>
          </a:solidFill>
          <a:ln/>
        </p:spPr>
      </p:sp>
      <p:sp>
        <p:nvSpPr>
          <p:cNvPr id="90" name="Text 88"/>
          <p:cNvSpPr txBox="1"/>
          <p:nvPr/>
        </p:nvSpPr>
        <p:spPr>
          <a:xfrm>
            <a:off x="8183880" y="3749040"/>
            <a:ext cx="3840480" cy="274320"/>
          </a:xfrm>
          <a:prstGeom prst="rect">
            <a:avLst/>
          </a:prstGeom>
          <a:noFill/>
          <a:ln/>
        </p:spPr>
        <p:txBody>
          <a:bodyPr wrap="square" lIns="0" tIns="0" rIns="0" bIns="0" rtlCol="0" anchor="t"/>
          <a:lstStyle/>
          <a:p>
            <a:pPr indent="0" marL="0">
              <a:buNone/>
            </a:pPr>
            <a:r>
              <a:rPr lang="en-US" sz="1200" i="1" dirty="0">
                <a:solidFill>
                  <a:srgbClr val="CADCE4"/>
                </a:solidFill>
                <a:latin typeface="Calibri" pitchFamily="34" charset="0"/>
                <a:ea typeface="Calibri" pitchFamily="34" charset="-122"/>
                <a:cs typeface="Calibri" pitchFamily="34" charset="-120"/>
              </a:rPr>
              <a:t>256 patch tokens routed into 32 macro-slots</a:t>
            </a:r>
            <a:endParaRPr lang="en-US" sz="1200" dirty="0"/>
          </a:p>
        </p:txBody>
      </p:sp>
      <p:sp>
        <p:nvSpPr>
          <p:cNvPr id="91" name="Logo disc"/>
          <p:cNvSpPr/>
          <p:nvPr/>
        </p:nvSpPr>
        <p:spPr>
          <a:xfrm>
            <a:off x="9464040" y="4572000"/>
            <a:ext cx="1463040" cy="1463040"/>
          </a:xfrm>
          <a:prstGeom prst="ellipse">
            <a:avLst/>
          </a:prstGeom>
          <a:solidFill>
            <a:srgbClr val="FFFFFF"/>
          </a:solidFill>
          <a:ln/>
        </p:spPr>
      </p:sp>
      <p:pic>
        <p:nvPicPr>
          <p:cNvPr id="92" name="SRMIST emblem" descr="SRM Institute of Science and Technology emblem">    </p:cNvPr>
          <p:cNvPicPr>
            <a:picLocks noChangeAspect="1"/>
          </p:cNvPicPr>
          <p:nvPr/>
        </p:nvPicPr>
        <p:blipFill>
          <a:blip r:embed="rId1"/>
          <a:stretch>
            <a:fillRect/>
          </a:stretch>
        </p:blipFill>
        <p:spPr>
          <a:xfrm>
            <a:off x="9555480" y="466344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Abstract</a:t>
            </a:r>
            <a:endParaRPr lang="en-US" sz="3200" dirty="0"/>
          </a:p>
        </p:txBody>
      </p:sp>
      <p:sp>
        <p:nvSpPr>
          <p:cNvPr id="3" name="Abstract panel"/>
          <p:cNvSpPr/>
          <p:nvPr/>
        </p:nvSpPr>
        <p:spPr>
          <a:xfrm>
            <a:off x="548640" y="1280160"/>
            <a:ext cx="7223760" cy="4892040"/>
          </a:xfrm>
          <a:prstGeom prst="roundRect">
            <a:avLst>
              <a:gd name="adj" fmla="val 1495"/>
            </a:avLst>
          </a:prstGeom>
          <a:solidFill>
            <a:srgbClr val="EAF1F4"/>
          </a:solidFill>
          <a:ln/>
        </p:spPr>
      </p:sp>
      <p:sp>
        <p:nvSpPr>
          <p:cNvPr id="4" name="Text 2"/>
          <p:cNvSpPr txBox="1"/>
          <p:nvPr/>
        </p:nvSpPr>
        <p:spPr>
          <a:xfrm>
            <a:off x="777240" y="1463040"/>
            <a:ext cx="6766560" cy="4572000"/>
          </a:xfrm>
          <a:prstGeom prst="rect">
            <a:avLst/>
          </a:prstGeom>
          <a:noFill/>
          <a:ln/>
        </p:spPr>
        <p:txBody>
          <a:bodyPr wrap="square" lIns="0" tIns="0" rIns="0" bIns="0" rtlCol="0" anchor="t"/>
          <a:lstStyle/>
          <a:p>
            <a:pPr indent="0" marL="0">
              <a:lnSpc>
                <a:spcPct val="105000"/>
              </a:lnSpc>
              <a:buNone/>
            </a:pPr>
            <a:r>
              <a:rPr lang="en-US" sz="1550" dirty="0">
                <a:solidFill>
                  <a:srgbClr val="1A2530"/>
                </a:solidFill>
                <a:latin typeface="Calibri" pitchFamily="34" charset="0"/>
                <a:ea typeface="Calibri" pitchFamily="34" charset="-122"/>
                <a:cs typeface="Calibri" pitchFamily="34" charset="-120"/>
              </a:rPr>
              <a:t>Hierarchical vision transformers fix their multi-scale structure by hand (shifted windows, patch merging). Our minor project, CET-ViT, instead routes 256 patch tokens into 32 learned macro-slots with one top-3 sparse assignment (0.0069M parameters) and reported +3.91 points over a size-matched Swin on CIFAR-100. A follow-up self-audit (237 runs, 229 H100-hours) showed that this headline does not survive a compute-matched control and per-arm learning-rate tuning: at the locked learning rate the grouping branch is 1.16 points below a no-branch control on CIFAR-100 and 1.67 below on Tiny-ImageNet, and its sign at tuned rates depends on rate and data set. The open question is therefore not whether grouping works, but what it buys beyond extra capacity. This major project (i) releases a corrected, reproducible baseline; (ii) tests learned grouping against capacity controls (register-style input-independent slots, frozen random routers, fixed block routing) under per-arm tuning and at least five seeds; (iii) extends the comparison to ImageNet-100; and (iv) evaluates the 'emergent regions' claim quantitatively against object masks. Analysis plans are registered before the final runs. Outputs: a public, licensed evaluation harness and two manuscripts.</a:t>
            </a:r>
            <a:endParaRPr lang="en-US" sz="1550" dirty="0"/>
          </a:p>
        </p:txBody>
      </p:sp>
      <p:sp>
        <p:nvSpPr>
          <p:cNvPr id="5" name="Contribution card 1"/>
          <p:cNvSpPr/>
          <p:nvPr/>
        </p:nvSpPr>
        <p:spPr>
          <a:xfrm>
            <a:off x="8046720" y="1280160"/>
            <a:ext cx="3611880" cy="1097280"/>
          </a:xfrm>
          <a:prstGeom prst="roundRect">
            <a:avLst>
              <a:gd name="adj" fmla="val 6667"/>
            </a:avLst>
          </a:prstGeom>
          <a:solidFill>
            <a:srgbClr val="FFFFFF"/>
          </a:solidFill>
          <a:ln w="12700">
            <a:solidFill>
              <a:srgbClr val="D3DEE4"/>
            </a:solidFill>
            <a:prstDash val="solid"/>
          </a:ln>
        </p:spPr>
      </p:sp>
      <p:sp>
        <p:nvSpPr>
          <p:cNvPr id="6" name="Contribution badge 1"/>
          <p:cNvSpPr/>
          <p:nvPr/>
        </p:nvSpPr>
        <p:spPr>
          <a:xfrm>
            <a:off x="8229600" y="1554480"/>
            <a:ext cx="548640" cy="548640"/>
          </a:xfrm>
          <a:prstGeom prst="ellipse">
            <a:avLst/>
          </a:prstGeom>
          <a:solidFill>
            <a:srgbClr val="1B7F8C"/>
          </a:solidFill>
          <a:ln/>
        </p:spPr>
      </p:sp>
      <p:sp>
        <p:nvSpPr>
          <p:cNvPr id="7" name="Contribution badge 1 label"/>
          <p:cNvSpPr txBox="1"/>
          <p:nvPr/>
        </p:nvSpPr>
        <p:spPr>
          <a:xfrm>
            <a:off x="822960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8961120" y="1444752"/>
            <a:ext cx="260604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Corrected baseline</a:t>
            </a:r>
            <a:endParaRPr lang="en-US" sz="1600" dirty="0"/>
          </a:p>
        </p:txBody>
      </p:sp>
      <p:sp>
        <p:nvSpPr>
          <p:cNvPr id="9" name="Text 7"/>
          <p:cNvSpPr txBox="1"/>
          <p:nvPr/>
        </p:nvSpPr>
        <p:spPr>
          <a:xfrm>
            <a:off x="8961120" y="1783080"/>
            <a:ext cx="2606040" cy="548640"/>
          </a:xfrm>
          <a:prstGeom prst="rect">
            <a:avLst/>
          </a:prstGeom>
          <a:noFill/>
          <a:ln/>
        </p:spPr>
        <p:txBody>
          <a:bodyPr wrap="square" lIns="0" tIns="0" rIns="0" bIns="0" rtlCol="0" anchor="t"/>
          <a:lstStyle/>
          <a:p>
            <a:pPr indent="0" marL="0">
              <a:buNone/>
            </a:pPr>
            <a:r>
              <a:rPr lang="en-US" sz="1300" dirty="0">
                <a:solidFill>
                  <a:srgbClr val="5B6B77"/>
                </a:solidFill>
                <a:latin typeface="Calibri" pitchFamily="34" charset="0"/>
                <a:ea typeface="Calibri" pitchFamily="34" charset="-122"/>
                <a:cs typeface="Calibri" pitchFamily="34" charset="-120"/>
              </a:rPr>
              <a:t>Release a reproducible, licensed CET-ViT.</a:t>
            </a:r>
            <a:endParaRPr lang="en-US" sz="1300" dirty="0"/>
          </a:p>
        </p:txBody>
      </p:sp>
      <p:sp>
        <p:nvSpPr>
          <p:cNvPr id="10" name="Contribution card 2"/>
          <p:cNvSpPr/>
          <p:nvPr/>
        </p:nvSpPr>
        <p:spPr>
          <a:xfrm>
            <a:off x="8046720" y="2514600"/>
            <a:ext cx="3611880" cy="1097280"/>
          </a:xfrm>
          <a:prstGeom prst="roundRect">
            <a:avLst>
              <a:gd name="adj" fmla="val 6667"/>
            </a:avLst>
          </a:prstGeom>
          <a:solidFill>
            <a:srgbClr val="FFFFFF"/>
          </a:solidFill>
          <a:ln w="12700">
            <a:solidFill>
              <a:srgbClr val="D3DEE4"/>
            </a:solidFill>
            <a:prstDash val="solid"/>
          </a:ln>
        </p:spPr>
      </p:sp>
      <p:sp>
        <p:nvSpPr>
          <p:cNvPr id="11" name="Contribution badge 2"/>
          <p:cNvSpPr/>
          <p:nvPr/>
        </p:nvSpPr>
        <p:spPr>
          <a:xfrm>
            <a:off x="8229600" y="2788920"/>
            <a:ext cx="548640" cy="548640"/>
          </a:xfrm>
          <a:prstGeom prst="ellipse">
            <a:avLst/>
          </a:prstGeom>
          <a:solidFill>
            <a:srgbClr val="1B7F8C"/>
          </a:solidFill>
          <a:ln/>
        </p:spPr>
      </p:sp>
      <p:sp>
        <p:nvSpPr>
          <p:cNvPr id="12" name="Contribution badge 2 label"/>
          <p:cNvSpPr txBox="1"/>
          <p:nvPr/>
        </p:nvSpPr>
        <p:spPr>
          <a:xfrm>
            <a:off x="8229600" y="2788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8961120" y="2679192"/>
            <a:ext cx="260604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Capacity controls</a:t>
            </a:r>
            <a:endParaRPr lang="en-US" sz="1600" dirty="0"/>
          </a:p>
        </p:txBody>
      </p:sp>
      <p:sp>
        <p:nvSpPr>
          <p:cNvPr id="14" name="Text 12"/>
          <p:cNvSpPr txBox="1"/>
          <p:nvPr/>
        </p:nvSpPr>
        <p:spPr>
          <a:xfrm>
            <a:off x="8961120" y="3017520"/>
            <a:ext cx="2606040" cy="548640"/>
          </a:xfrm>
          <a:prstGeom prst="rect">
            <a:avLst/>
          </a:prstGeom>
          <a:noFill/>
          <a:ln/>
        </p:spPr>
        <p:txBody>
          <a:bodyPr wrap="square" lIns="0" tIns="0" rIns="0" bIns="0" rtlCol="0" anchor="t"/>
          <a:lstStyle/>
          <a:p>
            <a:pPr indent="0" marL="0">
              <a:buNone/>
            </a:pPr>
            <a:r>
              <a:rPr lang="en-US" sz="1300" dirty="0">
                <a:solidFill>
                  <a:srgbClr val="5B6B77"/>
                </a:solidFill>
                <a:latin typeface="Calibri" pitchFamily="34" charset="0"/>
                <a:ea typeface="Calibri" pitchFamily="34" charset="-122"/>
                <a:cs typeface="Calibri" pitchFamily="34" charset="-120"/>
              </a:rPr>
              <a:t>Learned routing vs registers, random and fixed routers.</a:t>
            </a:r>
            <a:endParaRPr lang="en-US" sz="1300" dirty="0"/>
          </a:p>
        </p:txBody>
      </p:sp>
      <p:sp>
        <p:nvSpPr>
          <p:cNvPr id="15" name="Contribution card 3"/>
          <p:cNvSpPr/>
          <p:nvPr/>
        </p:nvSpPr>
        <p:spPr>
          <a:xfrm>
            <a:off x="8046720" y="3749040"/>
            <a:ext cx="3611880" cy="1097280"/>
          </a:xfrm>
          <a:prstGeom prst="roundRect">
            <a:avLst>
              <a:gd name="adj" fmla="val 6667"/>
            </a:avLst>
          </a:prstGeom>
          <a:solidFill>
            <a:srgbClr val="FFFFFF"/>
          </a:solidFill>
          <a:ln w="12700">
            <a:solidFill>
              <a:srgbClr val="D3DEE4"/>
            </a:solidFill>
            <a:prstDash val="solid"/>
          </a:ln>
        </p:spPr>
      </p:sp>
      <p:sp>
        <p:nvSpPr>
          <p:cNvPr id="16" name="Contribution badge 3"/>
          <p:cNvSpPr/>
          <p:nvPr/>
        </p:nvSpPr>
        <p:spPr>
          <a:xfrm>
            <a:off x="8229600" y="4023360"/>
            <a:ext cx="548640" cy="548640"/>
          </a:xfrm>
          <a:prstGeom prst="ellipse">
            <a:avLst/>
          </a:prstGeom>
          <a:solidFill>
            <a:srgbClr val="1B7F8C"/>
          </a:solidFill>
          <a:ln/>
        </p:spPr>
      </p:sp>
      <p:sp>
        <p:nvSpPr>
          <p:cNvPr id="17" name="Contribution badge 3 label"/>
          <p:cNvSpPr txBox="1"/>
          <p:nvPr/>
        </p:nvSpPr>
        <p:spPr>
          <a:xfrm>
            <a:off x="822960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8961120" y="3913632"/>
            <a:ext cx="260604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Scale</a:t>
            </a:r>
            <a:endParaRPr lang="en-US" sz="1600" dirty="0"/>
          </a:p>
        </p:txBody>
      </p:sp>
      <p:sp>
        <p:nvSpPr>
          <p:cNvPr id="19" name="Text 17"/>
          <p:cNvSpPr txBox="1"/>
          <p:nvPr/>
        </p:nvSpPr>
        <p:spPr>
          <a:xfrm>
            <a:off x="8961120" y="4251960"/>
            <a:ext cx="2606040" cy="548640"/>
          </a:xfrm>
          <a:prstGeom prst="rect">
            <a:avLst/>
          </a:prstGeom>
          <a:noFill/>
          <a:ln/>
        </p:spPr>
        <p:txBody>
          <a:bodyPr wrap="square" lIns="0" tIns="0" rIns="0" bIns="0" rtlCol="0" anchor="t"/>
          <a:lstStyle/>
          <a:p>
            <a:pPr indent="0" marL="0">
              <a:buNone/>
            </a:pPr>
            <a:r>
              <a:rPr lang="en-US" sz="1300" dirty="0">
                <a:solidFill>
                  <a:srgbClr val="5B6B77"/>
                </a:solidFill>
                <a:latin typeface="Calibri" pitchFamily="34" charset="0"/>
                <a:ea typeface="Calibri" pitchFamily="34" charset="-122"/>
                <a:cs typeface="Calibri" pitchFamily="34" charset="-120"/>
              </a:rPr>
              <a:t>Extend the comparison to ImageNet-100.</a:t>
            </a:r>
            <a:endParaRPr lang="en-US" sz="1300" dirty="0"/>
          </a:p>
        </p:txBody>
      </p:sp>
      <p:sp>
        <p:nvSpPr>
          <p:cNvPr id="20" name="Contribution card 4"/>
          <p:cNvSpPr/>
          <p:nvPr/>
        </p:nvSpPr>
        <p:spPr>
          <a:xfrm>
            <a:off x="8046720" y="4983480"/>
            <a:ext cx="3611880" cy="1097280"/>
          </a:xfrm>
          <a:prstGeom prst="roundRect">
            <a:avLst>
              <a:gd name="adj" fmla="val 6667"/>
            </a:avLst>
          </a:prstGeom>
          <a:solidFill>
            <a:srgbClr val="FFFFFF"/>
          </a:solidFill>
          <a:ln w="12700">
            <a:solidFill>
              <a:srgbClr val="D3DEE4"/>
            </a:solidFill>
            <a:prstDash val="solid"/>
          </a:ln>
        </p:spPr>
      </p:sp>
      <p:sp>
        <p:nvSpPr>
          <p:cNvPr id="21" name="Contribution badge 4"/>
          <p:cNvSpPr/>
          <p:nvPr/>
        </p:nvSpPr>
        <p:spPr>
          <a:xfrm>
            <a:off x="8229600" y="5257800"/>
            <a:ext cx="548640" cy="548640"/>
          </a:xfrm>
          <a:prstGeom prst="ellipse">
            <a:avLst/>
          </a:prstGeom>
          <a:solidFill>
            <a:srgbClr val="1B7F8C"/>
          </a:solidFill>
          <a:ln/>
        </p:spPr>
      </p:sp>
      <p:sp>
        <p:nvSpPr>
          <p:cNvPr id="22" name="Contribution badge 4 label"/>
          <p:cNvSpPr txBox="1"/>
          <p:nvPr/>
        </p:nvSpPr>
        <p:spPr>
          <a:xfrm>
            <a:off x="8229600" y="5257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txBox="1"/>
          <p:nvPr/>
        </p:nvSpPr>
        <p:spPr>
          <a:xfrm>
            <a:off x="8961120" y="5148072"/>
            <a:ext cx="260604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Regions</a:t>
            </a:r>
            <a:endParaRPr lang="en-US" sz="1600" dirty="0"/>
          </a:p>
        </p:txBody>
      </p:sp>
      <p:sp>
        <p:nvSpPr>
          <p:cNvPr id="24" name="Text 22"/>
          <p:cNvSpPr txBox="1"/>
          <p:nvPr/>
        </p:nvSpPr>
        <p:spPr>
          <a:xfrm>
            <a:off x="8961120" y="5486400"/>
            <a:ext cx="2606040" cy="548640"/>
          </a:xfrm>
          <a:prstGeom prst="rect">
            <a:avLst/>
          </a:prstGeom>
          <a:noFill/>
          <a:ln/>
        </p:spPr>
        <p:txBody>
          <a:bodyPr wrap="square" lIns="0" tIns="0" rIns="0" bIns="0" rtlCol="0" anchor="t"/>
          <a:lstStyle/>
          <a:p>
            <a:pPr indent="0" marL="0">
              <a:buNone/>
            </a:pPr>
            <a:r>
              <a:rPr lang="en-US" sz="1300" dirty="0">
                <a:solidFill>
                  <a:srgbClr val="5B6B77"/>
                </a:solidFill>
                <a:latin typeface="Calibri" pitchFamily="34" charset="0"/>
                <a:ea typeface="Calibri" pitchFamily="34" charset="-122"/>
                <a:cs typeface="Calibri" pitchFamily="34" charset="-120"/>
              </a:rPr>
              <a:t>Score emergent regions against object masks.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Introduction: from fixed hierarchies to learned grouping</a:t>
            </a:r>
            <a:endParaRPr lang="en-US" sz="3200" dirty="0"/>
          </a:p>
        </p:txBody>
      </p:sp>
      <p:sp>
        <p:nvSpPr>
          <p:cNvPr id="3" name="Pipeline step 1"/>
          <p:cNvSpPr/>
          <p:nvPr/>
        </p:nvSpPr>
        <p:spPr>
          <a:xfrm>
            <a:off x="548640" y="1325880"/>
            <a:ext cx="1627632" cy="1051560"/>
          </a:xfrm>
          <a:prstGeom prst="roundRect">
            <a:avLst>
              <a:gd name="adj" fmla="val 6957"/>
            </a:avLst>
          </a:prstGeom>
          <a:solidFill>
            <a:srgbClr val="EAF1F4"/>
          </a:solidFill>
          <a:ln/>
        </p:spPr>
      </p:sp>
      <p:sp>
        <p:nvSpPr>
          <p:cNvPr id="4" name="Text 2"/>
          <p:cNvSpPr txBox="1"/>
          <p:nvPr/>
        </p:nvSpPr>
        <p:spPr>
          <a:xfrm>
            <a:off x="640080" y="1508760"/>
            <a:ext cx="1444752" cy="32004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Image patches</a:t>
            </a:r>
            <a:endParaRPr lang="en-US" sz="1400" dirty="0"/>
          </a:p>
        </p:txBody>
      </p:sp>
      <p:sp>
        <p:nvSpPr>
          <p:cNvPr id="5" name="Text 3"/>
          <p:cNvSpPr txBox="1"/>
          <p:nvPr/>
        </p:nvSpPr>
        <p:spPr>
          <a:xfrm>
            <a:off x="640080" y="1892808"/>
            <a:ext cx="1444752" cy="365760"/>
          </a:xfrm>
          <a:prstGeom prst="rect">
            <a:avLst/>
          </a:prstGeom>
          <a:noFill/>
          <a:ln/>
        </p:spPr>
        <p:txBody>
          <a:bodyPr wrap="square" lIns="0" tIns="0" rIns="0" bIns="0" rtlCol="0" anchor="t"/>
          <a:lstStyle/>
          <a:p>
            <a:pPr algn="ctr" indent="0" marL="0">
              <a:buNone/>
            </a:pPr>
            <a:r>
              <a:rPr lang="en-US" sz="1200" dirty="0">
                <a:solidFill>
                  <a:srgbClr val="5B6B77"/>
                </a:solidFill>
                <a:latin typeface="Calibri" pitchFamily="34" charset="0"/>
                <a:ea typeface="Calibri" pitchFamily="34" charset="-122"/>
                <a:cs typeface="Calibri" pitchFamily="34" charset="-120"/>
              </a:rPr>
              <a:t>256 tokens</a:t>
            </a:r>
            <a:endParaRPr lang="en-US" sz="1200" dirty="0"/>
          </a:p>
        </p:txBody>
      </p:sp>
      <p:sp>
        <p:nvSpPr>
          <p:cNvPr id="6" name="Pipeline arrow 1"/>
          <p:cNvSpPr/>
          <p:nvPr/>
        </p:nvSpPr>
        <p:spPr>
          <a:xfrm>
            <a:off x="2203704" y="1755648"/>
            <a:ext cx="201168" cy="201168"/>
          </a:xfrm>
          <a:prstGeom prst="rightArrow">
            <a:avLst/>
          </a:prstGeom>
          <a:solidFill>
            <a:srgbClr val="5B6B77"/>
          </a:solidFill>
          <a:ln/>
        </p:spPr>
      </p:sp>
      <p:sp>
        <p:nvSpPr>
          <p:cNvPr id="7" name="Pipeline step 2"/>
          <p:cNvSpPr/>
          <p:nvPr/>
        </p:nvSpPr>
        <p:spPr>
          <a:xfrm>
            <a:off x="2432304" y="1325880"/>
            <a:ext cx="1627632" cy="1051560"/>
          </a:xfrm>
          <a:prstGeom prst="roundRect">
            <a:avLst>
              <a:gd name="adj" fmla="val 6957"/>
            </a:avLst>
          </a:prstGeom>
          <a:solidFill>
            <a:srgbClr val="EAF1F4"/>
          </a:solidFill>
          <a:ln/>
        </p:spPr>
      </p:sp>
      <p:sp>
        <p:nvSpPr>
          <p:cNvPr id="8" name="Text 6"/>
          <p:cNvSpPr txBox="1"/>
          <p:nvPr/>
        </p:nvSpPr>
        <p:spPr>
          <a:xfrm>
            <a:off x="2523744" y="1508760"/>
            <a:ext cx="1444752" cy="32004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Micro encoder</a:t>
            </a:r>
            <a:endParaRPr lang="en-US" sz="1400" dirty="0"/>
          </a:p>
        </p:txBody>
      </p:sp>
      <p:sp>
        <p:nvSpPr>
          <p:cNvPr id="9" name="Text 7"/>
          <p:cNvSpPr txBox="1"/>
          <p:nvPr/>
        </p:nvSpPr>
        <p:spPr>
          <a:xfrm>
            <a:off x="2523744" y="1892808"/>
            <a:ext cx="1444752" cy="365760"/>
          </a:xfrm>
          <a:prstGeom prst="rect">
            <a:avLst/>
          </a:prstGeom>
          <a:noFill/>
          <a:ln/>
        </p:spPr>
        <p:txBody>
          <a:bodyPr wrap="square" lIns="0" tIns="0" rIns="0" bIns="0" rtlCol="0" anchor="t"/>
          <a:lstStyle/>
          <a:p>
            <a:pPr algn="ctr" indent="0" marL="0">
              <a:buNone/>
            </a:pPr>
            <a:r>
              <a:rPr lang="en-US" sz="1200" dirty="0">
                <a:solidFill>
                  <a:srgbClr val="5B6B77"/>
                </a:solidFill>
                <a:latin typeface="Calibri" pitchFamily="34" charset="0"/>
                <a:ea typeface="Calibri" pitchFamily="34" charset="-122"/>
                <a:cs typeface="Calibri" pitchFamily="34" charset="-120"/>
              </a:rPr>
              <a:t>stages 1-2</a:t>
            </a:r>
            <a:endParaRPr lang="en-US" sz="1200" dirty="0"/>
          </a:p>
        </p:txBody>
      </p:sp>
      <p:sp>
        <p:nvSpPr>
          <p:cNvPr id="10" name="Pipeline arrow 2"/>
          <p:cNvSpPr/>
          <p:nvPr/>
        </p:nvSpPr>
        <p:spPr>
          <a:xfrm>
            <a:off x="4087368" y="1755648"/>
            <a:ext cx="201168" cy="201168"/>
          </a:xfrm>
          <a:prstGeom prst="rightArrow">
            <a:avLst/>
          </a:prstGeom>
          <a:solidFill>
            <a:srgbClr val="5B6B77"/>
          </a:solidFill>
          <a:ln/>
        </p:spPr>
      </p:sp>
      <p:sp>
        <p:nvSpPr>
          <p:cNvPr id="11" name="Pipeline step 3"/>
          <p:cNvSpPr/>
          <p:nvPr/>
        </p:nvSpPr>
        <p:spPr>
          <a:xfrm>
            <a:off x="4315968" y="1325880"/>
            <a:ext cx="1627632" cy="1051560"/>
          </a:xfrm>
          <a:prstGeom prst="roundRect">
            <a:avLst>
              <a:gd name="adj" fmla="val 6957"/>
            </a:avLst>
          </a:prstGeom>
          <a:solidFill>
            <a:srgbClr val="1B7F8C"/>
          </a:solidFill>
          <a:ln/>
        </p:spPr>
      </p:sp>
      <p:sp>
        <p:nvSpPr>
          <p:cNvPr id="12" name="Text 10"/>
          <p:cNvSpPr txBox="1"/>
          <p:nvPr/>
        </p:nvSpPr>
        <p:spPr>
          <a:xfrm>
            <a:off x="4407408" y="1508760"/>
            <a:ext cx="1444752"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V-CEO router</a:t>
            </a:r>
            <a:endParaRPr lang="en-US" sz="1400" dirty="0"/>
          </a:p>
        </p:txBody>
      </p:sp>
      <p:sp>
        <p:nvSpPr>
          <p:cNvPr id="13" name="Text 11"/>
          <p:cNvSpPr txBox="1"/>
          <p:nvPr/>
        </p:nvSpPr>
        <p:spPr>
          <a:xfrm>
            <a:off x="4407408" y="1892808"/>
            <a:ext cx="1444752" cy="36576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top-3 of 32 slots</a:t>
            </a:r>
            <a:endParaRPr lang="en-US" sz="1200" dirty="0"/>
          </a:p>
        </p:txBody>
      </p:sp>
      <p:sp>
        <p:nvSpPr>
          <p:cNvPr id="14" name="Pipeline arrow 3"/>
          <p:cNvSpPr/>
          <p:nvPr/>
        </p:nvSpPr>
        <p:spPr>
          <a:xfrm>
            <a:off x="5971032" y="1755648"/>
            <a:ext cx="201168" cy="201168"/>
          </a:xfrm>
          <a:prstGeom prst="rightArrow">
            <a:avLst/>
          </a:prstGeom>
          <a:solidFill>
            <a:srgbClr val="5B6B77"/>
          </a:solidFill>
          <a:ln/>
        </p:spPr>
      </p:sp>
      <p:sp>
        <p:nvSpPr>
          <p:cNvPr id="15" name="Pipeline step 4"/>
          <p:cNvSpPr/>
          <p:nvPr/>
        </p:nvSpPr>
        <p:spPr>
          <a:xfrm>
            <a:off x="6199632" y="1325880"/>
            <a:ext cx="1627632" cy="1051560"/>
          </a:xfrm>
          <a:prstGeom prst="roundRect">
            <a:avLst>
              <a:gd name="adj" fmla="val 6957"/>
            </a:avLst>
          </a:prstGeom>
          <a:solidFill>
            <a:srgbClr val="EAF1F4"/>
          </a:solidFill>
          <a:ln/>
        </p:spPr>
      </p:sp>
      <p:sp>
        <p:nvSpPr>
          <p:cNvPr id="16" name="Text 14"/>
          <p:cNvSpPr txBox="1"/>
          <p:nvPr/>
        </p:nvSpPr>
        <p:spPr>
          <a:xfrm>
            <a:off x="6291072" y="1508760"/>
            <a:ext cx="1444752" cy="32004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Macro encoder</a:t>
            </a:r>
            <a:endParaRPr lang="en-US" sz="1400" dirty="0"/>
          </a:p>
        </p:txBody>
      </p:sp>
      <p:sp>
        <p:nvSpPr>
          <p:cNvPr id="17" name="Text 15"/>
          <p:cNvSpPr txBox="1"/>
          <p:nvPr/>
        </p:nvSpPr>
        <p:spPr>
          <a:xfrm>
            <a:off x="6291072" y="1892808"/>
            <a:ext cx="1444752" cy="365760"/>
          </a:xfrm>
          <a:prstGeom prst="rect">
            <a:avLst/>
          </a:prstGeom>
          <a:noFill/>
          <a:ln/>
        </p:spPr>
        <p:txBody>
          <a:bodyPr wrap="square" lIns="0" tIns="0" rIns="0" bIns="0" rtlCol="0" anchor="t"/>
          <a:lstStyle/>
          <a:p>
            <a:pPr algn="ctr" indent="0" marL="0">
              <a:buNone/>
            </a:pPr>
            <a:r>
              <a:rPr lang="en-US" sz="1200" dirty="0">
                <a:solidFill>
                  <a:srgbClr val="5B6B77"/>
                </a:solidFill>
                <a:latin typeface="Calibri" pitchFamily="34" charset="0"/>
                <a:ea typeface="Calibri" pitchFamily="34" charset="-122"/>
                <a:cs typeface="Calibri" pitchFamily="34" charset="-120"/>
              </a:rPr>
              <a:t>+ cross-scale attention</a:t>
            </a:r>
            <a:endParaRPr lang="en-US" sz="1200" dirty="0"/>
          </a:p>
        </p:txBody>
      </p:sp>
      <p:sp>
        <p:nvSpPr>
          <p:cNvPr id="18" name="Pipeline arrow 4"/>
          <p:cNvSpPr/>
          <p:nvPr/>
        </p:nvSpPr>
        <p:spPr>
          <a:xfrm>
            <a:off x="7854696" y="1755648"/>
            <a:ext cx="201168" cy="201168"/>
          </a:xfrm>
          <a:prstGeom prst="rightArrow">
            <a:avLst/>
          </a:prstGeom>
          <a:solidFill>
            <a:srgbClr val="5B6B77"/>
          </a:solidFill>
          <a:ln/>
        </p:spPr>
      </p:sp>
      <p:sp>
        <p:nvSpPr>
          <p:cNvPr id="19" name="Pipeline step 5"/>
          <p:cNvSpPr/>
          <p:nvPr/>
        </p:nvSpPr>
        <p:spPr>
          <a:xfrm>
            <a:off x="8083296" y="1325880"/>
            <a:ext cx="1627632" cy="1051560"/>
          </a:xfrm>
          <a:prstGeom prst="roundRect">
            <a:avLst>
              <a:gd name="adj" fmla="val 6957"/>
            </a:avLst>
          </a:prstGeom>
          <a:solidFill>
            <a:srgbClr val="EAF1F4"/>
          </a:solidFill>
          <a:ln/>
        </p:spPr>
      </p:sp>
      <p:sp>
        <p:nvSpPr>
          <p:cNvPr id="20" name="Text 18"/>
          <p:cNvSpPr txBox="1"/>
          <p:nvPr/>
        </p:nvSpPr>
        <p:spPr>
          <a:xfrm>
            <a:off x="8174736" y="1508760"/>
            <a:ext cx="1444752" cy="32004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Deep encoder</a:t>
            </a:r>
            <a:endParaRPr lang="en-US" sz="1400" dirty="0"/>
          </a:p>
        </p:txBody>
      </p:sp>
      <p:sp>
        <p:nvSpPr>
          <p:cNvPr id="21" name="Text 19"/>
          <p:cNvSpPr txBox="1"/>
          <p:nvPr/>
        </p:nvSpPr>
        <p:spPr>
          <a:xfrm>
            <a:off x="8174736" y="1892808"/>
            <a:ext cx="1444752" cy="365760"/>
          </a:xfrm>
          <a:prstGeom prst="rect">
            <a:avLst/>
          </a:prstGeom>
          <a:noFill/>
          <a:ln/>
        </p:spPr>
        <p:txBody>
          <a:bodyPr wrap="square" lIns="0" tIns="0" rIns="0" bIns="0" rtlCol="0" anchor="t"/>
          <a:lstStyle/>
          <a:p>
            <a:pPr algn="ctr" indent="0" marL="0">
              <a:buNone/>
            </a:pPr>
            <a:r>
              <a:rPr lang="en-US" sz="1200" dirty="0">
                <a:solidFill>
                  <a:srgbClr val="5B6B77"/>
                </a:solidFill>
                <a:latin typeface="Calibri" pitchFamily="34" charset="0"/>
                <a:ea typeface="Calibri" pitchFamily="34" charset="-122"/>
                <a:cs typeface="Calibri" pitchFamily="34" charset="-120"/>
              </a:rPr>
              <a:t>fused with macro summary</a:t>
            </a:r>
            <a:endParaRPr lang="en-US" sz="1200" dirty="0"/>
          </a:p>
        </p:txBody>
      </p:sp>
      <p:sp>
        <p:nvSpPr>
          <p:cNvPr id="22" name="Pipeline arrow 5"/>
          <p:cNvSpPr/>
          <p:nvPr/>
        </p:nvSpPr>
        <p:spPr>
          <a:xfrm>
            <a:off x="9738360" y="1755648"/>
            <a:ext cx="201168" cy="201168"/>
          </a:xfrm>
          <a:prstGeom prst="rightArrow">
            <a:avLst/>
          </a:prstGeom>
          <a:solidFill>
            <a:srgbClr val="5B6B77"/>
          </a:solidFill>
          <a:ln/>
        </p:spPr>
      </p:sp>
      <p:sp>
        <p:nvSpPr>
          <p:cNvPr id="23" name="Pipeline step 6"/>
          <p:cNvSpPr/>
          <p:nvPr/>
        </p:nvSpPr>
        <p:spPr>
          <a:xfrm>
            <a:off x="9966960" y="1325880"/>
            <a:ext cx="1627632" cy="1051560"/>
          </a:xfrm>
          <a:prstGeom prst="roundRect">
            <a:avLst>
              <a:gd name="adj" fmla="val 6957"/>
            </a:avLst>
          </a:prstGeom>
          <a:solidFill>
            <a:srgbClr val="EAF1F4"/>
          </a:solidFill>
          <a:ln/>
        </p:spPr>
      </p:sp>
      <p:sp>
        <p:nvSpPr>
          <p:cNvPr id="24" name="Text 22"/>
          <p:cNvSpPr txBox="1"/>
          <p:nvPr/>
        </p:nvSpPr>
        <p:spPr>
          <a:xfrm>
            <a:off x="10058400" y="1508760"/>
            <a:ext cx="1444752" cy="32004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Classifier</a:t>
            </a:r>
            <a:endParaRPr lang="en-US" sz="1400" dirty="0"/>
          </a:p>
        </p:txBody>
      </p:sp>
      <p:sp>
        <p:nvSpPr>
          <p:cNvPr id="25" name="Text 23"/>
          <p:cNvSpPr txBox="1"/>
          <p:nvPr/>
        </p:nvSpPr>
        <p:spPr>
          <a:xfrm>
            <a:off x="10058400" y="1892808"/>
            <a:ext cx="1444752" cy="365760"/>
          </a:xfrm>
          <a:prstGeom prst="rect">
            <a:avLst/>
          </a:prstGeom>
          <a:noFill/>
          <a:ln/>
        </p:spPr>
        <p:txBody>
          <a:bodyPr wrap="square" lIns="0" tIns="0" rIns="0" bIns="0" rtlCol="0" anchor="t"/>
          <a:lstStyle/>
          <a:p>
            <a:pPr algn="ctr" indent="0" marL="0">
              <a:buNone/>
            </a:pPr>
            <a:r>
              <a:rPr lang="en-US" sz="1200" dirty="0">
                <a:solidFill>
                  <a:srgbClr val="5B6B77"/>
                </a:solidFill>
                <a:latin typeface="Calibri" pitchFamily="34" charset="0"/>
                <a:ea typeface="Calibri" pitchFamily="34" charset="-122"/>
                <a:cs typeface="Calibri" pitchFamily="34" charset="-120"/>
              </a:rPr>
              <a:t>100 classes</a:t>
            </a:r>
            <a:endParaRPr lang="en-US" sz="1200" dirty="0"/>
          </a:p>
        </p:txBody>
      </p:sp>
      <p:sp>
        <p:nvSpPr>
          <p:cNvPr id="26" name="Intro card 1"/>
          <p:cNvSpPr/>
          <p:nvPr/>
        </p:nvSpPr>
        <p:spPr>
          <a:xfrm>
            <a:off x="548640" y="2697480"/>
            <a:ext cx="3566160" cy="3429000"/>
          </a:xfrm>
          <a:prstGeom prst="roundRect">
            <a:avLst>
              <a:gd name="adj" fmla="val 2133"/>
            </a:avLst>
          </a:prstGeom>
          <a:solidFill>
            <a:srgbClr val="FFFFFF"/>
          </a:solidFill>
          <a:ln w="12700">
            <a:solidFill>
              <a:srgbClr val="D3DEE4"/>
            </a:solidFill>
            <a:prstDash val="solid"/>
          </a:ln>
        </p:spPr>
      </p:sp>
      <p:sp>
        <p:nvSpPr>
          <p:cNvPr id="27" name="Intro badge 1"/>
          <p:cNvSpPr/>
          <p:nvPr/>
        </p:nvSpPr>
        <p:spPr>
          <a:xfrm>
            <a:off x="777240" y="2926080"/>
            <a:ext cx="457200" cy="457200"/>
          </a:xfrm>
          <a:prstGeom prst="ellipse">
            <a:avLst/>
          </a:prstGeom>
          <a:solidFill>
            <a:srgbClr val="1B7F8C"/>
          </a:solidFill>
          <a:ln/>
        </p:spPr>
      </p:sp>
      <p:sp>
        <p:nvSpPr>
          <p:cNvPr id="28" name="Intro badge 1 label"/>
          <p:cNvSpPr txBox="1"/>
          <p:nvPr/>
        </p:nvSpPr>
        <p:spPr>
          <a:xfrm>
            <a:off x="777240" y="2926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9" name="Text 27"/>
          <p:cNvSpPr txBox="1"/>
          <p:nvPr/>
        </p:nvSpPr>
        <p:spPr>
          <a:xfrm>
            <a:off x="1371600" y="2999232"/>
            <a:ext cx="2560320" cy="365760"/>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Context</a:t>
            </a:r>
            <a:endParaRPr lang="en-US" sz="1800" dirty="0"/>
          </a:p>
        </p:txBody>
      </p:sp>
      <p:sp>
        <p:nvSpPr>
          <p:cNvPr id="30" name="Text 28"/>
          <p:cNvSpPr txBox="1"/>
          <p:nvPr/>
        </p:nvSpPr>
        <p:spPr>
          <a:xfrm>
            <a:off x="777240" y="3657600"/>
            <a:ext cx="3154680" cy="2377440"/>
          </a:xfrm>
          <a:prstGeom prst="rect">
            <a:avLst/>
          </a:prstGeom>
          <a:noFill/>
          <a:ln/>
        </p:spPr>
        <p:txBody>
          <a:bodyPr wrap="square" lIns="0" tIns="0" rIns="0" bIns="0" rtlCol="0" anchor="t"/>
          <a:lstStyle/>
          <a:p>
            <a:pPr indent="0" marL="0">
              <a:lnSpc>
                <a:spcPct val="105000"/>
              </a:lnSpc>
              <a:buNone/>
            </a:pPr>
            <a:r>
              <a:rPr lang="en-US" sz="1600" dirty="0">
                <a:solidFill>
                  <a:srgbClr val="1A2530"/>
                </a:solidFill>
                <a:latin typeface="Calibri" pitchFamily="34" charset="0"/>
                <a:ea typeface="Calibri" pitchFamily="34" charset="-122"/>
                <a:cs typeface="Calibri" pitchFamily="34" charset="-120"/>
              </a:rPr>
              <a:t>Swin and PVT fix their multi-scale structure by hand. Learned alternatives (Slot Attention, GroupViT, TokenLearner) let content decide which tokens are summarised together.</a:t>
            </a:r>
            <a:endParaRPr lang="en-US" sz="1600" dirty="0"/>
          </a:p>
        </p:txBody>
      </p:sp>
      <p:sp>
        <p:nvSpPr>
          <p:cNvPr id="31" name="Intro card 2"/>
          <p:cNvSpPr/>
          <p:nvPr/>
        </p:nvSpPr>
        <p:spPr>
          <a:xfrm>
            <a:off x="4297680" y="2697480"/>
            <a:ext cx="3566160" cy="3429000"/>
          </a:xfrm>
          <a:prstGeom prst="roundRect">
            <a:avLst>
              <a:gd name="adj" fmla="val 2133"/>
            </a:avLst>
          </a:prstGeom>
          <a:solidFill>
            <a:srgbClr val="FFFFFF"/>
          </a:solidFill>
          <a:ln w="12700">
            <a:solidFill>
              <a:srgbClr val="D3DEE4"/>
            </a:solidFill>
            <a:prstDash val="solid"/>
          </a:ln>
        </p:spPr>
      </p:sp>
      <p:sp>
        <p:nvSpPr>
          <p:cNvPr id="32" name="Intro badge 2"/>
          <p:cNvSpPr/>
          <p:nvPr/>
        </p:nvSpPr>
        <p:spPr>
          <a:xfrm>
            <a:off x="4526280" y="2926080"/>
            <a:ext cx="457200" cy="457200"/>
          </a:xfrm>
          <a:prstGeom prst="ellipse">
            <a:avLst/>
          </a:prstGeom>
          <a:solidFill>
            <a:srgbClr val="1B7F8C"/>
          </a:solidFill>
          <a:ln/>
        </p:spPr>
      </p:sp>
      <p:sp>
        <p:nvSpPr>
          <p:cNvPr id="33" name="Intro badge 2 label"/>
          <p:cNvSpPr txBox="1"/>
          <p:nvPr/>
        </p:nvSpPr>
        <p:spPr>
          <a:xfrm>
            <a:off x="4526280" y="2926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4" name="Text 32"/>
          <p:cNvSpPr txBox="1"/>
          <p:nvPr/>
        </p:nvSpPr>
        <p:spPr>
          <a:xfrm>
            <a:off x="5120640" y="2999232"/>
            <a:ext cx="2560320" cy="365760"/>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Minor project</a:t>
            </a:r>
            <a:endParaRPr lang="en-US" sz="1800" dirty="0"/>
          </a:p>
        </p:txBody>
      </p:sp>
      <p:sp>
        <p:nvSpPr>
          <p:cNvPr id="35" name="Text 33"/>
          <p:cNvSpPr txBox="1"/>
          <p:nvPr/>
        </p:nvSpPr>
        <p:spPr>
          <a:xfrm>
            <a:off x="4526280" y="3657600"/>
            <a:ext cx="3154680" cy="2377440"/>
          </a:xfrm>
          <a:prstGeom prst="rect">
            <a:avLst/>
          </a:prstGeom>
          <a:noFill/>
          <a:ln/>
        </p:spPr>
        <p:txBody>
          <a:bodyPr wrap="square" lIns="0" tIns="0" rIns="0" bIns="0" rtlCol="0" anchor="t"/>
          <a:lstStyle/>
          <a:p>
            <a:pPr indent="0" marL="0">
              <a:lnSpc>
                <a:spcPct val="105000"/>
              </a:lnSpc>
              <a:buNone/>
            </a:pPr>
            <a:r>
              <a:rPr lang="en-US" sz="1600" dirty="0">
                <a:solidFill>
                  <a:srgbClr val="1A2530"/>
                </a:solidFill>
                <a:latin typeface="Calibri" pitchFamily="34" charset="0"/>
                <a:ea typeface="Calibri" pitchFamily="34" charset="-122"/>
                <a:cs typeface="Calibri" pitchFamily="34" charset="-120"/>
              </a:rPr>
              <a:t>CET-ViT routes tokens into 32 slots with one top-3 sparse softmax (0.0069M parameters). Trained from scratch on CIFAR-100 and Tiny-ImageNet. The original causal-emergence framing was withdrawn.</a:t>
            </a:r>
            <a:endParaRPr lang="en-US" sz="1600" dirty="0"/>
          </a:p>
        </p:txBody>
      </p:sp>
      <p:sp>
        <p:nvSpPr>
          <p:cNvPr id="36" name="Intro card 3"/>
          <p:cNvSpPr/>
          <p:nvPr/>
        </p:nvSpPr>
        <p:spPr>
          <a:xfrm>
            <a:off x="8046720" y="2697480"/>
            <a:ext cx="3566160" cy="3429000"/>
          </a:xfrm>
          <a:prstGeom prst="roundRect">
            <a:avLst>
              <a:gd name="adj" fmla="val 2133"/>
            </a:avLst>
          </a:prstGeom>
          <a:solidFill>
            <a:srgbClr val="FFFFFF"/>
          </a:solidFill>
          <a:ln w="12700">
            <a:solidFill>
              <a:srgbClr val="D3DEE4"/>
            </a:solidFill>
            <a:prstDash val="solid"/>
          </a:ln>
        </p:spPr>
      </p:sp>
      <p:sp>
        <p:nvSpPr>
          <p:cNvPr id="37" name="Intro badge 3"/>
          <p:cNvSpPr/>
          <p:nvPr/>
        </p:nvSpPr>
        <p:spPr>
          <a:xfrm>
            <a:off x="8275320" y="2926080"/>
            <a:ext cx="457200" cy="457200"/>
          </a:xfrm>
          <a:prstGeom prst="ellipse">
            <a:avLst/>
          </a:prstGeom>
          <a:solidFill>
            <a:srgbClr val="F4A261"/>
          </a:solidFill>
          <a:ln/>
        </p:spPr>
      </p:sp>
      <p:sp>
        <p:nvSpPr>
          <p:cNvPr id="38" name="Intro badge 3 label"/>
          <p:cNvSpPr txBox="1"/>
          <p:nvPr/>
        </p:nvSpPr>
        <p:spPr>
          <a:xfrm>
            <a:off x="8275320" y="2926080"/>
            <a:ext cx="457200" cy="457200"/>
          </a:xfrm>
          <a:prstGeom prst="rect">
            <a:avLst/>
          </a:prstGeom>
          <a:noFill/>
          <a:ln/>
        </p:spPr>
        <p:txBody>
          <a:bodyPr wrap="square" lIns="0" tIns="0" rIns="0" bIns="0" rtlCol="0" anchor="ctr"/>
          <a:lstStyle/>
          <a:p>
            <a:pPr algn="ctr" indent="0" marL="0">
              <a:buNone/>
            </a:pPr>
            <a:r>
              <a:rPr lang="en-US" sz="1600" b="1" dirty="0">
                <a:solidFill>
                  <a:srgbClr val="0F2A3D"/>
                </a:solidFill>
                <a:latin typeface="Calibri" pitchFamily="34" charset="0"/>
                <a:ea typeface="Calibri" pitchFamily="34" charset="-122"/>
                <a:cs typeface="Calibri" pitchFamily="34" charset="-120"/>
              </a:rPr>
              <a:t>3</a:t>
            </a:r>
            <a:endParaRPr lang="en-US" sz="1600" dirty="0"/>
          </a:p>
        </p:txBody>
      </p:sp>
      <p:sp>
        <p:nvSpPr>
          <p:cNvPr id="39" name="Text 37"/>
          <p:cNvSpPr txBox="1"/>
          <p:nvPr/>
        </p:nvSpPr>
        <p:spPr>
          <a:xfrm>
            <a:off x="8869680" y="2999232"/>
            <a:ext cx="2560320" cy="365760"/>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Self-audit</a:t>
            </a:r>
            <a:endParaRPr lang="en-US" sz="1800" dirty="0"/>
          </a:p>
        </p:txBody>
      </p:sp>
      <p:sp>
        <p:nvSpPr>
          <p:cNvPr id="40" name="Text 38"/>
          <p:cNvSpPr txBox="1"/>
          <p:nvPr/>
        </p:nvSpPr>
        <p:spPr>
          <a:xfrm>
            <a:off x="8275320" y="3657600"/>
            <a:ext cx="3154680" cy="2377440"/>
          </a:xfrm>
          <a:prstGeom prst="rect">
            <a:avLst/>
          </a:prstGeom>
          <a:noFill/>
          <a:ln/>
        </p:spPr>
        <p:txBody>
          <a:bodyPr wrap="square" lIns="0" tIns="0" rIns="0" bIns="0" rtlCol="0" anchor="t"/>
          <a:lstStyle/>
          <a:p>
            <a:pPr indent="0" marL="0">
              <a:lnSpc>
                <a:spcPct val="105000"/>
              </a:lnSpc>
              <a:buNone/>
            </a:pPr>
            <a:r>
              <a:rPr lang="en-US" sz="1600" dirty="0">
                <a:solidFill>
                  <a:srgbClr val="1A2530"/>
                </a:solidFill>
                <a:latin typeface="Calibri" pitchFamily="34" charset="0"/>
                <a:ea typeface="Calibri" pitchFamily="34" charset="-122"/>
                <a:cs typeface="Calibri" pitchFamily="34" charset="-120"/>
              </a:rPr>
              <a:t>A compute-matched control, MAC-matched Swins and per-arm tuning (237 runs) showed the headline margin does not hold up. The open question is what grouping adds beyond capacity.</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our own audit found</a:t>
            </a:r>
            <a:endParaRPr lang="en-US" sz="3200" dirty="0"/>
          </a:p>
        </p:txBody>
      </p:sp>
      <p:graphicFrame>
        <p:nvGraphicFramePr>
          <p:cNvPr id="3" name="Branch minus control chart" descr=""/>
          <p:cNvGraphicFramePr/>
          <p:nvPr/>
        </p:nvGraphicFramePr>
        <p:xfrm>
          <a:off x="548640" y="1234440"/>
          <a:ext cx="7223760" cy="493776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8046720" y="1234440"/>
            <a:ext cx="3611880" cy="1554480"/>
          </a:xfrm>
          <a:prstGeom prst="roundRect">
            <a:avLst>
              <a:gd name="adj" fmla="val 4706"/>
            </a:avLst>
          </a:prstGeom>
          <a:solidFill>
            <a:srgbClr val="EAF1F4"/>
          </a:solidFill>
          <a:ln/>
        </p:spPr>
      </p:sp>
      <p:sp>
        <p:nvSpPr>
          <p:cNvPr id="5" name="Text 2"/>
          <p:cNvSpPr txBox="1"/>
          <p:nvPr/>
        </p:nvSpPr>
        <p:spPr>
          <a:xfrm>
            <a:off x="8229600" y="1371600"/>
            <a:ext cx="3246120" cy="685800"/>
          </a:xfrm>
          <a:prstGeom prst="rect">
            <a:avLst/>
          </a:prstGeom>
          <a:noFill/>
          <a:ln/>
        </p:spPr>
        <p:txBody>
          <a:bodyPr wrap="square" lIns="0" tIns="0" rIns="0" bIns="0" rtlCol="0" anchor="t"/>
          <a:lstStyle/>
          <a:p>
            <a:pPr indent="0" marL="0">
              <a:buNone/>
            </a:pPr>
            <a:r>
              <a:rPr lang="en-US" sz="4000" b="1" dirty="0">
                <a:solidFill>
                  <a:srgbClr val="1B7F8C"/>
                </a:solidFill>
                <a:latin typeface="Cambria" pitchFamily="34" charset="0"/>
                <a:ea typeface="Cambria" pitchFamily="34" charset="-122"/>
                <a:cs typeface="Cambria" pitchFamily="34" charset="-120"/>
              </a:rPr>
              <a:t>237</a:t>
            </a:r>
            <a:endParaRPr lang="en-US" sz="4000" dirty="0"/>
          </a:p>
        </p:txBody>
      </p:sp>
      <p:sp>
        <p:nvSpPr>
          <p:cNvPr id="6" name="Text 3"/>
          <p:cNvSpPr txBox="1"/>
          <p:nvPr/>
        </p:nvSpPr>
        <p:spPr>
          <a:xfrm>
            <a:off x="8229600" y="2103120"/>
            <a:ext cx="3246120" cy="640080"/>
          </a:xfrm>
          <a:prstGeom prst="rect">
            <a:avLst/>
          </a:prstGeom>
          <a:noFill/>
          <a:ln/>
        </p:spPr>
        <p:txBody>
          <a:bodyPr wrap="square" lIns="0" tIns="0" rIns="0" bIns="0" rtlCol="0" anchor="t"/>
          <a:lstStyle/>
          <a:p>
            <a:pPr indent="0" marL="0">
              <a:buNone/>
            </a:pPr>
            <a:r>
              <a:rPr lang="en-US" sz="1300" dirty="0">
                <a:solidFill>
                  <a:srgbClr val="1A2530"/>
                </a:solidFill>
                <a:latin typeface="Calibri" pitchFamily="34" charset="0"/>
                <a:ea typeface="Calibri" pitchFamily="34" charset="-122"/>
                <a:cs typeface="Calibri" pitchFamily="34" charset="-120"/>
              </a:rPr>
              <a:t>runs, 229.29 H100-hours</a:t>
            </a:r>
            <a:endParaRPr lang="en-US" sz="1300" dirty="0"/>
          </a:p>
        </p:txBody>
      </p:sp>
      <p:sp>
        <p:nvSpPr>
          <p:cNvPr id="7" name="Stat card 2"/>
          <p:cNvSpPr/>
          <p:nvPr/>
        </p:nvSpPr>
        <p:spPr>
          <a:xfrm>
            <a:off x="8046720" y="2926080"/>
            <a:ext cx="3611880" cy="1554480"/>
          </a:xfrm>
          <a:prstGeom prst="roundRect">
            <a:avLst>
              <a:gd name="adj" fmla="val 4706"/>
            </a:avLst>
          </a:prstGeom>
          <a:solidFill>
            <a:srgbClr val="EAF1F4"/>
          </a:solidFill>
          <a:ln/>
        </p:spPr>
      </p:sp>
      <p:sp>
        <p:nvSpPr>
          <p:cNvPr id="8" name="Text 5"/>
          <p:cNvSpPr txBox="1"/>
          <p:nvPr/>
        </p:nvSpPr>
        <p:spPr>
          <a:xfrm>
            <a:off x="8229600" y="3063240"/>
            <a:ext cx="3246120" cy="685800"/>
          </a:xfrm>
          <a:prstGeom prst="rect">
            <a:avLst/>
          </a:prstGeom>
          <a:noFill/>
          <a:ln/>
        </p:spPr>
        <p:txBody>
          <a:bodyPr wrap="square" lIns="0" tIns="0" rIns="0" bIns="0" rtlCol="0" anchor="t"/>
          <a:lstStyle/>
          <a:p>
            <a:pPr indent="0" marL="0">
              <a:buNone/>
            </a:pPr>
            <a:r>
              <a:rPr lang="en-US" sz="4000" b="1" dirty="0">
                <a:solidFill>
                  <a:srgbClr val="1B7F8C"/>
                </a:solidFill>
                <a:latin typeface="Cambria" pitchFamily="34" charset="0"/>
                <a:ea typeface="Cambria" pitchFamily="34" charset="-122"/>
                <a:cs typeface="Cambria" pitchFamily="34" charset="-120"/>
              </a:rPr>
              <a:t>75.20</a:t>
            </a:r>
            <a:endParaRPr lang="en-US" sz="4000" dirty="0"/>
          </a:p>
        </p:txBody>
      </p:sp>
      <p:sp>
        <p:nvSpPr>
          <p:cNvPr id="9" name="Text 6"/>
          <p:cNvSpPr txBox="1"/>
          <p:nvPr/>
        </p:nvSpPr>
        <p:spPr>
          <a:xfrm>
            <a:off x="8229600" y="3794760"/>
            <a:ext cx="3246120" cy="640080"/>
          </a:xfrm>
          <a:prstGeom prst="rect">
            <a:avLst/>
          </a:prstGeom>
          <a:noFill/>
          <a:ln/>
        </p:spPr>
        <p:txBody>
          <a:bodyPr wrap="square" lIns="0" tIns="0" rIns="0" bIns="0" rtlCol="0" anchor="t"/>
          <a:lstStyle/>
          <a:p>
            <a:pPr indent="0" marL="0">
              <a:buNone/>
            </a:pPr>
            <a:r>
              <a:rPr lang="en-US" sz="1300" dirty="0">
                <a:solidFill>
                  <a:srgbClr val="1A2530"/>
                </a:solidFill>
                <a:latin typeface="Calibri" pitchFamily="34" charset="0"/>
                <a:ea typeface="Calibri" pitchFamily="34" charset="-122"/>
                <a:cs typeface="Calibri" pitchFamily="34" charset="-120"/>
              </a:rPr>
              <a:t>released no-aux checkpoint, not the logged 74.15</a:t>
            </a:r>
            <a:endParaRPr lang="en-US" sz="1300" dirty="0"/>
          </a:p>
        </p:txBody>
      </p:sp>
      <p:sp>
        <p:nvSpPr>
          <p:cNvPr id="10" name="Stat card 3"/>
          <p:cNvSpPr/>
          <p:nvPr/>
        </p:nvSpPr>
        <p:spPr>
          <a:xfrm>
            <a:off x="8046720" y="4617720"/>
            <a:ext cx="3611880" cy="1554480"/>
          </a:xfrm>
          <a:prstGeom prst="roundRect">
            <a:avLst>
              <a:gd name="adj" fmla="val 4706"/>
            </a:avLst>
          </a:prstGeom>
          <a:solidFill>
            <a:srgbClr val="EAF1F4"/>
          </a:solidFill>
          <a:ln/>
        </p:spPr>
      </p:sp>
      <p:sp>
        <p:nvSpPr>
          <p:cNvPr id="11" name="Text 8"/>
          <p:cNvSpPr txBox="1"/>
          <p:nvPr/>
        </p:nvSpPr>
        <p:spPr>
          <a:xfrm>
            <a:off x="8229600" y="4754880"/>
            <a:ext cx="3246120" cy="685800"/>
          </a:xfrm>
          <a:prstGeom prst="rect">
            <a:avLst/>
          </a:prstGeom>
          <a:noFill/>
          <a:ln/>
        </p:spPr>
        <p:txBody>
          <a:bodyPr wrap="square" lIns="0" tIns="0" rIns="0" bIns="0" rtlCol="0" anchor="t"/>
          <a:lstStyle/>
          <a:p>
            <a:pPr indent="0" marL="0">
              <a:buNone/>
            </a:pPr>
            <a:r>
              <a:rPr lang="en-US" sz="4000" b="1" dirty="0">
                <a:solidFill>
                  <a:srgbClr val="C8553D"/>
                </a:solidFill>
                <a:latin typeface="Cambria" pitchFamily="34" charset="0"/>
                <a:ea typeface="Cambria" pitchFamily="34" charset="-122"/>
                <a:cs typeface="Cambria" pitchFamily="34" charset="-120"/>
              </a:rPr>
              <a:t>+3.91</a:t>
            </a:r>
            <a:endParaRPr lang="en-US" sz="4000" dirty="0"/>
          </a:p>
        </p:txBody>
      </p:sp>
      <p:sp>
        <p:nvSpPr>
          <p:cNvPr id="12" name="Text 9"/>
          <p:cNvSpPr txBox="1"/>
          <p:nvPr/>
        </p:nvSpPr>
        <p:spPr>
          <a:xfrm>
            <a:off x="8229600" y="5486400"/>
            <a:ext cx="3246120" cy="640080"/>
          </a:xfrm>
          <a:prstGeom prst="rect">
            <a:avLst/>
          </a:prstGeom>
          <a:noFill/>
          <a:ln/>
        </p:spPr>
        <p:txBody>
          <a:bodyPr wrap="square" lIns="0" tIns="0" rIns="0" bIns="0" rtlCol="0" anchor="t"/>
          <a:lstStyle/>
          <a:p>
            <a:pPr indent="0" marL="0">
              <a:buNone/>
            </a:pPr>
            <a:r>
              <a:rPr lang="en-US" sz="1300" dirty="0">
                <a:solidFill>
                  <a:srgbClr val="1A2530"/>
                </a:solidFill>
                <a:latin typeface="Calibri" pitchFamily="34" charset="0"/>
                <a:ea typeface="Calibri" pitchFamily="34" charset="-122"/>
                <a:cs typeface="Calibri" pitchFamily="34" charset="-120"/>
              </a:rPr>
              <a:t>minor-project margin over Swin: one-seed baseline, test-split selection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Literature survey: 24 works in 7 themes</a:t>
            </a:r>
            <a:endParaRPr lang="en-US" sz="3200" dirty="0"/>
          </a:p>
        </p:txBody>
      </p:sp>
      <p:sp>
        <p:nvSpPr>
          <p:cNvPr id="3" name="Theme card Hierarchical ViTs"/>
          <p:cNvSpPr/>
          <p:nvPr/>
        </p:nvSpPr>
        <p:spPr>
          <a:xfrm>
            <a:off x="548640" y="1280160"/>
            <a:ext cx="2651760" cy="2423160"/>
          </a:xfrm>
          <a:prstGeom prst="roundRect">
            <a:avLst>
              <a:gd name="adj" fmla="val 3019"/>
            </a:avLst>
          </a:prstGeom>
          <a:solidFill>
            <a:srgbClr val="EAF1F4"/>
          </a:solidFill>
          <a:ln/>
        </p:spPr>
      </p:sp>
      <p:sp>
        <p:nvSpPr>
          <p:cNvPr id="4" name="Text 2"/>
          <p:cNvSpPr txBox="1"/>
          <p:nvPr/>
        </p:nvSpPr>
        <p:spPr>
          <a:xfrm>
            <a:off x="731520" y="132588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3</a:t>
            </a:r>
            <a:endParaRPr lang="en-US" sz="4400" dirty="0"/>
          </a:p>
        </p:txBody>
      </p:sp>
      <p:sp>
        <p:nvSpPr>
          <p:cNvPr id="5" name="Text 3"/>
          <p:cNvSpPr txBox="1"/>
          <p:nvPr/>
        </p:nvSpPr>
        <p:spPr>
          <a:xfrm>
            <a:off x="731520" y="205740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Hierarchical ViTs</a:t>
            </a:r>
            <a:endParaRPr lang="en-US" sz="1600" dirty="0"/>
          </a:p>
        </p:txBody>
      </p:sp>
      <p:sp>
        <p:nvSpPr>
          <p:cNvPr id="6" name="Text 4"/>
          <p:cNvSpPr txBox="1"/>
          <p:nvPr/>
        </p:nvSpPr>
        <p:spPr>
          <a:xfrm>
            <a:off x="731520" y="239572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ViT, Swin, PVT</a:t>
            </a:r>
            <a:endParaRPr lang="en-US" sz="1200" dirty="0"/>
          </a:p>
        </p:txBody>
      </p:sp>
      <p:sp>
        <p:nvSpPr>
          <p:cNvPr id="7" name="Text 5"/>
          <p:cNvSpPr txBox="1"/>
          <p:nvPr/>
        </p:nvSpPr>
        <p:spPr>
          <a:xfrm>
            <a:off x="731520" y="315468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Baselines with hand-designed hierarchy</a:t>
            </a:r>
            <a:endParaRPr lang="en-US" sz="1200" dirty="0"/>
          </a:p>
        </p:txBody>
      </p:sp>
      <p:sp>
        <p:nvSpPr>
          <p:cNvPr id="8" name="Theme card Token reduction"/>
          <p:cNvSpPr/>
          <p:nvPr/>
        </p:nvSpPr>
        <p:spPr>
          <a:xfrm>
            <a:off x="3355848" y="1280160"/>
            <a:ext cx="2651760" cy="2423160"/>
          </a:xfrm>
          <a:prstGeom prst="roundRect">
            <a:avLst>
              <a:gd name="adj" fmla="val 3019"/>
            </a:avLst>
          </a:prstGeom>
          <a:solidFill>
            <a:srgbClr val="EAF1F4"/>
          </a:solidFill>
          <a:ln/>
        </p:spPr>
      </p:sp>
      <p:sp>
        <p:nvSpPr>
          <p:cNvPr id="9" name="Text 7"/>
          <p:cNvSpPr txBox="1"/>
          <p:nvPr/>
        </p:nvSpPr>
        <p:spPr>
          <a:xfrm>
            <a:off x="3538728" y="132588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4</a:t>
            </a:r>
            <a:endParaRPr lang="en-US" sz="4400" dirty="0"/>
          </a:p>
        </p:txBody>
      </p:sp>
      <p:sp>
        <p:nvSpPr>
          <p:cNvPr id="10" name="Text 8"/>
          <p:cNvSpPr txBox="1"/>
          <p:nvPr/>
        </p:nvSpPr>
        <p:spPr>
          <a:xfrm>
            <a:off x="3538728" y="205740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Token reduction</a:t>
            </a:r>
            <a:endParaRPr lang="en-US" sz="1600" dirty="0"/>
          </a:p>
        </p:txBody>
      </p:sp>
      <p:sp>
        <p:nvSpPr>
          <p:cNvPr id="11" name="Text 9"/>
          <p:cNvSpPr txBox="1"/>
          <p:nvPr/>
        </p:nvSpPr>
        <p:spPr>
          <a:xfrm>
            <a:off x="3538728" y="239572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DynamicViT, ToMe, Token Pooling, LTM</a:t>
            </a:r>
            <a:endParaRPr lang="en-US" sz="1200" dirty="0"/>
          </a:p>
        </p:txBody>
      </p:sp>
      <p:sp>
        <p:nvSpPr>
          <p:cNvPr id="12" name="Text 10"/>
          <p:cNvSpPr txBox="1"/>
          <p:nvPr/>
        </p:nvSpPr>
        <p:spPr>
          <a:xfrm>
            <a:off x="3538728" y="315468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Efficiency on pretrained backbones</a:t>
            </a:r>
            <a:endParaRPr lang="en-US" sz="1200" dirty="0"/>
          </a:p>
        </p:txBody>
      </p:sp>
      <p:sp>
        <p:nvSpPr>
          <p:cNvPr id="13" name="Theme card Learned grouping"/>
          <p:cNvSpPr/>
          <p:nvPr/>
        </p:nvSpPr>
        <p:spPr>
          <a:xfrm>
            <a:off x="6163056" y="1280160"/>
            <a:ext cx="2651760" cy="2423160"/>
          </a:xfrm>
          <a:prstGeom prst="roundRect">
            <a:avLst>
              <a:gd name="adj" fmla="val 3019"/>
            </a:avLst>
          </a:prstGeom>
          <a:solidFill>
            <a:srgbClr val="1B7F8C"/>
          </a:solidFill>
          <a:ln/>
        </p:spPr>
      </p:sp>
      <p:sp>
        <p:nvSpPr>
          <p:cNvPr id="14" name="Text 12"/>
          <p:cNvSpPr txBox="1"/>
          <p:nvPr/>
        </p:nvSpPr>
        <p:spPr>
          <a:xfrm>
            <a:off x="6345936" y="1325880"/>
            <a:ext cx="914400" cy="7315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7</a:t>
            </a:r>
            <a:endParaRPr lang="en-US" sz="4400" dirty="0"/>
          </a:p>
        </p:txBody>
      </p:sp>
      <p:sp>
        <p:nvSpPr>
          <p:cNvPr id="15" name="Text 13"/>
          <p:cNvSpPr txBox="1"/>
          <p:nvPr/>
        </p:nvSpPr>
        <p:spPr>
          <a:xfrm>
            <a:off x="6345936" y="2057400"/>
            <a:ext cx="22860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Learned grouping</a:t>
            </a:r>
            <a:endParaRPr lang="en-US" sz="1600" dirty="0"/>
          </a:p>
        </p:txBody>
      </p:sp>
      <p:sp>
        <p:nvSpPr>
          <p:cNvPr id="16" name="Text 14"/>
          <p:cNvSpPr txBox="1"/>
          <p:nvPr/>
        </p:nvSpPr>
        <p:spPr>
          <a:xfrm>
            <a:off x="6345936" y="2395728"/>
            <a:ext cx="228600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TokenLearner, PatchMerger, Slot Attention, GroupViT, DINOSAUR, Perceiver, Registers</a:t>
            </a:r>
            <a:endParaRPr lang="en-US" sz="1200" dirty="0"/>
          </a:p>
        </p:txBody>
      </p:sp>
      <p:sp>
        <p:nvSpPr>
          <p:cNvPr id="17" name="Text 15"/>
          <p:cNvSpPr txBox="1"/>
          <p:nvPr/>
        </p:nvSpPr>
        <p:spPr>
          <a:xfrm>
            <a:off x="6345936" y="3154680"/>
            <a:ext cx="2286000" cy="45720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Closest prior art and the register control</a:t>
            </a:r>
            <a:endParaRPr lang="en-US" sz="1200" dirty="0"/>
          </a:p>
        </p:txBody>
      </p:sp>
      <p:sp>
        <p:nvSpPr>
          <p:cNvPr id="18" name="Theme card Emergent regions"/>
          <p:cNvSpPr/>
          <p:nvPr/>
        </p:nvSpPr>
        <p:spPr>
          <a:xfrm>
            <a:off x="8970264" y="1280160"/>
            <a:ext cx="2651760" cy="2423160"/>
          </a:xfrm>
          <a:prstGeom prst="roundRect">
            <a:avLst>
              <a:gd name="adj" fmla="val 3019"/>
            </a:avLst>
          </a:prstGeom>
          <a:solidFill>
            <a:srgbClr val="EAF1F4"/>
          </a:solidFill>
          <a:ln/>
        </p:spPr>
      </p:sp>
      <p:sp>
        <p:nvSpPr>
          <p:cNvPr id="19" name="Text 17"/>
          <p:cNvSpPr txBox="1"/>
          <p:nvPr/>
        </p:nvSpPr>
        <p:spPr>
          <a:xfrm>
            <a:off x="9153144" y="132588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2</a:t>
            </a:r>
            <a:endParaRPr lang="en-US" sz="4400" dirty="0"/>
          </a:p>
        </p:txBody>
      </p:sp>
      <p:sp>
        <p:nvSpPr>
          <p:cNvPr id="20" name="Text 18"/>
          <p:cNvSpPr txBox="1"/>
          <p:nvPr/>
        </p:nvSpPr>
        <p:spPr>
          <a:xfrm>
            <a:off x="9153144" y="205740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Emergent regions</a:t>
            </a:r>
            <a:endParaRPr lang="en-US" sz="1600" dirty="0"/>
          </a:p>
        </p:txBody>
      </p:sp>
      <p:sp>
        <p:nvSpPr>
          <p:cNvPr id="21" name="Text 19"/>
          <p:cNvSpPr txBox="1"/>
          <p:nvPr/>
        </p:nvSpPr>
        <p:spPr>
          <a:xfrm>
            <a:off x="9153144" y="239572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DINO, ImageNet-S</a:t>
            </a:r>
            <a:endParaRPr lang="en-US" sz="1200" dirty="0"/>
          </a:p>
        </p:txBody>
      </p:sp>
      <p:sp>
        <p:nvSpPr>
          <p:cNvPr id="22" name="Text 20"/>
          <p:cNvSpPr txBox="1"/>
          <p:nvPr/>
        </p:nvSpPr>
        <p:spPr>
          <a:xfrm>
            <a:off x="9153144" y="315468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Qualitative claims and a mask protocol</a:t>
            </a:r>
            <a:endParaRPr lang="en-US" sz="1200" dirty="0"/>
          </a:p>
        </p:txBody>
      </p:sp>
      <p:sp>
        <p:nvSpPr>
          <p:cNvPr id="23" name="Theme card Causal emergence"/>
          <p:cNvSpPr/>
          <p:nvPr/>
        </p:nvSpPr>
        <p:spPr>
          <a:xfrm>
            <a:off x="548640" y="3840480"/>
            <a:ext cx="2651760" cy="2423160"/>
          </a:xfrm>
          <a:prstGeom prst="roundRect">
            <a:avLst>
              <a:gd name="adj" fmla="val 3019"/>
            </a:avLst>
          </a:prstGeom>
          <a:solidFill>
            <a:srgbClr val="EAF1F4"/>
          </a:solidFill>
          <a:ln/>
        </p:spPr>
      </p:sp>
      <p:sp>
        <p:nvSpPr>
          <p:cNvPr id="24" name="Text 22"/>
          <p:cNvSpPr txBox="1"/>
          <p:nvPr/>
        </p:nvSpPr>
        <p:spPr>
          <a:xfrm>
            <a:off x="731520" y="388620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1</a:t>
            </a:r>
            <a:endParaRPr lang="en-US" sz="4400" dirty="0"/>
          </a:p>
        </p:txBody>
      </p:sp>
      <p:sp>
        <p:nvSpPr>
          <p:cNvPr id="25" name="Text 23"/>
          <p:cNvSpPr txBox="1"/>
          <p:nvPr/>
        </p:nvSpPr>
        <p:spPr>
          <a:xfrm>
            <a:off x="731520" y="461772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Causal emergence</a:t>
            </a:r>
            <a:endParaRPr lang="en-US" sz="1600" dirty="0"/>
          </a:p>
        </p:txBody>
      </p:sp>
      <p:sp>
        <p:nvSpPr>
          <p:cNvPr id="26" name="Text 24"/>
          <p:cNvSpPr txBox="1"/>
          <p:nvPr/>
        </p:nvSpPr>
        <p:spPr>
          <a:xfrm>
            <a:off x="731520" y="495604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Hoel et al.</a:t>
            </a:r>
            <a:endParaRPr lang="en-US" sz="1200" dirty="0"/>
          </a:p>
        </p:txBody>
      </p:sp>
      <p:sp>
        <p:nvSpPr>
          <p:cNvPr id="27" name="Text 25"/>
          <p:cNvSpPr txBox="1"/>
          <p:nvPr/>
        </p:nvSpPr>
        <p:spPr>
          <a:xfrm>
            <a:off x="731520" y="571500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Original motivation, not operationalised</a:t>
            </a:r>
            <a:endParaRPr lang="en-US" sz="1200" dirty="0"/>
          </a:p>
        </p:txBody>
      </p:sp>
      <p:sp>
        <p:nvSpPr>
          <p:cNvPr id="28" name="Theme card Evaluation rigour"/>
          <p:cNvSpPr/>
          <p:nvPr/>
        </p:nvSpPr>
        <p:spPr>
          <a:xfrm>
            <a:off x="3355848" y="3840480"/>
            <a:ext cx="2651760" cy="2423160"/>
          </a:xfrm>
          <a:prstGeom prst="roundRect">
            <a:avLst>
              <a:gd name="adj" fmla="val 3019"/>
            </a:avLst>
          </a:prstGeom>
          <a:solidFill>
            <a:srgbClr val="EAF1F4"/>
          </a:solidFill>
          <a:ln/>
        </p:spPr>
      </p:sp>
      <p:sp>
        <p:nvSpPr>
          <p:cNvPr id="29" name="Text 27"/>
          <p:cNvSpPr txBox="1"/>
          <p:nvPr/>
        </p:nvSpPr>
        <p:spPr>
          <a:xfrm>
            <a:off x="3538728" y="388620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5</a:t>
            </a:r>
            <a:endParaRPr lang="en-US" sz="4400" dirty="0"/>
          </a:p>
        </p:txBody>
      </p:sp>
      <p:sp>
        <p:nvSpPr>
          <p:cNvPr id="30" name="Text 28"/>
          <p:cNvSpPr txBox="1"/>
          <p:nvPr/>
        </p:nvSpPr>
        <p:spPr>
          <a:xfrm>
            <a:off x="3538728" y="461772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Evaluation rigour</a:t>
            </a:r>
            <a:endParaRPr lang="en-US" sz="1600" dirty="0"/>
          </a:p>
        </p:txBody>
      </p:sp>
      <p:sp>
        <p:nvSpPr>
          <p:cNvPr id="31" name="Text 29"/>
          <p:cNvSpPr txBox="1"/>
          <p:nvPr/>
        </p:nvSpPr>
        <p:spPr>
          <a:xfrm>
            <a:off x="3538728" y="495604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Steiner, Wightman, Lucic, Musgrave, Bouthillier</a:t>
            </a:r>
            <a:endParaRPr lang="en-US" sz="1200" dirty="0"/>
          </a:p>
        </p:txBody>
      </p:sp>
      <p:sp>
        <p:nvSpPr>
          <p:cNvPr id="32" name="Text 30"/>
          <p:cNvSpPr txBox="1"/>
          <p:nvPr/>
        </p:nvSpPr>
        <p:spPr>
          <a:xfrm>
            <a:off x="3538728" y="571500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Recipe, tuning and seed effects</a:t>
            </a:r>
            <a:endParaRPr lang="en-US" sz="1200" dirty="0"/>
          </a:p>
        </p:txBody>
      </p:sp>
      <p:sp>
        <p:nvSpPr>
          <p:cNvPr id="33" name="Theme card Own prior work"/>
          <p:cNvSpPr/>
          <p:nvPr/>
        </p:nvSpPr>
        <p:spPr>
          <a:xfrm>
            <a:off x="6163056" y="3840480"/>
            <a:ext cx="2651760" cy="2423160"/>
          </a:xfrm>
          <a:prstGeom prst="roundRect">
            <a:avLst>
              <a:gd name="adj" fmla="val 3019"/>
            </a:avLst>
          </a:prstGeom>
          <a:solidFill>
            <a:srgbClr val="EAF1F4"/>
          </a:solidFill>
          <a:ln/>
        </p:spPr>
      </p:sp>
      <p:sp>
        <p:nvSpPr>
          <p:cNvPr id="34" name="Text 32"/>
          <p:cNvSpPr txBox="1"/>
          <p:nvPr/>
        </p:nvSpPr>
        <p:spPr>
          <a:xfrm>
            <a:off x="6345936" y="3886200"/>
            <a:ext cx="914400" cy="731520"/>
          </a:xfrm>
          <a:prstGeom prst="rect">
            <a:avLst/>
          </a:prstGeom>
          <a:noFill/>
          <a:ln/>
        </p:spPr>
        <p:txBody>
          <a:bodyPr wrap="square" lIns="0" tIns="0" rIns="0" bIns="0" rtlCol="0" anchor="t"/>
          <a:lstStyle/>
          <a:p>
            <a:pPr indent="0" marL="0">
              <a:buNone/>
            </a:pPr>
            <a:r>
              <a:rPr lang="en-US" sz="4400" b="1" dirty="0">
                <a:solidFill>
                  <a:srgbClr val="1B7F8C"/>
                </a:solidFill>
                <a:latin typeface="Cambria" pitchFamily="34" charset="0"/>
                <a:ea typeface="Cambria" pitchFamily="34" charset="-122"/>
                <a:cs typeface="Cambria" pitchFamily="34" charset="-120"/>
              </a:rPr>
              <a:t>2</a:t>
            </a:r>
            <a:endParaRPr lang="en-US" sz="4400" dirty="0"/>
          </a:p>
        </p:txBody>
      </p:sp>
      <p:sp>
        <p:nvSpPr>
          <p:cNvPr id="35" name="Text 33"/>
          <p:cNvSpPr txBox="1"/>
          <p:nvPr/>
        </p:nvSpPr>
        <p:spPr>
          <a:xfrm>
            <a:off x="6345936" y="4617720"/>
            <a:ext cx="228600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Own prior work</a:t>
            </a:r>
            <a:endParaRPr lang="en-US" sz="1600" dirty="0"/>
          </a:p>
        </p:txBody>
      </p:sp>
      <p:sp>
        <p:nvSpPr>
          <p:cNvPr id="36" name="Text 34"/>
          <p:cNvSpPr txBox="1"/>
          <p:nvPr/>
        </p:nvSpPr>
        <p:spPr>
          <a:xfrm>
            <a:off x="6345936" y="4956048"/>
            <a:ext cx="2286000" cy="7315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CET-ViT paper, compute-matched audit</a:t>
            </a:r>
            <a:endParaRPr lang="en-US" sz="1200" dirty="0"/>
          </a:p>
        </p:txBody>
      </p:sp>
      <p:sp>
        <p:nvSpPr>
          <p:cNvPr id="37" name="Text 35"/>
          <p:cNvSpPr txBox="1"/>
          <p:nvPr/>
        </p:nvSpPr>
        <p:spPr>
          <a:xfrm>
            <a:off x="6345936" y="5715000"/>
            <a:ext cx="2286000" cy="457200"/>
          </a:xfrm>
          <a:prstGeom prst="rect">
            <a:avLst/>
          </a:prstGeom>
          <a:noFill/>
          <a:ln/>
        </p:spPr>
        <p:txBody>
          <a:bodyPr wrap="square" lIns="0" tIns="0" rIns="0" bIns="0" rtlCol="0" anchor="t"/>
          <a:lstStyle/>
          <a:p>
            <a:pPr indent="0" marL="0">
              <a:buNone/>
            </a:pPr>
            <a:r>
              <a:rPr lang="en-US" sz="1200" i="1" dirty="0">
                <a:solidFill>
                  <a:srgbClr val="1A2530"/>
                </a:solidFill>
                <a:latin typeface="Calibri" pitchFamily="34" charset="0"/>
                <a:ea typeface="Calibri" pitchFamily="34" charset="-122"/>
                <a:cs typeface="Calibri" pitchFamily="34" charset="-120"/>
              </a:rPr>
              <a:t>Starting point and its limits</a:t>
            </a:r>
            <a:endParaRPr lang="en-US" sz="1200" dirty="0"/>
          </a:p>
        </p:txBody>
      </p:sp>
      <p:sp>
        <p:nvSpPr>
          <p:cNvPr id="38" name="Survey note"/>
          <p:cNvSpPr/>
          <p:nvPr/>
        </p:nvSpPr>
        <p:spPr>
          <a:xfrm>
            <a:off x="8970264" y="3840480"/>
            <a:ext cx="2651760" cy="2423160"/>
          </a:xfrm>
          <a:prstGeom prst="roundRect">
            <a:avLst>
              <a:gd name="adj" fmla="val 3019"/>
            </a:avLst>
          </a:prstGeom>
          <a:solidFill>
            <a:srgbClr val="FFFFFF"/>
          </a:solidFill>
          <a:ln w="12700">
            <a:solidFill>
              <a:srgbClr val="D3DEE4"/>
            </a:solidFill>
            <a:prstDash val="solid"/>
          </a:ln>
        </p:spPr>
      </p:sp>
      <p:sp>
        <p:nvSpPr>
          <p:cNvPr id="39" name="Text 37"/>
          <p:cNvSpPr txBox="1"/>
          <p:nvPr/>
        </p:nvSpPr>
        <p:spPr>
          <a:xfrm>
            <a:off x="9153144" y="4023360"/>
            <a:ext cx="2286000" cy="2057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Tables on the next three slides. All 24 works, with datasets, findings and limitations, are in the Literature Survey document.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Survey I: hierarchies and token reduction</a:t>
            </a:r>
            <a:endParaRPr lang="en-US" sz="3200" dirty="0"/>
          </a:p>
        </p:txBody>
      </p:sp>
      <p:graphicFrame>
        <p:nvGraphicFramePr>
          <p:cNvPr id="7" name="Literature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840480"/>
                <a:gridCol w="42062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 (venue, year)</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Idea and evidence</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Limitation / gap for this project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Liu et al., Swin (ICCV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Shifted windows + patch merging: fixed hierarchy.</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Hand-designed, content-independent; a MAC-matched Swin beat our branch at the locked LR.</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Wang et al., PVT (ICCV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Convolution-free feature pyramid for dense prediction.</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Fixed spatial pyramid; grouping is not learned.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Rao et al., DynamicViT (NeurIPS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Learned progressive token pruning on pretrained ViTs.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Efficiency-only; irreversible token loss; not from-scratch.</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Bolya et al., ToMe (ICLR 2023)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Training-free bipartite token merging for throughput.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Inference-time on pretrained models; our from-scratch number is single-seed.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Marin et al., Token Pooling (WACV 2023)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Clustering-based token down-sampling.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Non-learned grouping; irreversible; no capacity control.</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Wang &amp; Yang, LTM-Transformer (IEEE TPAMI 2025)</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Learnable merging with an information-bottleneck loss.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No usable public code; our two re-implementations diverged.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Survey II: learned grouping and object-centric work</a:t>
            </a:r>
            <a:endParaRPr lang="en-US" sz="3200" dirty="0"/>
          </a:p>
        </p:txBody>
      </p:sp>
      <p:graphicFrame>
        <p:nvGraphicFramePr>
          <p:cNvPr id="8" name="Literature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840480"/>
                <a:gridCol w="42062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 (venue, year)</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Idea and evidence</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Limitation / gap for this project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Ryoo et al., TokenLearner (NeurIPS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Learns a handful of tokens via spatial attention.</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Closest prior art; never compared, benefit not separated from capacity.</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Renggli et al., PatchMerger (arXiv 2022)</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Learned merge of tokens into a smaller set.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Compute framing; no capacity control; no region evaluation.</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Locatello et al., Slot Attention (NeurIPS 2020)</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Iterative competitive slot binding.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Iterative, mostly synthetic data; single-pass top-k unexamined.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Xu et al., GroupViT (CVPR 2022)</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Group tokens via Gumbel-softmax with image-text training.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Needs image-text pre-training; label-only regime untested.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Seitzer et al., DINOSAUR (ICLR 2023)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Slots reconstruct self-supervised features; mask metrics.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Needs pretrained encoder; not for from-scratch classifiers.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731520">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Darcet et al., Registers (ICLR 2024)</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Extra input-independent tokens fix artifact tokens.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Extra tokens alone help, so grouping needs a register control.</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Survey III: regions, theory and evaluation rigour</a:t>
            </a:r>
            <a:endParaRPr lang="en-US" sz="3200" dirty="0"/>
          </a:p>
        </p:txBody>
      </p:sp>
      <p:graphicFrame>
        <p:nvGraphicFramePr>
          <p:cNvPr id="9" name="Literature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840480"/>
                <a:gridCol w="42062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 (venue, year)</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Idea and evidence</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Limitation / gap for this project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Caron et al., DINO (ICCV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Self-supervised ViT; attention shows object layout.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Our region claim is qualitative; no mask scoring.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Gao et al., ImageNet-S (IEEE TPAMI 2023)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Pixel-mask benchmark on ImageNet classes.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Gives the mask protocol; heavy to run, subset must be fixed.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Hoel et al., Causal emergence (PNAS 2013)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Macro-scale EI can exceed micro-scale EI.</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No faithful deep-vision operationalisation; our framing withdrawn.</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Steiner et al., How to train your ViT? (TMLR 2022)</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Recipe (augmentation, regularisation) drives ViT accuracy.</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One shared untuned recipe can favour any arm.</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Lucic et al., Are GANs created equal? (NeurIPS 2018)</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Equal-budget tuning of GAN variants.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Precedent for matched tuning; none for token grouping.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Musgrave et al., Metric learning reality check (ECCV 2020)</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Fair-protocol re-evaluation of metric learning.</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Same failure mode likely in token-grouping claims.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Bouthillier et al., Variance in ML benchmarks (MLSys 2021)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Variance sources; many seeds needed.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Our baselines and sweeps were single-seed.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of existing work: six research gaps</a:t>
            </a:r>
            <a:endParaRPr lang="en-US" sz="3200" dirty="0"/>
          </a:p>
        </p:txBody>
      </p:sp>
      <p:sp>
        <p:nvSpPr>
          <p:cNvPr id="3" name="Gap card G1"/>
          <p:cNvSpPr/>
          <p:nvPr/>
        </p:nvSpPr>
        <p:spPr>
          <a:xfrm>
            <a:off x="548640" y="1280160"/>
            <a:ext cx="3566160" cy="2377440"/>
          </a:xfrm>
          <a:prstGeom prst="roundRect">
            <a:avLst>
              <a:gd name="adj" fmla="val 3077"/>
            </a:avLst>
          </a:prstGeom>
          <a:solidFill>
            <a:srgbClr val="FFFFFF"/>
          </a:solidFill>
          <a:ln w="12700">
            <a:solidFill>
              <a:srgbClr val="D3DEE4"/>
            </a:solidFill>
            <a:prstDash val="solid"/>
          </a:ln>
        </p:spPr>
      </p:sp>
      <p:sp>
        <p:nvSpPr>
          <p:cNvPr id="4" name="Gap badge G1"/>
          <p:cNvSpPr/>
          <p:nvPr/>
        </p:nvSpPr>
        <p:spPr>
          <a:xfrm>
            <a:off x="731520" y="1463040"/>
            <a:ext cx="566928" cy="566928"/>
          </a:xfrm>
          <a:prstGeom prst="ellipse">
            <a:avLst/>
          </a:prstGeom>
          <a:solidFill>
            <a:srgbClr val="1B7F8C"/>
          </a:solidFill>
          <a:ln/>
        </p:spPr>
      </p:sp>
      <p:sp>
        <p:nvSpPr>
          <p:cNvPr id="5" name="Gap badge G1 label"/>
          <p:cNvSpPr txBox="1"/>
          <p:nvPr/>
        </p:nvSpPr>
        <p:spPr>
          <a:xfrm>
            <a:off x="731520" y="14630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G1</a:t>
            </a:r>
            <a:endParaRPr lang="en-US" sz="1500" dirty="0"/>
          </a:p>
        </p:txBody>
      </p:sp>
      <p:sp>
        <p:nvSpPr>
          <p:cNvPr id="6" name="Text 4"/>
          <p:cNvSpPr txBox="1"/>
          <p:nvPr/>
        </p:nvSpPr>
        <p:spPr>
          <a:xfrm>
            <a:off x="1417320" y="146304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No capacity-controlled test</a:t>
            </a:r>
            <a:endParaRPr lang="en-US" sz="1600" dirty="0"/>
          </a:p>
        </p:txBody>
      </p:sp>
      <p:sp>
        <p:nvSpPr>
          <p:cNvPr id="7" name="Text 5"/>
          <p:cNvSpPr txBox="1"/>
          <p:nvPr/>
        </p:nvSpPr>
        <p:spPr>
          <a:xfrm>
            <a:off x="777240" y="224028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Registers show extra tokens alone help; grouping papers do not test against such a control.</a:t>
            </a:r>
            <a:endParaRPr lang="en-US" sz="1400" dirty="0"/>
          </a:p>
        </p:txBody>
      </p:sp>
      <p:sp>
        <p:nvSpPr>
          <p:cNvPr id="8" name="Objective tag G1"/>
          <p:cNvSpPr/>
          <p:nvPr/>
        </p:nvSpPr>
        <p:spPr>
          <a:xfrm>
            <a:off x="777240" y="3154680"/>
            <a:ext cx="2011680" cy="338328"/>
          </a:xfrm>
          <a:prstGeom prst="roundRect">
            <a:avLst>
              <a:gd name="adj" fmla="val 27027"/>
            </a:avLst>
          </a:prstGeom>
          <a:solidFill>
            <a:srgbClr val="F4A261"/>
          </a:solidFill>
          <a:ln/>
        </p:spPr>
      </p:sp>
      <p:sp>
        <p:nvSpPr>
          <p:cNvPr id="9" name="Text 7"/>
          <p:cNvSpPr txBox="1"/>
          <p:nvPr/>
        </p:nvSpPr>
        <p:spPr>
          <a:xfrm>
            <a:off x="777240" y="315468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RO2</a:t>
            </a:r>
            <a:endParaRPr lang="en-US" sz="1200" dirty="0"/>
          </a:p>
        </p:txBody>
      </p:sp>
      <p:sp>
        <p:nvSpPr>
          <p:cNvPr id="10" name="Gap card G2"/>
          <p:cNvSpPr/>
          <p:nvPr/>
        </p:nvSpPr>
        <p:spPr>
          <a:xfrm>
            <a:off x="4297680" y="1280160"/>
            <a:ext cx="3566160" cy="2377440"/>
          </a:xfrm>
          <a:prstGeom prst="roundRect">
            <a:avLst>
              <a:gd name="adj" fmla="val 3077"/>
            </a:avLst>
          </a:prstGeom>
          <a:solidFill>
            <a:srgbClr val="FFFFFF"/>
          </a:solidFill>
          <a:ln w="12700">
            <a:solidFill>
              <a:srgbClr val="D3DEE4"/>
            </a:solidFill>
            <a:prstDash val="solid"/>
          </a:ln>
        </p:spPr>
      </p:sp>
      <p:sp>
        <p:nvSpPr>
          <p:cNvPr id="11" name="Gap badge G2"/>
          <p:cNvSpPr/>
          <p:nvPr/>
        </p:nvSpPr>
        <p:spPr>
          <a:xfrm>
            <a:off x="4480560" y="1463040"/>
            <a:ext cx="566928" cy="566928"/>
          </a:xfrm>
          <a:prstGeom prst="ellipse">
            <a:avLst/>
          </a:prstGeom>
          <a:solidFill>
            <a:srgbClr val="1B7F8C"/>
          </a:solidFill>
          <a:ln/>
        </p:spPr>
      </p:sp>
      <p:sp>
        <p:nvSpPr>
          <p:cNvPr id="12" name="Gap badge G2 label"/>
          <p:cNvSpPr txBox="1"/>
          <p:nvPr/>
        </p:nvSpPr>
        <p:spPr>
          <a:xfrm>
            <a:off x="4480560" y="14630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G2</a:t>
            </a:r>
            <a:endParaRPr lang="en-US" sz="1500" dirty="0"/>
          </a:p>
        </p:txBody>
      </p:sp>
      <p:sp>
        <p:nvSpPr>
          <p:cNvPr id="13" name="Text 11"/>
          <p:cNvSpPr txBox="1"/>
          <p:nvPr/>
        </p:nvSpPr>
        <p:spPr>
          <a:xfrm>
            <a:off x="5166360" y="146304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Efficiency, not representation</a:t>
            </a:r>
            <a:endParaRPr lang="en-US" sz="1600" dirty="0"/>
          </a:p>
        </p:txBody>
      </p:sp>
      <p:sp>
        <p:nvSpPr>
          <p:cNvPr id="14" name="Text 12"/>
          <p:cNvSpPr txBox="1"/>
          <p:nvPr/>
        </p:nvSpPr>
        <p:spPr>
          <a:xfrm>
            <a:off x="4526280" y="224028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ToMe, DynamicViT, Token Pooling act on pretrained backbones, not from-scratch training.</a:t>
            </a:r>
            <a:endParaRPr lang="en-US" sz="1400" dirty="0"/>
          </a:p>
        </p:txBody>
      </p:sp>
      <p:sp>
        <p:nvSpPr>
          <p:cNvPr id="15" name="Objective tag G2"/>
          <p:cNvSpPr/>
          <p:nvPr/>
        </p:nvSpPr>
        <p:spPr>
          <a:xfrm>
            <a:off x="4526280" y="3154680"/>
            <a:ext cx="2011680" cy="338328"/>
          </a:xfrm>
          <a:prstGeom prst="roundRect">
            <a:avLst>
              <a:gd name="adj" fmla="val 27027"/>
            </a:avLst>
          </a:prstGeom>
          <a:solidFill>
            <a:srgbClr val="F4A261"/>
          </a:solidFill>
          <a:ln/>
        </p:spPr>
      </p:sp>
      <p:sp>
        <p:nvSpPr>
          <p:cNvPr id="16" name="Text 14"/>
          <p:cNvSpPr txBox="1"/>
          <p:nvPr/>
        </p:nvSpPr>
        <p:spPr>
          <a:xfrm>
            <a:off x="4526280" y="315468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RO2, RO3</a:t>
            </a:r>
            <a:endParaRPr lang="en-US" sz="1200" dirty="0"/>
          </a:p>
        </p:txBody>
      </p:sp>
      <p:sp>
        <p:nvSpPr>
          <p:cNvPr id="17" name="Gap card G3"/>
          <p:cNvSpPr/>
          <p:nvPr/>
        </p:nvSpPr>
        <p:spPr>
          <a:xfrm>
            <a:off x="8046720" y="1280160"/>
            <a:ext cx="3566160" cy="2377440"/>
          </a:xfrm>
          <a:prstGeom prst="roundRect">
            <a:avLst>
              <a:gd name="adj" fmla="val 3077"/>
            </a:avLst>
          </a:prstGeom>
          <a:solidFill>
            <a:srgbClr val="FFFFFF"/>
          </a:solidFill>
          <a:ln w="12700">
            <a:solidFill>
              <a:srgbClr val="D3DEE4"/>
            </a:solidFill>
            <a:prstDash val="solid"/>
          </a:ln>
        </p:spPr>
      </p:sp>
      <p:sp>
        <p:nvSpPr>
          <p:cNvPr id="18" name="Gap badge G3"/>
          <p:cNvSpPr/>
          <p:nvPr/>
        </p:nvSpPr>
        <p:spPr>
          <a:xfrm>
            <a:off x="8229600" y="1463040"/>
            <a:ext cx="566928" cy="566928"/>
          </a:xfrm>
          <a:prstGeom prst="ellipse">
            <a:avLst/>
          </a:prstGeom>
          <a:solidFill>
            <a:srgbClr val="1B7F8C"/>
          </a:solidFill>
          <a:ln/>
        </p:spPr>
      </p:sp>
      <p:sp>
        <p:nvSpPr>
          <p:cNvPr id="19" name="Gap badge G3 label"/>
          <p:cNvSpPr txBox="1"/>
          <p:nvPr/>
        </p:nvSpPr>
        <p:spPr>
          <a:xfrm>
            <a:off x="8229600" y="14630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G3</a:t>
            </a:r>
            <a:endParaRPr lang="en-US" sz="1500" dirty="0"/>
          </a:p>
        </p:txBody>
      </p:sp>
      <p:sp>
        <p:nvSpPr>
          <p:cNvPr id="20" name="Text 18"/>
          <p:cNvSpPr txBox="1"/>
          <p:nvPr/>
        </p:nvSpPr>
        <p:spPr>
          <a:xfrm>
            <a:off x="8915400" y="146304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Single-pass, label-only grouping</a:t>
            </a:r>
            <a:endParaRPr lang="en-US" sz="1600" dirty="0"/>
          </a:p>
        </p:txBody>
      </p:sp>
      <p:sp>
        <p:nvSpPr>
          <p:cNvPr id="21" name="Text 19"/>
          <p:cNvSpPr txBox="1"/>
          <p:nvPr/>
        </p:nvSpPr>
        <p:spPr>
          <a:xfrm>
            <a:off x="8275320" y="224028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Slot Attention, GroupViT and DINOSAUR need iteration, text or pretrained features.</a:t>
            </a:r>
            <a:endParaRPr lang="en-US" sz="1400" dirty="0"/>
          </a:p>
        </p:txBody>
      </p:sp>
      <p:sp>
        <p:nvSpPr>
          <p:cNvPr id="22" name="Objective tag G3"/>
          <p:cNvSpPr/>
          <p:nvPr/>
        </p:nvSpPr>
        <p:spPr>
          <a:xfrm>
            <a:off x="8275320" y="3154680"/>
            <a:ext cx="2011680" cy="338328"/>
          </a:xfrm>
          <a:prstGeom prst="roundRect">
            <a:avLst>
              <a:gd name="adj" fmla="val 27027"/>
            </a:avLst>
          </a:prstGeom>
          <a:solidFill>
            <a:srgbClr val="F4A261"/>
          </a:solidFill>
          <a:ln/>
        </p:spPr>
      </p:sp>
      <p:sp>
        <p:nvSpPr>
          <p:cNvPr id="23" name="Text 21"/>
          <p:cNvSpPr txBox="1"/>
          <p:nvPr/>
        </p:nvSpPr>
        <p:spPr>
          <a:xfrm>
            <a:off x="8275320" y="315468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RO2, RO4</a:t>
            </a:r>
            <a:endParaRPr lang="en-US" sz="1200" dirty="0"/>
          </a:p>
        </p:txBody>
      </p:sp>
      <p:sp>
        <p:nvSpPr>
          <p:cNvPr id="24" name="Gap card G4"/>
          <p:cNvSpPr/>
          <p:nvPr/>
        </p:nvSpPr>
        <p:spPr>
          <a:xfrm>
            <a:off x="548640" y="3840480"/>
            <a:ext cx="3566160" cy="2377440"/>
          </a:xfrm>
          <a:prstGeom prst="roundRect">
            <a:avLst>
              <a:gd name="adj" fmla="val 3077"/>
            </a:avLst>
          </a:prstGeom>
          <a:solidFill>
            <a:srgbClr val="FFFFFF"/>
          </a:solidFill>
          <a:ln w="12700">
            <a:solidFill>
              <a:srgbClr val="D3DEE4"/>
            </a:solidFill>
            <a:prstDash val="solid"/>
          </a:ln>
        </p:spPr>
      </p:sp>
      <p:sp>
        <p:nvSpPr>
          <p:cNvPr id="25" name="Gap badge G4"/>
          <p:cNvSpPr/>
          <p:nvPr/>
        </p:nvSpPr>
        <p:spPr>
          <a:xfrm>
            <a:off x="731520" y="4023360"/>
            <a:ext cx="566928" cy="566928"/>
          </a:xfrm>
          <a:prstGeom prst="ellipse">
            <a:avLst/>
          </a:prstGeom>
          <a:solidFill>
            <a:srgbClr val="1B7F8C"/>
          </a:solidFill>
          <a:ln/>
        </p:spPr>
      </p:sp>
      <p:sp>
        <p:nvSpPr>
          <p:cNvPr id="26" name="Gap badge G4 label"/>
          <p:cNvSpPr txBox="1"/>
          <p:nvPr/>
        </p:nvSpPr>
        <p:spPr>
          <a:xfrm>
            <a:off x="731520" y="402336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G4</a:t>
            </a:r>
            <a:endParaRPr lang="en-US" sz="1500" dirty="0"/>
          </a:p>
        </p:txBody>
      </p:sp>
      <p:sp>
        <p:nvSpPr>
          <p:cNvPr id="27" name="Text 25"/>
          <p:cNvSpPr txBox="1"/>
          <p:nvPr/>
        </p:nvSpPr>
        <p:spPr>
          <a:xfrm>
            <a:off x="1417320" y="402336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Weak evaluation protocols</a:t>
            </a:r>
            <a:endParaRPr lang="en-US" sz="1600" dirty="0"/>
          </a:p>
        </p:txBody>
      </p:sp>
      <p:sp>
        <p:nvSpPr>
          <p:cNvPr id="28" name="Text 26"/>
          <p:cNvSpPr txBox="1"/>
          <p:nvPr/>
        </p:nvSpPr>
        <p:spPr>
          <a:xfrm>
            <a:off x="777240" y="480060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Recipe, tuning and seeds can flip rankings; our baselines were single-seed.</a:t>
            </a:r>
            <a:endParaRPr lang="en-US" sz="1400" dirty="0"/>
          </a:p>
        </p:txBody>
      </p:sp>
      <p:sp>
        <p:nvSpPr>
          <p:cNvPr id="29" name="Objective tag G4"/>
          <p:cNvSpPr/>
          <p:nvPr/>
        </p:nvSpPr>
        <p:spPr>
          <a:xfrm>
            <a:off x="777240" y="5715000"/>
            <a:ext cx="2011680" cy="338328"/>
          </a:xfrm>
          <a:prstGeom prst="roundRect">
            <a:avLst>
              <a:gd name="adj" fmla="val 27027"/>
            </a:avLst>
          </a:prstGeom>
          <a:solidFill>
            <a:srgbClr val="F4A261"/>
          </a:solidFill>
          <a:ln/>
        </p:spPr>
      </p:sp>
      <p:sp>
        <p:nvSpPr>
          <p:cNvPr id="30" name="Text 28"/>
          <p:cNvSpPr txBox="1"/>
          <p:nvPr/>
        </p:nvSpPr>
        <p:spPr>
          <a:xfrm>
            <a:off x="777240" y="571500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RO1, RO5</a:t>
            </a:r>
            <a:endParaRPr lang="en-US" sz="1200" dirty="0"/>
          </a:p>
        </p:txBody>
      </p:sp>
      <p:sp>
        <p:nvSpPr>
          <p:cNvPr id="31" name="Gap card G5"/>
          <p:cNvSpPr/>
          <p:nvPr/>
        </p:nvSpPr>
        <p:spPr>
          <a:xfrm>
            <a:off x="4297680" y="3840480"/>
            <a:ext cx="3566160" cy="2377440"/>
          </a:xfrm>
          <a:prstGeom prst="roundRect">
            <a:avLst>
              <a:gd name="adj" fmla="val 3077"/>
            </a:avLst>
          </a:prstGeom>
          <a:solidFill>
            <a:srgbClr val="FFFFFF"/>
          </a:solidFill>
          <a:ln w="12700">
            <a:solidFill>
              <a:srgbClr val="D3DEE4"/>
            </a:solidFill>
            <a:prstDash val="solid"/>
          </a:ln>
        </p:spPr>
      </p:sp>
      <p:sp>
        <p:nvSpPr>
          <p:cNvPr id="32" name="Gap badge G5"/>
          <p:cNvSpPr/>
          <p:nvPr/>
        </p:nvSpPr>
        <p:spPr>
          <a:xfrm>
            <a:off x="4480560" y="4023360"/>
            <a:ext cx="566928" cy="566928"/>
          </a:xfrm>
          <a:prstGeom prst="ellipse">
            <a:avLst/>
          </a:prstGeom>
          <a:solidFill>
            <a:srgbClr val="1B7F8C"/>
          </a:solidFill>
          <a:ln/>
        </p:spPr>
      </p:sp>
      <p:sp>
        <p:nvSpPr>
          <p:cNvPr id="33" name="Gap badge G5 label"/>
          <p:cNvSpPr txBox="1"/>
          <p:nvPr/>
        </p:nvSpPr>
        <p:spPr>
          <a:xfrm>
            <a:off x="4480560" y="402336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G5</a:t>
            </a:r>
            <a:endParaRPr lang="en-US" sz="1500" dirty="0"/>
          </a:p>
        </p:txBody>
      </p:sp>
      <p:sp>
        <p:nvSpPr>
          <p:cNvPr id="34" name="Text 32"/>
          <p:cNvSpPr txBox="1"/>
          <p:nvPr/>
        </p:nvSpPr>
        <p:spPr>
          <a:xfrm>
            <a:off x="5166360" y="402336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Regions shown only visually</a:t>
            </a:r>
            <a:endParaRPr lang="en-US" sz="1600" dirty="0"/>
          </a:p>
        </p:txBody>
      </p:sp>
      <p:sp>
        <p:nvSpPr>
          <p:cNvPr id="35" name="Text 33"/>
          <p:cNvSpPr txBox="1"/>
          <p:nvPr/>
        </p:nvSpPr>
        <p:spPr>
          <a:xfrm>
            <a:off x="4526280" y="480060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No mask-level score for routing-based hierarchies.</a:t>
            </a:r>
            <a:endParaRPr lang="en-US" sz="1400" dirty="0"/>
          </a:p>
        </p:txBody>
      </p:sp>
      <p:sp>
        <p:nvSpPr>
          <p:cNvPr id="36" name="Objective tag G5"/>
          <p:cNvSpPr/>
          <p:nvPr/>
        </p:nvSpPr>
        <p:spPr>
          <a:xfrm>
            <a:off x="4526280" y="5715000"/>
            <a:ext cx="2011680" cy="338328"/>
          </a:xfrm>
          <a:prstGeom prst="roundRect">
            <a:avLst>
              <a:gd name="adj" fmla="val 27027"/>
            </a:avLst>
          </a:prstGeom>
          <a:solidFill>
            <a:srgbClr val="F4A261"/>
          </a:solidFill>
          <a:ln/>
        </p:spPr>
      </p:sp>
      <p:sp>
        <p:nvSpPr>
          <p:cNvPr id="37" name="Text 35"/>
          <p:cNvSpPr txBox="1"/>
          <p:nvPr/>
        </p:nvSpPr>
        <p:spPr>
          <a:xfrm>
            <a:off x="4526280" y="571500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RO4</a:t>
            </a:r>
            <a:endParaRPr lang="en-US" sz="1200" dirty="0"/>
          </a:p>
        </p:txBody>
      </p:sp>
      <p:sp>
        <p:nvSpPr>
          <p:cNvPr id="38" name="Gap card G6"/>
          <p:cNvSpPr/>
          <p:nvPr/>
        </p:nvSpPr>
        <p:spPr>
          <a:xfrm>
            <a:off x="8046720" y="3840480"/>
            <a:ext cx="3566160" cy="2377440"/>
          </a:xfrm>
          <a:prstGeom prst="roundRect">
            <a:avLst>
              <a:gd name="adj" fmla="val 3077"/>
            </a:avLst>
          </a:prstGeom>
          <a:solidFill>
            <a:srgbClr val="FFFFFF"/>
          </a:solidFill>
          <a:ln w="12700">
            <a:solidFill>
              <a:srgbClr val="D3DEE4"/>
            </a:solidFill>
            <a:prstDash val="solid"/>
          </a:ln>
        </p:spPr>
      </p:sp>
      <p:sp>
        <p:nvSpPr>
          <p:cNvPr id="39" name="Gap badge G6"/>
          <p:cNvSpPr/>
          <p:nvPr/>
        </p:nvSpPr>
        <p:spPr>
          <a:xfrm>
            <a:off x="8229600" y="4023360"/>
            <a:ext cx="566928" cy="566928"/>
          </a:xfrm>
          <a:prstGeom prst="ellipse">
            <a:avLst/>
          </a:prstGeom>
          <a:solidFill>
            <a:srgbClr val="1B7F8C"/>
          </a:solidFill>
          <a:ln/>
        </p:spPr>
      </p:sp>
      <p:sp>
        <p:nvSpPr>
          <p:cNvPr id="40" name="Gap badge G6 label"/>
          <p:cNvSpPr txBox="1"/>
          <p:nvPr/>
        </p:nvSpPr>
        <p:spPr>
          <a:xfrm>
            <a:off x="8229600" y="402336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G6</a:t>
            </a:r>
            <a:endParaRPr lang="en-US" sz="1500" dirty="0"/>
          </a:p>
        </p:txBody>
      </p:sp>
      <p:sp>
        <p:nvSpPr>
          <p:cNvPr id="41" name="Text 39"/>
          <p:cNvSpPr txBox="1"/>
          <p:nvPr/>
        </p:nvSpPr>
        <p:spPr>
          <a:xfrm>
            <a:off x="8915400" y="4023360"/>
            <a:ext cx="2560320" cy="59436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Scale untested</a:t>
            </a:r>
            <a:endParaRPr lang="en-US" sz="1600" dirty="0"/>
          </a:p>
        </p:txBody>
      </p:sp>
      <p:sp>
        <p:nvSpPr>
          <p:cNvPr id="42" name="Text 40"/>
          <p:cNvSpPr txBox="1"/>
          <p:nvPr/>
        </p:nvSpPr>
        <p:spPr>
          <a:xfrm>
            <a:off x="8275320" y="4800600"/>
            <a:ext cx="3108960" cy="91440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Advantage over Swin narrowed 76% from 32x32 to 64x64; ImageNet-like scale unknown.</a:t>
            </a:r>
            <a:endParaRPr lang="en-US" sz="1400" dirty="0"/>
          </a:p>
        </p:txBody>
      </p:sp>
      <p:sp>
        <p:nvSpPr>
          <p:cNvPr id="43" name="Objective tag G6"/>
          <p:cNvSpPr/>
          <p:nvPr/>
        </p:nvSpPr>
        <p:spPr>
          <a:xfrm>
            <a:off x="8275320" y="5715000"/>
            <a:ext cx="2011680" cy="338328"/>
          </a:xfrm>
          <a:prstGeom prst="roundRect">
            <a:avLst>
              <a:gd name="adj" fmla="val 27027"/>
            </a:avLst>
          </a:prstGeom>
          <a:solidFill>
            <a:srgbClr val="F4A261"/>
          </a:solidFill>
          <a:ln/>
        </p:spPr>
      </p:sp>
      <p:sp>
        <p:nvSpPr>
          <p:cNvPr id="44" name="Text 42"/>
          <p:cNvSpPr txBox="1"/>
          <p:nvPr/>
        </p:nvSpPr>
        <p:spPr>
          <a:xfrm>
            <a:off x="8275320" y="5715000"/>
            <a:ext cx="2011680" cy="338328"/>
          </a:xfrm>
          <a:prstGeom prst="rect">
            <a:avLst/>
          </a:prstGeom>
          <a:noFill/>
          <a:ln/>
        </p:spPr>
        <p:txBody>
          <a:bodyPr wrap="square" lIns="0" tIns="0" rIns="0" bIns="0" rtlCol="0" anchor="ctr"/>
          <a:lstStyle/>
          <a:p>
            <a:pPr algn="ctr" indent="0" marL="0">
              <a:buNone/>
            </a:pPr>
            <a:r>
              <a:rPr lang="en-US" sz="1200" b="1" dirty="0">
                <a:solidFill>
                  <a:srgbClr val="0F2A3D"/>
                </a:solidFill>
                <a:latin typeface="Calibri" pitchFamily="34" charset="0"/>
                <a:ea typeface="Calibri" pitchFamily="34" charset="-122"/>
                <a:cs typeface="Calibri" pitchFamily="34" charset="-120"/>
              </a:rPr>
              <a:t>Addressed by RO3</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Problem statement and research questions</a:t>
            </a:r>
            <a:endParaRPr lang="en-US" sz="3200" dirty="0"/>
          </a:p>
        </p:txBody>
      </p:sp>
      <p:sp>
        <p:nvSpPr>
          <p:cNvPr id="3" name="Problem panel"/>
          <p:cNvSpPr/>
          <p:nvPr/>
        </p:nvSpPr>
        <p:spPr>
          <a:xfrm>
            <a:off x="548640" y="1280160"/>
            <a:ext cx="4297680" cy="4892040"/>
          </a:xfrm>
          <a:prstGeom prst="roundRect">
            <a:avLst>
              <a:gd name="adj" fmla="val 1702"/>
            </a:avLst>
          </a:prstGeom>
          <a:solidFill>
            <a:srgbClr val="0F2A3D"/>
          </a:solidFill>
          <a:ln/>
        </p:spPr>
      </p:sp>
      <p:sp>
        <p:nvSpPr>
          <p:cNvPr id="4" name="Text 2"/>
          <p:cNvSpPr txBox="1"/>
          <p:nvPr/>
        </p:nvSpPr>
        <p:spPr>
          <a:xfrm>
            <a:off x="822960" y="1508760"/>
            <a:ext cx="3749040" cy="320040"/>
          </a:xfrm>
          <a:prstGeom prst="rect">
            <a:avLst/>
          </a:prstGeom>
          <a:noFill/>
          <a:ln/>
        </p:spPr>
        <p:txBody>
          <a:bodyPr wrap="square" lIns="0" tIns="0" rIns="0" bIns="0" rtlCol="0" anchor="t"/>
          <a:lstStyle/>
          <a:p>
            <a:pPr indent="0" marL="0">
              <a:buNone/>
            </a:pPr>
            <a:r>
              <a:rPr lang="en-US" sz="1300" b="1" spc="300" kern="0" dirty="0">
                <a:solidFill>
                  <a:srgbClr val="F4A261"/>
                </a:solidFill>
                <a:latin typeface="Calibri" pitchFamily="34" charset="0"/>
                <a:ea typeface="Calibri" pitchFamily="34" charset="-122"/>
                <a:cs typeface="Calibri" pitchFamily="34" charset="-120"/>
              </a:rPr>
              <a:t>PROBLEM</a:t>
            </a:r>
            <a:endParaRPr lang="en-US" sz="1300" dirty="0"/>
          </a:p>
        </p:txBody>
      </p:sp>
      <p:sp>
        <p:nvSpPr>
          <p:cNvPr id="5" name="Text 3"/>
          <p:cNvSpPr txBox="1"/>
          <p:nvPr/>
        </p:nvSpPr>
        <p:spPr>
          <a:xfrm>
            <a:off x="822960" y="1920240"/>
            <a:ext cx="3749040" cy="2743200"/>
          </a:xfrm>
          <a:prstGeom prst="rect">
            <a:avLst/>
          </a:prstGeom>
          <a:noFill/>
          <a:ln/>
        </p:spPr>
        <p:txBody>
          <a:bodyPr wrap="square" lIns="0" tIns="0" rIns="0" bIns="0" rtlCol="0" anchor="t"/>
          <a:lstStyle/>
          <a:p>
            <a:pPr indent="0" marL="0">
              <a:lnSpc>
                <a:spcPct val="110000"/>
              </a:lnSpc>
              <a:buNone/>
            </a:pPr>
            <a:r>
              <a:rPr lang="en-US" sz="1800" dirty="0">
                <a:solidFill>
                  <a:srgbClr val="FFFFFF"/>
                </a:solidFill>
                <a:latin typeface="Calibri" pitchFamily="34" charset="0"/>
                <a:ea typeface="Calibri" pitchFamily="34" charset="-122"/>
                <a:cs typeface="Calibri" pitchFamily="34" charset="-120"/>
              </a:rPr>
              <a:t>It is unknown whether the benefit sometimes seen for learned sparse token grouping comes from grouping itself, or from extra capacity, tuning and recipe effects, and whether its emergent regions are quantitatively meaningful.</a:t>
            </a:r>
            <a:endParaRPr lang="en-US" sz="1800" dirty="0"/>
          </a:p>
        </p:txBody>
      </p:sp>
      <p:sp>
        <p:nvSpPr>
          <p:cNvPr id="6" name="Text 4"/>
          <p:cNvSpPr txBox="1"/>
          <p:nvPr/>
        </p:nvSpPr>
        <p:spPr>
          <a:xfrm>
            <a:off x="822960" y="4800600"/>
            <a:ext cx="3749040" cy="1188720"/>
          </a:xfrm>
          <a:prstGeom prst="rect">
            <a:avLst/>
          </a:prstGeom>
          <a:noFill/>
          <a:ln/>
        </p:spPr>
        <p:txBody>
          <a:bodyPr wrap="square" lIns="0" tIns="0" rIns="0" bIns="0" rtlCol="0" anchor="t"/>
          <a:lstStyle/>
          <a:p>
            <a:pPr indent="0" marL="0">
              <a:buNone/>
            </a:pPr>
            <a:r>
              <a:rPr lang="en-US" sz="1400" i="1" dirty="0">
                <a:solidFill>
                  <a:srgbClr val="CADCE4"/>
                </a:solidFill>
                <a:latin typeface="Calibri" pitchFamily="34" charset="0"/>
                <a:ea typeface="Calibri" pitchFamily="34" charset="-122"/>
                <a:cs typeface="Calibri" pitchFamily="34" charset="-120"/>
              </a:rPr>
              <a:t>Falsifier for H1 (grouping beats controls): the interval of the difference lies within +/-0.5 points or below zero.</a:t>
            </a:r>
            <a:endParaRPr lang="en-US" sz="1400" dirty="0"/>
          </a:p>
        </p:txBody>
      </p:sp>
      <p:sp>
        <p:nvSpPr>
          <p:cNvPr id="7" name="RQ card RQ1"/>
          <p:cNvSpPr/>
          <p:nvPr/>
        </p:nvSpPr>
        <p:spPr>
          <a:xfrm>
            <a:off x="5074920" y="1280160"/>
            <a:ext cx="6583680" cy="1097280"/>
          </a:xfrm>
          <a:prstGeom prst="roundRect">
            <a:avLst>
              <a:gd name="adj" fmla="val 6667"/>
            </a:avLst>
          </a:prstGeom>
          <a:solidFill>
            <a:srgbClr val="FFFFFF"/>
          </a:solidFill>
          <a:ln w="12700">
            <a:solidFill>
              <a:srgbClr val="D3DEE4"/>
            </a:solidFill>
            <a:prstDash val="solid"/>
          </a:ln>
        </p:spPr>
      </p:sp>
      <p:sp>
        <p:nvSpPr>
          <p:cNvPr id="8" name="RQ badge RQ1"/>
          <p:cNvSpPr/>
          <p:nvPr/>
        </p:nvSpPr>
        <p:spPr>
          <a:xfrm>
            <a:off x="5257800" y="1554480"/>
            <a:ext cx="548640" cy="548640"/>
          </a:xfrm>
          <a:prstGeom prst="ellipse">
            <a:avLst/>
          </a:prstGeom>
          <a:solidFill>
            <a:srgbClr val="1B7F8C"/>
          </a:solidFill>
          <a:ln/>
        </p:spPr>
      </p:sp>
      <p:sp>
        <p:nvSpPr>
          <p:cNvPr id="9" name="RQ badge RQ1 label"/>
          <p:cNvSpPr txBox="1"/>
          <p:nvPr/>
        </p:nvSpPr>
        <p:spPr>
          <a:xfrm>
            <a:off x="5257800" y="15544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RQ1</a:t>
            </a:r>
            <a:endParaRPr lang="en-US" sz="1300" dirty="0"/>
          </a:p>
        </p:txBody>
      </p:sp>
      <p:sp>
        <p:nvSpPr>
          <p:cNvPr id="10" name="Text 8"/>
          <p:cNvSpPr txBox="1"/>
          <p:nvPr/>
        </p:nvSpPr>
        <p:spPr>
          <a:xfrm>
            <a:off x="5989320" y="1371600"/>
            <a:ext cx="5486400" cy="91440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Does learned top-k routing beat capacity controls (input-independent slots, frozen random routers, fixed block routing) at matched parameters and MACs, with every arm tuned?</a:t>
            </a:r>
            <a:endParaRPr lang="en-US" sz="1400" dirty="0"/>
          </a:p>
        </p:txBody>
      </p:sp>
      <p:sp>
        <p:nvSpPr>
          <p:cNvPr id="11" name="RQ card RQ2"/>
          <p:cNvSpPr/>
          <p:nvPr/>
        </p:nvSpPr>
        <p:spPr>
          <a:xfrm>
            <a:off x="5074920" y="2523744"/>
            <a:ext cx="6583680" cy="1097280"/>
          </a:xfrm>
          <a:prstGeom prst="roundRect">
            <a:avLst>
              <a:gd name="adj" fmla="val 6667"/>
            </a:avLst>
          </a:prstGeom>
          <a:solidFill>
            <a:srgbClr val="FFFFFF"/>
          </a:solidFill>
          <a:ln w="12700">
            <a:solidFill>
              <a:srgbClr val="D3DEE4"/>
            </a:solidFill>
            <a:prstDash val="solid"/>
          </a:ln>
        </p:spPr>
      </p:sp>
      <p:sp>
        <p:nvSpPr>
          <p:cNvPr id="12" name="RQ badge RQ2"/>
          <p:cNvSpPr/>
          <p:nvPr/>
        </p:nvSpPr>
        <p:spPr>
          <a:xfrm>
            <a:off x="5257800" y="2798064"/>
            <a:ext cx="548640" cy="548640"/>
          </a:xfrm>
          <a:prstGeom prst="ellipse">
            <a:avLst/>
          </a:prstGeom>
          <a:solidFill>
            <a:srgbClr val="1B7F8C"/>
          </a:solidFill>
          <a:ln/>
        </p:spPr>
      </p:sp>
      <p:sp>
        <p:nvSpPr>
          <p:cNvPr id="13" name="RQ badge RQ2 label"/>
          <p:cNvSpPr txBox="1"/>
          <p:nvPr/>
        </p:nvSpPr>
        <p:spPr>
          <a:xfrm>
            <a:off x="5257800" y="2798064"/>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RQ2</a:t>
            </a:r>
            <a:endParaRPr lang="en-US" sz="1300" dirty="0"/>
          </a:p>
        </p:txBody>
      </p:sp>
      <p:sp>
        <p:nvSpPr>
          <p:cNvPr id="14" name="Text 12"/>
          <p:cNvSpPr txBox="1"/>
          <p:nvPr/>
        </p:nvSpPr>
        <p:spPr>
          <a:xfrm>
            <a:off x="5989320" y="2615184"/>
            <a:ext cx="5486400" cy="91440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Does any advantage persist beyond 64x64, on ImageNet-100?</a:t>
            </a:r>
            <a:endParaRPr lang="en-US" sz="1400" dirty="0"/>
          </a:p>
        </p:txBody>
      </p:sp>
      <p:sp>
        <p:nvSpPr>
          <p:cNvPr id="15" name="RQ card RQ3"/>
          <p:cNvSpPr/>
          <p:nvPr/>
        </p:nvSpPr>
        <p:spPr>
          <a:xfrm>
            <a:off x="5074920" y="3767328"/>
            <a:ext cx="6583680" cy="1097280"/>
          </a:xfrm>
          <a:prstGeom prst="roundRect">
            <a:avLst>
              <a:gd name="adj" fmla="val 6667"/>
            </a:avLst>
          </a:prstGeom>
          <a:solidFill>
            <a:srgbClr val="FFFFFF"/>
          </a:solidFill>
          <a:ln w="12700">
            <a:solidFill>
              <a:srgbClr val="D3DEE4"/>
            </a:solidFill>
            <a:prstDash val="solid"/>
          </a:ln>
        </p:spPr>
      </p:sp>
      <p:sp>
        <p:nvSpPr>
          <p:cNvPr id="16" name="RQ badge RQ3"/>
          <p:cNvSpPr/>
          <p:nvPr/>
        </p:nvSpPr>
        <p:spPr>
          <a:xfrm>
            <a:off x="5257800" y="4041648"/>
            <a:ext cx="548640" cy="548640"/>
          </a:xfrm>
          <a:prstGeom prst="ellipse">
            <a:avLst/>
          </a:prstGeom>
          <a:solidFill>
            <a:srgbClr val="1B7F8C"/>
          </a:solidFill>
          <a:ln/>
        </p:spPr>
      </p:sp>
      <p:sp>
        <p:nvSpPr>
          <p:cNvPr id="17" name="RQ badge RQ3 label"/>
          <p:cNvSpPr txBox="1"/>
          <p:nvPr/>
        </p:nvSpPr>
        <p:spPr>
          <a:xfrm>
            <a:off x="5257800" y="4041648"/>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RQ3</a:t>
            </a:r>
            <a:endParaRPr lang="en-US" sz="1300" dirty="0"/>
          </a:p>
        </p:txBody>
      </p:sp>
      <p:sp>
        <p:nvSpPr>
          <p:cNvPr id="18" name="Text 16"/>
          <p:cNvSpPr txBox="1"/>
          <p:nvPr/>
        </p:nvSpPr>
        <p:spPr>
          <a:xfrm>
            <a:off x="5989320" y="3858768"/>
            <a:ext cx="5486400" cy="91440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Are macro-regions quantitatively aligned with object masks beyond what a patch grid or superpixels give?</a:t>
            </a:r>
            <a:endParaRPr lang="en-US" sz="1400" dirty="0"/>
          </a:p>
        </p:txBody>
      </p:sp>
      <p:sp>
        <p:nvSpPr>
          <p:cNvPr id="19" name="RQ card RQ4"/>
          <p:cNvSpPr/>
          <p:nvPr/>
        </p:nvSpPr>
        <p:spPr>
          <a:xfrm>
            <a:off x="5074920" y="5010912"/>
            <a:ext cx="6583680" cy="1097280"/>
          </a:xfrm>
          <a:prstGeom prst="roundRect">
            <a:avLst>
              <a:gd name="adj" fmla="val 6667"/>
            </a:avLst>
          </a:prstGeom>
          <a:solidFill>
            <a:srgbClr val="FFFFFF"/>
          </a:solidFill>
          <a:ln w="12700">
            <a:solidFill>
              <a:srgbClr val="D3DEE4"/>
            </a:solidFill>
            <a:prstDash val="solid"/>
          </a:ln>
        </p:spPr>
      </p:sp>
      <p:sp>
        <p:nvSpPr>
          <p:cNvPr id="20" name="RQ badge RQ4"/>
          <p:cNvSpPr/>
          <p:nvPr/>
        </p:nvSpPr>
        <p:spPr>
          <a:xfrm>
            <a:off x="5257800" y="5285232"/>
            <a:ext cx="548640" cy="548640"/>
          </a:xfrm>
          <a:prstGeom prst="ellipse">
            <a:avLst/>
          </a:prstGeom>
          <a:solidFill>
            <a:srgbClr val="1B7F8C"/>
          </a:solidFill>
          <a:ln/>
        </p:spPr>
      </p:sp>
      <p:sp>
        <p:nvSpPr>
          <p:cNvPr id="21" name="RQ badge RQ4 label"/>
          <p:cNvSpPr txBox="1"/>
          <p:nvPr/>
        </p:nvSpPr>
        <p:spPr>
          <a:xfrm>
            <a:off x="5257800" y="5285232"/>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RQ4</a:t>
            </a:r>
            <a:endParaRPr lang="en-US" sz="1300" dirty="0"/>
          </a:p>
        </p:txBody>
      </p:sp>
      <p:sp>
        <p:nvSpPr>
          <p:cNvPr id="22" name="Text 20"/>
          <p:cNvSpPr txBox="1"/>
          <p:nvPr/>
        </p:nvSpPr>
        <p:spPr>
          <a:xfrm>
            <a:off x="5989320" y="5102352"/>
            <a:ext cx="5486400" cy="91440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How many seeds and tuning budget are needed before such conclusions are stable?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Research objectives (epics)</a:t>
            </a:r>
            <a:endParaRPr lang="en-US" sz="3200" dirty="0"/>
          </a:p>
        </p:txBody>
      </p:sp>
      <p:sp>
        <p:nvSpPr>
          <p:cNvPr id="3" name="Objective row RO1"/>
          <p:cNvSpPr/>
          <p:nvPr/>
        </p:nvSpPr>
        <p:spPr>
          <a:xfrm>
            <a:off x="548640" y="1234440"/>
            <a:ext cx="11109960" cy="877824"/>
          </a:xfrm>
          <a:prstGeom prst="roundRect">
            <a:avLst>
              <a:gd name="adj" fmla="val 8333"/>
            </a:avLst>
          </a:prstGeom>
          <a:solidFill>
            <a:srgbClr val="EAF1F4"/>
          </a:solidFill>
          <a:ln/>
        </p:spPr>
      </p:sp>
      <p:sp>
        <p:nvSpPr>
          <p:cNvPr id="4" name="Objective badge RO1"/>
          <p:cNvSpPr/>
          <p:nvPr/>
        </p:nvSpPr>
        <p:spPr>
          <a:xfrm>
            <a:off x="731520" y="1399032"/>
            <a:ext cx="548640" cy="548640"/>
          </a:xfrm>
          <a:prstGeom prst="ellipse">
            <a:avLst/>
          </a:prstGeom>
          <a:solidFill>
            <a:srgbClr val="F4A261"/>
          </a:solidFill>
          <a:ln/>
        </p:spPr>
      </p:sp>
      <p:sp>
        <p:nvSpPr>
          <p:cNvPr id="5" name="Objective badge RO1 label"/>
          <p:cNvSpPr txBox="1"/>
          <p:nvPr/>
        </p:nvSpPr>
        <p:spPr>
          <a:xfrm>
            <a:off x="731520" y="1399032"/>
            <a:ext cx="548640" cy="548640"/>
          </a:xfrm>
          <a:prstGeom prst="rect">
            <a:avLst/>
          </a:prstGeom>
          <a:noFill/>
          <a:ln/>
        </p:spPr>
        <p:txBody>
          <a:bodyPr wrap="square" lIns="0" tIns="0" rIns="0" bIns="0" rtlCol="0" anchor="ctr"/>
          <a:lstStyle/>
          <a:p>
            <a:pPr algn="ctr" indent="0" marL="0">
              <a:buNone/>
            </a:pPr>
            <a:r>
              <a:rPr lang="en-US" sz="1300" b="1" dirty="0">
                <a:solidFill>
                  <a:srgbClr val="0F2A3D"/>
                </a:solidFill>
                <a:latin typeface="Calibri" pitchFamily="34" charset="0"/>
                <a:ea typeface="Calibri" pitchFamily="34" charset="-122"/>
                <a:cs typeface="Calibri" pitchFamily="34" charset="-120"/>
              </a:rPr>
              <a:t>RO1</a:t>
            </a:r>
            <a:endParaRPr lang="en-US" sz="1300" dirty="0"/>
          </a:p>
        </p:txBody>
      </p:sp>
      <p:sp>
        <p:nvSpPr>
          <p:cNvPr id="6" name="Text 4"/>
          <p:cNvSpPr txBox="1"/>
          <p:nvPr/>
        </p:nvSpPr>
        <p:spPr>
          <a:xfrm>
            <a:off x="1508760" y="1307592"/>
            <a:ext cx="3291840" cy="73152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Corrected, reproducible baseline</a:t>
            </a:r>
            <a:endParaRPr lang="en-US" sz="1600" dirty="0"/>
          </a:p>
        </p:txBody>
      </p:sp>
      <p:sp>
        <p:nvSpPr>
          <p:cNvPr id="7" name="Text 5"/>
          <p:cNvSpPr txBox="1"/>
          <p:nvPr/>
        </p:nvSpPr>
        <p:spPr>
          <a:xfrm>
            <a:off x="4846320" y="1307592"/>
            <a:ext cx="4023360" cy="73152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Erratum, model card, licence and a sanitised public repository.</a:t>
            </a:r>
            <a:endParaRPr lang="en-US" sz="1400" dirty="0"/>
          </a:p>
        </p:txBody>
      </p:sp>
      <p:sp>
        <p:nvSpPr>
          <p:cNvPr id="8" name="Text 6"/>
          <p:cNvSpPr txBox="1"/>
          <p:nvPr/>
        </p:nvSpPr>
        <p:spPr>
          <a:xfrm>
            <a:off x="9052560" y="1307592"/>
            <a:ext cx="2468880" cy="73152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Reproduces main tables within seed variance</a:t>
            </a:r>
            <a:endParaRPr lang="en-US" sz="1300" dirty="0"/>
          </a:p>
        </p:txBody>
      </p:sp>
      <p:sp>
        <p:nvSpPr>
          <p:cNvPr id="9" name="Objective row RO2"/>
          <p:cNvSpPr/>
          <p:nvPr/>
        </p:nvSpPr>
        <p:spPr>
          <a:xfrm>
            <a:off x="548640" y="2221992"/>
            <a:ext cx="11109960" cy="877824"/>
          </a:xfrm>
          <a:prstGeom prst="roundRect">
            <a:avLst>
              <a:gd name="adj" fmla="val 8333"/>
            </a:avLst>
          </a:prstGeom>
          <a:solidFill>
            <a:srgbClr val="FFFFFF"/>
          </a:solidFill>
          <a:ln w="12700">
            <a:solidFill>
              <a:srgbClr val="D3DEE4"/>
            </a:solidFill>
            <a:prstDash val="solid"/>
          </a:ln>
        </p:spPr>
      </p:sp>
      <p:sp>
        <p:nvSpPr>
          <p:cNvPr id="10" name="Objective badge RO2"/>
          <p:cNvSpPr/>
          <p:nvPr/>
        </p:nvSpPr>
        <p:spPr>
          <a:xfrm>
            <a:off x="731520" y="2386584"/>
            <a:ext cx="548640" cy="548640"/>
          </a:xfrm>
          <a:prstGeom prst="ellipse">
            <a:avLst/>
          </a:prstGeom>
          <a:solidFill>
            <a:srgbClr val="1B7F8C"/>
          </a:solidFill>
          <a:ln/>
        </p:spPr>
      </p:sp>
      <p:sp>
        <p:nvSpPr>
          <p:cNvPr id="11" name="Objective badge RO2 label"/>
          <p:cNvSpPr txBox="1"/>
          <p:nvPr/>
        </p:nvSpPr>
        <p:spPr>
          <a:xfrm>
            <a:off x="731520" y="2386584"/>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RO2</a:t>
            </a:r>
            <a:endParaRPr lang="en-US" sz="1300" dirty="0"/>
          </a:p>
        </p:txBody>
      </p:sp>
      <p:sp>
        <p:nvSpPr>
          <p:cNvPr id="12" name="Text 10"/>
          <p:cNvSpPr txBox="1"/>
          <p:nvPr/>
        </p:nvSpPr>
        <p:spPr>
          <a:xfrm>
            <a:off x="1508760" y="2295144"/>
            <a:ext cx="3291840" cy="73152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Capacity-controlled comparison</a:t>
            </a:r>
            <a:endParaRPr lang="en-US" sz="1600" dirty="0"/>
          </a:p>
        </p:txBody>
      </p:sp>
      <p:sp>
        <p:nvSpPr>
          <p:cNvPr id="13" name="Text 11"/>
          <p:cNvSpPr txBox="1"/>
          <p:nvPr/>
        </p:nvSpPr>
        <p:spPr>
          <a:xfrm>
            <a:off x="4846320" y="2295144"/>
            <a:ext cx="4023360" cy="73152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Routing A vs registers, random, block routing, matched control and Swin.</a:t>
            </a:r>
            <a:endParaRPr lang="en-US" sz="1400" dirty="0"/>
          </a:p>
        </p:txBody>
      </p:sp>
      <p:sp>
        <p:nvSpPr>
          <p:cNvPr id="14" name="Text 12"/>
          <p:cNvSpPr txBox="1"/>
          <p:nvPr/>
        </p:nvSpPr>
        <p:spPr>
          <a:xfrm>
            <a:off x="9052560" y="2295144"/>
            <a:ext cx="2468880" cy="73152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&gt;= 5 seeds after per-arm LR sweeps</a:t>
            </a:r>
            <a:endParaRPr lang="en-US" sz="1300" dirty="0"/>
          </a:p>
        </p:txBody>
      </p:sp>
      <p:sp>
        <p:nvSpPr>
          <p:cNvPr id="15" name="Objective row RO3"/>
          <p:cNvSpPr/>
          <p:nvPr/>
        </p:nvSpPr>
        <p:spPr>
          <a:xfrm>
            <a:off x="548640" y="3209544"/>
            <a:ext cx="11109960" cy="877824"/>
          </a:xfrm>
          <a:prstGeom prst="roundRect">
            <a:avLst>
              <a:gd name="adj" fmla="val 8333"/>
            </a:avLst>
          </a:prstGeom>
          <a:solidFill>
            <a:srgbClr val="EAF1F4"/>
          </a:solidFill>
          <a:ln/>
        </p:spPr>
      </p:sp>
      <p:sp>
        <p:nvSpPr>
          <p:cNvPr id="16" name="Objective badge RO3"/>
          <p:cNvSpPr/>
          <p:nvPr/>
        </p:nvSpPr>
        <p:spPr>
          <a:xfrm>
            <a:off x="731520" y="3374136"/>
            <a:ext cx="548640" cy="548640"/>
          </a:xfrm>
          <a:prstGeom prst="ellipse">
            <a:avLst/>
          </a:prstGeom>
          <a:solidFill>
            <a:srgbClr val="1B7F8C"/>
          </a:solidFill>
          <a:ln/>
        </p:spPr>
      </p:sp>
      <p:sp>
        <p:nvSpPr>
          <p:cNvPr id="17" name="Objective badge RO3 label"/>
          <p:cNvSpPr txBox="1"/>
          <p:nvPr/>
        </p:nvSpPr>
        <p:spPr>
          <a:xfrm>
            <a:off x="731520" y="3374136"/>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RO3</a:t>
            </a:r>
            <a:endParaRPr lang="en-US" sz="1300" dirty="0"/>
          </a:p>
        </p:txBody>
      </p:sp>
      <p:sp>
        <p:nvSpPr>
          <p:cNvPr id="18" name="Text 16"/>
          <p:cNvSpPr txBox="1"/>
          <p:nvPr/>
        </p:nvSpPr>
        <p:spPr>
          <a:xfrm>
            <a:off x="1508760" y="3282696"/>
            <a:ext cx="3291840" cy="73152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Scale and resolution</a:t>
            </a:r>
            <a:endParaRPr lang="en-US" sz="1600" dirty="0"/>
          </a:p>
        </p:txBody>
      </p:sp>
      <p:sp>
        <p:nvSpPr>
          <p:cNvPr id="19" name="Text 17"/>
          <p:cNvSpPr txBox="1"/>
          <p:nvPr/>
        </p:nvSpPr>
        <p:spPr>
          <a:xfrm>
            <a:off x="4846320" y="3282696"/>
            <a:ext cx="4023360" cy="73152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Repeat on ImageNet-100 at 112x112 or higher with the surviving arms.</a:t>
            </a:r>
            <a:endParaRPr lang="en-US" sz="1400" dirty="0"/>
          </a:p>
        </p:txBody>
      </p:sp>
      <p:sp>
        <p:nvSpPr>
          <p:cNvPr id="20" name="Text 18"/>
          <p:cNvSpPr txBox="1"/>
          <p:nvPr/>
        </p:nvSpPr>
        <p:spPr>
          <a:xfrm>
            <a:off x="9052560" y="3282696"/>
            <a:ext cx="2468880" cy="73152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Tuned-rate contrast with intervals</a:t>
            </a:r>
            <a:endParaRPr lang="en-US" sz="1300" dirty="0"/>
          </a:p>
        </p:txBody>
      </p:sp>
      <p:sp>
        <p:nvSpPr>
          <p:cNvPr id="21" name="Objective row RO4"/>
          <p:cNvSpPr/>
          <p:nvPr/>
        </p:nvSpPr>
        <p:spPr>
          <a:xfrm>
            <a:off x="548640" y="4197096"/>
            <a:ext cx="11109960" cy="877824"/>
          </a:xfrm>
          <a:prstGeom prst="roundRect">
            <a:avLst>
              <a:gd name="adj" fmla="val 8333"/>
            </a:avLst>
          </a:prstGeom>
          <a:solidFill>
            <a:srgbClr val="FFFFFF"/>
          </a:solidFill>
          <a:ln w="12700">
            <a:solidFill>
              <a:srgbClr val="D3DEE4"/>
            </a:solidFill>
            <a:prstDash val="solid"/>
          </a:ln>
        </p:spPr>
      </p:sp>
      <p:sp>
        <p:nvSpPr>
          <p:cNvPr id="22" name="Objective badge RO4"/>
          <p:cNvSpPr/>
          <p:nvPr/>
        </p:nvSpPr>
        <p:spPr>
          <a:xfrm>
            <a:off x="731520" y="4361688"/>
            <a:ext cx="548640" cy="548640"/>
          </a:xfrm>
          <a:prstGeom prst="ellipse">
            <a:avLst/>
          </a:prstGeom>
          <a:solidFill>
            <a:srgbClr val="1B7F8C"/>
          </a:solidFill>
          <a:ln/>
        </p:spPr>
      </p:sp>
      <p:sp>
        <p:nvSpPr>
          <p:cNvPr id="23" name="Objective badge RO4 label"/>
          <p:cNvSpPr txBox="1"/>
          <p:nvPr/>
        </p:nvSpPr>
        <p:spPr>
          <a:xfrm>
            <a:off x="731520" y="4361688"/>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RO4</a:t>
            </a:r>
            <a:endParaRPr lang="en-US" sz="1300" dirty="0"/>
          </a:p>
        </p:txBody>
      </p:sp>
      <p:sp>
        <p:nvSpPr>
          <p:cNvPr id="24" name="Text 22"/>
          <p:cNvSpPr txBox="1"/>
          <p:nvPr/>
        </p:nvSpPr>
        <p:spPr>
          <a:xfrm>
            <a:off x="1508760" y="4270248"/>
            <a:ext cx="3291840" cy="73152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Quantitative region evaluation</a:t>
            </a:r>
            <a:endParaRPr lang="en-US" sz="1600" dirty="0"/>
          </a:p>
        </p:txBody>
      </p:sp>
      <p:sp>
        <p:nvSpPr>
          <p:cNvPr id="25" name="Text 23"/>
          <p:cNvSpPr txBox="1"/>
          <p:nvPr/>
        </p:nvSpPr>
        <p:spPr>
          <a:xfrm>
            <a:off x="4846320" y="4270248"/>
            <a:ext cx="4023360" cy="73152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Score macro-regions against object masks versus grid and superpixel baselines.</a:t>
            </a:r>
            <a:endParaRPr lang="en-US" sz="1400" dirty="0"/>
          </a:p>
        </p:txBody>
      </p:sp>
      <p:sp>
        <p:nvSpPr>
          <p:cNvPr id="26" name="Text 24"/>
          <p:cNvSpPr txBox="1"/>
          <p:nvPr/>
        </p:nvSpPr>
        <p:spPr>
          <a:xfrm>
            <a:off x="9052560" y="4270248"/>
            <a:ext cx="2468880" cy="73152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mIoU and purity, null result accepted</a:t>
            </a:r>
            <a:endParaRPr lang="en-US" sz="1300" dirty="0"/>
          </a:p>
        </p:txBody>
      </p:sp>
      <p:sp>
        <p:nvSpPr>
          <p:cNvPr id="27" name="Objective row RO5"/>
          <p:cNvSpPr/>
          <p:nvPr/>
        </p:nvSpPr>
        <p:spPr>
          <a:xfrm>
            <a:off x="548640" y="5184648"/>
            <a:ext cx="11109960" cy="877824"/>
          </a:xfrm>
          <a:prstGeom prst="roundRect">
            <a:avLst>
              <a:gd name="adj" fmla="val 8333"/>
            </a:avLst>
          </a:prstGeom>
          <a:solidFill>
            <a:srgbClr val="EAF1F4"/>
          </a:solidFill>
          <a:ln/>
        </p:spPr>
      </p:sp>
      <p:sp>
        <p:nvSpPr>
          <p:cNvPr id="28" name="Objective badge RO5"/>
          <p:cNvSpPr/>
          <p:nvPr/>
        </p:nvSpPr>
        <p:spPr>
          <a:xfrm>
            <a:off x="731520" y="5349240"/>
            <a:ext cx="548640" cy="548640"/>
          </a:xfrm>
          <a:prstGeom prst="ellipse">
            <a:avLst/>
          </a:prstGeom>
          <a:solidFill>
            <a:srgbClr val="F4A261"/>
          </a:solidFill>
          <a:ln/>
        </p:spPr>
      </p:sp>
      <p:sp>
        <p:nvSpPr>
          <p:cNvPr id="29" name="Objective badge RO5 label"/>
          <p:cNvSpPr txBox="1"/>
          <p:nvPr/>
        </p:nvSpPr>
        <p:spPr>
          <a:xfrm>
            <a:off x="731520" y="5349240"/>
            <a:ext cx="548640" cy="548640"/>
          </a:xfrm>
          <a:prstGeom prst="rect">
            <a:avLst/>
          </a:prstGeom>
          <a:noFill/>
          <a:ln/>
        </p:spPr>
        <p:txBody>
          <a:bodyPr wrap="square" lIns="0" tIns="0" rIns="0" bIns="0" rtlCol="0" anchor="ctr"/>
          <a:lstStyle/>
          <a:p>
            <a:pPr algn="ctr" indent="0" marL="0">
              <a:buNone/>
            </a:pPr>
            <a:r>
              <a:rPr lang="en-US" sz="1300" b="1" dirty="0">
                <a:solidFill>
                  <a:srgbClr val="0F2A3D"/>
                </a:solidFill>
                <a:latin typeface="Calibri" pitchFamily="34" charset="0"/>
                <a:ea typeface="Calibri" pitchFamily="34" charset="-122"/>
                <a:cs typeface="Calibri" pitchFamily="34" charset="-120"/>
              </a:rPr>
              <a:t>RO5</a:t>
            </a:r>
            <a:endParaRPr lang="en-US" sz="1300" dirty="0"/>
          </a:p>
        </p:txBody>
      </p:sp>
      <p:sp>
        <p:nvSpPr>
          <p:cNvPr id="30" name="Text 28"/>
          <p:cNvSpPr txBox="1"/>
          <p:nvPr/>
        </p:nvSpPr>
        <p:spPr>
          <a:xfrm>
            <a:off x="1508760" y="5257800"/>
            <a:ext cx="3291840" cy="731520"/>
          </a:xfrm>
          <a:prstGeom prst="rect">
            <a:avLst/>
          </a:prstGeom>
          <a:noFill/>
          <a:ln/>
        </p:spPr>
        <p:txBody>
          <a:bodyPr wrap="square" lIns="0" tIns="0" rIns="0" bIns="0" rtlCol="0" anchor="ctr"/>
          <a:lstStyle/>
          <a:p>
            <a:pPr indent="0" marL="0">
              <a:buNone/>
            </a:pPr>
            <a:r>
              <a:rPr lang="en-US" sz="1600" b="1" dirty="0">
                <a:solidFill>
                  <a:srgbClr val="0F2A3D"/>
                </a:solidFill>
                <a:latin typeface="Calibri" pitchFamily="34" charset="0"/>
                <a:ea typeface="Calibri" pitchFamily="34" charset="-122"/>
                <a:cs typeface="Calibri" pitchFamily="34" charset="-120"/>
              </a:rPr>
              <a:t>Protocol and dissemination</a:t>
            </a:r>
            <a:endParaRPr lang="en-US" sz="1600" dirty="0"/>
          </a:p>
        </p:txBody>
      </p:sp>
      <p:sp>
        <p:nvSpPr>
          <p:cNvPr id="31" name="Text 29"/>
          <p:cNvSpPr txBox="1"/>
          <p:nvPr/>
        </p:nvSpPr>
        <p:spPr>
          <a:xfrm>
            <a:off x="4846320" y="5257800"/>
            <a:ext cx="4023360" cy="731520"/>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OSF plan before final runs; validation split; public harness; two papers.</a:t>
            </a:r>
            <a:endParaRPr lang="en-US" sz="1400" dirty="0"/>
          </a:p>
        </p:txBody>
      </p:sp>
      <p:sp>
        <p:nvSpPr>
          <p:cNvPr id="32" name="Text 30"/>
          <p:cNvSpPr txBox="1"/>
          <p:nvPr/>
        </p:nvSpPr>
        <p:spPr>
          <a:xfrm>
            <a:off x="9052560" y="5257800"/>
            <a:ext cx="2468880" cy="731520"/>
          </a:xfrm>
          <a:prstGeom prst="rect">
            <a:avLst/>
          </a:prstGeom>
          <a:noFill/>
          <a:ln/>
        </p:spPr>
        <p:txBody>
          <a:bodyPr wrap="square" lIns="0" tIns="0" rIns="0" bIns="0" rtlCol="0" anchor="ctr"/>
          <a:lstStyle/>
          <a:p>
            <a:pPr indent="0" marL="0">
              <a:buNone/>
            </a:pPr>
            <a:r>
              <a:rPr lang="en-US" sz="1300" i="1" dirty="0">
                <a:solidFill>
                  <a:srgbClr val="5B6B77"/>
                </a:solidFill>
                <a:latin typeface="Calibri" pitchFamily="34" charset="0"/>
                <a:ea typeface="Calibri" pitchFamily="34" charset="-122"/>
                <a:cs typeface="Calibri" pitchFamily="34" charset="-120"/>
              </a:rPr>
              <a:t>Two submissions, audit paper first</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Proposed methodology</a:t>
            </a:r>
            <a:endParaRPr lang="en-US" sz="3200" dirty="0"/>
          </a:p>
        </p:txBody>
      </p:sp>
      <p:sp>
        <p:nvSpPr>
          <p:cNvPr id="3" name="Text 1"/>
          <p:cNvSpPr txBox="1"/>
          <p:nvPr/>
        </p:nvSpPr>
        <p:spPr>
          <a:xfrm>
            <a:off x="548640" y="1234440"/>
            <a:ext cx="585216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Experimental arms (matched parameters and MACs)</a:t>
            </a:r>
            <a:endParaRPr lang="en-US" sz="1600" dirty="0"/>
          </a:p>
        </p:txBody>
      </p:sp>
      <p:sp>
        <p:nvSpPr>
          <p:cNvPr id="4" name="Arm card A"/>
          <p:cNvSpPr/>
          <p:nvPr/>
        </p:nvSpPr>
        <p:spPr>
          <a:xfrm>
            <a:off x="548640" y="1691640"/>
            <a:ext cx="2880360" cy="1325880"/>
          </a:xfrm>
          <a:prstGeom prst="roundRect">
            <a:avLst>
              <a:gd name="adj" fmla="val 5517"/>
            </a:avLst>
          </a:prstGeom>
          <a:solidFill>
            <a:srgbClr val="1B7F8C"/>
          </a:solidFill>
          <a:ln/>
        </p:spPr>
      </p:sp>
      <p:sp>
        <p:nvSpPr>
          <p:cNvPr id="5" name="Arm badge A"/>
          <p:cNvSpPr/>
          <p:nvPr/>
        </p:nvSpPr>
        <p:spPr>
          <a:xfrm>
            <a:off x="685800" y="1828800"/>
            <a:ext cx="502920" cy="502920"/>
          </a:xfrm>
          <a:prstGeom prst="ellipse">
            <a:avLst/>
          </a:prstGeom>
          <a:solidFill>
            <a:srgbClr val="FFFFFF"/>
          </a:solidFill>
          <a:ln/>
        </p:spPr>
      </p:sp>
      <p:sp>
        <p:nvSpPr>
          <p:cNvPr id="6" name="Arm badge A label"/>
          <p:cNvSpPr txBox="1"/>
          <p:nvPr/>
        </p:nvSpPr>
        <p:spPr>
          <a:xfrm>
            <a:off x="685800" y="1828800"/>
            <a:ext cx="502920" cy="502920"/>
          </a:xfrm>
          <a:prstGeom prst="rect">
            <a:avLst/>
          </a:prstGeom>
          <a:noFill/>
          <a:ln/>
        </p:spPr>
        <p:txBody>
          <a:bodyPr wrap="square" lIns="0" tIns="0" rIns="0" bIns="0" rtlCol="0" anchor="ctr"/>
          <a:lstStyle/>
          <a:p>
            <a:pPr algn="ctr" indent="0" marL="0">
              <a:buNone/>
            </a:pPr>
            <a:r>
              <a:rPr lang="en-US" sz="1500" b="1" dirty="0">
                <a:solidFill>
                  <a:srgbClr val="1B7F8C"/>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325880" y="1847088"/>
            <a:ext cx="20116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minor-project branch</a:t>
            </a:r>
            <a:endParaRPr lang="en-US" sz="1400" dirty="0"/>
          </a:p>
        </p:txBody>
      </p:sp>
      <p:sp>
        <p:nvSpPr>
          <p:cNvPr id="8" name="Text 6"/>
          <p:cNvSpPr txBox="1"/>
          <p:nvPr/>
        </p:nvSpPr>
        <p:spPr>
          <a:xfrm>
            <a:off x="731520" y="2423160"/>
            <a:ext cx="2514600" cy="5486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Learned top-3 routing, auxiliary loss on</a:t>
            </a:r>
            <a:endParaRPr lang="en-US" sz="1400" dirty="0"/>
          </a:p>
        </p:txBody>
      </p:sp>
      <p:sp>
        <p:nvSpPr>
          <p:cNvPr id="9" name="Arm card R"/>
          <p:cNvSpPr/>
          <p:nvPr/>
        </p:nvSpPr>
        <p:spPr>
          <a:xfrm>
            <a:off x="3566160" y="1691640"/>
            <a:ext cx="2880360" cy="1325880"/>
          </a:xfrm>
          <a:prstGeom prst="roundRect">
            <a:avLst>
              <a:gd name="adj" fmla="val 5517"/>
            </a:avLst>
          </a:prstGeom>
          <a:solidFill>
            <a:srgbClr val="EAF1F4"/>
          </a:solidFill>
          <a:ln/>
        </p:spPr>
      </p:sp>
      <p:sp>
        <p:nvSpPr>
          <p:cNvPr id="10" name="Arm badge R"/>
          <p:cNvSpPr/>
          <p:nvPr/>
        </p:nvSpPr>
        <p:spPr>
          <a:xfrm>
            <a:off x="3703320" y="1828800"/>
            <a:ext cx="502920" cy="502920"/>
          </a:xfrm>
          <a:prstGeom prst="ellipse">
            <a:avLst/>
          </a:prstGeom>
          <a:solidFill>
            <a:srgbClr val="1B7F8C"/>
          </a:solidFill>
          <a:ln/>
        </p:spPr>
      </p:sp>
      <p:sp>
        <p:nvSpPr>
          <p:cNvPr id="11" name="Arm badge R label"/>
          <p:cNvSpPr txBox="1"/>
          <p:nvPr/>
        </p:nvSpPr>
        <p:spPr>
          <a:xfrm>
            <a:off x="3703320" y="1828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12" name="Text 10"/>
          <p:cNvSpPr txBox="1"/>
          <p:nvPr/>
        </p:nvSpPr>
        <p:spPr>
          <a:xfrm>
            <a:off x="4343400" y="1847088"/>
            <a:ext cx="2011680" cy="457200"/>
          </a:xfrm>
          <a:prstGeom prst="rect">
            <a:avLst/>
          </a:prstGeom>
          <a:noFill/>
          <a:ln/>
        </p:spPr>
        <p:txBody>
          <a:bodyPr wrap="square" lIns="0" tIns="0" rIns="0" bIns="0" rtlCol="0" anchor="ctr"/>
          <a:lstStyle/>
          <a:p>
            <a:pPr indent="0" marL="0">
              <a:buNone/>
            </a:pPr>
            <a:r>
              <a:rPr lang="en-US" sz="1400" b="1" dirty="0">
                <a:solidFill>
                  <a:srgbClr val="0F2A3D"/>
                </a:solidFill>
                <a:latin typeface="Calibri" pitchFamily="34" charset="0"/>
                <a:ea typeface="Calibri" pitchFamily="34" charset="-122"/>
                <a:cs typeface="Calibri" pitchFamily="34" charset="-120"/>
              </a:rPr>
              <a:t>capacity control</a:t>
            </a:r>
            <a:endParaRPr lang="en-US" sz="1400" dirty="0"/>
          </a:p>
        </p:txBody>
      </p:sp>
      <p:sp>
        <p:nvSpPr>
          <p:cNvPr id="13" name="Text 11"/>
          <p:cNvSpPr txBox="1"/>
          <p:nvPr/>
        </p:nvSpPr>
        <p:spPr>
          <a:xfrm>
            <a:off x="3749040" y="2423160"/>
            <a:ext cx="2514600" cy="5486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Input-independent learned slots (registers)</a:t>
            </a:r>
            <a:endParaRPr lang="en-US" sz="1400" dirty="0"/>
          </a:p>
        </p:txBody>
      </p:sp>
      <p:sp>
        <p:nvSpPr>
          <p:cNvPr id="14" name="Arm card X"/>
          <p:cNvSpPr/>
          <p:nvPr/>
        </p:nvSpPr>
        <p:spPr>
          <a:xfrm>
            <a:off x="548640" y="3154680"/>
            <a:ext cx="2880360" cy="1325880"/>
          </a:xfrm>
          <a:prstGeom prst="roundRect">
            <a:avLst>
              <a:gd name="adj" fmla="val 5517"/>
            </a:avLst>
          </a:prstGeom>
          <a:solidFill>
            <a:srgbClr val="EAF1F4"/>
          </a:solidFill>
          <a:ln/>
        </p:spPr>
      </p:sp>
      <p:sp>
        <p:nvSpPr>
          <p:cNvPr id="15" name="Arm badge X"/>
          <p:cNvSpPr/>
          <p:nvPr/>
        </p:nvSpPr>
        <p:spPr>
          <a:xfrm>
            <a:off x="685800" y="3291840"/>
            <a:ext cx="502920" cy="502920"/>
          </a:xfrm>
          <a:prstGeom prst="ellipse">
            <a:avLst/>
          </a:prstGeom>
          <a:solidFill>
            <a:srgbClr val="1B7F8C"/>
          </a:solidFill>
          <a:ln/>
        </p:spPr>
      </p:sp>
      <p:sp>
        <p:nvSpPr>
          <p:cNvPr id="16" name="Arm badge X label"/>
          <p:cNvSpPr txBox="1"/>
          <p:nvPr/>
        </p:nvSpPr>
        <p:spPr>
          <a:xfrm>
            <a:off x="685800" y="32918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p>
        </p:txBody>
      </p:sp>
      <p:sp>
        <p:nvSpPr>
          <p:cNvPr id="17" name="Text 15"/>
          <p:cNvSpPr txBox="1"/>
          <p:nvPr/>
        </p:nvSpPr>
        <p:spPr>
          <a:xfrm>
            <a:off x="1325880" y="3310128"/>
            <a:ext cx="2011680" cy="457200"/>
          </a:xfrm>
          <a:prstGeom prst="rect">
            <a:avLst/>
          </a:prstGeom>
          <a:noFill/>
          <a:ln/>
        </p:spPr>
        <p:txBody>
          <a:bodyPr wrap="square" lIns="0" tIns="0" rIns="0" bIns="0" rtlCol="0" anchor="ctr"/>
          <a:lstStyle/>
          <a:p>
            <a:pPr indent="0" marL="0">
              <a:buNone/>
            </a:pPr>
            <a:r>
              <a:rPr lang="en-US" sz="1400" b="1" dirty="0">
                <a:solidFill>
                  <a:srgbClr val="0F2A3D"/>
                </a:solidFill>
                <a:latin typeface="Calibri" pitchFamily="34" charset="0"/>
                <a:ea typeface="Calibri" pitchFamily="34" charset="-122"/>
                <a:cs typeface="Calibri" pitchFamily="34" charset="-120"/>
              </a:rPr>
              <a:t>routing without learning</a:t>
            </a:r>
            <a:endParaRPr lang="en-US" sz="1400" dirty="0"/>
          </a:p>
        </p:txBody>
      </p:sp>
      <p:sp>
        <p:nvSpPr>
          <p:cNvPr id="18" name="Text 16"/>
          <p:cNvSpPr txBox="1"/>
          <p:nvPr/>
        </p:nvSpPr>
        <p:spPr>
          <a:xfrm>
            <a:off x="731520" y="3886200"/>
            <a:ext cx="2514600" cy="5486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Frozen random router, top-3</a:t>
            </a:r>
            <a:endParaRPr lang="en-US" sz="1400" dirty="0"/>
          </a:p>
        </p:txBody>
      </p:sp>
      <p:sp>
        <p:nvSpPr>
          <p:cNvPr id="19" name="Arm card B2"/>
          <p:cNvSpPr/>
          <p:nvPr/>
        </p:nvSpPr>
        <p:spPr>
          <a:xfrm>
            <a:off x="3566160" y="3154680"/>
            <a:ext cx="2880360" cy="1325880"/>
          </a:xfrm>
          <a:prstGeom prst="roundRect">
            <a:avLst>
              <a:gd name="adj" fmla="val 5517"/>
            </a:avLst>
          </a:prstGeom>
          <a:solidFill>
            <a:srgbClr val="EAF1F4"/>
          </a:solidFill>
          <a:ln/>
        </p:spPr>
      </p:sp>
      <p:sp>
        <p:nvSpPr>
          <p:cNvPr id="20" name="Arm badge B2"/>
          <p:cNvSpPr/>
          <p:nvPr/>
        </p:nvSpPr>
        <p:spPr>
          <a:xfrm>
            <a:off x="3703320" y="3291840"/>
            <a:ext cx="502920" cy="502920"/>
          </a:xfrm>
          <a:prstGeom prst="ellipse">
            <a:avLst/>
          </a:prstGeom>
          <a:solidFill>
            <a:srgbClr val="1B7F8C"/>
          </a:solidFill>
          <a:ln/>
        </p:spPr>
      </p:sp>
      <p:sp>
        <p:nvSpPr>
          <p:cNvPr id="21" name="Arm badge B2 label"/>
          <p:cNvSpPr txBox="1"/>
          <p:nvPr/>
        </p:nvSpPr>
        <p:spPr>
          <a:xfrm>
            <a:off x="3703320" y="32918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B2</a:t>
            </a:r>
            <a:endParaRPr lang="en-US" sz="1500" dirty="0"/>
          </a:p>
        </p:txBody>
      </p:sp>
      <p:sp>
        <p:nvSpPr>
          <p:cNvPr id="22" name="Text 20"/>
          <p:cNvSpPr txBox="1"/>
          <p:nvPr/>
        </p:nvSpPr>
        <p:spPr>
          <a:xfrm>
            <a:off x="4343400" y="3310128"/>
            <a:ext cx="2011680" cy="457200"/>
          </a:xfrm>
          <a:prstGeom prst="rect">
            <a:avLst/>
          </a:prstGeom>
          <a:noFill/>
          <a:ln/>
        </p:spPr>
        <p:txBody>
          <a:bodyPr wrap="square" lIns="0" tIns="0" rIns="0" bIns="0" rtlCol="0" anchor="ctr"/>
          <a:lstStyle/>
          <a:p>
            <a:pPr indent="0" marL="0">
              <a:buNone/>
            </a:pPr>
            <a:r>
              <a:rPr lang="en-US" sz="1400" b="1" dirty="0">
                <a:solidFill>
                  <a:srgbClr val="0F2A3D"/>
                </a:solidFill>
                <a:latin typeface="Calibri" pitchFamily="34" charset="0"/>
                <a:ea typeface="Calibri" pitchFamily="34" charset="-122"/>
                <a:cs typeface="Calibri" pitchFamily="34" charset="-120"/>
              </a:rPr>
              <a:t>spatial-prior control</a:t>
            </a:r>
            <a:endParaRPr lang="en-US" sz="1400" dirty="0"/>
          </a:p>
        </p:txBody>
      </p:sp>
      <p:sp>
        <p:nvSpPr>
          <p:cNvPr id="23" name="Text 21"/>
          <p:cNvSpPr txBox="1"/>
          <p:nvPr/>
        </p:nvSpPr>
        <p:spPr>
          <a:xfrm>
            <a:off x="3749040" y="3886200"/>
            <a:ext cx="2514600" cy="5486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Fixed block routing</a:t>
            </a:r>
            <a:endParaRPr lang="en-US" sz="1400" dirty="0"/>
          </a:p>
        </p:txBody>
      </p:sp>
      <p:sp>
        <p:nvSpPr>
          <p:cNvPr id="24" name="Arm card G"/>
          <p:cNvSpPr/>
          <p:nvPr/>
        </p:nvSpPr>
        <p:spPr>
          <a:xfrm>
            <a:off x="548640" y="4617720"/>
            <a:ext cx="2880360" cy="1325880"/>
          </a:xfrm>
          <a:prstGeom prst="roundRect">
            <a:avLst>
              <a:gd name="adj" fmla="val 5517"/>
            </a:avLst>
          </a:prstGeom>
          <a:solidFill>
            <a:srgbClr val="EAF1F4"/>
          </a:solidFill>
          <a:ln/>
        </p:spPr>
      </p:sp>
      <p:sp>
        <p:nvSpPr>
          <p:cNvPr id="25" name="Arm badge G"/>
          <p:cNvSpPr/>
          <p:nvPr/>
        </p:nvSpPr>
        <p:spPr>
          <a:xfrm>
            <a:off x="685800" y="4754880"/>
            <a:ext cx="502920" cy="502920"/>
          </a:xfrm>
          <a:prstGeom prst="ellipse">
            <a:avLst/>
          </a:prstGeom>
          <a:solidFill>
            <a:srgbClr val="1B7F8C"/>
          </a:solidFill>
          <a:ln/>
        </p:spPr>
      </p:sp>
      <p:sp>
        <p:nvSpPr>
          <p:cNvPr id="26" name="Arm badge G label"/>
          <p:cNvSpPr txBox="1"/>
          <p:nvPr/>
        </p:nvSpPr>
        <p:spPr>
          <a:xfrm>
            <a:off x="685800" y="47548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t>
            </a:r>
            <a:endParaRPr lang="en-US" sz="1500" dirty="0"/>
          </a:p>
        </p:txBody>
      </p:sp>
      <p:sp>
        <p:nvSpPr>
          <p:cNvPr id="27" name="Text 25"/>
          <p:cNvSpPr txBox="1"/>
          <p:nvPr/>
        </p:nvSpPr>
        <p:spPr>
          <a:xfrm>
            <a:off x="1325880" y="4773168"/>
            <a:ext cx="2011680" cy="457200"/>
          </a:xfrm>
          <a:prstGeom prst="rect">
            <a:avLst/>
          </a:prstGeom>
          <a:noFill/>
          <a:ln/>
        </p:spPr>
        <p:txBody>
          <a:bodyPr wrap="square" lIns="0" tIns="0" rIns="0" bIns="0" rtlCol="0" anchor="ctr"/>
          <a:lstStyle/>
          <a:p>
            <a:pPr indent="0" marL="0">
              <a:buNone/>
            </a:pPr>
            <a:r>
              <a:rPr lang="en-US" sz="1400" b="1" dirty="0">
                <a:solidFill>
                  <a:srgbClr val="0F2A3D"/>
                </a:solidFill>
                <a:latin typeface="Calibri" pitchFamily="34" charset="0"/>
                <a:ea typeface="Calibri" pitchFamily="34" charset="-122"/>
                <a:cs typeface="Calibri" pitchFamily="34" charset="-120"/>
              </a:rPr>
              <a:t>compute-matched control</a:t>
            </a:r>
            <a:endParaRPr lang="en-US" sz="1400" dirty="0"/>
          </a:p>
        </p:txBody>
      </p:sp>
      <p:sp>
        <p:nvSpPr>
          <p:cNvPr id="28" name="Text 26"/>
          <p:cNvSpPr txBox="1"/>
          <p:nvPr/>
        </p:nvSpPr>
        <p:spPr>
          <a:xfrm>
            <a:off x="731520" y="5349240"/>
            <a:ext cx="2514600" cy="5486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No branch, capacity spent in the backbone</a:t>
            </a:r>
            <a:endParaRPr lang="en-US" sz="1400" dirty="0"/>
          </a:p>
        </p:txBody>
      </p:sp>
      <p:sp>
        <p:nvSpPr>
          <p:cNvPr id="29" name="Arm card S"/>
          <p:cNvSpPr/>
          <p:nvPr/>
        </p:nvSpPr>
        <p:spPr>
          <a:xfrm>
            <a:off x="3566160" y="4617720"/>
            <a:ext cx="2880360" cy="1325880"/>
          </a:xfrm>
          <a:prstGeom prst="roundRect">
            <a:avLst>
              <a:gd name="adj" fmla="val 5517"/>
            </a:avLst>
          </a:prstGeom>
          <a:solidFill>
            <a:srgbClr val="EAF1F4"/>
          </a:solidFill>
          <a:ln/>
        </p:spPr>
      </p:sp>
      <p:sp>
        <p:nvSpPr>
          <p:cNvPr id="30" name="Arm badge S"/>
          <p:cNvSpPr/>
          <p:nvPr/>
        </p:nvSpPr>
        <p:spPr>
          <a:xfrm>
            <a:off x="3703320" y="4754880"/>
            <a:ext cx="502920" cy="502920"/>
          </a:xfrm>
          <a:prstGeom prst="ellipse">
            <a:avLst/>
          </a:prstGeom>
          <a:solidFill>
            <a:srgbClr val="1B7F8C"/>
          </a:solidFill>
          <a:ln/>
        </p:spPr>
      </p:sp>
      <p:sp>
        <p:nvSpPr>
          <p:cNvPr id="31" name="Arm badge S label"/>
          <p:cNvSpPr txBox="1"/>
          <p:nvPr/>
        </p:nvSpPr>
        <p:spPr>
          <a:xfrm>
            <a:off x="3703320" y="47548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32" name="Text 30"/>
          <p:cNvSpPr txBox="1"/>
          <p:nvPr/>
        </p:nvSpPr>
        <p:spPr>
          <a:xfrm>
            <a:off x="4343400" y="4773168"/>
            <a:ext cx="2011680" cy="457200"/>
          </a:xfrm>
          <a:prstGeom prst="rect">
            <a:avLst/>
          </a:prstGeom>
          <a:noFill/>
          <a:ln/>
        </p:spPr>
        <p:txBody>
          <a:bodyPr wrap="square" lIns="0" tIns="0" rIns="0" bIns="0" rtlCol="0" anchor="ctr"/>
          <a:lstStyle/>
          <a:p>
            <a:pPr indent="0" marL="0">
              <a:buNone/>
            </a:pPr>
            <a:r>
              <a:rPr lang="en-US" sz="1400" b="1" dirty="0">
                <a:solidFill>
                  <a:srgbClr val="0F2A3D"/>
                </a:solidFill>
                <a:latin typeface="Calibri" pitchFamily="34" charset="0"/>
                <a:ea typeface="Calibri" pitchFamily="34" charset="-122"/>
                <a:cs typeface="Calibri" pitchFamily="34" charset="-120"/>
              </a:rPr>
              <a:t>backbone comparator</a:t>
            </a:r>
            <a:endParaRPr lang="en-US" sz="1400" dirty="0"/>
          </a:p>
        </p:txBody>
      </p:sp>
      <p:sp>
        <p:nvSpPr>
          <p:cNvPr id="33" name="Text 31"/>
          <p:cNvSpPr txBox="1"/>
          <p:nvPr/>
        </p:nvSpPr>
        <p:spPr>
          <a:xfrm>
            <a:off x="3749040" y="5349240"/>
            <a:ext cx="2514600" cy="5486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MAC-matched Swin</a:t>
            </a:r>
            <a:endParaRPr lang="en-US" sz="1400" dirty="0"/>
          </a:p>
        </p:txBody>
      </p:sp>
      <p:sp>
        <p:nvSpPr>
          <p:cNvPr id="34" name="Text 32"/>
          <p:cNvSpPr txBox="1"/>
          <p:nvPr/>
        </p:nvSpPr>
        <p:spPr>
          <a:xfrm>
            <a:off x="6766560" y="1234440"/>
            <a:ext cx="484632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Protocol</a:t>
            </a:r>
            <a:endParaRPr lang="en-US" sz="1600" dirty="0"/>
          </a:p>
        </p:txBody>
      </p:sp>
      <p:sp>
        <p:nvSpPr>
          <p:cNvPr id="35" name="Protocol row 1"/>
          <p:cNvSpPr/>
          <p:nvPr/>
        </p:nvSpPr>
        <p:spPr>
          <a:xfrm>
            <a:off x="6766560" y="1691640"/>
            <a:ext cx="4892040" cy="804672"/>
          </a:xfrm>
          <a:prstGeom prst="roundRect">
            <a:avLst>
              <a:gd name="adj" fmla="val 9091"/>
            </a:avLst>
          </a:prstGeom>
          <a:solidFill>
            <a:srgbClr val="FFFFFF"/>
          </a:solidFill>
          <a:ln w="12700">
            <a:solidFill>
              <a:srgbClr val="D3DEE4"/>
            </a:solidFill>
            <a:prstDash val="solid"/>
          </a:ln>
        </p:spPr>
      </p:sp>
      <p:sp>
        <p:nvSpPr>
          <p:cNvPr id="36" name="Protocol badge 1"/>
          <p:cNvSpPr/>
          <p:nvPr/>
        </p:nvSpPr>
        <p:spPr>
          <a:xfrm>
            <a:off x="6903720" y="1847088"/>
            <a:ext cx="457200" cy="457200"/>
          </a:xfrm>
          <a:prstGeom prst="ellipse">
            <a:avLst/>
          </a:prstGeom>
          <a:solidFill>
            <a:srgbClr val="F4A261"/>
          </a:solidFill>
          <a:ln/>
        </p:spPr>
      </p:sp>
      <p:sp>
        <p:nvSpPr>
          <p:cNvPr id="37" name="Protocol badge 1 label"/>
          <p:cNvSpPr txBox="1"/>
          <p:nvPr/>
        </p:nvSpPr>
        <p:spPr>
          <a:xfrm>
            <a:off x="6903720" y="1847088"/>
            <a:ext cx="457200" cy="457200"/>
          </a:xfrm>
          <a:prstGeom prst="rect">
            <a:avLst/>
          </a:prstGeom>
          <a:noFill/>
          <a:ln/>
        </p:spPr>
        <p:txBody>
          <a:bodyPr wrap="square" lIns="0" tIns="0" rIns="0" bIns="0" rtlCol="0" anchor="ctr"/>
          <a:lstStyle/>
          <a:p>
            <a:pPr algn="ctr" indent="0" marL="0">
              <a:buNone/>
            </a:pPr>
            <a:r>
              <a:rPr lang="en-US" sz="1400" b="1" dirty="0">
                <a:solidFill>
                  <a:srgbClr val="0F2A3D"/>
                </a:solidFill>
                <a:latin typeface="Calibri" pitchFamily="34" charset="0"/>
                <a:ea typeface="Calibri" pitchFamily="34" charset="-122"/>
                <a:cs typeface="Calibri" pitchFamily="34" charset="-120"/>
              </a:rPr>
              <a:t>1</a:t>
            </a:r>
            <a:endParaRPr lang="en-US" sz="1400" dirty="0"/>
          </a:p>
        </p:txBody>
      </p:sp>
      <p:sp>
        <p:nvSpPr>
          <p:cNvPr id="38" name="Text 36"/>
          <p:cNvSpPr txBox="1"/>
          <p:nvPr/>
        </p:nvSpPr>
        <p:spPr>
          <a:xfrm>
            <a:off x="7543800" y="1737360"/>
            <a:ext cx="4023360" cy="713232"/>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Per-arm LR sweep (4 to 5 rates, 3+ seeds) on a held-out validation split</a:t>
            </a:r>
            <a:endParaRPr lang="en-US" sz="1400" dirty="0"/>
          </a:p>
        </p:txBody>
      </p:sp>
      <p:sp>
        <p:nvSpPr>
          <p:cNvPr id="39" name="Protocol row 2"/>
          <p:cNvSpPr/>
          <p:nvPr/>
        </p:nvSpPr>
        <p:spPr>
          <a:xfrm>
            <a:off x="6766560" y="2587752"/>
            <a:ext cx="4892040" cy="804672"/>
          </a:xfrm>
          <a:prstGeom prst="roundRect">
            <a:avLst>
              <a:gd name="adj" fmla="val 9091"/>
            </a:avLst>
          </a:prstGeom>
          <a:solidFill>
            <a:srgbClr val="FFFFFF"/>
          </a:solidFill>
          <a:ln w="12700">
            <a:solidFill>
              <a:srgbClr val="D3DEE4"/>
            </a:solidFill>
            <a:prstDash val="solid"/>
          </a:ln>
        </p:spPr>
      </p:sp>
      <p:sp>
        <p:nvSpPr>
          <p:cNvPr id="40" name="Protocol badge 2"/>
          <p:cNvSpPr/>
          <p:nvPr/>
        </p:nvSpPr>
        <p:spPr>
          <a:xfrm>
            <a:off x="6903720" y="2743200"/>
            <a:ext cx="457200" cy="457200"/>
          </a:xfrm>
          <a:prstGeom prst="ellipse">
            <a:avLst/>
          </a:prstGeom>
          <a:solidFill>
            <a:srgbClr val="F4A261"/>
          </a:solidFill>
          <a:ln/>
        </p:spPr>
      </p:sp>
      <p:sp>
        <p:nvSpPr>
          <p:cNvPr id="41" name="Protocol badge 2 label"/>
          <p:cNvSpPr txBox="1"/>
          <p:nvPr/>
        </p:nvSpPr>
        <p:spPr>
          <a:xfrm>
            <a:off x="6903720" y="2743200"/>
            <a:ext cx="457200" cy="457200"/>
          </a:xfrm>
          <a:prstGeom prst="rect">
            <a:avLst/>
          </a:prstGeom>
          <a:noFill/>
          <a:ln/>
        </p:spPr>
        <p:txBody>
          <a:bodyPr wrap="square" lIns="0" tIns="0" rIns="0" bIns="0" rtlCol="0" anchor="ctr"/>
          <a:lstStyle/>
          <a:p>
            <a:pPr algn="ctr" indent="0" marL="0">
              <a:buNone/>
            </a:pPr>
            <a:r>
              <a:rPr lang="en-US" sz="1400" b="1" dirty="0">
                <a:solidFill>
                  <a:srgbClr val="0F2A3D"/>
                </a:solidFill>
                <a:latin typeface="Calibri" pitchFamily="34" charset="0"/>
                <a:ea typeface="Calibri" pitchFamily="34" charset="-122"/>
                <a:cs typeface="Calibri" pitchFamily="34" charset="-120"/>
              </a:rPr>
              <a:t>2</a:t>
            </a:r>
            <a:endParaRPr lang="en-US" sz="1400" dirty="0"/>
          </a:p>
        </p:txBody>
      </p:sp>
      <p:sp>
        <p:nvSpPr>
          <p:cNvPr id="42" name="Text 40"/>
          <p:cNvSpPr txBox="1"/>
          <p:nvPr/>
        </p:nvSpPr>
        <p:spPr>
          <a:xfrm>
            <a:off x="7543800" y="2633472"/>
            <a:ext cx="4023360" cy="713232"/>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Final: 5+ seeds, last epoch, test set used once</a:t>
            </a:r>
            <a:endParaRPr lang="en-US" sz="1400" dirty="0"/>
          </a:p>
        </p:txBody>
      </p:sp>
      <p:sp>
        <p:nvSpPr>
          <p:cNvPr id="43" name="Protocol row 3"/>
          <p:cNvSpPr/>
          <p:nvPr/>
        </p:nvSpPr>
        <p:spPr>
          <a:xfrm>
            <a:off x="6766560" y="3483864"/>
            <a:ext cx="4892040" cy="804672"/>
          </a:xfrm>
          <a:prstGeom prst="roundRect">
            <a:avLst>
              <a:gd name="adj" fmla="val 9091"/>
            </a:avLst>
          </a:prstGeom>
          <a:solidFill>
            <a:srgbClr val="FFFFFF"/>
          </a:solidFill>
          <a:ln w="12700">
            <a:solidFill>
              <a:srgbClr val="D3DEE4"/>
            </a:solidFill>
            <a:prstDash val="solid"/>
          </a:ln>
        </p:spPr>
      </p:sp>
      <p:sp>
        <p:nvSpPr>
          <p:cNvPr id="44" name="Protocol badge 3"/>
          <p:cNvSpPr/>
          <p:nvPr/>
        </p:nvSpPr>
        <p:spPr>
          <a:xfrm>
            <a:off x="6903720" y="3639312"/>
            <a:ext cx="457200" cy="457200"/>
          </a:xfrm>
          <a:prstGeom prst="ellipse">
            <a:avLst/>
          </a:prstGeom>
          <a:solidFill>
            <a:srgbClr val="F4A261"/>
          </a:solidFill>
          <a:ln/>
        </p:spPr>
      </p:sp>
      <p:sp>
        <p:nvSpPr>
          <p:cNvPr id="45" name="Protocol badge 3 label"/>
          <p:cNvSpPr txBox="1"/>
          <p:nvPr/>
        </p:nvSpPr>
        <p:spPr>
          <a:xfrm>
            <a:off x="6903720" y="3639312"/>
            <a:ext cx="457200" cy="457200"/>
          </a:xfrm>
          <a:prstGeom prst="rect">
            <a:avLst/>
          </a:prstGeom>
          <a:noFill/>
          <a:ln/>
        </p:spPr>
        <p:txBody>
          <a:bodyPr wrap="square" lIns="0" tIns="0" rIns="0" bIns="0" rtlCol="0" anchor="ctr"/>
          <a:lstStyle/>
          <a:p>
            <a:pPr algn="ctr" indent="0" marL="0">
              <a:buNone/>
            </a:pPr>
            <a:r>
              <a:rPr lang="en-US" sz="1400" b="1" dirty="0">
                <a:solidFill>
                  <a:srgbClr val="0F2A3D"/>
                </a:solidFill>
                <a:latin typeface="Calibri" pitchFamily="34" charset="0"/>
                <a:ea typeface="Calibri" pitchFamily="34" charset="-122"/>
                <a:cs typeface="Calibri" pitchFamily="34" charset="-120"/>
              </a:rPr>
              <a:t>3</a:t>
            </a:r>
            <a:endParaRPr lang="en-US" sz="1400" dirty="0"/>
          </a:p>
        </p:txBody>
      </p:sp>
      <p:sp>
        <p:nvSpPr>
          <p:cNvPr id="46" name="Text 44"/>
          <p:cNvSpPr txBox="1"/>
          <p:nvPr/>
        </p:nvSpPr>
        <p:spPr>
          <a:xfrm>
            <a:off x="7543800" y="3529584"/>
            <a:ext cx="4023360" cy="713232"/>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MACs verified with a FLOP counter; GPU-hours logged</a:t>
            </a:r>
            <a:endParaRPr lang="en-US" sz="1400" dirty="0"/>
          </a:p>
        </p:txBody>
      </p:sp>
      <p:sp>
        <p:nvSpPr>
          <p:cNvPr id="47" name="Protocol row 4"/>
          <p:cNvSpPr/>
          <p:nvPr/>
        </p:nvSpPr>
        <p:spPr>
          <a:xfrm>
            <a:off x="6766560" y="4379976"/>
            <a:ext cx="4892040" cy="804672"/>
          </a:xfrm>
          <a:prstGeom prst="roundRect">
            <a:avLst>
              <a:gd name="adj" fmla="val 9091"/>
            </a:avLst>
          </a:prstGeom>
          <a:solidFill>
            <a:srgbClr val="FFFFFF"/>
          </a:solidFill>
          <a:ln w="12700">
            <a:solidFill>
              <a:srgbClr val="D3DEE4"/>
            </a:solidFill>
            <a:prstDash val="solid"/>
          </a:ln>
        </p:spPr>
      </p:sp>
      <p:sp>
        <p:nvSpPr>
          <p:cNvPr id="48" name="Protocol badge 4"/>
          <p:cNvSpPr/>
          <p:nvPr/>
        </p:nvSpPr>
        <p:spPr>
          <a:xfrm>
            <a:off x="6903720" y="4535424"/>
            <a:ext cx="457200" cy="457200"/>
          </a:xfrm>
          <a:prstGeom prst="ellipse">
            <a:avLst/>
          </a:prstGeom>
          <a:solidFill>
            <a:srgbClr val="F4A261"/>
          </a:solidFill>
          <a:ln/>
        </p:spPr>
      </p:sp>
      <p:sp>
        <p:nvSpPr>
          <p:cNvPr id="49" name="Protocol badge 4 label"/>
          <p:cNvSpPr txBox="1"/>
          <p:nvPr/>
        </p:nvSpPr>
        <p:spPr>
          <a:xfrm>
            <a:off x="6903720" y="4535424"/>
            <a:ext cx="457200" cy="457200"/>
          </a:xfrm>
          <a:prstGeom prst="rect">
            <a:avLst/>
          </a:prstGeom>
          <a:noFill/>
          <a:ln/>
        </p:spPr>
        <p:txBody>
          <a:bodyPr wrap="square" lIns="0" tIns="0" rIns="0" bIns="0" rtlCol="0" anchor="ctr"/>
          <a:lstStyle/>
          <a:p>
            <a:pPr algn="ctr" indent="0" marL="0">
              <a:buNone/>
            </a:pPr>
            <a:r>
              <a:rPr lang="en-US" sz="1400" b="1" dirty="0">
                <a:solidFill>
                  <a:srgbClr val="0F2A3D"/>
                </a:solidFill>
                <a:latin typeface="Calibri" pitchFamily="34" charset="0"/>
                <a:ea typeface="Calibri" pitchFamily="34" charset="-122"/>
                <a:cs typeface="Calibri" pitchFamily="34" charset="-120"/>
              </a:rPr>
              <a:t>4</a:t>
            </a:r>
            <a:endParaRPr lang="en-US" sz="1400" dirty="0"/>
          </a:p>
        </p:txBody>
      </p:sp>
      <p:sp>
        <p:nvSpPr>
          <p:cNvPr id="50" name="Text 48"/>
          <p:cNvSpPr txBox="1"/>
          <p:nvPr/>
        </p:nvSpPr>
        <p:spPr>
          <a:xfrm>
            <a:off x="7543800" y="4425696"/>
            <a:ext cx="4023360" cy="713232"/>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Welch + Holm, TOST equivalence at 0.5 points</a:t>
            </a:r>
            <a:endParaRPr lang="en-US" sz="1400" dirty="0"/>
          </a:p>
        </p:txBody>
      </p:sp>
      <p:sp>
        <p:nvSpPr>
          <p:cNvPr id="51" name="Protocol row 5"/>
          <p:cNvSpPr/>
          <p:nvPr/>
        </p:nvSpPr>
        <p:spPr>
          <a:xfrm>
            <a:off x="6766560" y="5276088"/>
            <a:ext cx="4892040" cy="804672"/>
          </a:xfrm>
          <a:prstGeom prst="roundRect">
            <a:avLst>
              <a:gd name="adj" fmla="val 9091"/>
            </a:avLst>
          </a:prstGeom>
          <a:solidFill>
            <a:srgbClr val="FFFFFF"/>
          </a:solidFill>
          <a:ln w="12700">
            <a:solidFill>
              <a:srgbClr val="D3DEE4"/>
            </a:solidFill>
            <a:prstDash val="solid"/>
          </a:ln>
        </p:spPr>
      </p:sp>
      <p:sp>
        <p:nvSpPr>
          <p:cNvPr id="52" name="Protocol badge 5"/>
          <p:cNvSpPr/>
          <p:nvPr/>
        </p:nvSpPr>
        <p:spPr>
          <a:xfrm>
            <a:off x="6903720" y="5431536"/>
            <a:ext cx="457200" cy="457200"/>
          </a:xfrm>
          <a:prstGeom prst="ellipse">
            <a:avLst/>
          </a:prstGeom>
          <a:solidFill>
            <a:srgbClr val="F4A261"/>
          </a:solidFill>
          <a:ln/>
        </p:spPr>
      </p:sp>
      <p:sp>
        <p:nvSpPr>
          <p:cNvPr id="53" name="Protocol badge 5 label"/>
          <p:cNvSpPr txBox="1"/>
          <p:nvPr/>
        </p:nvSpPr>
        <p:spPr>
          <a:xfrm>
            <a:off x="6903720" y="5431536"/>
            <a:ext cx="457200" cy="457200"/>
          </a:xfrm>
          <a:prstGeom prst="rect">
            <a:avLst/>
          </a:prstGeom>
          <a:noFill/>
          <a:ln/>
        </p:spPr>
        <p:txBody>
          <a:bodyPr wrap="square" lIns="0" tIns="0" rIns="0" bIns="0" rtlCol="0" anchor="ctr"/>
          <a:lstStyle/>
          <a:p>
            <a:pPr algn="ctr" indent="0" marL="0">
              <a:buNone/>
            </a:pPr>
            <a:r>
              <a:rPr lang="en-US" sz="1400" b="1" dirty="0">
                <a:solidFill>
                  <a:srgbClr val="0F2A3D"/>
                </a:solidFill>
                <a:latin typeface="Calibri" pitchFamily="34" charset="0"/>
                <a:ea typeface="Calibri" pitchFamily="34" charset="-122"/>
                <a:cs typeface="Calibri" pitchFamily="34" charset="-120"/>
              </a:rPr>
              <a:t>5</a:t>
            </a:r>
            <a:endParaRPr lang="en-US" sz="1400" dirty="0"/>
          </a:p>
        </p:txBody>
      </p:sp>
      <p:sp>
        <p:nvSpPr>
          <p:cNvPr id="54" name="Text 52"/>
          <p:cNvSpPr txBox="1"/>
          <p:nvPr/>
        </p:nvSpPr>
        <p:spPr>
          <a:xfrm>
            <a:off x="7543800" y="5321808"/>
            <a:ext cx="4023360" cy="713232"/>
          </a:xfrm>
          <a:prstGeom prst="rect">
            <a:avLst/>
          </a:prstGeom>
          <a:noFill/>
          <a:ln/>
        </p:spPr>
        <p:txBody>
          <a:bodyPr wrap="square" lIns="0" tIns="0" rIns="0" bIns="0" rtlCol="0" anchor="ctr"/>
          <a:lstStyle/>
          <a:p>
            <a:pPr indent="0" marL="0">
              <a:buNone/>
            </a:pPr>
            <a:r>
              <a:rPr lang="en-US" sz="1400" dirty="0">
                <a:solidFill>
                  <a:srgbClr val="1A2530"/>
                </a:solidFill>
                <a:latin typeface="Calibri" pitchFamily="34" charset="0"/>
                <a:ea typeface="Calibri" pitchFamily="34" charset="-122"/>
                <a:cs typeface="Calibri" pitchFamily="34" charset="-120"/>
              </a:rPr>
              <a:t>Plan registered on OSF before final runs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Sustainable Development Goals</a:t>
            </a:r>
            <a:endParaRPr lang="en-US" sz="3200" dirty="0"/>
          </a:p>
        </p:txBody>
      </p:sp>
      <p:sp>
        <p:nvSpPr>
          <p:cNvPr id="3" name="SDG card SDG 9"/>
          <p:cNvSpPr/>
          <p:nvPr/>
        </p:nvSpPr>
        <p:spPr>
          <a:xfrm>
            <a:off x="548640" y="1280160"/>
            <a:ext cx="3566160" cy="4892040"/>
          </a:xfrm>
          <a:prstGeom prst="roundRect">
            <a:avLst>
              <a:gd name="adj" fmla="val 2051"/>
            </a:avLst>
          </a:prstGeom>
          <a:solidFill>
            <a:srgbClr val="FFFFFF"/>
          </a:solidFill>
          <a:ln w="12700">
            <a:solidFill>
              <a:srgbClr val="D3DEE4"/>
            </a:solidFill>
            <a:prstDash val="solid"/>
          </a:ln>
        </p:spPr>
      </p:sp>
      <p:pic>
        <p:nvPicPr>
          <p:cNvPr id="4" name="SDG 9 tile" descr="SDG 9: Industry, Innovation and Infrastructure (primary)">    </p:cNvPr>
          <p:cNvPicPr>
            <a:picLocks noChangeAspect="1"/>
          </p:cNvPicPr>
          <p:nvPr/>
        </p:nvPicPr>
        <p:blipFill>
          <a:blip r:embed="rId1"/>
          <a:stretch>
            <a:fillRect/>
          </a:stretch>
        </p:blipFill>
        <p:spPr>
          <a:xfrm>
            <a:off x="1188720" y="1463040"/>
            <a:ext cx="2286000" cy="2220686"/>
          </a:xfrm>
          <a:prstGeom prst="rect">
            <a:avLst/>
          </a:prstGeom>
        </p:spPr>
      </p:pic>
      <p:sp>
        <p:nvSpPr>
          <p:cNvPr id="5" name="Text 2"/>
          <p:cNvSpPr txBox="1"/>
          <p:nvPr/>
        </p:nvSpPr>
        <p:spPr>
          <a:xfrm>
            <a:off x="777240" y="3840480"/>
            <a:ext cx="310896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SDG 9  (primary)</a:t>
            </a:r>
            <a:endParaRPr lang="en-US" sz="1600" dirty="0"/>
          </a:p>
        </p:txBody>
      </p:sp>
      <p:sp>
        <p:nvSpPr>
          <p:cNvPr id="6" name="Text 3"/>
          <p:cNvSpPr txBox="1"/>
          <p:nvPr/>
        </p:nvSpPr>
        <p:spPr>
          <a:xfrm>
            <a:off x="777240" y="4251960"/>
            <a:ext cx="3108960" cy="1783080"/>
          </a:xfrm>
          <a:prstGeom prst="rect">
            <a:avLst/>
          </a:prstGeom>
          <a:noFill/>
          <a:ln/>
        </p:spPr>
        <p:txBody>
          <a:bodyPr wrap="square" lIns="0" tIns="0" rIns="0" bIns="0" rtlCol="0" anchor="t"/>
          <a:lstStyle/>
          <a:p>
            <a:pPr indent="0" marL="0">
              <a:buNone/>
            </a:pPr>
            <a:r>
              <a:rPr lang="en-US" sz="1600" dirty="0">
                <a:solidFill>
                  <a:srgbClr val="1A2530"/>
                </a:solidFill>
                <a:latin typeface="Calibri" pitchFamily="34" charset="0"/>
                <a:ea typeface="Calibri" pitchFamily="34" charset="-122"/>
                <a:cs typeface="Calibri" pitchFamily="34" charset="-120"/>
              </a:rPr>
              <a:t>Open, licensed, reproducible harness and a capacity-controlled benchmark protocol (Target 9.5).</a:t>
            </a:r>
            <a:endParaRPr lang="en-US" sz="1600" dirty="0"/>
          </a:p>
        </p:txBody>
      </p:sp>
      <p:sp>
        <p:nvSpPr>
          <p:cNvPr id="7" name="SDG card SDG 12"/>
          <p:cNvSpPr/>
          <p:nvPr/>
        </p:nvSpPr>
        <p:spPr>
          <a:xfrm>
            <a:off x="4297680" y="1280160"/>
            <a:ext cx="3566160" cy="4892040"/>
          </a:xfrm>
          <a:prstGeom prst="roundRect">
            <a:avLst>
              <a:gd name="adj" fmla="val 2051"/>
            </a:avLst>
          </a:prstGeom>
          <a:solidFill>
            <a:srgbClr val="FFFFFF"/>
          </a:solidFill>
          <a:ln w="12700">
            <a:solidFill>
              <a:srgbClr val="D3DEE4"/>
            </a:solidFill>
            <a:prstDash val="solid"/>
          </a:ln>
        </p:spPr>
      </p:sp>
      <p:pic>
        <p:nvPicPr>
          <p:cNvPr id="8" name="SDG 12 tile" descr="SDG 12: Responsible Consumption and Production">    </p:cNvPr>
          <p:cNvPicPr>
            <a:picLocks noChangeAspect="1"/>
          </p:cNvPicPr>
          <p:nvPr/>
        </p:nvPicPr>
        <p:blipFill>
          <a:blip r:embed="rId2"/>
          <a:stretch>
            <a:fillRect/>
          </a:stretch>
        </p:blipFill>
        <p:spPr>
          <a:xfrm>
            <a:off x="4937760" y="1463040"/>
            <a:ext cx="2286000" cy="2220686"/>
          </a:xfrm>
          <a:prstGeom prst="rect">
            <a:avLst/>
          </a:prstGeom>
        </p:spPr>
      </p:pic>
      <p:sp>
        <p:nvSpPr>
          <p:cNvPr id="9" name="Text 5"/>
          <p:cNvSpPr txBox="1"/>
          <p:nvPr/>
        </p:nvSpPr>
        <p:spPr>
          <a:xfrm>
            <a:off x="4526280" y="3840480"/>
            <a:ext cx="310896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SDG 12  (supporting)</a:t>
            </a:r>
            <a:endParaRPr lang="en-US" sz="1600" dirty="0"/>
          </a:p>
        </p:txBody>
      </p:sp>
      <p:sp>
        <p:nvSpPr>
          <p:cNvPr id="10" name="Text 6"/>
          <p:cNvSpPr txBox="1"/>
          <p:nvPr/>
        </p:nvSpPr>
        <p:spPr>
          <a:xfrm>
            <a:off x="4526280" y="4251960"/>
            <a:ext cx="3108960" cy="1783080"/>
          </a:xfrm>
          <a:prstGeom prst="rect">
            <a:avLst/>
          </a:prstGeom>
          <a:noFill/>
          <a:ln/>
        </p:spPr>
        <p:txBody>
          <a:bodyPr wrap="square" lIns="0" tIns="0" rIns="0" bIns="0" rtlCol="0" anchor="t"/>
          <a:lstStyle/>
          <a:p>
            <a:pPr indent="0" marL="0">
              <a:buNone/>
            </a:pPr>
            <a:r>
              <a:rPr lang="en-US" sz="1600" dirty="0">
                <a:solidFill>
                  <a:srgbClr val="1A2530"/>
                </a:solidFill>
                <a:latin typeface="Calibri" pitchFamily="34" charset="0"/>
                <a:ea typeface="Calibri" pitchFamily="34" charset="-122"/>
                <a:cs typeface="Calibri" pitchFamily="34" charset="-120"/>
              </a:rPr>
              <a:t>Fair-comparison protocol and published null results prevent wasted GPU runs; GPU-hours and MACs reported.</a:t>
            </a:r>
            <a:endParaRPr lang="en-US" sz="1600" dirty="0"/>
          </a:p>
        </p:txBody>
      </p:sp>
      <p:sp>
        <p:nvSpPr>
          <p:cNvPr id="11" name="SDG card SDG 13"/>
          <p:cNvSpPr/>
          <p:nvPr/>
        </p:nvSpPr>
        <p:spPr>
          <a:xfrm>
            <a:off x="8046720" y="1280160"/>
            <a:ext cx="3566160" cy="4892040"/>
          </a:xfrm>
          <a:prstGeom prst="roundRect">
            <a:avLst>
              <a:gd name="adj" fmla="val 2051"/>
            </a:avLst>
          </a:prstGeom>
          <a:solidFill>
            <a:srgbClr val="FFFFFF"/>
          </a:solidFill>
          <a:ln w="12700">
            <a:solidFill>
              <a:srgbClr val="D3DEE4"/>
            </a:solidFill>
            <a:prstDash val="solid"/>
          </a:ln>
        </p:spPr>
      </p:sp>
      <p:pic>
        <p:nvPicPr>
          <p:cNvPr id="12" name="SDG 13 tile" descr="SDG 13: Climate Action">    </p:cNvPr>
          <p:cNvPicPr>
            <a:picLocks noChangeAspect="1"/>
          </p:cNvPicPr>
          <p:nvPr/>
        </p:nvPicPr>
        <p:blipFill>
          <a:blip r:embed="rId3"/>
          <a:stretch>
            <a:fillRect/>
          </a:stretch>
        </p:blipFill>
        <p:spPr>
          <a:xfrm>
            <a:off x="8686800" y="1463040"/>
            <a:ext cx="2286000" cy="2220686"/>
          </a:xfrm>
          <a:prstGeom prst="rect">
            <a:avLst/>
          </a:prstGeom>
        </p:spPr>
      </p:pic>
      <p:sp>
        <p:nvSpPr>
          <p:cNvPr id="13" name="Text 8"/>
          <p:cNvSpPr txBox="1"/>
          <p:nvPr/>
        </p:nvSpPr>
        <p:spPr>
          <a:xfrm>
            <a:off x="8275320" y="3840480"/>
            <a:ext cx="310896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SDG 13  (supporting)</a:t>
            </a:r>
            <a:endParaRPr lang="en-US" sz="1600" dirty="0"/>
          </a:p>
        </p:txBody>
      </p:sp>
      <p:sp>
        <p:nvSpPr>
          <p:cNvPr id="14" name="Text 9"/>
          <p:cNvSpPr txBox="1"/>
          <p:nvPr/>
        </p:nvSpPr>
        <p:spPr>
          <a:xfrm>
            <a:off x="8275320" y="4251960"/>
            <a:ext cx="3108960" cy="1783080"/>
          </a:xfrm>
          <a:prstGeom prst="rect">
            <a:avLst/>
          </a:prstGeom>
          <a:noFill/>
          <a:ln/>
        </p:spPr>
        <p:txBody>
          <a:bodyPr wrap="square" lIns="0" tIns="0" rIns="0" bIns="0" rtlCol="0" anchor="t"/>
          <a:lstStyle/>
          <a:p>
            <a:pPr indent="0" marL="0">
              <a:buNone/>
            </a:pPr>
            <a:r>
              <a:rPr lang="en-US" sz="1600" dirty="0">
                <a:solidFill>
                  <a:srgbClr val="1A2530"/>
                </a:solidFill>
                <a:latin typeface="Calibri" pitchFamily="34" charset="0"/>
                <a:ea typeface="Calibri" pitchFamily="34" charset="-122"/>
                <a:cs typeface="Calibri" pitchFamily="34" charset="-120"/>
              </a:rPr>
              <a:t>Efficiency-aware reporting makes compute cost visible. Indirect contribution, no emissions claim.</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Plan of action: Gantt chart</a:t>
            </a:r>
            <a:endParaRPr lang="en-US" sz="3200" dirty="0"/>
          </a:p>
        </p:txBody>
      </p:sp>
      <p:sp>
        <p:nvSpPr>
          <p:cNvPr id="3" name="Month Nov"/>
          <p:cNvSpPr/>
          <p:nvPr/>
        </p:nvSpPr>
        <p:spPr>
          <a:xfrm>
            <a:off x="3611880" y="1234440"/>
            <a:ext cx="1138687" cy="320040"/>
          </a:xfrm>
          <a:prstGeom prst="rect">
            <a:avLst/>
          </a:prstGeom>
          <a:solidFill>
            <a:srgbClr val="0F2A3D"/>
          </a:solidFill>
          <a:ln/>
        </p:spPr>
      </p:sp>
      <p:sp>
        <p:nvSpPr>
          <p:cNvPr id="4" name="Text 2"/>
          <p:cNvSpPr txBox="1"/>
          <p:nvPr/>
        </p:nvSpPr>
        <p:spPr>
          <a:xfrm>
            <a:off x="3611880" y="1234440"/>
            <a:ext cx="1138687"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Nov</a:t>
            </a:r>
            <a:endParaRPr lang="en-US" sz="1200" dirty="0"/>
          </a:p>
        </p:txBody>
      </p:sp>
      <p:sp>
        <p:nvSpPr>
          <p:cNvPr id="5" name="Gridline Nov"/>
          <p:cNvSpPr/>
          <p:nvPr/>
        </p:nvSpPr>
        <p:spPr>
          <a:xfrm>
            <a:off x="3611880" y="2148840"/>
            <a:ext cx="0" cy="3611880"/>
          </a:xfrm>
          <a:prstGeom prst="line">
            <a:avLst/>
          </a:prstGeom>
          <a:noFill/>
          <a:ln w="6350">
            <a:solidFill>
              <a:srgbClr val="D3DEE4"/>
            </a:solidFill>
            <a:prstDash val="solid"/>
          </a:ln>
        </p:spPr>
      </p:sp>
      <p:sp>
        <p:nvSpPr>
          <p:cNvPr id="6" name="Month Dec"/>
          <p:cNvSpPr/>
          <p:nvPr/>
        </p:nvSpPr>
        <p:spPr>
          <a:xfrm>
            <a:off x="4750567" y="1234440"/>
            <a:ext cx="1176643" cy="320040"/>
          </a:xfrm>
          <a:prstGeom prst="rect">
            <a:avLst/>
          </a:prstGeom>
          <a:solidFill>
            <a:srgbClr val="2A4A5E"/>
          </a:solidFill>
          <a:ln/>
        </p:spPr>
      </p:sp>
      <p:sp>
        <p:nvSpPr>
          <p:cNvPr id="7" name="Text 5"/>
          <p:cNvSpPr txBox="1"/>
          <p:nvPr/>
        </p:nvSpPr>
        <p:spPr>
          <a:xfrm>
            <a:off x="4750567" y="1234440"/>
            <a:ext cx="1176643"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a:t>
            </a:r>
            <a:endParaRPr lang="en-US" sz="1200" dirty="0"/>
          </a:p>
        </p:txBody>
      </p:sp>
      <p:sp>
        <p:nvSpPr>
          <p:cNvPr id="8" name="Gridline Dec"/>
          <p:cNvSpPr/>
          <p:nvPr/>
        </p:nvSpPr>
        <p:spPr>
          <a:xfrm>
            <a:off x="4750567" y="2148840"/>
            <a:ext cx="0" cy="3611880"/>
          </a:xfrm>
          <a:prstGeom prst="line">
            <a:avLst/>
          </a:prstGeom>
          <a:noFill/>
          <a:ln w="6350">
            <a:solidFill>
              <a:srgbClr val="D3DEE4"/>
            </a:solidFill>
            <a:prstDash val="solid"/>
          </a:ln>
        </p:spPr>
      </p:sp>
      <p:sp>
        <p:nvSpPr>
          <p:cNvPr id="9" name="Month Jan"/>
          <p:cNvSpPr/>
          <p:nvPr/>
        </p:nvSpPr>
        <p:spPr>
          <a:xfrm>
            <a:off x="5927210" y="1234440"/>
            <a:ext cx="1176643" cy="320040"/>
          </a:xfrm>
          <a:prstGeom prst="rect">
            <a:avLst/>
          </a:prstGeom>
          <a:solidFill>
            <a:srgbClr val="0F2A3D"/>
          </a:solidFill>
          <a:ln/>
        </p:spPr>
      </p:sp>
      <p:sp>
        <p:nvSpPr>
          <p:cNvPr id="10" name="Text 8"/>
          <p:cNvSpPr txBox="1"/>
          <p:nvPr/>
        </p:nvSpPr>
        <p:spPr>
          <a:xfrm>
            <a:off x="5927210" y="1234440"/>
            <a:ext cx="1176643"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Jan</a:t>
            </a:r>
            <a:endParaRPr lang="en-US" sz="1200" dirty="0"/>
          </a:p>
        </p:txBody>
      </p:sp>
      <p:sp>
        <p:nvSpPr>
          <p:cNvPr id="11" name="Gridline Jan"/>
          <p:cNvSpPr/>
          <p:nvPr/>
        </p:nvSpPr>
        <p:spPr>
          <a:xfrm>
            <a:off x="5927210" y="2148840"/>
            <a:ext cx="0" cy="3611880"/>
          </a:xfrm>
          <a:prstGeom prst="line">
            <a:avLst/>
          </a:prstGeom>
          <a:noFill/>
          <a:ln w="6350">
            <a:solidFill>
              <a:srgbClr val="D3DEE4"/>
            </a:solidFill>
            <a:prstDash val="solid"/>
          </a:ln>
        </p:spPr>
      </p:sp>
      <p:sp>
        <p:nvSpPr>
          <p:cNvPr id="12" name="Month Feb"/>
          <p:cNvSpPr/>
          <p:nvPr/>
        </p:nvSpPr>
        <p:spPr>
          <a:xfrm>
            <a:off x="7103853" y="1234440"/>
            <a:ext cx="1062774" cy="320040"/>
          </a:xfrm>
          <a:prstGeom prst="rect">
            <a:avLst/>
          </a:prstGeom>
          <a:solidFill>
            <a:srgbClr val="2A4A5E"/>
          </a:solidFill>
          <a:ln/>
        </p:spPr>
      </p:sp>
      <p:sp>
        <p:nvSpPr>
          <p:cNvPr id="13" name="Text 11"/>
          <p:cNvSpPr txBox="1"/>
          <p:nvPr/>
        </p:nvSpPr>
        <p:spPr>
          <a:xfrm>
            <a:off x="7103853" y="1234440"/>
            <a:ext cx="106277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Feb</a:t>
            </a:r>
            <a:endParaRPr lang="en-US" sz="1200" dirty="0"/>
          </a:p>
        </p:txBody>
      </p:sp>
      <p:sp>
        <p:nvSpPr>
          <p:cNvPr id="14" name="Gridline Feb"/>
          <p:cNvSpPr/>
          <p:nvPr/>
        </p:nvSpPr>
        <p:spPr>
          <a:xfrm>
            <a:off x="7103853" y="2148840"/>
            <a:ext cx="0" cy="3611880"/>
          </a:xfrm>
          <a:prstGeom prst="line">
            <a:avLst/>
          </a:prstGeom>
          <a:noFill/>
          <a:ln w="6350">
            <a:solidFill>
              <a:srgbClr val="D3DEE4"/>
            </a:solidFill>
            <a:prstDash val="solid"/>
          </a:ln>
        </p:spPr>
      </p:sp>
      <p:sp>
        <p:nvSpPr>
          <p:cNvPr id="15" name="Month Mar"/>
          <p:cNvSpPr/>
          <p:nvPr/>
        </p:nvSpPr>
        <p:spPr>
          <a:xfrm>
            <a:off x="8166627" y="1234440"/>
            <a:ext cx="1176643" cy="320040"/>
          </a:xfrm>
          <a:prstGeom prst="rect">
            <a:avLst/>
          </a:prstGeom>
          <a:solidFill>
            <a:srgbClr val="0F2A3D"/>
          </a:solidFill>
          <a:ln/>
        </p:spPr>
      </p:sp>
      <p:sp>
        <p:nvSpPr>
          <p:cNvPr id="16" name="Text 14"/>
          <p:cNvSpPr txBox="1"/>
          <p:nvPr/>
        </p:nvSpPr>
        <p:spPr>
          <a:xfrm>
            <a:off x="8166627" y="1234440"/>
            <a:ext cx="1176643"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Mar</a:t>
            </a:r>
            <a:endParaRPr lang="en-US" sz="1200" dirty="0"/>
          </a:p>
        </p:txBody>
      </p:sp>
      <p:sp>
        <p:nvSpPr>
          <p:cNvPr id="17" name="Gridline Mar"/>
          <p:cNvSpPr/>
          <p:nvPr/>
        </p:nvSpPr>
        <p:spPr>
          <a:xfrm>
            <a:off x="8166627" y="2148840"/>
            <a:ext cx="0" cy="3611880"/>
          </a:xfrm>
          <a:prstGeom prst="line">
            <a:avLst/>
          </a:prstGeom>
          <a:noFill/>
          <a:ln w="6350">
            <a:solidFill>
              <a:srgbClr val="D3DEE4"/>
            </a:solidFill>
            <a:prstDash val="solid"/>
          </a:ln>
        </p:spPr>
      </p:sp>
      <p:sp>
        <p:nvSpPr>
          <p:cNvPr id="18" name="Month Apr"/>
          <p:cNvSpPr/>
          <p:nvPr/>
        </p:nvSpPr>
        <p:spPr>
          <a:xfrm>
            <a:off x="9343270" y="1234440"/>
            <a:ext cx="1138687" cy="320040"/>
          </a:xfrm>
          <a:prstGeom prst="rect">
            <a:avLst/>
          </a:prstGeom>
          <a:solidFill>
            <a:srgbClr val="2A4A5E"/>
          </a:solidFill>
          <a:ln/>
        </p:spPr>
      </p:sp>
      <p:sp>
        <p:nvSpPr>
          <p:cNvPr id="19" name="Text 17"/>
          <p:cNvSpPr txBox="1"/>
          <p:nvPr/>
        </p:nvSpPr>
        <p:spPr>
          <a:xfrm>
            <a:off x="9343270" y="1234440"/>
            <a:ext cx="1138687"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Apr</a:t>
            </a:r>
            <a:endParaRPr lang="en-US" sz="1200" dirty="0"/>
          </a:p>
        </p:txBody>
      </p:sp>
      <p:sp>
        <p:nvSpPr>
          <p:cNvPr id="20" name="Gridline Apr"/>
          <p:cNvSpPr/>
          <p:nvPr/>
        </p:nvSpPr>
        <p:spPr>
          <a:xfrm>
            <a:off x="9343270" y="2148840"/>
            <a:ext cx="0" cy="3611880"/>
          </a:xfrm>
          <a:prstGeom prst="line">
            <a:avLst/>
          </a:prstGeom>
          <a:noFill/>
          <a:ln w="6350">
            <a:solidFill>
              <a:srgbClr val="D3DEE4"/>
            </a:solidFill>
            <a:prstDash val="solid"/>
          </a:ln>
        </p:spPr>
      </p:sp>
      <p:sp>
        <p:nvSpPr>
          <p:cNvPr id="21" name="Month May"/>
          <p:cNvSpPr/>
          <p:nvPr/>
        </p:nvSpPr>
        <p:spPr>
          <a:xfrm>
            <a:off x="10481957" y="1234440"/>
            <a:ext cx="1176643" cy="320040"/>
          </a:xfrm>
          <a:prstGeom prst="rect">
            <a:avLst/>
          </a:prstGeom>
          <a:solidFill>
            <a:srgbClr val="0F2A3D"/>
          </a:solidFill>
          <a:ln/>
        </p:spPr>
      </p:sp>
      <p:sp>
        <p:nvSpPr>
          <p:cNvPr id="22" name="Text 20"/>
          <p:cNvSpPr txBox="1"/>
          <p:nvPr/>
        </p:nvSpPr>
        <p:spPr>
          <a:xfrm>
            <a:off x="10481957" y="1234440"/>
            <a:ext cx="1176643"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May</a:t>
            </a:r>
            <a:endParaRPr lang="en-US" sz="1200" dirty="0"/>
          </a:p>
        </p:txBody>
      </p:sp>
      <p:sp>
        <p:nvSpPr>
          <p:cNvPr id="23" name="Gridline May"/>
          <p:cNvSpPr/>
          <p:nvPr/>
        </p:nvSpPr>
        <p:spPr>
          <a:xfrm>
            <a:off x="10481957" y="2148840"/>
            <a:ext cx="0" cy="3611880"/>
          </a:xfrm>
          <a:prstGeom prst="line">
            <a:avLst/>
          </a:prstGeom>
          <a:noFill/>
          <a:ln w="6350">
            <a:solidFill>
              <a:srgbClr val="D3DEE4"/>
            </a:solidFill>
            <a:prstDash val="solid"/>
          </a:ln>
        </p:spPr>
      </p:sp>
      <p:sp>
        <p:nvSpPr>
          <p:cNvPr id="24" name="Band Review 0"/>
          <p:cNvSpPr/>
          <p:nvPr/>
        </p:nvSpPr>
        <p:spPr>
          <a:xfrm>
            <a:off x="3801661" y="2148840"/>
            <a:ext cx="151825" cy="3611880"/>
          </a:xfrm>
          <a:prstGeom prst="rect">
            <a:avLst/>
          </a:prstGeom>
          <a:solidFill>
            <a:srgbClr val="F4A261">
              <a:alpha val="30000"/>
            </a:srgbClr>
          </a:solidFill>
          <a:ln/>
        </p:spPr>
      </p:sp>
      <p:sp>
        <p:nvSpPr>
          <p:cNvPr id="25" name="Band Changes window"/>
          <p:cNvSpPr/>
          <p:nvPr/>
        </p:nvSpPr>
        <p:spPr>
          <a:xfrm>
            <a:off x="6116991" y="2148840"/>
            <a:ext cx="265694" cy="3611880"/>
          </a:xfrm>
          <a:prstGeom prst="rect">
            <a:avLst/>
          </a:prstGeom>
          <a:solidFill>
            <a:srgbClr val="F4A261">
              <a:alpha val="30000"/>
            </a:srgbClr>
          </a:solidFill>
          <a:ln/>
        </p:spPr>
      </p:sp>
      <p:sp>
        <p:nvSpPr>
          <p:cNvPr id="26" name="Band Review I"/>
          <p:cNvSpPr/>
          <p:nvPr/>
        </p:nvSpPr>
        <p:spPr>
          <a:xfrm>
            <a:off x="6762247" y="2148840"/>
            <a:ext cx="265694" cy="3611880"/>
          </a:xfrm>
          <a:prstGeom prst="rect">
            <a:avLst/>
          </a:prstGeom>
          <a:solidFill>
            <a:srgbClr val="F4A261">
              <a:alpha val="30000"/>
            </a:srgbClr>
          </a:solidFill>
          <a:ln/>
        </p:spPr>
      </p:sp>
      <p:sp>
        <p:nvSpPr>
          <p:cNvPr id="27" name="Band Review II"/>
          <p:cNvSpPr/>
          <p:nvPr/>
        </p:nvSpPr>
        <p:spPr>
          <a:xfrm>
            <a:off x="8204583" y="2148840"/>
            <a:ext cx="265694" cy="3611880"/>
          </a:xfrm>
          <a:prstGeom prst="rect">
            <a:avLst/>
          </a:prstGeom>
          <a:solidFill>
            <a:srgbClr val="F4A261">
              <a:alpha val="30000"/>
            </a:srgbClr>
          </a:solidFill>
          <a:ln/>
        </p:spPr>
      </p:sp>
      <p:sp>
        <p:nvSpPr>
          <p:cNvPr id="28" name="Band Review III"/>
          <p:cNvSpPr/>
          <p:nvPr/>
        </p:nvSpPr>
        <p:spPr>
          <a:xfrm>
            <a:off x="10064438" y="2148840"/>
            <a:ext cx="151825" cy="3611880"/>
          </a:xfrm>
          <a:prstGeom prst="rect">
            <a:avLst/>
          </a:prstGeom>
          <a:solidFill>
            <a:srgbClr val="F4A261">
              <a:alpha val="30000"/>
            </a:srgbClr>
          </a:solidFill>
          <a:ln/>
        </p:spPr>
      </p:sp>
      <p:sp>
        <p:nvSpPr>
          <p:cNvPr id="29" name="Band Report"/>
          <p:cNvSpPr/>
          <p:nvPr/>
        </p:nvSpPr>
        <p:spPr>
          <a:xfrm>
            <a:off x="10368088" y="2148840"/>
            <a:ext cx="303650" cy="3611880"/>
          </a:xfrm>
          <a:prstGeom prst="rect">
            <a:avLst/>
          </a:prstGeom>
          <a:solidFill>
            <a:srgbClr val="F4A261">
              <a:alpha val="30000"/>
            </a:srgbClr>
          </a:solidFill>
          <a:ln/>
        </p:spPr>
      </p:sp>
      <p:sp>
        <p:nvSpPr>
          <p:cNvPr id="30" name="Band Viva"/>
          <p:cNvSpPr/>
          <p:nvPr/>
        </p:nvSpPr>
        <p:spPr>
          <a:xfrm>
            <a:off x="10709694" y="2148840"/>
            <a:ext cx="303650" cy="3611880"/>
          </a:xfrm>
          <a:prstGeom prst="rect">
            <a:avLst/>
          </a:prstGeom>
          <a:solidFill>
            <a:srgbClr val="F4A261">
              <a:alpha val="30000"/>
            </a:srgbClr>
          </a:solidFill>
          <a:ln/>
        </p:spPr>
      </p:sp>
      <p:sp>
        <p:nvSpPr>
          <p:cNvPr id="31" name="Milestone Review 0"/>
          <p:cNvSpPr/>
          <p:nvPr/>
        </p:nvSpPr>
        <p:spPr>
          <a:xfrm>
            <a:off x="3639830" y="1627632"/>
            <a:ext cx="475488" cy="210312"/>
          </a:xfrm>
          <a:prstGeom prst="roundRect">
            <a:avLst>
              <a:gd name="adj" fmla="val 34783"/>
            </a:avLst>
          </a:prstGeom>
          <a:solidFill>
            <a:srgbClr val="F4A261"/>
          </a:solidFill>
          <a:ln/>
        </p:spPr>
      </p:sp>
      <p:sp>
        <p:nvSpPr>
          <p:cNvPr id="32" name="Text 30"/>
          <p:cNvSpPr txBox="1"/>
          <p:nvPr/>
        </p:nvSpPr>
        <p:spPr>
          <a:xfrm>
            <a:off x="3639830" y="1627632"/>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R0</a:t>
            </a:r>
            <a:endParaRPr lang="en-US" sz="1000" dirty="0"/>
          </a:p>
        </p:txBody>
      </p:sp>
      <p:sp>
        <p:nvSpPr>
          <p:cNvPr id="33" name="Milestone Changes window"/>
          <p:cNvSpPr/>
          <p:nvPr/>
        </p:nvSpPr>
        <p:spPr>
          <a:xfrm>
            <a:off x="6012094" y="1874520"/>
            <a:ext cx="475488" cy="210312"/>
          </a:xfrm>
          <a:prstGeom prst="roundRect">
            <a:avLst>
              <a:gd name="adj" fmla="val 34783"/>
            </a:avLst>
          </a:prstGeom>
          <a:solidFill>
            <a:srgbClr val="F4A261"/>
          </a:solidFill>
          <a:ln/>
        </p:spPr>
      </p:sp>
      <p:sp>
        <p:nvSpPr>
          <p:cNvPr id="34" name="Text 32"/>
          <p:cNvSpPr txBox="1"/>
          <p:nvPr/>
        </p:nvSpPr>
        <p:spPr>
          <a:xfrm>
            <a:off x="6012094" y="1874520"/>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Chg</a:t>
            </a:r>
            <a:endParaRPr lang="en-US" sz="1000" dirty="0"/>
          </a:p>
        </p:txBody>
      </p:sp>
      <p:sp>
        <p:nvSpPr>
          <p:cNvPr id="35" name="Milestone Review I"/>
          <p:cNvSpPr/>
          <p:nvPr/>
        </p:nvSpPr>
        <p:spPr>
          <a:xfrm>
            <a:off x="6657350" y="1627632"/>
            <a:ext cx="475488" cy="210312"/>
          </a:xfrm>
          <a:prstGeom prst="roundRect">
            <a:avLst>
              <a:gd name="adj" fmla="val 34783"/>
            </a:avLst>
          </a:prstGeom>
          <a:solidFill>
            <a:srgbClr val="F4A261"/>
          </a:solidFill>
          <a:ln/>
        </p:spPr>
      </p:sp>
      <p:sp>
        <p:nvSpPr>
          <p:cNvPr id="36" name="Text 34"/>
          <p:cNvSpPr txBox="1"/>
          <p:nvPr/>
        </p:nvSpPr>
        <p:spPr>
          <a:xfrm>
            <a:off x="6657350" y="1627632"/>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R-I</a:t>
            </a:r>
            <a:endParaRPr lang="en-US" sz="1000" dirty="0"/>
          </a:p>
        </p:txBody>
      </p:sp>
      <p:sp>
        <p:nvSpPr>
          <p:cNvPr id="37" name="Milestone Review II"/>
          <p:cNvSpPr/>
          <p:nvPr/>
        </p:nvSpPr>
        <p:spPr>
          <a:xfrm>
            <a:off x="8099686" y="1874520"/>
            <a:ext cx="475488" cy="210312"/>
          </a:xfrm>
          <a:prstGeom prst="roundRect">
            <a:avLst>
              <a:gd name="adj" fmla="val 34783"/>
            </a:avLst>
          </a:prstGeom>
          <a:solidFill>
            <a:srgbClr val="F4A261"/>
          </a:solidFill>
          <a:ln/>
        </p:spPr>
      </p:sp>
      <p:sp>
        <p:nvSpPr>
          <p:cNvPr id="38" name="Text 36"/>
          <p:cNvSpPr txBox="1"/>
          <p:nvPr/>
        </p:nvSpPr>
        <p:spPr>
          <a:xfrm>
            <a:off x="8099686" y="1874520"/>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R-II</a:t>
            </a:r>
            <a:endParaRPr lang="en-US" sz="1000" dirty="0"/>
          </a:p>
        </p:txBody>
      </p:sp>
      <p:sp>
        <p:nvSpPr>
          <p:cNvPr id="39" name="Milestone Review III"/>
          <p:cNvSpPr/>
          <p:nvPr/>
        </p:nvSpPr>
        <p:spPr>
          <a:xfrm>
            <a:off x="9902607" y="1627632"/>
            <a:ext cx="475488" cy="210312"/>
          </a:xfrm>
          <a:prstGeom prst="roundRect">
            <a:avLst>
              <a:gd name="adj" fmla="val 34783"/>
            </a:avLst>
          </a:prstGeom>
          <a:solidFill>
            <a:srgbClr val="F4A261"/>
          </a:solidFill>
          <a:ln/>
        </p:spPr>
      </p:sp>
      <p:sp>
        <p:nvSpPr>
          <p:cNvPr id="40" name="Text 38"/>
          <p:cNvSpPr txBox="1"/>
          <p:nvPr/>
        </p:nvSpPr>
        <p:spPr>
          <a:xfrm>
            <a:off x="9902607" y="1627632"/>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R-III</a:t>
            </a:r>
            <a:endParaRPr lang="en-US" sz="1000" dirty="0"/>
          </a:p>
        </p:txBody>
      </p:sp>
      <p:sp>
        <p:nvSpPr>
          <p:cNvPr id="41" name="Milestone Report"/>
          <p:cNvSpPr/>
          <p:nvPr/>
        </p:nvSpPr>
        <p:spPr>
          <a:xfrm>
            <a:off x="10282169" y="1874520"/>
            <a:ext cx="475488" cy="210312"/>
          </a:xfrm>
          <a:prstGeom prst="roundRect">
            <a:avLst>
              <a:gd name="adj" fmla="val 34783"/>
            </a:avLst>
          </a:prstGeom>
          <a:solidFill>
            <a:srgbClr val="F4A261"/>
          </a:solidFill>
          <a:ln/>
        </p:spPr>
      </p:sp>
      <p:sp>
        <p:nvSpPr>
          <p:cNvPr id="42" name="Text 40"/>
          <p:cNvSpPr txBox="1"/>
          <p:nvPr/>
        </p:nvSpPr>
        <p:spPr>
          <a:xfrm>
            <a:off x="10282169" y="1874520"/>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Rpt</a:t>
            </a:r>
            <a:endParaRPr lang="en-US" sz="1000" dirty="0"/>
          </a:p>
        </p:txBody>
      </p:sp>
      <p:sp>
        <p:nvSpPr>
          <p:cNvPr id="43" name="Milestone Viva"/>
          <p:cNvSpPr/>
          <p:nvPr/>
        </p:nvSpPr>
        <p:spPr>
          <a:xfrm>
            <a:off x="10623775" y="1627632"/>
            <a:ext cx="475488" cy="210312"/>
          </a:xfrm>
          <a:prstGeom prst="roundRect">
            <a:avLst>
              <a:gd name="adj" fmla="val 34783"/>
            </a:avLst>
          </a:prstGeom>
          <a:solidFill>
            <a:srgbClr val="F4A261"/>
          </a:solidFill>
          <a:ln/>
        </p:spPr>
      </p:sp>
      <p:sp>
        <p:nvSpPr>
          <p:cNvPr id="44" name="Text 42"/>
          <p:cNvSpPr txBox="1"/>
          <p:nvPr/>
        </p:nvSpPr>
        <p:spPr>
          <a:xfrm>
            <a:off x="10623775" y="1627632"/>
            <a:ext cx="475488" cy="210312"/>
          </a:xfrm>
          <a:prstGeom prst="rect">
            <a:avLst/>
          </a:prstGeom>
          <a:noFill/>
          <a:ln/>
        </p:spPr>
        <p:txBody>
          <a:bodyPr wrap="square" lIns="0" tIns="0" rIns="0" bIns="0" rtlCol="0" anchor="ctr"/>
          <a:lstStyle/>
          <a:p>
            <a:pPr algn="ctr" indent="0" marL="0">
              <a:buNone/>
            </a:pPr>
            <a:r>
              <a:rPr lang="en-US" sz="1000" b="1" dirty="0">
                <a:solidFill>
                  <a:srgbClr val="0F2A3D"/>
                </a:solidFill>
                <a:latin typeface="Calibri" pitchFamily="34" charset="0"/>
                <a:ea typeface="Calibri" pitchFamily="34" charset="-122"/>
                <a:cs typeface="Calibri" pitchFamily="34" charset="-120"/>
              </a:rPr>
              <a:t>Viva</a:t>
            </a:r>
            <a:endParaRPr lang="en-US" sz="1000" dirty="0"/>
          </a:p>
        </p:txBody>
      </p:sp>
      <p:sp>
        <p:nvSpPr>
          <p:cNvPr id="45" name="Row tint WP1"/>
          <p:cNvSpPr/>
          <p:nvPr/>
        </p:nvSpPr>
        <p:spPr>
          <a:xfrm>
            <a:off x="548640" y="2194560"/>
            <a:ext cx="11109960" cy="502920"/>
          </a:xfrm>
          <a:prstGeom prst="rect">
            <a:avLst/>
          </a:prstGeom>
          <a:solidFill>
            <a:srgbClr val="EAF1F4">
              <a:alpha val="50000"/>
            </a:srgbClr>
          </a:solidFill>
          <a:ln/>
        </p:spPr>
      </p:sp>
      <p:sp>
        <p:nvSpPr>
          <p:cNvPr id="46" name="Row tint WP3"/>
          <p:cNvSpPr/>
          <p:nvPr/>
        </p:nvSpPr>
        <p:spPr>
          <a:xfrm>
            <a:off x="548640" y="3200400"/>
            <a:ext cx="11109960" cy="502920"/>
          </a:xfrm>
          <a:prstGeom prst="rect">
            <a:avLst/>
          </a:prstGeom>
          <a:solidFill>
            <a:srgbClr val="EAF1F4">
              <a:alpha val="50000"/>
            </a:srgbClr>
          </a:solidFill>
          <a:ln/>
        </p:spPr>
      </p:sp>
      <p:sp>
        <p:nvSpPr>
          <p:cNvPr id="47" name="Row tint WP5"/>
          <p:cNvSpPr/>
          <p:nvPr/>
        </p:nvSpPr>
        <p:spPr>
          <a:xfrm>
            <a:off x="548640" y="4206240"/>
            <a:ext cx="11109960" cy="502920"/>
          </a:xfrm>
          <a:prstGeom prst="rect">
            <a:avLst/>
          </a:prstGeom>
          <a:solidFill>
            <a:srgbClr val="EAF1F4">
              <a:alpha val="50000"/>
            </a:srgbClr>
          </a:solidFill>
          <a:ln/>
        </p:spPr>
      </p:sp>
      <p:sp>
        <p:nvSpPr>
          <p:cNvPr id="48" name="Row tint WP7"/>
          <p:cNvSpPr/>
          <p:nvPr/>
        </p:nvSpPr>
        <p:spPr>
          <a:xfrm>
            <a:off x="548640" y="5212080"/>
            <a:ext cx="11109960" cy="502920"/>
          </a:xfrm>
          <a:prstGeom prst="rect">
            <a:avLst/>
          </a:prstGeom>
          <a:solidFill>
            <a:srgbClr val="EAF1F4">
              <a:alpha val="50000"/>
            </a:srgbClr>
          </a:solidFill>
          <a:ln/>
        </p:spPr>
      </p:sp>
      <p:sp>
        <p:nvSpPr>
          <p:cNvPr id="49" name="Text 47"/>
          <p:cNvSpPr txBox="1"/>
          <p:nvPr/>
        </p:nvSpPr>
        <p:spPr>
          <a:xfrm>
            <a:off x="640080" y="219456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WP1  </a:t>
            </a:r>
            <a:pPr indent="0" marL="0">
              <a:buNone/>
            </a:pPr>
            <a:r>
              <a:rPr lang="en-US" sz="1300" dirty="0">
                <a:solidFill>
                  <a:srgbClr val="1A2530"/>
                </a:solidFill>
                <a:latin typeface="Calibri" pitchFamily="34" charset="0"/>
                <a:ea typeface="Calibri" pitchFamily="34" charset="-122"/>
                <a:cs typeface="Calibri" pitchFamily="34" charset="-120"/>
              </a:rPr>
              <a:t>Corrected release and erratum</a:t>
            </a:r>
            <a:endParaRPr lang="en-US" sz="1300" dirty="0"/>
          </a:p>
        </p:txBody>
      </p:sp>
      <p:sp>
        <p:nvSpPr>
          <p:cNvPr id="50" name="Bar WP1"/>
          <p:cNvSpPr/>
          <p:nvPr/>
        </p:nvSpPr>
        <p:spPr>
          <a:xfrm>
            <a:off x="3991442" y="2286000"/>
            <a:ext cx="1480293" cy="320040"/>
          </a:xfrm>
          <a:prstGeom prst="roundRect">
            <a:avLst>
              <a:gd name="adj" fmla="val 17143"/>
            </a:avLst>
          </a:prstGeom>
          <a:solidFill>
            <a:srgbClr val="1B7F8C"/>
          </a:solidFill>
          <a:ln/>
        </p:spPr>
      </p:sp>
      <p:sp>
        <p:nvSpPr>
          <p:cNvPr id="51" name="Text 49"/>
          <p:cNvSpPr txBox="1"/>
          <p:nvPr/>
        </p:nvSpPr>
        <p:spPr>
          <a:xfrm>
            <a:off x="3991442" y="2286000"/>
            <a:ext cx="1480293"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RO1</a:t>
            </a:r>
            <a:endParaRPr lang="en-US" sz="1100" dirty="0"/>
          </a:p>
        </p:txBody>
      </p:sp>
      <p:sp>
        <p:nvSpPr>
          <p:cNvPr id="52" name="Text 50"/>
          <p:cNvSpPr txBox="1"/>
          <p:nvPr/>
        </p:nvSpPr>
        <p:spPr>
          <a:xfrm>
            <a:off x="640080" y="269748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WP2  </a:t>
            </a:r>
            <a:pPr indent="0" marL="0">
              <a:buNone/>
            </a:pPr>
            <a:r>
              <a:rPr lang="en-US" sz="1300" dirty="0">
                <a:solidFill>
                  <a:srgbClr val="1A2530"/>
                </a:solidFill>
                <a:latin typeface="Calibri" pitchFamily="34" charset="0"/>
                <a:ea typeface="Calibri" pitchFamily="34" charset="-122"/>
                <a:cs typeface="Calibri" pitchFamily="34" charset="-120"/>
              </a:rPr>
              <a:t>OSF study plan and registration</a:t>
            </a:r>
            <a:endParaRPr lang="en-US" sz="1300" dirty="0"/>
          </a:p>
        </p:txBody>
      </p:sp>
      <p:sp>
        <p:nvSpPr>
          <p:cNvPr id="53" name="Bar WP2"/>
          <p:cNvSpPr/>
          <p:nvPr/>
        </p:nvSpPr>
        <p:spPr>
          <a:xfrm>
            <a:off x="3991442" y="2788920"/>
            <a:ext cx="1100731" cy="320040"/>
          </a:xfrm>
          <a:prstGeom prst="roundRect">
            <a:avLst>
              <a:gd name="adj" fmla="val 17143"/>
            </a:avLst>
          </a:prstGeom>
          <a:solidFill>
            <a:srgbClr val="F4A261"/>
          </a:solidFill>
          <a:ln/>
        </p:spPr>
      </p:sp>
      <p:sp>
        <p:nvSpPr>
          <p:cNvPr id="54" name="Text 52"/>
          <p:cNvSpPr txBox="1"/>
          <p:nvPr/>
        </p:nvSpPr>
        <p:spPr>
          <a:xfrm>
            <a:off x="3991442" y="2788920"/>
            <a:ext cx="1100731" cy="320040"/>
          </a:xfrm>
          <a:prstGeom prst="rect">
            <a:avLst/>
          </a:prstGeom>
          <a:noFill/>
          <a:ln/>
        </p:spPr>
        <p:txBody>
          <a:bodyPr wrap="square" lIns="0" tIns="0" rIns="0" bIns="0" rtlCol="0" anchor="ctr"/>
          <a:lstStyle/>
          <a:p>
            <a:pPr algn="ctr" indent="0" marL="0">
              <a:buNone/>
            </a:pPr>
            <a:r>
              <a:rPr lang="en-US" sz="1100" b="1" dirty="0">
                <a:solidFill>
                  <a:srgbClr val="0F2A3D"/>
                </a:solidFill>
                <a:latin typeface="Calibri" pitchFamily="34" charset="0"/>
                <a:ea typeface="Calibri" pitchFamily="34" charset="-122"/>
                <a:cs typeface="Calibri" pitchFamily="34" charset="-120"/>
              </a:rPr>
              <a:t>RO5</a:t>
            </a:r>
            <a:endParaRPr lang="en-US" sz="1100" dirty="0"/>
          </a:p>
        </p:txBody>
      </p:sp>
      <p:sp>
        <p:nvSpPr>
          <p:cNvPr id="55" name="Text 53"/>
          <p:cNvSpPr txBox="1"/>
          <p:nvPr/>
        </p:nvSpPr>
        <p:spPr>
          <a:xfrm>
            <a:off x="640080" y="320040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WP3  </a:t>
            </a:r>
            <a:pPr indent="0" marL="0">
              <a:buNone/>
            </a:pPr>
            <a:r>
              <a:rPr lang="en-US" sz="1300" dirty="0">
                <a:solidFill>
                  <a:srgbClr val="1A2530"/>
                </a:solidFill>
                <a:latin typeface="Calibri" pitchFamily="34" charset="0"/>
                <a:ea typeface="Calibri" pitchFamily="34" charset="-122"/>
                <a:cs typeface="Calibri" pitchFamily="34" charset="-120"/>
              </a:rPr>
              <a:t>Capacity controls, small data sets</a:t>
            </a:r>
            <a:endParaRPr lang="en-US" sz="1300" dirty="0"/>
          </a:p>
        </p:txBody>
      </p:sp>
      <p:sp>
        <p:nvSpPr>
          <p:cNvPr id="56" name="Bar WP3"/>
          <p:cNvSpPr/>
          <p:nvPr/>
        </p:nvSpPr>
        <p:spPr>
          <a:xfrm>
            <a:off x="4750567" y="3291840"/>
            <a:ext cx="2505111" cy="320040"/>
          </a:xfrm>
          <a:prstGeom prst="roundRect">
            <a:avLst>
              <a:gd name="adj" fmla="val 17143"/>
            </a:avLst>
          </a:prstGeom>
          <a:solidFill>
            <a:srgbClr val="1B7F8C"/>
          </a:solidFill>
          <a:ln/>
        </p:spPr>
      </p:sp>
      <p:sp>
        <p:nvSpPr>
          <p:cNvPr id="57" name="Text 55"/>
          <p:cNvSpPr txBox="1"/>
          <p:nvPr/>
        </p:nvSpPr>
        <p:spPr>
          <a:xfrm>
            <a:off x="4750567" y="3291840"/>
            <a:ext cx="2505111"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RO2</a:t>
            </a:r>
            <a:endParaRPr lang="en-US" sz="1100" dirty="0"/>
          </a:p>
        </p:txBody>
      </p:sp>
      <p:sp>
        <p:nvSpPr>
          <p:cNvPr id="58" name="Text 56"/>
          <p:cNvSpPr txBox="1"/>
          <p:nvPr/>
        </p:nvSpPr>
        <p:spPr>
          <a:xfrm>
            <a:off x="640080" y="370332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WP4  </a:t>
            </a:r>
            <a:pPr indent="0" marL="0">
              <a:buNone/>
            </a:pPr>
            <a:r>
              <a:rPr lang="en-US" sz="1300" dirty="0">
                <a:solidFill>
                  <a:srgbClr val="1A2530"/>
                </a:solidFill>
                <a:latin typeface="Calibri" pitchFamily="34" charset="0"/>
                <a:ea typeface="Calibri" pitchFamily="34" charset="-122"/>
                <a:cs typeface="Calibri" pitchFamily="34" charset="-120"/>
              </a:rPr>
              <a:t>ImageNet-100 scale runs</a:t>
            </a:r>
            <a:endParaRPr lang="en-US" sz="1300" dirty="0"/>
          </a:p>
        </p:txBody>
      </p:sp>
      <p:sp>
        <p:nvSpPr>
          <p:cNvPr id="59" name="Bar WP4"/>
          <p:cNvSpPr/>
          <p:nvPr/>
        </p:nvSpPr>
        <p:spPr>
          <a:xfrm>
            <a:off x="6458597" y="3794760"/>
            <a:ext cx="2049636" cy="320040"/>
          </a:xfrm>
          <a:prstGeom prst="roundRect">
            <a:avLst>
              <a:gd name="adj" fmla="val 17143"/>
            </a:avLst>
          </a:prstGeom>
          <a:solidFill>
            <a:srgbClr val="1B7F8C"/>
          </a:solidFill>
          <a:ln/>
        </p:spPr>
      </p:sp>
      <p:sp>
        <p:nvSpPr>
          <p:cNvPr id="60" name="Text 58"/>
          <p:cNvSpPr txBox="1"/>
          <p:nvPr/>
        </p:nvSpPr>
        <p:spPr>
          <a:xfrm>
            <a:off x="6458597" y="3794760"/>
            <a:ext cx="2049636"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RO3</a:t>
            </a:r>
            <a:endParaRPr lang="en-US" sz="1100" dirty="0"/>
          </a:p>
        </p:txBody>
      </p:sp>
      <p:sp>
        <p:nvSpPr>
          <p:cNvPr id="61" name="Text 59"/>
          <p:cNvSpPr txBox="1"/>
          <p:nvPr/>
        </p:nvSpPr>
        <p:spPr>
          <a:xfrm>
            <a:off x="640080" y="420624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WP5  </a:t>
            </a:r>
            <a:pPr indent="0" marL="0">
              <a:buNone/>
            </a:pPr>
            <a:r>
              <a:rPr lang="en-US" sz="1300" dirty="0">
                <a:solidFill>
                  <a:srgbClr val="1A2530"/>
                </a:solidFill>
                <a:latin typeface="Calibri" pitchFamily="34" charset="0"/>
                <a:ea typeface="Calibri" pitchFamily="34" charset="-122"/>
                <a:cs typeface="Calibri" pitchFamily="34" charset="-120"/>
              </a:rPr>
              <a:t>Quantitative region evaluation</a:t>
            </a:r>
            <a:endParaRPr lang="en-US" sz="1300" dirty="0"/>
          </a:p>
        </p:txBody>
      </p:sp>
      <p:sp>
        <p:nvSpPr>
          <p:cNvPr id="62" name="Bar WP5"/>
          <p:cNvSpPr/>
          <p:nvPr/>
        </p:nvSpPr>
        <p:spPr>
          <a:xfrm>
            <a:off x="7103853" y="4297680"/>
            <a:ext cx="2201461" cy="320040"/>
          </a:xfrm>
          <a:prstGeom prst="roundRect">
            <a:avLst>
              <a:gd name="adj" fmla="val 17143"/>
            </a:avLst>
          </a:prstGeom>
          <a:solidFill>
            <a:srgbClr val="1B7F8C"/>
          </a:solidFill>
          <a:ln/>
        </p:spPr>
      </p:sp>
      <p:sp>
        <p:nvSpPr>
          <p:cNvPr id="63" name="Text 61"/>
          <p:cNvSpPr txBox="1"/>
          <p:nvPr/>
        </p:nvSpPr>
        <p:spPr>
          <a:xfrm>
            <a:off x="7103853" y="4297680"/>
            <a:ext cx="2201461"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RO4</a:t>
            </a:r>
            <a:endParaRPr lang="en-US" sz="1100" dirty="0"/>
          </a:p>
        </p:txBody>
      </p:sp>
      <p:sp>
        <p:nvSpPr>
          <p:cNvPr id="64" name="Text 62"/>
          <p:cNvSpPr txBox="1"/>
          <p:nvPr/>
        </p:nvSpPr>
        <p:spPr>
          <a:xfrm>
            <a:off x="640080" y="470916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WP6  </a:t>
            </a:r>
            <a:pPr indent="0" marL="0">
              <a:buNone/>
            </a:pPr>
            <a:r>
              <a:rPr lang="en-US" sz="1300" dirty="0">
                <a:solidFill>
                  <a:srgbClr val="1A2530"/>
                </a:solidFill>
                <a:latin typeface="Calibri" pitchFamily="34" charset="0"/>
                <a:ea typeface="Calibri" pitchFamily="34" charset="-122"/>
                <a:cs typeface="Calibri" pitchFamily="34" charset="-120"/>
              </a:rPr>
              <a:t>Analysis, writing, submissions</a:t>
            </a:r>
            <a:endParaRPr lang="en-US" sz="1300" dirty="0"/>
          </a:p>
        </p:txBody>
      </p:sp>
      <p:sp>
        <p:nvSpPr>
          <p:cNvPr id="65" name="Bar WP6"/>
          <p:cNvSpPr/>
          <p:nvPr/>
        </p:nvSpPr>
        <p:spPr>
          <a:xfrm>
            <a:off x="8166627" y="4800600"/>
            <a:ext cx="1897811" cy="320040"/>
          </a:xfrm>
          <a:prstGeom prst="roundRect">
            <a:avLst>
              <a:gd name="adj" fmla="val 17143"/>
            </a:avLst>
          </a:prstGeom>
          <a:solidFill>
            <a:srgbClr val="F4A261"/>
          </a:solidFill>
          <a:ln/>
        </p:spPr>
      </p:sp>
      <p:sp>
        <p:nvSpPr>
          <p:cNvPr id="66" name="Text 64"/>
          <p:cNvSpPr txBox="1"/>
          <p:nvPr/>
        </p:nvSpPr>
        <p:spPr>
          <a:xfrm>
            <a:off x="8166627" y="4800600"/>
            <a:ext cx="1897811" cy="320040"/>
          </a:xfrm>
          <a:prstGeom prst="rect">
            <a:avLst/>
          </a:prstGeom>
          <a:noFill/>
          <a:ln/>
        </p:spPr>
        <p:txBody>
          <a:bodyPr wrap="square" lIns="0" tIns="0" rIns="0" bIns="0" rtlCol="0" anchor="ctr"/>
          <a:lstStyle/>
          <a:p>
            <a:pPr algn="ctr" indent="0" marL="0">
              <a:buNone/>
            </a:pPr>
            <a:r>
              <a:rPr lang="en-US" sz="1100" b="1" dirty="0">
                <a:solidFill>
                  <a:srgbClr val="0F2A3D"/>
                </a:solidFill>
                <a:latin typeface="Calibri" pitchFamily="34" charset="0"/>
                <a:ea typeface="Calibri" pitchFamily="34" charset="-122"/>
                <a:cs typeface="Calibri" pitchFamily="34" charset="-120"/>
              </a:rPr>
              <a:t>RO5</a:t>
            </a:r>
            <a:endParaRPr lang="en-US" sz="1100" dirty="0"/>
          </a:p>
        </p:txBody>
      </p:sp>
      <p:sp>
        <p:nvSpPr>
          <p:cNvPr id="67" name="Text 65"/>
          <p:cNvSpPr txBox="1"/>
          <p:nvPr/>
        </p:nvSpPr>
        <p:spPr>
          <a:xfrm>
            <a:off x="640080" y="5212080"/>
            <a:ext cx="2880360" cy="502920"/>
          </a:xfrm>
          <a:prstGeom prst="rect">
            <a:avLst/>
          </a:prstGeom>
          <a:noFill/>
          <a:ln/>
        </p:spPr>
        <p:txBody>
          <a:bodyPr wrap="square" lIns="0" tIns="0" rIns="0" bIns="0" rtlCol="0" anchor="ctr"/>
          <a:lstStyle/>
          <a:p>
            <a:pPr indent="0" marL="0">
              <a:buNone/>
            </a:pPr>
            <a:r>
              <a:rPr lang="en-US" sz="1300" b="1" dirty="0">
                <a:solidFill>
                  <a:srgbClr val="1B7F8C"/>
                </a:solidFill>
                <a:latin typeface="Calibri" pitchFamily="34" charset="0"/>
                <a:ea typeface="Calibri" pitchFamily="34" charset="-122"/>
                <a:cs typeface="Calibri" pitchFamily="34" charset="-120"/>
              </a:rPr>
              <a:t>WP7  </a:t>
            </a:r>
            <a:pPr indent="0" marL="0">
              <a:buNone/>
            </a:pPr>
            <a:r>
              <a:rPr lang="en-US" sz="1300" dirty="0">
                <a:solidFill>
                  <a:srgbClr val="1A2530"/>
                </a:solidFill>
                <a:latin typeface="Calibri" pitchFamily="34" charset="0"/>
                <a:ea typeface="Calibri" pitchFamily="34" charset="-122"/>
                <a:cs typeface="Calibri" pitchFamily="34" charset="-120"/>
              </a:rPr>
              <a:t>Final report and viva preparation</a:t>
            </a:r>
            <a:endParaRPr lang="en-US" sz="1300" dirty="0"/>
          </a:p>
        </p:txBody>
      </p:sp>
      <p:sp>
        <p:nvSpPr>
          <p:cNvPr id="68" name="Bar WP7"/>
          <p:cNvSpPr/>
          <p:nvPr/>
        </p:nvSpPr>
        <p:spPr>
          <a:xfrm>
            <a:off x="10102395" y="5303520"/>
            <a:ext cx="910949" cy="320040"/>
          </a:xfrm>
          <a:prstGeom prst="roundRect">
            <a:avLst>
              <a:gd name="adj" fmla="val 17143"/>
            </a:avLst>
          </a:prstGeom>
          <a:solidFill>
            <a:srgbClr val="5B6B77"/>
          </a:solidFill>
          <a:ln/>
        </p:spPr>
      </p:sp>
      <p:sp>
        <p:nvSpPr>
          <p:cNvPr id="69" name="Text 67"/>
          <p:cNvSpPr txBox="1"/>
          <p:nvPr/>
        </p:nvSpPr>
        <p:spPr>
          <a:xfrm>
            <a:off x="10102395" y="5303520"/>
            <a:ext cx="910949"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a:t>
            </a:r>
            <a:endParaRPr lang="en-US" sz="1100" dirty="0"/>
          </a:p>
        </p:txBody>
      </p:sp>
      <p:sp>
        <p:nvSpPr>
          <p:cNvPr id="70" name="Text 68"/>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R0 / R-I / R-II / R-III: project reviews (shaded)   Chg: title and course change window   Rpt: report submission   Viva: viva voce   Bars show the research objective served.</a:t>
            </a:r>
            <a:endParaRPr lang="en-US" sz="1200" dirty="0"/>
          </a:p>
        </p:txBody>
      </p:sp>
      <p:sp>
        <p:nvSpPr>
          <p:cNvPr id="71" name="Text 69"/>
          <p:cNvSpPr txBox="1"/>
          <p:nvPr/>
        </p:nvSpPr>
        <p:spPr>
          <a:xfrm>
            <a:off x="548640" y="6199632"/>
            <a:ext cx="11064240" cy="274320"/>
          </a:xfrm>
          <a:prstGeom prst="rect">
            <a:avLst/>
          </a:prstGeom>
          <a:noFill/>
          <a:ln/>
        </p:spPr>
        <p:txBody>
          <a:bodyPr wrap="square" lIns="0" tIns="0" rIns="0" bIns="0" rtlCol="0" anchor="t"/>
          <a:lstStyle/>
          <a:p>
            <a:pPr indent="0" marL="0">
              <a:buNone/>
            </a:pPr>
            <a:r>
              <a:rPr lang="en-US" sz="1300" b="1" dirty="0">
                <a:solidFill>
                  <a:srgbClr val="0F2A3D"/>
                </a:solidFill>
                <a:latin typeface="Calibri" pitchFamily="34" charset="0"/>
                <a:ea typeface="Calibri" pitchFamily="34" charset="-122"/>
                <a:cs typeface="Calibri" pitchFamily="34" charset="-120"/>
              </a:rPr>
              <a:t>Publication window Dec 2026 to Apr 2027: Paper 1 (audit) submitted in Dec to Jan; Paper 2 (capacity-controlled study) submitted in Apr.</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Deliverables, publication plan and TRL</a:t>
            </a:r>
            <a:endParaRPr lang="en-US" sz="3200" dirty="0"/>
          </a:p>
        </p:txBody>
      </p:sp>
      <p:graphicFrame>
        <p:nvGraphicFramePr>
          <p:cNvPr id="16"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280160"/>
          <a:ext cx="7040880" cy="914400"/>
        </p:xfrm>
        <a:graphic>
          <a:graphicData uri="http://schemas.openxmlformats.org/drawingml/2006/table">
            <a:tbl>
              <a:tblPr/>
              <a:tblGrid>
                <a:gridCol w="548640"/>
                <a:gridCol w="4937760"/>
                <a:gridCol w="1554480"/>
              </a:tblGrid>
              <a:tr h="365760">
                <a:tc>
                  <a:txBody>
                    <a:bodyPr/>
                    <a:lstStyle/>
                    <a:p>
                      <a:pPr indent="0" marL="0">
                        <a:buNone/>
                      </a:pPr>
                      <a:endParaRPr lang="en-US" sz="12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Due</a:t>
                      </a:r>
                      <a:endParaRPr lang="en-US" sz="12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D1</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Corrected CET-ViT release: erratum, model card, licence, public repository</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Dec 2026</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D2</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Paper 1: compute-matched audit (existing draft v13), submitted after co-author review</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Dec 2026 to Jan 2027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D3</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OSF-registered study plan for RO2 to RO4</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Dec 2026</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D4</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Capacity-control results on CIFAR-100 and Tiny-ImageNet</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Feb 2027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D5</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ImageNet-100 and region-evaluation results</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Mar 2027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D6</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Paper 2: capacity-controlled grouping study, submitted</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Apr 2027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7F8C"/>
                          </a:solidFill>
                          <a:latin typeface="Calibri" pitchFamily="34" charset="0"/>
                          <a:ea typeface="Calibri" pitchFamily="34" charset="-122"/>
                          <a:cs typeface="Calibri" pitchFamily="34" charset="-120"/>
                        </a:rPr>
                        <a:t>D7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1A2530"/>
                          </a:solidFill>
                          <a:latin typeface="Calibri" pitchFamily="34" charset="0"/>
                          <a:ea typeface="Calibri" pitchFamily="34" charset="-122"/>
                          <a:cs typeface="Calibri" pitchFamily="34" charset="-120"/>
                        </a:rPr>
                        <a:t>Final report and viva material</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300" dirty="0">
                          <a:solidFill>
                            <a:srgbClr val="5B6B77"/>
                          </a:solidFill>
                          <a:latin typeface="Calibri" pitchFamily="34" charset="0"/>
                          <a:ea typeface="Calibri" pitchFamily="34" charset="-122"/>
                          <a:cs typeface="Calibri" pitchFamily="34" charset="-120"/>
                        </a:rPr>
                        <a:t>Apr to May 2027</a:t>
                      </a:r>
                      <a:endParaRPr lang="en-US" sz="1300" dirty="0">
                        <a:latin typeface="Calibri" charset="0"/>
                        <a:ea typeface="Calibri" charset="0"/>
                        <a:cs typeface="Calibri" charset="0"/>
                      </a:endParaRPr>
                    </a:p>
                  </a:txBody>
                  <a:tcPr marL="91440" marR="91440" marT="36576" marB="36576"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bl>
          </a:graphicData>
        </a:graphic>
      </p:graphicFrame>
      <p:sp>
        <p:nvSpPr>
          <p:cNvPr id="4" name="TRL panel"/>
          <p:cNvSpPr/>
          <p:nvPr/>
        </p:nvSpPr>
        <p:spPr>
          <a:xfrm>
            <a:off x="7863840" y="1280160"/>
            <a:ext cx="3794760" cy="4892040"/>
          </a:xfrm>
          <a:prstGeom prst="roundRect">
            <a:avLst>
              <a:gd name="adj" fmla="val 1928"/>
            </a:avLst>
          </a:prstGeom>
          <a:solidFill>
            <a:srgbClr val="EAF1F4"/>
          </a:solidFill>
          <a:ln/>
        </p:spPr>
      </p:sp>
      <p:sp>
        <p:nvSpPr>
          <p:cNvPr id="5" name="Text 2"/>
          <p:cNvSpPr txBox="1"/>
          <p:nvPr/>
        </p:nvSpPr>
        <p:spPr>
          <a:xfrm>
            <a:off x="8092440" y="1463040"/>
            <a:ext cx="3383280" cy="32004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Technology Readiness Level</a:t>
            </a:r>
            <a:endParaRPr lang="en-US" sz="1600" dirty="0"/>
          </a:p>
        </p:txBody>
      </p:sp>
      <p:sp>
        <p:nvSpPr>
          <p:cNvPr id="6" name="TRL 1"/>
          <p:cNvSpPr/>
          <p:nvPr/>
        </p:nvSpPr>
        <p:spPr>
          <a:xfrm>
            <a:off x="8092440" y="1965960"/>
            <a:ext cx="310896" cy="457200"/>
          </a:xfrm>
          <a:prstGeom prst="roundRect">
            <a:avLst>
              <a:gd name="adj" fmla="val 14706"/>
            </a:avLst>
          </a:prstGeom>
          <a:solidFill>
            <a:srgbClr val="FFFFFF"/>
          </a:solidFill>
          <a:ln w="9525">
            <a:solidFill>
              <a:srgbClr val="D3DEE4"/>
            </a:solidFill>
            <a:prstDash val="solid"/>
          </a:ln>
        </p:spPr>
      </p:sp>
      <p:sp>
        <p:nvSpPr>
          <p:cNvPr id="7" name="Text 4"/>
          <p:cNvSpPr txBox="1"/>
          <p:nvPr/>
        </p:nvSpPr>
        <p:spPr>
          <a:xfrm>
            <a:off x="809244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1</a:t>
            </a:r>
            <a:endParaRPr lang="en-US" sz="1200" dirty="0"/>
          </a:p>
        </p:txBody>
      </p:sp>
      <p:sp>
        <p:nvSpPr>
          <p:cNvPr id="8" name="TRL 2"/>
          <p:cNvSpPr/>
          <p:nvPr/>
        </p:nvSpPr>
        <p:spPr>
          <a:xfrm>
            <a:off x="8458200" y="1965960"/>
            <a:ext cx="310896" cy="457200"/>
          </a:xfrm>
          <a:prstGeom prst="roundRect">
            <a:avLst>
              <a:gd name="adj" fmla="val 14706"/>
            </a:avLst>
          </a:prstGeom>
          <a:solidFill>
            <a:srgbClr val="FFFFFF"/>
          </a:solidFill>
          <a:ln w="9525">
            <a:solidFill>
              <a:srgbClr val="D3DEE4"/>
            </a:solidFill>
            <a:prstDash val="solid"/>
          </a:ln>
        </p:spPr>
      </p:sp>
      <p:sp>
        <p:nvSpPr>
          <p:cNvPr id="9" name="Text 6"/>
          <p:cNvSpPr txBox="1"/>
          <p:nvPr/>
        </p:nvSpPr>
        <p:spPr>
          <a:xfrm>
            <a:off x="845820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2</a:t>
            </a:r>
            <a:endParaRPr lang="en-US" sz="1200" dirty="0"/>
          </a:p>
        </p:txBody>
      </p:sp>
      <p:sp>
        <p:nvSpPr>
          <p:cNvPr id="10" name="TRL 3"/>
          <p:cNvSpPr/>
          <p:nvPr/>
        </p:nvSpPr>
        <p:spPr>
          <a:xfrm>
            <a:off x="8823960" y="1965960"/>
            <a:ext cx="310896" cy="457200"/>
          </a:xfrm>
          <a:prstGeom prst="roundRect">
            <a:avLst>
              <a:gd name="adj" fmla="val 14706"/>
            </a:avLst>
          </a:prstGeom>
          <a:solidFill>
            <a:srgbClr val="1B7F8C"/>
          </a:solidFill>
          <a:ln w="9525">
            <a:solidFill>
              <a:srgbClr val="D3DEE4"/>
            </a:solidFill>
            <a:prstDash val="solid"/>
          </a:ln>
        </p:spPr>
      </p:sp>
      <p:sp>
        <p:nvSpPr>
          <p:cNvPr id="11" name="Text 8"/>
          <p:cNvSpPr txBox="1"/>
          <p:nvPr/>
        </p:nvSpPr>
        <p:spPr>
          <a:xfrm>
            <a:off x="8823960" y="1965960"/>
            <a:ext cx="310896"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RL 4"/>
          <p:cNvSpPr/>
          <p:nvPr/>
        </p:nvSpPr>
        <p:spPr>
          <a:xfrm>
            <a:off x="9189720" y="1965960"/>
            <a:ext cx="310896" cy="457200"/>
          </a:xfrm>
          <a:prstGeom prst="roundRect">
            <a:avLst>
              <a:gd name="adj" fmla="val 14706"/>
            </a:avLst>
          </a:prstGeom>
          <a:solidFill>
            <a:srgbClr val="F4A261"/>
          </a:solidFill>
          <a:ln w="9525">
            <a:solidFill>
              <a:srgbClr val="D3DEE4"/>
            </a:solidFill>
            <a:prstDash val="solid"/>
          </a:ln>
        </p:spPr>
      </p:sp>
      <p:sp>
        <p:nvSpPr>
          <p:cNvPr id="13" name="Text 10"/>
          <p:cNvSpPr txBox="1"/>
          <p:nvPr/>
        </p:nvSpPr>
        <p:spPr>
          <a:xfrm>
            <a:off x="918972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4</a:t>
            </a:r>
            <a:endParaRPr lang="en-US" sz="1200" dirty="0"/>
          </a:p>
        </p:txBody>
      </p:sp>
      <p:sp>
        <p:nvSpPr>
          <p:cNvPr id="14" name="TRL 5"/>
          <p:cNvSpPr/>
          <p:nvPr/>
        </p:nvSpPr>
        <p:spPr>
          <a:xfrm>
            <a:off x="9555480" y="1965960"/>
            <a:ext cx="310896" cy="457200"/>
          </a:xfrm>
          <a:prstGeom prst="roundRect">
            <a:avLst>
              <a:gd name="adj" fmla="val 14706"/>
            </a:avLst>
          </a:prstGeom>
          <a:solidFill>
            <a:srgbClr val="FFFFFF"/>
          </a:solidFill>
          <a:ln w="9525">
            <a:solidFill>
              <a:srgbClr val="D3DEE4"/>
            </a:solidFill>
            <a:prstDash val="solid"/>
          </a:ln>
        </p:spPr>
      </p:sp>
      <p:sp>
        <p:nvSpPr>
          <p:cNvPr id="15" name="Text 12"/>
          <p:cNvSpPr txBox="1"/>
          <p:nvPr/>
        </p:nvSpPr>
        <p:spPr>
          <a:xfrm>
            <a:off x="955548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5</a:t>
            </a:r>
            <a:endParaRPr lang="en-US" sz="1200" dirty="0"/>
          </a:p>
        </p:txBody>
      </p:sp>
      <p:sp>
        <p:nvSpPr>
          <p:cNvPr id="16" name="TRL 6"/>
          <p:cNvSpPr/>
          <p:nvPr/>
        </p:nvSpPr>
        <p:spPr>
          <a:xfrm>
            <a:off x="9921240" y="1965960"/>
            <a:ext cx="310896" cy="457200"/>
          </a:xfrm>
          <a:prstGeom prst="roundRect">
            <a:avLst>
              <a:gd name="adj" fmla="val 14706"/>
            </a:avLst>
          </a:prstGeom>
          <a:solidFill>
            <a:srgbClr val="FFFFFF"/>
          </a:solidFill>
          <a:ln w="9525">
            <a:solidFill>
              <a:srgbClr val="D3DEE4"/>
            </a:solidFill>
            <a:prstDash val="solid"/>
          </a:ln>
        </p:spPr>
      </p:sp>
      <p:sp>
        <p:nvSpPr>
          <p:cNvPr id="17" name="Text 14"/>
          <p:cNvSpPr txBox="1"/>
          <p:nvPr/>
        </p:nvSpPr>
        <p:spPr>
          <a:xfrm>
            <a:off x="992124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6</a:t>
            </a:r>
            <a:endParaRPr lang="en-US" sz="1200" dirty="0"/>
          </a:p>
        </p:txBody>
      </p:sp>
      <p:sp>
        <p:nvSpPr>
          <p:cNvPr id="18" name="TRL 7"/>
          <p:cNvSpPr/>
          <p:nvPr/>
        </p:nvSpPr>
        <p:spPr>
          <a:xfrm>
            <a:off x="10287000" y="1965960"/>
            <a:ext cx="310896" cy="457200"/>
          </a:xfrm>
          <a:prstGeom prst="roundRect">
            <a:avLst>
              <a:gd name="adj" fmla="val 14706"/>
            </a:avLst>
          </a:prstGeom>
          <a:solidFill>
            <a:srgbClr val="FFFFFF"/>
          </a:solidFill>
          <a:ln w="9525">
            <a:solidFill>
              <a:srgbClr val="D3DEE4"/>
            </a:solidFill>
            <a:prstDash val="solid"/>
          </a:ln>
        </p:spPr>
      </p:sp>
      <p:sp>
        <p:nvSpPr>
          <p:cNvPr id="19" name="Text 16"/>
          <p:cNvSpPr txBox="1"/>
          <p:nvPr/>
        </p:nvSpPr>
        <p:spPr>
          <a:xfrm>
            <a:off x="1028700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7</a:t>
            </a:r>
            <a:endParaRPr lang="en-US" sz="1200" dirty="0"/>
          </a:p>
        </p:txBody>
      </p:sp>
      <p:sp>
        <p:nvSpPr>
          <p:cNvPr id="20" name="TRL 8"/>
          <p:cNvSpPr/>
          <p:nvPr/>
        </p:nvSpPr>
        <p:spPr>
          <a:xfrm>
            <a:off x="10652760" y="1965960"/>
            <a:ext cx="310896" cy="457200"/>
          </a:xfrm>
          <a:prstGeom prst="roundRect">
            <a:avLst>
              <a:gd name="adj" fmla="val 14706"/>
            </a:avLst>
          </a:prstGeom>
          <a:solidFill>
            <a:srgbClr val="FFFFFF"/>
          </a:solidFill>
          <a:ln w="9525">
            <a:solidFill>
              <a:srgbClr val="D3DEE4"/>
            </a:solidFill>
            <a:prstDash val="solid"/>
          </a:ln>
        </p:spPr>
      </p:sp>
      <p:sp>
        <p:nvSpPr>
          <p:cNvPr id="21" name="Text 18"/>
          <p:cNvSpPr txBox="1"/>
          <p:nvPr/>
        </p:nvSpPr>
        <p:spPr>
          <a:xfrm>
            <a:off x="1065276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8</a:t>
            </a:r>
            <a:endParaRPr lang="en-US" sz="1200" dirty="0"/>
          </a:p>
        </p:txBody>
      </p:sp>
      <p:sp>
        <p:nvSpPr>
          <p:cNvPr id="22" name="TRL 9"/>
          <p:cNvSpPr/>
          <p:nvPr/>
        </p:nvSpPr>
        <p:spPr>
          <a:xfrm>
            <a:off x="11018520" y="1965960"/>
            <a:ext cx="310896" cy="457200"/>
          </a:xfrm>
          <a:prstGeom prst="roundRect">
            <a:avLst>
              <a:gd name="adj" fmla="val 14706"/>
            </a:avLst>
          </a:prstGeom>
          <a:solidFill>
            <a:srgbClr val="FFFFFF"/>
          </a:solidFill>
          <a:ln w="9525">
            <a:solidFill>
              <a:srgbClr val="D3DEE4"/>
            </a:solidFill>
            <a:prstDash val="solid"/>
          </a:ln>
        </p:spPr>
      </p:sp>
      <p:sp>
        <p:nvSpPr>
          <p:cNvPr id="23" name="Text 20"/>
          <p:cNvSpPr txBox="1"/>
          <p:nvPr/>
        </p:nvSpPr>
        <p:spPr>
          <a:xfrm>
            <a:off x="11018520" y="1965960"/>
            <a:ext cx="310896" cy="457200"/>
          </a:xfrm>
          <a:prstGeom prst="rect">
            <a:avLst/>
          </a:prstGeom>
          <a:noFill/>
          <a:ln/>
        </p:spPr>
        <p:txBody>
          <a:bodyPr wrap="square" lIns="0" tIns="0" rIns="0" bIns="0" rtlCol="0" anchor="ctr"/>
          <a:lstStyle/>
          <a:p>
            <a:pPr algn="ctr" indent="0" marL="0">
              <a:buNone/>
            </a:pPr>
            <a:r>
              <a:rPr lang="en-US" sz="1200" b="1" dirty="0">
                <a:solidFill>
                  <a:srgbClr val="1A2530"/>
                </a:solidFill>
                <a:latin typeface="Calibri" pitchFamily="34" charset="0"/>
                <a:ea typeface="Calibri" pitchFamily="34" charset="-122"/>
                <a:cs typeface="Calibri" pitchFamily="34" charset="-120"/>
              </a:rPr>
              <a:t>9</a:t>
            </a:r>
            <a:endParaRPr lang="en-US" sz="1200" dirty="0"/>
          </a:p>
        </p:txBody>
      </p:sp>
      <p:sp>
        <p:nvSpPr>
          <p:cNvPr id="24" name="Text 21"/>
          <p:cNvSpPr txBox="1"/>
          <p:nvPr/>
        </p:nvSpPr>
        <p:spPr>
          <a:xfrm>
            <a:off x="8092440" y="2697480"/>
            <a:ext cx="3383280" cy="1463040"/>
          </a:xfrm>
          <a:prstGeom prst="rect">
            <a:avLst/>
          </a:prstGeom>
          <a:noFill/>
          <a:ln/>
        </p:spPr>
        <p:txBody>
          <a:bodyPr wrap="square" lIns="0" tIns="0" rIns="0" bIns="0" rtlCol="0" anchor="t"/>
          <a:lstStyle/>
          <a:p>
            <a:pPr indent="0" marL="0">
              <a:buNone/>
            </a:pPr>
            <a:r>
              <a:rPr lang="en-US" sz="1400" b="1" dirty="0">
                <a:solidFill>
                  <a:srgbClr val="1B7F8C"/>
                </a:solidFill>
                <a:latin typeface="Calibri" pitchFamily="34" charset="0"/>
                <a:ea typeface="Calibri" pitchFamily="34" charset="-122"/>
                <a:cs typeface="Calibri" pitchFamily="34" charset="-120"/>
              </a:rPr>
              <a:t>Now: TRL 3. </a:t>
            </a:r>
            <a:pPr indent="0" marL="0">
              <a:buNone/>
            </a:pPr>
            <a:r>
              <a:rPr lang="en-US" sz="1400" dirty="0">
                <a:solidFill>
                  <a:srgbClr val="1A2530"/>
                </a:solidFill>
                <a:latin typeface="Calibri" pitchFamily="34" charset="0"/>
                <a:ea typeface="Calibri" pitchFamily="34" charset="-122"/>
                <a:cs typeface="Calibri" pitchFamily="34" charset="-120"/>
              </a:rPr>
              <a:t>Proof of concept at CIFAR scale (minor project and audit).</a:t>
            </a:r>
            <a:endParaRPr lang="en-US" sz="1400" dirty="0"/>
          </a:p>
          <a:p>
            <a:pPr indent="0" marL="0">
              <a:buNone/>
            </a:pPr>
            <a:r>
              <a:rPr lang="en-US" sz="1400" b="1" dirty="0">
                <a:solidFill>
                  <a:srgbClr val="B5651D"/>
                </a:solidFill>
                <a:latin typeface="Calibri" pitchFamily="34" charset="0"/>
                <a:ea typeface="Calibri" pitchFamily="34" charset="-122"/>
                <a:cs typeface="Calibri" pitchFamily="34" charset="-120"/>
              </a:rPr>
              <a:t>Target: TRL 4. </a:t>
            </a:r>
            <a:pPr indent="0" marL="0">
              <a:buNone/>
            </a:pPr>
            <a:r>
              <a:rPr lang="en-US" sz="1400" dirty="0">
                <a:solidFill>
                  <a:srgbClr val="1A2530"/>
                </a:solidFill>
                <a:latin typeface="Calibri" pitchFamily="34" charset="0"/>
                <a:ea typeface="Calibri" pitchFamily="34" charset="-122"/>
                <a:cs typeface="Calibri" pitchFamily="34" charset="-120"/>
              </a:rPr>
              <a:t>Validated in the lab: reproducible, controlled, multi-data-set harness.</a:t>
            </a:r>
            <a:endParaRPr lang="en-US" sz="1400" dirty="0"/>
          </a:p>
        </p:txBody>
      </p:sp>
      <p:sp>
        <p:nvSpPr>
          <p:cNvPr id="25" name="Text 22"/>
          <p:cNvSpPr txBox="1"/>
          <p:nvPr/>
        </p:nvSpPr>
        <p:spPr>
          <a:xfrm>
            <a:off x="8092440" y="4251960"/>
            <a:ext cx="3383280" cy="27432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Publication</a:t>
            </a:r>
            <a:endParaRPr lang="en-US" sz="1600" dirty="0"/>
          </a:p>
        </p:txBody>
      </p:sp>
      <p:sp>
        <p:nvSpPr>
          <p:cNvPr id="26" name="Text 23"/>
          <p:cNvSpPr txBox="1"/>
          <p:nvPr/>
        </p:nvSpPr>
        <p:spPr>
          <a:xfrm>
            <a:off x="8092440" y="4572000"/>
            <a:ext cx="3383280" cy="1463040"/>
          </a:xfrm>
          <a:prstGeom prst="rect">
            <a:avLst/>
          </a:prstGeom>
          <a:noFill/>
          <a:ln/>
        </p:spPr>
        <p:txBody>
          <a:bodyPr wrap="square" lIns="0" tIns="0" rIns="0" bIns="0" rtlCol="0" anchor="t"/>
          <a:lstStyle/>
          <a:p>
            <a:pPr indent="0" marL="0">
              <a:buNone/>
            </a:pPr>
            <a:r>
              <a:rPr lang="en-US" sz="1400" dirty="0">
                <a:solidFill>
                  <a:srgbClr val="1A2530"/>
                </a:solidFill>
                <a:latin typeface="Calibri" pitchFamily="34" charset="0"/>
                <a:ea typeface="Calibri" pitchFamily="34" charset="-122"/>
                <a:cs typeface="Calibri" pitchFamily="34" charset="-120"/>
              </a:rPr>
              <a:t>Two manuscripts; venues matched to SRM's approved journal list, with a conference fallback so publication lands within the academic year.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Risks and mitigation</a:t>
            </a:r>
            <a:endParaRPr lang="en-US" sz="3200" dirty="0"/>
          </a:p>
        </p:txBody>
      </p:sp>
      <p:graphicFrame>
        <p:nvGraphicFramePr>
          <p:cNvPr id="17" name="Risk table"/>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a:tblGrid>
                <a:gridCol w="2011680"/>
                <a:gridCol w="4572000"/>
                <a:gridCol w="45262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could go wrong</a:t>
                      </a:r>
                      <a:endParaRPr lang="en-US" sz="12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0F2A3D"/>
                    </a:solidFill>
                  </a:tcPr>
                </a:tc>
              </a:tr>
              <a:tr h="868680">
                <a:tc>
                  <a:txBody>
                    <a:bodyPr/>
                    <a:lstStyle/>
                    <a:p>
                      <a:pPr indent="0" marL="0">
                        <a:buNone/>
                      </a:pPr>
                      <a:r>
                        <a:rPr lang="en-US" sz="1500" b="1" dirty="0">
                          <a:solidFill>
                            <a:srgbClr val="0F2A3D"/>
                          </a:solidFill>
                          <a:latin typeface="Calibri" pitchFamily="34" charset="0"/>
                          <a:ea typeface="Calibri" pitchFamily="34" charset="-122"/>
                          <a:cs typeface="Calibri" pitchFamily="34" charset="-120"/>
                        </a:rPr>
                        <a:t>Compute</a:t>
                      </a:r>
                      <a:endParaRPr lang="en-US" sz="15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The audit averaged about 1 H100-hour per run. RO2 needs roughly 200 runs, and ImageNet-100 is extra.</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Cut ImageNet-100 to arms A, best control and G; confirm available GPU budget at Review I.</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868680">
                <a:tc>
                  <a:txBody>
                    <a:bodyPr/>
                    <a:lstStyle/>
                    <a:p>
                      <a:pPr indent="0" marL="0">
                        <a:buNone/>
                      </a:pPr>
                      <a:r>
                        <a:rPr lang="en-US" sz="1500" b="1" dirty="0">
                          <a:solidFill>
                            <a:srgbClr val="0F2A3D"/>
                          </a:solidFill>
                          <a:latin typeface="Calibri" pitchFamily="34" charset="0"/>
                          <a:ea typeface="Calibri" pitchFamily="34" charset="-122"/>
                          <a:cs typeface="Calibri" pitchFamily="34" charset="-120"/>
                        </a:rPr>
                        <a:t>Publication timing</a:t>
                      </a:r>
                      <a:endParaRPr lang="en-US" sz="15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Journal review can outlast the academic year, and publication is mandatory.</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Submit Paper 1 in Dec 2026; keep a conference fallback; check venues against SRM's approved list.</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0F2A3D"/>
                          </a:solidFill>
                          <a:latin typeface="Calibri" pitchFamily="34" charset="0"/>
                          <a:ea typeface="Calibri" pitchFamily="34" charset="-122"/>
                          <a:cs typeface="Calibri" pitchFamily="34" charset="-120"/>
                        </a:rPr>
                        <a:t>Null result</a:t>
                      </a:r>
                      <a:endParaRPr lang="en-US" sz="15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Grouping may show no benefit over controls.</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Registered plan makes a null or equivalence result publishable; it is the honest answer to RQ1.</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r h="868680">
                <a:tc>
                  <a:txBody>
                    <a:bodyPr/>
                    <a:lstStyle/>
                    <a:p>
                      <a:pPr indent="0" marL="0">
                        <a:buNone/>
                      </a:pPr>
                      <a:r>
                        <a:rPr lang="en-US" sz="1500" b="1" dirty="0">
                          <a:solidFill>
                            <a:srgbClr val="0F2A3D"/>
                          </a:solidFill>
                          <a:latin typeface="Calibri" pitchFamily="34" charset="0"/>
                          <a:ea typeface="Calibri" pitchFamily="34" charset="-122"/>
                          <a:cs typeface="Calibri" pitchFamily="34" charset="-120"/>
                        </a:rPr>
                        <a:t>Correction of published work</a:t>
                      </a:r>
                      <a:endParaRPr lang="en-US" sz="15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The IEEE paper needs corrections that involve co-authors and the guide.</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Share the erratum draft with the guide and co-authors before Review 0.</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0F2A3D"/>
                          </a:solidFill>
                          <a:latin typeface="Calibri" pitchFamily="34" charset="0"/>
                          <a:ea typeface="Calibri" pitchFamily="34" charset="-122"/>
                          <a:cs typeface="Calibri" pitchFamily="34" charset="-120"/>
                        </a:rPr>
                        <a:t>Release hygiene</a:t>
                      </a:r>
                      <a:endParaRPr lang="en-US" sz="15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Private repository holds an email in git metadata and an undecided licence.</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c>
                  <a:txBody>
                    <a:bodyPr/>
                    <a:lstStyle/>
                    <a:p>
                      <a:pPr indent="0" marL="0">
                        <a:buNone/>
                      </a:pPr>
                      <a:r>
                        <a:rPr lang="en-US" sz="1400" dirty="0">
                          <a:solidFill>
                            <a:srgbClr val="1A2530"/>
                          </a:solidFill>
                          <a:latin typeface="Calibri" pitchFamily="34" charset="0"/>
                          <a:ea typeface="Calibri" pitchFamily="34" charset="-122"/>
                          <a:cs typeface="Calibri" pitchFamily="34" charset="-120"/>
                        </a:rPr>
                        <a:t>Sanitise, choose a licence and release only the cleaned pack.</a:t>
                      </a:r>
                      <a:endParaRPr lang="en-US" sz="1400" dirty="0">
                        <a:latin typeface="Calibri" charset="0"/>
                        <a:ea typeface="Calibri" charset="0"/>
                        <a:cs typeface="Calibri" charset="0"/>
                      </a:endParaRPr>
                    </a:p>
                  </a:txBody>
                  <a:tcPr marL="109728" marR="109728" marT="45720" marB="45720" anchor="ctr">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rgbClr val="EAF1F4"/>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Team, roles and next steps</a:t>
            </a:r>
            <a:endParaRPr lang="en-US" sz="3200" dirty="0"/>
          </a:p>
        </p:txBody>
      </p:sp>
      <p:sp>
        <p:nvSpPr>
          <p:cNvPr id="3" name="Role card Dhruv Jyoti Das"/>
          <p:cNvSpPr/>
          <p:nvPr/>
        </p:nvSpPr>
        <p:spPr>
          <a:xfrm>
            <a:off x="548640" y="1280160"/>
            <a:ext cx="3566160" cy="4892040"/>
          </a:xfrm>
          <a:prstGeom prst="roundRect">
            <a:avLst>
              <a:gd name="adj" fmla="val 2051"/>
            </a:avLst>
          </a:prstGeom>
          <a:solidFill>
            <a:srgbClr val="FFFFFF"/>
          </a:solidFill>
          <a:ln w="12700">
            <a:solidFill>
              <a:srgbClr val="D3DEE4"/>
            </a:solidFill>
            <a:prstDash val="solid"/>
          </a:ln>
        </p:spPr>
      </p:sp>
      <p:sp>
        <p:nvSpPr>
          <p:cNvPr id="4" name="Role badge Dhruv Jyoti Das"/>
          <p:cNvSpPr/>
          <p:nvPr/>
        </p:nvSpPr>
        <p:spPr>
          <a:xfrm>
            <a:off x="777240" y="1508760"/>
            <a:ext cx="685800" cy="685800"/>
          </a:xfrm>
          <a:prstGeom prst="ellipse">
            <a:avLst/>
          </a:prstGeom>
          <a:solidFill>
            <a:srgbClr val="1B7F8C"/>
          </a:solidFill>
          <a:ln/>
        </p:spPr>
      </p:sp>
      <p:sp>
        <p:nvSpPr>
          <p:cNvPr id="5" name="Role badge Dhruv Jyoti Das label"/>
          <p:cNvSpPr txBox="1"/>
          <p:nvPr/>
        </p:nvSpPr>
        <p:spPr>
          <a:xfrm>
            <a:off x="777240" y="15087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DJ</a:t>
            </a:r>
            <a:endParaRPr lang="en-US" sz="1800" dirty="0"/>
          </a:p>
        </p:txBody>
      </p:sp>
      <p:sp>
        <p:nvSpPr>
          <p:cNvPr id="6" name="Text 4"/>
          <p:cNvSpPr txBox="1"/>
          <p:nvPr/>
        </p:nvSpPr>
        <p:spPr>
          <a:xfrm>
            <a:off x="1645920" y="1554480"/>
            <a:ext cx="2331720" cy="59436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Dhruv Jyoti Das</a:t>
            </a:r>
            <a:endParaRPr lang="en-US" sz="1700" dirty="0"/>
          </a:p>
        </p:txBody>
      </p:sp>
      <p:sp>
        <p:nvSpPr>
          <p:cNvPr id="7" name="Text 5"/>
          <p:cNvSpPr txBox="1"/>
          <p:nvPr/>
        </p:nvSpPr>
        <p:spPr>
          <a:xfrm>
            <a:off x="777240" y="2514600"/>
            <a:ext cx="3108960" cy="34747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Model arms and control implementations (R, X, B2, G)</a:t>
            </a:r>
            <a:endParaRPr lang="en-US" sz="1600" dirty="0"/>
          </a:p>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Training harness, LR sweeps, statistics and OSF plan</a:t>
            </a:r>
            <a:endParaRPr lang="en-US" sz="1600" dirty="0"/>
          </a:p>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Corrected release and Paper 1 (audit)</a:t>
            </a:r>
            <a:endParaRPr lang="en-US" sz="1600" dirty="0"/>
          </a:p>
        </p:txBody>
      </p:sp>
      <p:sp>
        <p:nvSpPr>
          <p:cNvPr id="8" name="Role card Raghav Sharma"/>
          <p:cNvSpPr/>
          <p:nvPr/>
        </p:nvSpPr>
        <p:spPr>
          <a:xfrm>
            <a:off x="4297680" y="1280160"/>
            <a:ext cx="3566160" cy="4892040"/>
          </a:xfrm>
          <a:prstGeom prst="roundRect">
            <a:avLst>
              <a:gd name="adj" fmla="val 2051"/>
            </a:avLst>
          </a:prstGeom>
          <a:solidFill>
            <a:srgbClr val="FFFFFF"/>
          </a:solidFill>
          <a:ln w="12700">
            <a:solidFill>
              <a:srgbClr val="D3DEE4"/>
            </a:solidFill>
            <a:prstDash val="solid"/>
          </a:ln>
        </p:spPr>
      </p:sp>
      <p:sp>
        <p:nvSpPr>
          <p:cNvPr id="9" name="Role badge Raghav Sharma"/>
          <p:cNvSpPr/>
          <p:nvPr/>
        </p:nvSpPr>
        <p:spPr>
          <a:xfrm>
            <a:off x="4526280" y="1508760"/>
            <a:ext cx="685800" cy="685800"/>
          </a:xfrm>
          <a:prstGeom prst="ellipse">
            <a:avLst/>
          </a:prstGeom>
          <a:solidFill>
            <a:srgbClr val="F4A261"/>
          </a:solidFill>
          <a:ln/>
        </p:spPr>
      </p:sp>
      <p:sp>
        <p:nvSpPr>
          <p:cNvPr id="10" name="Role badge Raghav Sharma label"/>
          <p:cNvSpPr txBox="1"/>
          <p:nvPr/>
        </p:nvSpPr>
        <p:spPr>
          <a:xfrm>
            <a:off x="4526280" y="1508760"/>
            <a:ext cx="685800" cy="685800"/>
          </a:xfrm>
          <a:prstGeom prst="rect">
            <a:avLst/>
          </a:prstGeom>
          <a:noFill/>
          <a:ln/>
        </p:spPr>
        <p:txBody>
          <a:bodyPr wrap="square" lIns="0" tIns="0" rIns="0" bIns="0" rtlCol="0" anchor="ctr"/>
          <a:lstStyle/>
          <a:p>
            <a:pPr algn="ctr" indent="0" marL="0">
              <a:buNone/>
            </a:pPr>
            <a:r>
              <a:rPr lang="en-US" sz="1800" b="1" dirty="0">
                <a:solidFill>
                  <a:srgbClr val="0F2A3D"/>
                </a:solidFill>
                <a:latin typeface="Calibri" pitchFamily="34" charset="0"/>
                <a:ea typeface="Calibri" pitchFamily="34" charset="-122"/>
                <a:cs typeface="Calibri" pitchFamily="34" charset="-120"/>
              </a:rPr>
              <a:t>RS</a:t>
            </a:r>
            <a:endParaRPr lang="en-US" sz="1800" dirty="0"/>
          </a:p>
        </p:txBody>
      </p:sp>
      <p:sp>
        <p:nvSpPr>
          <p:cNvPr id="11" name="Text 9"/>
          <p:cNvSpPr txBox="1"/>
          <p:nvPr/>
        </p:nvSpPr>
        <p:spPr>
          <a:xfrm>
            <a:off x="5394960" y="1554480"/>
            <a:ext cx="2331720" cy="59436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Raghav Sharma</a:t>
            </a:r>
            <a:endParaRPr lang="en-US" sz="1700" dirty="0"/>
          </a:p>
        </p:txBody>
      </p:sp>
      <p:sp>
        <p:nvSpPr>
          <p:cNvPr id="12" name="Text 10"/>
          <p:cNvSpPr txBox="1"/>
          <p:nvPr/>
        </p:nvSpPr>
        <p:spPr>
          <a:xfrm>
            <a:off x="4526280" y="2514600"/>
            <a:ext cx="3108960" cy="34747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ImageNet-100 data pipeline and Swin/ToMe baselines</a:t>
            </a:r>
            <a:endParaRPr lang="en-US" sz="1600" dirty="0"/>
          </a:p>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Region-evaluation pipeline (masks, mIoU, purity)</a:t>
            </a:r>
            <a:endParaRPr lang="en-US" sz="1600" dirty="0"/>
          </a:p>
          <a:p>
            <a:pPr marL="342900" indent="-342900">
              <a:spcAft>
                <a:spcPts val="1400"/>
              </a:spcAft>
              <a:buSzPct val="100000"/>
              <a:buChar char="•"/>
            </a:pPr>
            <a:r>
              <a:rPr lang="en-US" sz="1600" dirty="0">
                <a:solidFill>
                  <a:srgbClr val="1A2530"/>
                </a:solidFill>
                <a:latin typeface="Calibri" pitchFamily="34" charset="0"/>
                <a:ea typeface="Calibri" pitchFamily="34" charset="-122"/>
                <a:cs typeface="Calibri" pitchFamily="34" charset="-120"/>
              </a:rPr>
              <a:t>Literature table upkeep and Paper 2 sections</a:t>
            </a:r>
            <a:endParaRPr lang="en-US" sz="1600" dirty="0"/>
          </a:p>
        </p:txBody>
      </p:sp>
      <p:sp>
        <p:nvSpPr>
          <p:cNvPr id="13" name="Next steps panel"/>
          <p:cNvSpPr/>
          <p:nvPr/>
        </p:nvSpPr>
        <p:spPr>
          <a:xfrm>
            <a:off x="8046720" y="1280160"/>
            <a:ext cx="3611880" cy="4892040"/>
          </a:xfrm>
          <a:prstGeom prst="roundRect">
            <a:avLst>
              <a:gd name="adj" fmla="val 2025"/>
            </a:avLst>
          </a:prstGeom>
          <a:solidFill>
            <a:srgbClr val="0F2A3D"/>
          </a:solidFill>
          <a:ln/>
        </p:spPr>
      </p:sp>
      <p:sp>
        <p:nvSpPr>
          <p:cNvPr id="14" name="Text 12"/>
          <p:cNvSpPr txBox="1"/>
          <p:nvPr/>
        </p:nvSpPr>
        <p:spPr>
          <a:xfrm>
            <a:off x="8275320" y="1508760"/>
            <a:ext cx="3200400" cy="274320"/>
          </a:xfrm>
          <a:prstGeom prst="rect">
            <a:avLst/>
          </a:prstGeom>
          <a:noFill/>
          <a:ln/>
        </p:spPr>
        <p:txBody>
          <a:bodyPr wrap="square" lIns="0" tIns="0" rIns="0" bIns="0" rtlCol="0" anchor="t"/>
          <a:lstStyle/>
          <a:p>
            <a:pPr indent="0" marL="0">
              <a:buNone/>
            </a:pPr>
            <a:r>
              <a:rPr lang="en-US" sz="1300" b="1" spc="300" kern="0" dirty="0">
                <a:solidFill>
                  <a:srgbClr val="F4A261"/>
                </a:solidFill>
                <a:latin typeface="Calibri" pitchFamily="34" charset="0"/>
                <a:ea typeface="Calibri" pitchFamily="34" charset="-122"/>
                <a:cs typeface="Calibri" pitchFamily="34" charset="-120"/>
              </a:rPr>
              <a:t>NEXT 30 DAYS</a:t>
            </a:r>
            <a:endParaRPr lang="en-US" sz="1300" dirty="0"/>
          </a:p>
        </p:txBody>
      </p:sp>
      <p:sp>
        <p:nvSpPr>
          <p:cNvPr id="15" name="Text 13"/>
          <p:cNvSpPr txBox="1"/>
          <p:nvPr/>
        </p:nvSpPr>
        <p:spPr>
          <a:xfrm>
            <a:off x="8275320" y="1965960"/>
            <a:ext cx="3200400" cy="40233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Share erratum draft with guide and co-authors</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Sanitise repository, choose licence</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Draft and register the OSF plan</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Implement arms R and X; verify matched MACs</a:t>
            </a:r>
            <a:endParaRPr lang="en-US" sz="1600" dirty="0"/>
          </a:p>
          <a:p>
            <a:pPr marL="342900" indent="-3429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Pilot LR sweep on CIFAR-100</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00584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Questions</a:t>
            </a:r>
            <a:endParaRPr lang="en-US" sz="5400" dirty="0"/>
          </a:p>
        </p:txBody>
      </p:sp>
      <p:sp>
        <p:nvSpPr>
          <p:cNvPr id="3" name="Text 0"/>
          <p:cNvSpPr/>
          <p:nvPr>
            <p:ph idx="101" type="body" hasCustomPrompt="1"/>
          </p:nvPr>
        </p:nvSpPr>
        <p:spPr>
          <a:xfrm>
            <a:off x="731520" y="3063240"/>
            <a:ext cx="6583680" cy="1188720"/>
          </a:xfrm>
          <a:prstGeom prst="rect">
            <a:avLst/>
          </a:prstGeom>
          <a:noFill/>
          <a:ln/>
        </p:spPr>
        <p:txBody>
          <a:bodyPr wrap="square" lIns="0" tIns="0" rIns="0" bIns="0" rtlCol="0" anchor="t"/>
          <a:lstStyle/>
          <a:p>
            <a:pPr algn="l" indent="0" marL="0">
              <a:buNone/>
            </a:pPr>
            <a:r>
              <a:rPr lang="en-US" sz="2400" dirty="0">
                <a:solidFill>
                  <a:schemeClr val="bg2"/>
                </a:solidFill>
                <a:latin typeface="Calibri" pitchFamily="34" charset="0"/>
                <a:ea typeface="Calibri" pitchFamily="34" charset="-122"/>
                <a:cs typeface="Calibri" pitchFamily="34" charset="-120"/>
              </a:rPr>
              <a:t>Request: approve the extension of the minor project to a research-oriented major project, with the guide's recommendation.</a:t>
            </a:r>
            <a:endParaRPr lang="en-US" sz="2400" dirty="0"/>
          </a:p>
        </p:txBody>
      </p:sp>
      <p:sp>
        <p:nvSpPr>
          <p:cNvPr id="4" name="Text 2"/>
          <p:cNvSpPr txBox="1"/>
          <p:nvPr/>
        </p:nvSpPr>
        <p:spPr>
          <a:xfrm>
            <a:off x="731520" y="4754880"/>
            <a:ext cx="6583680" cy="822960"/>
          </a:xfrm>
          <a:prstGeom prst="rect">
            <a:avLst/>
          </a:prstGeom>
          <a:noFill/>
          <a:ln/>
        </p:spPr>
        <p:txBody>
          <a:bodyPr wrap="square" lIns="0" tIns="0" rIns="0" bIns="0" rtlCol="0" anchor="t"/>
          <a:lstStyle/>
          <a:p>
            <a:pPr indent="0" marL="0">
              <a:buNone/>
            </a:pPr>
            <a:r>
              <a:rPr lang="en-US" sz="1600" dirty="0">
                <a:solidFill>
                  <a:srgbClr val="CADCE4"/>
                </a:solidFill>
                <a:latin typeface="Calibri" pitchFamily="34" charset="0"/>
                <a:ea typeface="Calibri" pitchFamily="34" charset="-122"/>
                <a:cs typeface="Calibri" pitchFamily="34" charset="-120"/>
              </a:rPr>
              <a:t>Dhruv Jyoti Das  |  dd4708@srmist.edu.in</a:t>
            </a:r>
            <a:endParaRPr lang="en-US" sz="1600" dirty="0"/>
          </a:p>
          <a:p>
            <a:pPr indent="0" marL="0">
              <a:buNone/>
            </a:pPr>
            <a:r>
              <a:rPr lang="en-US" sz="1600" dirty="0">
                <a:solidFill>
                  <a:srgbClr val="CADCE4"/>
                </a:solidFill>
                <a:latin typeface="Calibri" pitchFamily="34" charset="0"/>
                <a:ea typeface="Calibri" pitchFamily="34" charset="-122"/>
                <a:cs typeface="Calibri" pitchFamily="34" charset="-120"/>
              </a:rPr>
              <a:t>Raghav Sharma  |  rs2701@srmist.edu.in</a:t>
            </a:r>
            <a:endParaRPr lang="en-US" sz="1600" dirty="0"/>
          </a:p>
        </p:txBody>
      </p:sp>
      <p:sp>
        <p:nvSpPr>
          <p:cNvPr id="5" name="Logo disc"/>
          <p:cNvSpPr/>
          <p:nvPr/>
        </p:nvSpPr>
        <p:spPr>
          <a:xfrm>
            <a:off x="9144000" y="2286000"/>
            <a:ext cx="2194560" cy="2194560"/>
          </a:xfrm>
          <a:prstGeom prst="ellipse">
            <a:avLst/>
          </a:prstGeom>
          <a:solidFill>
            <a:srgbClr val="FFFFFF"/>
          </a:solidFill>
          <a:ln/>
        </p:spPr>
      </p:sp>
      <p:pic>
        <p:nvPicPr>
          <p:cNvPr id="6" name="SRMIST emblem" descr="SRM Institute of Science and Technology emblem">    </p:cNvPr>
          <p:cNvPicPr>
            <a:picLocks noChangeAspect="1"/>
          </p:cNvPicPr>
          <p:nvPr/>
        </p:nvPicPr>
        <p:blipFill>
          <a:blip r:embed="rId1"/>
          <a:stretch>
            <a:fillRect/>
          </a:stretch>
        </p:blipFill>
        <p:spPr>
          <a:xfrm>
            <a:off x="9281160" y="2423160"/>
            <a:ext cx="1920240" cy="1920240"/>
          </a:xfrm>
          <a:prstGeom prst="rect">
            <a:avLst/>
          </a:prstGeom>
        </p:spPr>
      </p:pic>
    </p:spTree>
  </p:cSld>
  <p:clrMapOvr>
    <a:masterClrMapping/>
  </p:clrMapOvr>
</p:sld>
</file>

<file path=ppt/theme/theme1.xml><?xml version="1.0" encoding="utf-8"?>
<a:theme xmlns:a="http://schemas.openxmlformats.org/drawingml/2006/main" name="CET Major Project">
  <a:themeElements>
    <a:clrScheme name="CET Major Project">
      <a:dk1>
        <a:srgbClr val="1A2530"/>
      </a:dk1>
      <a:lt1>
        <a:srgbClr val="FFFFFF"/>
      </a:lt1>
      <a:dk2>
        <a:srgbClr val="0F2A3D"/>
      </a:dk2>
      <a:lt2>
        <a:srgbClr val="EAF1F4"/>
      </a:lt2>
      <a:accent1>
        <a:srgbClr val="1B7F8C"/>
      </a:accent1>
      <a:accent2>
        <a:srgbClr val="F4A261"/>
      </a:accent2>
      <a:accent3>
        <a:srgbClr val="5B6B77"/>
      </a:accent3>
      <a:accent4>
        <a:srgbClr val="C8553D"/>
      </a:accent4>
      <a:accent5>
        <a:srgbClr val="3E8E5A"/>
      </a:accent5>
      <a:accent6>
        <a:srgbClr val="7A8CC2"/>
      </a:accent6>
      <a:hlink>
        <a:srgbClr val="1B7F8C"/>
      </a:hlink>
      <a:folHlink>
        <a:srgbClr val="5B6B77"/>
      </a:folHlink>
    </a:clrScheme>
    <a:fontScheme name="CET Major Proj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SRM Institute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CET-ViT: A Capacity-Controlled Study of Learned Token Grouping in Vision Transformers</dc:title>
  <dc:subject>PptxGenJS Presentation</dc:subject>
  <dc:creator>Dhruv Jyoti Das, Raghav Sharma</dc:creator>
  <cp:lastModifiedBy>Dhruv Jyoti Das, Raghav Sharma</cp:lastModifiedBy>
  <cp:revision>1</cp:revision>
  <dcterms:created xsi:type="dcterms:W3CDTF">2026-10-31T02:47:11Z</dcterms:created>
  <dcterms:modified xsi:type="dcterms:W3CDTF">2026-10-31T02:47:11Z</dcterms:modified>
</cp:coreProperties>
</file>