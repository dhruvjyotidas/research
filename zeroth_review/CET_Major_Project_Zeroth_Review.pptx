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47c3e520-4d76-0d2e-e44d-5cdfb9f382ce}">
          <p14:sldIdLst>
            <p14:sldId id="256"/>
            <p14:sldId id="257"/>
          </p14:sldIdLst>
        </p14:section>
        <p14:section name="Introduction" id="{baa811c1-6f1b-ca24-089d-36148ad7b2ff}">
          <p14:sldIdLst>
            <p14:sldId id="258"/>
            <p14:sldId id="259"/>
          </p14:sldIdLst>
        </p14:section>
        <p14:section name="Literature" id="{48b04f97-f0e4-6ad7-50ed-416a36964f90}">
          <p14:sldIdLst>
            <p14:sldId id="260"/>
            <p14:sldId id="261"/>
            <p14:sldId id="262"/>
            <p14:sldId id="263"/>
            <p14:sldId id="264"/>
          </p14:sldIdLst>
        </p14:section>
        <p14:section name="Gaps" id="{e2884d8a-2d9b-3c6a-c93b-b6daa219d8fa}">
          <p14:sldIdLst>
            <p14:sldId id="265"/>
            <p14:sldId id="266"/>
          </p14:sldIdLst>
        </p14:section>
        <p14:section name="Objectives" id="{c589d37a-dcb8-2cc4-b56c-a6b53a3e6c3e}">
          <p14:sldIdLst>
            <p14:sldId id="267"/>
            <p14:sldId id="268"/>
          </p14:sldIdLst>
        </p14:section>
        <p14:section name="SDG" id="{fe953fd2-5a14-0f04-ea69-f26e5e878360}">
          <p14:sldIdLst>
            <p14:sldId id="269"/>
          </p14:sldIdLst>
        </p14:section>
        <p14:section name="Plan" id="{520c3813-c026-61e2-4b9e-c8d1a50aa47c}">
          <p14:sldIdLst>
            <p14:sldId id="270"/>
            <p14:sldId id="271"/>
            <p14:sldId id="272"/>
          </p14:sldIdLst>
        </p14:section>
        <p14:section name="Close" id="{77dd74bb-a905-089d-2e8f-cd298585cf34}">
          <p14:sldIdLst>
            <p14:sldId id="273"/>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F2A3D"/>
                </a:solidFill>
                <a:latin typeface="+mn-lt"/>
              </a:defRPr>
            </a:pPr>
            <a:r>
              <a:rPr sz="1400" b="0" i="0" u="none" strike="noStrike">
                <a:solidFill>
                  <a:srgbClr val="0F2A3D"/>
                </a:solidFill>
                <a:latin typeface="+mn-lt"/>
              </a:rPr>
              <a:t>Branch (A) minus matched no-branch control (G), accuracy points</a:t>
            </a:r>
          </a:p>
        </c:rich>
      </c:tx>
      <c:layout/>
      <c:overlay val="0"/>
    </c:title>
    <c:autoTitleDeleted val="0"/>
    <c:plotArea>
      <c:layout/>
      <c:barChart>
        <c:barDir val="col"/>
        <c:grouping val="clustered"/>
        <c:varyColors val="0"/>
        <c:ser>
          <c:idx val="0"/>
          <c:order val="0"/>
          <c:tx>
            <c:strRef>
              <c:f>Sheet1!$B$1</c:f>
              <c:strCache>
                <c:ptCount val="1"/>
                <c:pt idx="0">
                  <c:v>CIFAR-100</c:v>
                </c:pt>
              </c:strCache>
            </c:strRef>
          </c:tx>
          <c:spPr>
            <a:solidFill>
              <a:srgbClr val="1B7F8C"/>
            </a:solidFill>
            <a:effectLst/>
          </c:spPr>
          <c:invertIfNegative val="0"/>
          <c:dLbls>
            <c:numFmt formatCode="+0.00;-0.00" sourceLinked="0"/>
            <c:txPr>
              <a:bodyPr/>
              <a:lstStyle/>
              <a:p>
                <a:pPr>
                  <a:defRPr b="0" i="0" strike="noStrike" sz="1200" u="none">
                    <a:solidFill>
                      <a:srgbClr val="1A2530"/>
                    </a:solidFill>
                    <a:latin typeface="+mn-lt"/>
                  </a:defRPr>
                </a:pPr>
              </a:p>
            </c:txPr>
            <c:showLegendKey val="0"/>
            <c:showVal val="1"/>
            <c:showCatName val="0"/>
            <c:showSerName val="0"/>
            <c:showPercent val="0"/>
            <c:showBubbleSize val="0"/>
            <c:showLeaderLines val="0"/>
          </c:dLbls>
          <c:cat>
            <c:multiLvlStrRef>
              <c:f>Sheet1!$A$2:$A$4</c:f>
              <c:multiLvlStrCache>
                <c:ptCount val="3"/>
                <c:lvl>
                  <c:pt idx="0">
                    <c:v>Locked LR 5e-4
(confirmatory)</c:v>
                  </c:pt>
                  <c:pt idx="1">
                    <c:v>Each arm at selected LR
(exploratory)</c:v>
                  </c:pt>
                  <c:pt idx="2">
                    <c:v>Common LR 2.5e-4
(exploratory)</c:v>
                  </c:pt>
                </c:lvl>
              </c:multiLvlStrCache>
            </c:multiLvlStrRef>
          </c:cat>
          <c:val>
            <c:numRef>
              <c:f>Sheet1!$B$2:$B$4</c:f>
              <c:numCache>
                <c:formatCode>General</c:formatCode>
                <c:ptCount val="3"/>
                <c:pt idx="0">
                  <c:v>-1.16</c:v>
                </c:pt>
                <c:pt idx="1">
                  <c:v>0.39</c:v>
                </c:pt>
                <c:pt idx="2">
                  <c:v>0.76</c:v>
                </c:pt>
              </c:numCache>
            </c:numRef>
          </c:val>
        </c:ser>
        <c:ser>
          <c:idx val="1"/>
          <c:order val="1"/>
          <c:tx>
            <c:strRef>
              <c:f>Sheet1!$C$1</c:f>
              <c:strCache>
                <c:ptCount val="1"/>
                <c:pt idx="0">
                  <c:v>Tiny-ImageNet</c:v>
                </c:pt>
              </c:strCache>
            </c:strRef>
          </c:tx>
          <c:spPr>
            <a:solidFill>
              <a:srgbClr val="F4A261"/>
            </a:solidFill>
            <a:effectLst/>
          </c:spPr>
          <c:invertIfNegative val="0"/>
          <c:dLbls>
            <c:numFmt formatCode="+0.00;-0.00" sourceLinked="0"/>
            <c:txPr>
              <a:bodyPr/>
              <a:lstStyle/>
              <a:p>
                <a:pPr>
                  <a:defRPr b="0" i="0" strike="noStrike" sz="1200" u="none">
                    <a:solidFill>
                      <a:srgbClr val="1A2530"/>
                    </a:solidFill>
                    <a:latin typeface="+mn-lt"/>
                  </a:defRPr>
                </a:pPr>
              </a:p>
            </c:txPr>
            <c:showLegendKey val="0"/>
            <c:showVal val="1"/>
            <c:showCatName val="0"/>
            <c:showSerName val="0"/>
            <c:showPercent val="0"/>
            <c:showBubbleSize val="0"/>
            <c:showLeaderLines val="0"/>
          </c:dLbls>
          <c:cat>
            <c:multiLvlStrRef>
              <c:f>Sheet1!$A$2:$A$4</c:f>
              <c:multiLvlStrCache>
                <c:ptCount val="3"/>
                <c:lvl>
                  <c:pt idx="0">
                    <c:v>Locked LR 5e-4
(confirmatory)</c:v>
                  </c:pt>
                  <c:pt idx="1">
                    <c:v>Each arm at selected LR
(exploratory)</c:v>
                  </c:pt>
                  <c:pt idx="2">
                    <c:v>Common LR 2.5e-4
(exploratory)</c:v>
                  </c:pt>
                </c:lvl>
              </c:multiLvlStrCache>
            </c:multiLvlStrRef>
          </c:cat>
          <c:val>
            <c:numRef>
              <c:f>Sheet1!$C$2:$C$4</c:f>
              <c:numCache>
                <c:formatCode>General</c:formatCode>
                <c:ptCount val="3"/>
                <c:pt idx="0">
                  <c:v>-1.67</c:v>
                </c:pt>
                <c:pt idx="1">
                  <c:v>-1.04</c:v>
                </c:pt>
                <c:pt idx="2">
                  <c:v>0.14</c:v>
                </c:pt>
              </c:numCache>
            </c:numRef>
          </c:val>
        </c:ser>
        <c:dLbls>
          <c:numFmt formatCode="+0.00;-0.00" sourceLinked="0"/>
          <c:txPr>
            <a:bodyPr/>
            <a:lstStyle/>
            <a:p>
              <a:pPr>
                <a:defRPr b="0" i="0" strike="noStrike" sz="1200" u="none">
                  <a:solidFill>
                    <a:srgbClr val="1A2530"/>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B6B77"/>
                </a:solidFill>
                <a:latin typeface="+mn-lt"/>
              </a:defRPr>
            </a:pPr>
            <a:endParaRPr lang="en-US"/>
          </a:p>
        </c:txPr>
        <c:crossAx val="2094734552"/>
        <c:crosses val="autoZero"/>
        <c:auto val="1"/>
        <c:lblAlgn val="ctr"/>
        <c:noMultiLvlLbl val="1"/>
      </c:catAx>
      <c:valAx>
        <c:axId val="2094734552"/>
        <c:scaling>
          <c:orientation val="minMax"/>
          <c:max val="1.5"/>
          <c:min val="-2.5"/>
        </c:scaling>
        <c:delete val="0"/>
        <c:axPos val="l"/>
        <c:majorGridlines>
          <c:spPr>
            <a:ln w="6350" cap="flat">
              <a:solidFill>
                <a:srgbClr val="D3DEE4"/>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B6B77"/>
                </a:solidFill>
                <a:latin typeface="+mn-lt"/>
              </a:defRPr>
            </a:pPr>
            <a:endParaRPr lang="en-US"/>
          </a:p>
        </c:txPr>
        <c:crossAx val="2094734554"/>
        <c:crosses val="autoZero"/>
        <c:crossBetween val="between"/>
        <c:majorUnit val="0.5"/>
      </c:valAx>
      <c:spPr>
        <a:noFill/>
        <a:ln>
          <a:noFill/>
        </a:ln>
        <a:effectLst/>
      </c:spPr>
    </c:plotArea>
    <c:legend>
      <c:legendPos val="b"/>
      <c:overlay val="0"/>
      <c:txPr>
        <a:bodyPr/>
        <a:lstStyle/>
        <a:p>
          <a:pPr>
            <a:defRPr sz="1200">
              <a:solidFill>
                <a:srgbClr val="1A2530"/>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the team and guide. This is the Zeroth Review for the Major Project 2026-27. We are proposing to extend our minor project, CET-ViT, into a research-oriented major project. Note the framing: it is an extension, and it is built on what we found when we audited our own minor project.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abstract at a high level: the minor project proposed learned token grouping; our own audit showed the headline margin does not survive a compute-matched control; so the major project asks what grouping contributes beyond extra capacity. Four contributions on the right.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pipeline left to right; the highlighted V-CEO router is the only learned grouping step. The third card is the key framing: we audited ourselves, and that audit defines this major project. The causal-emergence framing of the original submission did not survive verification and is not part of this proposal.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precise about status. Only the locked-rate bars are confirmatory, and the locked rate is not the branch's own selected rate. At selected rates the CIFAR-100 difference is +0.39 with an interval that includes zero; at the common rate it is above zero only. Tiny-ImageNet is below the control at selected rates, and neither arm was swept there. The +3.91 over Swin in the minor paper compared against a single-seed baseline trained without Mixup; the audit attributes it to no single cause. Take-away: the sign depends on learning rate and data set.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23 external works are from 2025 or 2026 (NeurIPS 2025, ICLR 2025 and 2026, ICML 2026, CVPR 2025 and 2026, IJCAI 2025, TMLR 2025, COLM 2025, TPAMI 2025, plus arXiv preprints), and the survey also includes our own two works. Swin and PVT appear only as baseline background. Extra tokens and registers is highlighted because it supplies the control that the minor project lacked. Evaluation rigour is deliberately included: the same literature that shows how tuning and evaluation practice change conclusions is what exposed the weakness of our own minor project. Entries were written from abstracts and index summaries; the full texts of the papers central to RO2 and RO4 will be read before Review 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2025-2026 token-reduction papers. The recurring gap: they target inference efficiency on existing ViTs, discard or merge tokens irreversibly, and none is tested against capacity controls. The calibrated-scaling paper documents that merging breaks down at high compression, whereas our design keeps the full micro stream. For LTM we could not obtain a stable implementation, so it remains an unverified baseline.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Content-adaptive structure and slot-based learning. The adaptive-tokenization papers act at the input; our branch groups tokens mid-network. The slot papers rely on reconstruction targets, foundation-model features or diffusion decoders, which is a different regime from label-only classification training. SlotAdapt uses a register token next to its slots, which reinforces the need for a register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justifies arm R. Registers and extra tokens change how information is routed inside a ViT, so any benefit claimed for learned grouping must be separated from them. The two dense-feature papers show that localisation depends on the extraction protocol, which is why RO4 fixes metrics and baselines in advance.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evaluation-rigour papers are from other domains but identify the same failure we found in our own minor project: unequal tuning, weak variance handling and opaque evaluation. The causal-emergence papers were the original motivation, and the minor project's regulariser did not implement them faithfully. Row 24 is our minor project and its limits.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limitations identified from the survey, each mapped to a research objective. Numbers in brackets refer to the survey tables. G1 and G4 are the ones we most need to own: our minor project had no capacity-matched control and used single-seed baselines.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problem statement is deliberately narrow and falsifiable. H1 is that learned routing beats capacity controls; we state in advance what result would refute it, using the same 0.5-point margin as the audit. RQ4 is methodological: how many seeds and how much tuning before the conclusion is stable.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objectives, each an epic. RO1 and RO5 are enabling objectives (corrected release, registered protocol, publication); RO2 to RO4 are the scientific core. The right column is the success criterion, stated so a panel can check it at Review I and II.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Arm A is the minor-project branch. R replaces the data-dependent assignment with learned input-independent slots, the register-style control. X keeps the routing structure but freezes a random projection. B2 uses fixed block routing. G spends the same capacity in the backbone. S is a MAC-matched Swin. Evaluation protocol follows the 2025-2026 evaluation-rigour papers [19]-[21]: equal tuning budgets, multiple seeds, test set touched once. Compute estimate: about 200 runs for RO2 at the audit's mean of roughly 1 H100-hour per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SDG 9 is the primary alignment: strengthening scientific research and open infrastructure. SDG 12 and 13 are supporting and we keep the claims modest: we do not claim to measure emissions reductions, only to report compute honestly and avoid wasted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Dates follow the SRM schedule: Review 0 on 6 to 10 November, changes window 6 to 13 January, Review I on 23 to 30 January, Review II on 2 to 9 March, Review III on 20 to 24 April, report 28 April to 6 May, viva 7 to 15 May. WP1 and WP2 run first because the corrected release and the registered plan must exist before the final runs. ImageNet-100 (WP4) is the compute risk and will be reduced to three arms if needed.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TRL is a research-project TRL: we move from an experimental proof of concept to a validated laboratory-grade harness. Publication is mandatory at SRM, so Paper 1, which already exists as draft v13, goes out first after the co-authors and guide have reviewed the erratum.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Compute is the main practical risk, and the null-result risk is the main scientific one. We address the second by registering the plan so a null result is still a defensible, publishable answer to RQ1.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Roles are a proposed split so that individual contribution can be assessed at each review. The next 30 days all precede Review I, and the first item, sharing the erratum with the guide and co-authors, is the gate for everything public.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with the decision requested: approval to extend the minor project, subject to the guide's recommendation.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0F2A3D"/>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6949440" cy="1005840"/>
          </a:xfrm>
          <a:prstGeom prst="rect">
            <a:avLst/>
          </a:prstGeom>
          <a:noFill/>
          <a:ln/>
        </p:spPr>
        <p:txBody>
          <a:bodyPr wrap="square" rtlCol="0"/>
          <a:lstStyle>
            <a:lvl1pPr algn="l" indent="0" marL="0">
              <a:buNone/>
              <a:defRPr lang="en-US" sz="54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5400" dirty="0"/>
          </a:p>
        </p:txBody>
      </p:sp>
      <p:sp>
        <p:nvSpPr>
          <p:cNvPr id="3" name="Text 0"/>
          <p:cNvSpPr/>
          <p:nvPr>
            <p:ph idx="101" type="body" hasCustomPrompt="1"/>
          </p:nvPr>
        </p:nvSpPr>
        <p:spPr>
          <a:xfrm>
            <a:off x="731520" y="3063240"/>
            <a:ext cx="6583680" cy="1188720"/>
          </a:xfrm>
          <a:prstGeom prst="rect">
            <a:avLst/>
          </a:prstGeom>
          <a:noFill/>
          <a:ln/>
        </p:spPr>
        <p:txBody>
          <a:bodyPr wrap="square" rtlCol="0"/>
          <a:lstStyle>
            <a:lvl1pPr algn="l" indent="0" marL="0">
              <a:buNone/>
              <a:defRPr lang="en-US" sz="2400" dirty="0">
                <a:solidFill>
                  <a:schemeClr val="bg2"/>
                </a:solidFill>
                <a:latin typeface="Calibri" pitchFamily="34" charset="0"/>
                <a:ea typeface="Calibri" pitchFamily="34" charset="-122"/>
                <a:cs typeface="Calibri" pitchFamily="34" charset="-120"/>
              </a:defRPr>
            </a:lvl1pPr>
          </a:lstStyle>
          <a:p>
            <a:pPr algn="l" indent="0" marL="0">
              <a:buNone/>
            </a:pPr>
            <a:endParaRPr lang="en-US" sz="2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rtlCol="0"/>
          <a:lstStyle>
            <a:lvl1pPr algn="l" indent="0" marL="0">
              <a:buNone/>
              <a:defRPr lang="en-US" sz="3200" b="1" dirty="0">
                <a:solidFill>
                  <a:schemeClr val="tx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3" name="Text 0"/>
          <p:cNvSpPr/>
          <p:nvPr/>
        </p:nvSpPr>
        <p:spPr>
          <a:xfrm>
            <a:off x="548640" y="6446520"/>
            <a:ext cx="6400800" cy="274320"/>
          </a:xfrm>
          <a:prstGeom prst="rect">
            <a:avLst/>
          </a:prstGeom>
          <a:noFill/>
          <a:ln/>
        </p:spPr>
        <p:txBody>
          <a:bodyPr wrap="square" lIns="0" tIns="0" rIns="0" bIns="0" rtlCol="0" anchor="ctr"/>
          <a:lstStyle/>
          <a:p>
            <a:pPr indent="0" marL="0">
              <a:buNone/>
            </a:pPr>
            <a:r>
              <a:rPr lang="en-US" sz="1000" dirty="0">
                <a:solidFill>
                  <a:schemeClr val="accent3"/>
                </a:solidFill>
                <a:latin typeface="Calibri" pitchFamily="34" charset="0"/>
                <a:ea typeface="Calibri" pitchFamily="34" charset="-122"/>
                <a:cs typeface="Calibri" pitchFamily="34" charset="-120"/>
              </a:rPr>
              <a:t>CET Major Project  |  Zeroth Review  |  SRMIST</a:t>
            </a:r>
            <a:endParaRPr lang="en-US" sz="10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3.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731520" y="1325880"/>
            <a:ext cx="6949440" cy="365760"/>
          </a:xfrm>
          <a:prstGeom prst="rect">
            <a:avLst/>
          </a:prstGeom>
          <a:noFill/>
          <a:ln/>
        </p:spPr>
        <p:txBody>
          <a:bodyPr wrap="square" lIns="0" tIns="0" rIns="0" bIns="0" rtlCol="0" anchor="t"/>
          <a:lstStyle/>
          <a:p>
            <a:pPr indent="0" marL="0">
              <a:buNone/>
            </a:pPr>
            <a:r>
              <a:rPr lang="en-US" sz="1400" b="1" spc="300" kern="0" dirty="0">
                <a:solidFill>
                  <a:srgbClr val="F4A261"/>
                </a:solidFill>
                <a:latin typeface="Calibri" pitchFamily="34" charset="0"/>
                <a:ea typeface="Calibri" pitchFamily="34" charset="-122"/>
                <a:cs typeface="Calibri" pitchFamily="34" charset="-120"/>
              </a:rPr>
              <a:t>MAJOR PROJECT 2026-27  |  ZEROTH REVIEW</a:t>
            </a:r>
            <a:endParaRPr lang="en-US" sz="1400" dirty="0"/>
          </a:p>
        </p:txBody>
      </p:sp>
      <p:sp>
        <p:nvSpPr>
          <p:cNvPr id="3" name="Text 0"/>
          <p:cNvSpPr/>
          <p:nvPr>
            <p:ph idx="100" type="title" hasCustomPrompt="1"/>
          </p:nvPr>
        </p:nvSpPr>
        <p:spPr>
          <a:xfrm>
            <a:off x="731520" y="2011680"/>
            <a:ext cx="6949440" cy="1005840"/>
          </a:xfrm>
          <a:prstGeom prst="rect">
            <a:avLst/>
          </a:prstGeom>
          <a:noFill/>
          <a:ln/>
        </p:spPr>
        <p:txBody>
          <a:bodyPr wrap="square" lIns="0" tIns="0" rIns="0" bIns="0" rtlCol="0" anchor="t"/>
          <a:lstStyle/>
          <a:p>
            <a:pPr algn="l" indent="0" marL="0">
              <a:buNone/>
            </a:pPr>
            <a:r>
              <a:rPr lang="en-US" sz="5400" b="1" dirty="0">
                <a:solidFill>
                  <a:schemeClr val="bg1"/>
                </a:solidFill>
                <a:latin typeface="Cambria" pitchFamily="34" charset="0"/>
                <a:ea typeface="Cambria" pitchFamily="34" charset="-122"/>
                <a:cs typeface="Cambria" pitchFamily="34" charset="-120"/>
              </a:rPr>
              <a:t>Beyond CET-ViT</a:t>
            </a:r>
            <a:endParaRPr lang="en-US" sz="5400" dirty="0"/>
          </a:p>
        </p:txBody>
      </p:sp>
      <p:sp>
        <p:nvSpPr>
          <p:cNvPr id="4" name="Text 0"/>
          <p:cNvSpPr/>
          <p:nvPr>
            <p:ph idx="101" type="body" hasCustomPrompt="1"/>
          </p:nvPr>
        </p:nvSpPr>
        <p:spPr>
          <a:xfrm>
            <a:off x="731520" y="3063240"/>
            <a:ext cx="6583680" cy="1188720"/>
          </a:xfrm>
          <a:prstGeom prst="rect">
            <a:avLst/>
          </a:prstGeom>
          <a:noFill/>
          <a:ln/>
        </p:spPr>
        <p:txBody>
          <a:bodyPr wrap="square" lIns="0" tIns="0" rIns="0" bIns="0" rtlCol="0" anchor="t"/>
          <a:lstStyle/>
          <a:p>
            <a:pPr algn="l" indent="0" marL="0">
              <a:buNone/>
            </a:pPr>
            <a:r>
              <a:rPr lang="en-US" sz="2400" dirty="0">
                <a:solidFill>
                  <a:schemeClr val="bg2"/>
                </a:solidFill>
                <a:latin typeface="Calibri" pitchFamily="34" charset="0"/>
                <a:ea typeface="Calibri" pitchFamily="34" charset="-122"/>
                <a:cs typeface="Calibri" pitchFamily="34" charset="-120"/>
              </a:rPr>
              <a:t>A capacity-controlled study of learned token grouping in vision transformers</a:t>
            </a:r>
            <a:endParaRPr lang="en-US" sz="2400" dirty="0"/>
          </a:p>
        </p:txBody>
      </p:sp>
      <p:sp>
        <p:nvSpPr>
          <p:cNvPr id="5" name="Team block"/>
          <p:cNvSpPr txBox="1"/>
          <p:nvPr/>
        </p:nvSpPr>
        <p:spPr>
          <a:xfrm>
            <a:off x="731520" y="4572000"/>
            <a:ext cx="7132320" cy="1463040"/>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Dhruv Jyoti Das  |  Raghav Sharma</a:t>
            </a:r>
            <a:endParaRPr lang="en-US" sz="1400" dirty="0"/>
          </a:p>
          <a:p>
            <a:pPr indent="0" marL="0">
              <a:buNone/>
            </a:pPr>
            <a:r>
              <a:rPr lang="en-US" sz="1600" dirty="0">
                <a:solidFill>
                  <a:srgbClr val="CADCE4"/>
                </a:solidFill>
                <a:latin typeface="Calibri" pitchFamily="34" charset="0"/>
                <a:ea typeface="Calibri" pitchFamily="34" charset="-122"/>
                <a:cs typeface="Calibri" pitchFamily="34" charset="-120"/>
              </a:rPr>
              <a:t>Guide: Dr. Eliazer M, Associate Professor</a:t>
            </a:r>
            <a:endParaRPr lang="en-US" sz="1400" dirty="0"/>
          </a:p>
          <a:p>
            <a:pPr indent="0" marL="0">
              <a:buNone/>
            </a:pPr>
            <a:r>
              <a:rPr lang="en-US" sz="1400" dirty="0">
                <a:solidFill>
                  <a:srgbClr val="CADCE4"/>
                </a:solidFill>
                <a:latin typeface="Calibri" pitchFamily="34" charset="0"/>
                <a:ea typeface="Calibri" pitchFamily="34" charset="-122"/>
                <a:cs typeface="Calibri" pitchFamily="34" charset="-120"/>
              </a:rPr>
              <a:t>Department of Computing Technologies, School of Computing</a:t>
            </a:r>
            <a:endParaRPr lang="en-US" sz="1400" dirty="0"/>
          </a:p>
          <a:p>
            <a:pPr indent="0" marL="0">
              <a:buNone/>
            </a:pPr>
            <a:r>
              <a:rPr lang="en-US" sz="1400" dirty="0">
                <a:solidFill>
                  <a:srgbClr val="CADCE4"/>
                </a:solidFill>
                <a:latin typeface="Calibri" pitchFamily="34" charset="0"/>
                <a:ea typeface="Calibri" pitchFamily="34" charset="-122"/>
                <a:cs typeface="Calibri" pitchFamily="34" charset="-120"/>
              </a:rPr>
              <a:t>21CSP401L Major Project  |  Research-oriented  |  Extension of minor project</a:t>
            </a:r>
            <a:endParaRPr lang="en-US" sz="1400" dirty="0"/>
          </a:p>
        </p:txBody>
      </p:sp>
      <p:sp>
        <p:nvSpPr>
          <p:cNvPr id="6" name="token 0-0"/>
          <p:cNvSpPr/>
          <p:nvPr/>
        </p:nvSpPr>
        <p:spPr>
          <a:xfrm>
            <a:off x="8183880" y="1417320"/>
            <a:ext cx="182880" cy="182880"/>
          </a:xfrm>
          <a:prstGeom prst="ellipse">
            <a:avLst/>
          </a:prstGeom>
          <a:solidFill>
            <a:srgbClr val="1B7F8C">
              <a:alpha val="55000"/>
            </a:srgbClr>
          </a:solidFill>
          <a:ln/>
        </p:spPr>
      </p:sp>
      <p:sp>
        <p:nvSpPr>
          <p:cNvPr id="7" name="token 1-0"/>
          <p:cNvSpPr/>
          <p:nvPr/>
        </p:nvSpPr>
        <p:spPr>
          <a:xfrm>
            <a:off x="8494776" y="1417320"/>
            <a:ext cx="182880" cy="182880"/>
          </a:xfrm>
          <a:prstGeom prst="ellipse">
            <a:avLst/>
          </a:prstGeom>
          <a:solidFill>
            <a:srgbClr val="1B7F8C">
              <a:alpha val="55000"/>
            </a:srgbClr>
          </a:solidFill>
          <a:ln/>
        </p:spPr>
      </p:sp>
      <p:sp>
        <p:nvSpPr>
          <p:cNvPr id="8" name="token 2-0"/>
          <p:cNvSpPr/>
          <p:nvPr/>
        </p:nvSpPr>
        <p:spPr>
          <a:xfrm>
            <a:off x="8805672" y="1417320"/>
            <a:ext cx="182880" cy="182880"/>
          </a:xfrm>
          <a:prstGeom prst="ellipse">
            <a:avLst/>
          </a:prstGeom>
          <a:solidFill>
            <a:srgbClr val="1B7F8C">
              <a:alpha val="55000"/>
            </a:srgbClr>
          </a:solidFill>
          <a:ln/>
        </p:spPr>
      </p:sp>
      <p:sp>
        <p:nvSpPr>
          <p:cNvPr id="9" name="token 3-0"/>
          <p:cNvSpPr/>
          <p:nvPr/>
        </p:nvSpPr>
        <p:spPr>
          <a:xfrm>
            <a:off x="9116568" y="1417320"/>
            <a:ext cx="182880" cy="182880"/>
          </a:xfrm>
          <a:prstGeom prst="ellipse">
            <a:avLst/>
          </a:prstGeom>
          <a:solidFill>
            <a:srgbClr val="1B7F8C">
              <a:alpha val="55000"/>
            </a:srgbClr>
          </a:solidFill>
          <a:ln/>
        </p:spPr>
      </p:sp>
      <p:sp>
        <p:nvSpPr>
          <p:cNvPr id="10" name="token 4-0"/>
          <p:cNvSpPr/>
          <p:nvPr/>
        </p:nvSpPr>
        <p:spPr>
          <a:xfrm>
            <a:off x="9427464" y="1417320"/>
            <a:ext cx="182880" cy="182880"/>
          </a:xfrm>
          <a:prstGeom prst="ellipse">
            <a:avLst/>
          </a:prstGeom>
          <a:solidFill>
            <a:srgbClr val="1B7F8C">
              <a:alpha val="55000"/>
            </a:srgbClr>
          </a:solidFill>
          <a:ln/>
        </p:spPr>
      </p:sp>
      <p:sp>
        <p:nvSpPr>
          <p:cNvPr id="11" name="token 5-0"/>
          <p:cNvSpPr/>
          <p:nvPr/>
        </p:nvSpPr>
        <p:spPr>
          <a:xfrm>
            <a:off x="9738360" y="1417320"/>
            <a:ext cx="182880" cy="182880"/>
          </a:xfrm>
          <a:prstGeom prst="ellipse">
            <a:avLst/>
          </a:prstGeom>
          <a:solidFill>
            <a:srgbClr val="1B7F8C">
              <a:alpha val="55000"/>
            </a:srgbClr>
          </a:solidFill>
          <a:ln/>
        </p:spPr>
      </p:sp>
      <p:sp>
        <p:nvSpPr>
          <p:cNvPr id="12" name="token 6-0"/>
          <p:cNvSpPr/>
          <p:nvPr/>
        </p:nvSpPr>
        <p:spPr>
          <a:xfrm>
            <a:off x="10049256" y="1417320"/>
            <a:ext cx="182880" cy="182880"/>
          </a:xfrm>
          <a:prstGeom prst="ellipse">
            <a:avLst/>
          </a:prstGeom>
          <a:solidFill>
            <a:srgbClr val="1B7F8C">
              <a:alpha val="55000"/>
            </a:srgbClr>
          </a:solidFill>
          <a:ln/>
        </p:spPr>
      </p:sp>
      <p:sp>
        <p:nvSpPr>
          <p:cNvPr id="13" name="token 7-0"/>
          <p:cNvSpPr/>
          <p:nvPr/>
        </p:nvSpPr>
        <p:spPr>
          <a:xfrm>
            <a:off x="10360152" y="1417320"/>
            <a:ext cx="182880" cy="182880"/>
          </a:xfrm>
          <a:prstGeom prst="ellipse">
            <a:avLst/>
          </a:prstGeom>
          <a:solidFill>
            <a:srgbClr val="1B7F8C">
              <a:alpha val="55000"/>
            </a:srgbClr>
          </a:solidFill>
          <a:ln/>
        </p:spPr>
      </p:sp>
      <p:sp>
        <p:nvSpPr>
          <p:cNvPr id="14" name="token 8-0"/>
          <p:cNvSpPr/>
          <p:nvPr/>
        </p:nvSpPr>
        <p:spPr>
          <a:xfrm>
            <a:off x="10671048" y="1417320"/>
            <a:ext cx="182880" cy="182880"/>
          </a:xfrm>
          <a:prstGeom prst="ellipse">
            <a:avLst/>
          </a:prstGeom>
          <a:solidFill>
            <a:srgbClr val="1B7F8C">
              <a:alpha val="55000"/>
            </a:srgbClr>
          </a:solidFill>
          <a:ln/>
        </p:spPr>
      </p:sp>
      <p:sp>
        <p:nvSpPr>
          <p:cNvPr id="15" name="token 9-0"/>
          <p:cNvSpPr/>
          <p:nvPr/>
        </p:nvSpPr>
        <p:spPr>
          <a:xfrm>
            <a:off x="10981944" y="1417320"/>
            <a:ext cx="182880" cy="182880"/>
          </a:xfrm>
          <a:prstGeom prst="ellipse">
            <a:avLst/>
          </a:prstGeom>
          <a:solidFill>
            <a:srgbClr val="1B7F8C">
              <a:alpha val="55000"/>
            </a:srgbClr>
          </a:solidFill>
          <a:ln/>
        </p:spPr>
      </p:sp>
      <p:sp>
        <p:nvSpPr>
          <p:cNvPr id="16" name="token 10-0"/>
          <p:cNvSpPr/>
          <p:nvPr/>
        </p:nvSpPr>
        <p:spPr>
          <a:xfrm>
            <a:off x="11292840" y="1417320"/>
            <a:ext cx="182880" cy="182880"/>
          </a:xfrm>
          <a:prstGeom prst="ellipse">
            <a:avLst/>
          </a:prstGeom>
          <a:solidFill>
            <a:srgbClr val="1B7F8C">
              <a:alpha val="55000"/>
            </a:srgbClr>
          </a:solidFill>
          <a:ln/>
        </p:spPr>
      </p:sp>
      <p:sp>
        <p:nvSpPr>
          <p:cNvPr id="17" name="token 11-0"/>
          <p:cNvSpPr/>
          <p:nvPr/>
        </p:nvSpPr>
        <p:spPr>
          <a:xfrm>
            <a:off x="11603736" y="1417320"/>
            <a:ext cx="182880" cy="182880"/>
          </a:xfrm>
          <a:prstGeom prst="ellipse">
            <a:avLst/>
          </a:prstGeom>
          <a:solidFill>
            <a:srgbClr val="1B7F8C">
              <a:alpha val="55000"/>
            </a:srgbClr>
          </a:solidFill>
          <a:ln/>
        </p:spPr>
      </p:sp>
      <p:sp>
        <p:nvSpPr>
          <p:cNvPr id="18" name="token 0-1"/>
          <p:cNvSpPr/>
          <p:nvPr/>
        </p:nvSpPr>
        <p:spPr>
          <a:xfrm>
            <a:off x="8183880" y="1728216"/>
            <a:ext cx="182880" cy="182880"/>
          </a:xfrm>
          <a:prstGeom prst="ellipse">
            <a:avLst/>
          </a:prstGeom>
          <a:solidFill>
            <a:srgbClr val="1B7F8C">
              <a:alpha val="55000"/>
            </a:srgbClr>
          </a:solidFill>
          <a:ln/>
        </p:spPr>
      </p:sp>
      <p:sp>
        <p:nvSpPr>
          <p:cNvPr id="19" name="token 1-1"/>
          <p:cNvSpPr/>
          <p:nvPr/>
        </p:nvSpPr>
        <p:spPr>
          <a:xfrm>
            <a:off x="8494776" y="1728216"/>
            <a:ext cx="182880" cy="182880"/>
          </a:xfrm>
          <a:prstGeom prst="ellipse">
            <a:avLst/>
          </a:prstGeom>
          <a:solidFill>
            <a:srgbClr val="1B7F8C">
              <a:alpha val="55000"/>
            </a:srgbClr>
          </a:solidFill>
          <a:ln/>
        </p:spPr>
      </p:sp>
      <p:sp>
        <p:nvSpPr>
          <p:cNvPr id="20" name="token 2-1"/>
          <p:cNvSpPr/>
          <p:nvPr/>
        </p:nvSpPr>
        <p:spPr>
          <a:xfrm>
            <a:off x="8805672" y="1728216"/>
            <a:ext cx="182880" cy="182880"/>
          </a:xfrm>
          <a:prstGeom prst="ellipse">
            <a:avLst/>
          </a:prstGeom>
          <a:solidFill>
            <a:srgbClr val="1B7F8C">
              <a:alpha val="55000"/>
            </a:srgbClr>
          </a:solidFill>
          <a:ln/>
        </p:spPr>
      </p:sp>
      <p:sp>
        <p:nvSpPr>
          <p:cNvPr id="21" name="token 3-1"/>
          <p:cNvSpPr/>
          <p:nvPr/>
        </p:nvSpPr>
        <p:spPr>
          <a:xfrm>
            <a:off x="9116568" y="1728216"/>
            <a:ext cx="182880" cy="182880"/>
          </a:xfrm>
          <a:prstGeom prst="ellipse">
            <a:avLst/>
          </a:prstGeom>
          <a:solidFill>
            <a:srgbClr val="1B7F8C">
              <a:alpha val="55000"/>
            </a:srgbClr>
          </a:solidFill>
          <a:ln/>
        </p:spPr>
      </p:sp>
      <p:sp>
        <p:nvSpPr>
          <p:cNvPr id="22" name="token 4-1"/>
          <p:cNvSpPr/>
          <p:nvPr/>
        </p:nvSpPr>
        <p:spPr>
          <a:xfrm>
            <a:off x="9427464" y="1728216"/>
            <a:ext cx="182880" cy="182880"/>
          </a:xfrm>
          <a:prstGeom prst="ellipse">
            <a:avLst/>
          </a:prstGeom>
          <a:solidFill>
            <a:srgbClr val="1B7F8C">
              <a:alpha val="55000"/>
            </a:srgbClr>
          </a:solidFill>
          <a:ln/>
        </p:spPr>
      </p:sp>
      <p:sp>
        <p:nvSpPr>
          <p:cNvPr id="23" name="token 5-1"/>
          <p:cNvSpPr/>
          <p:nvPr/>
        </p:nvSpPr>
        <p:spPr>
          <a:xfrm>
            <a:off x="9738360" y="1728216"/>
            <a:ext cx="182880" cy="182880"/>
          </a:xfrm>
          <a:prstGeom prst="ellipse">
            <a:avLst/>
          </a:prstGeom>
          <a:solidFill>
            <a:srgbClr val="1B7F8C">
              <a:alpha val="55000"/>
            </a:srgbClr>
          </a:solidFill>
          <a:ln/>
        </p:spPr>
      </p:sp>
      <p:sp>
        <p:nvSpPr>
          <p:cNvPr id="24" name="token 6-1"/>
          <p:cNvSpPr/>
          <p:nvPr/>
        </p:nvSpPr>
        <p:spPr>
          <a:xfrm>
            <a:off x="10049256" y="1728216"/>
            <a:ext cx="182880" cy="182880"/>
          </a:xfrm>
          <a:prstGeom prst="ellipse">
            <a:avLst/>
          </a:prstGeom>
          <a:solidFill>
            <a:srgbClr val="1B7F8C">
              <a:alpha val="55000"/>
            </a:srgbClr>
          </a:solidFill>
          <a:ln/>
        </p:spPr>
      </p:sp>
      <p:sp>
        <p:nvSpPr>
          <p:cNvPr id="25" name="token 7-1"/>
          <p:cNvSpPr/>
          <p:nvPr/>
        </p:nvSpPr>
        <p:spPr>
          <a:xfrm>
            <a:off x="10360152" y="1728216"/>
            <a:ext cx="182880" cy="182880"/>
          </a:xfrm>
          <a:prstGeom prst="ellipse">
            <a:avLst/>
          </a:prstGeom>
          <a:solidFill>
            <a:srgbClr val="1B7F8C">
              <a:alpha val="55000"/>
            </a:srgbClr>
          </a:solidFill>
          <a:ln/>
        </p:spPr>
      </p:sp>
      <p:sp>
        <p:nvSpPr>
          <p:cNvPr id="26" name="token 8-1"/>
          <p:cNvSpPr/>
          <p:nvPr/>
        </p:nvSpPr>
        <p:spPr>
          <a:xfrm>
            <a:off x="10671048" y="1728216"/>
            <a:ext cx="182880" cy="182880"/>
          </a:xfrm>
          <a:prstGeom prst="ellipse">
            <a:avLst/>
          </a:prstGeom>
          <a:solidFill>
            <a:srgbClr val="1B7F8C">
              <a:alpha val="55000"/>
            </a:srgbClr>
          </a:solidFill>
          <a:ln/>
        </p:spPr>
      </p:sp>
      <p:sp>
        <p:nvSpPr>
          <p:cNvPr id="27" name="token 9-1"/>
          <p:cNvSpPr/>
          <p:nvPr/>
        </p:nvSpPr>
        <p:spPr>
          <a:xfrm>
            <a:off x="10981944" y="1728216"/>
            <a:ext cx="182880" cy="182880"/>
          </a:xfrm>
          <a:prstGeom prst="ellipse">
            <a:avLst/>
          </a:prstGeom>
          <a:solidFill>
            <a:srgbClr val="F4A261"/>
          </a:solidFill>
          <a:ln/>
        </p:spPr>
      </p:sp>
      <p:sp>
        <p:nvSpPr>
          <p:cNvPr id="28" name="token 10-1"/>
          <p:cNvSpPr/>
          <p:nvPr/>
        </p:nvSpPr>
        <p:spPr>
          <a:xfrm>
            <a:off x="11292840" y="1728216"/>
            <a:ext cx="182880" cy="182880"/>
          </a:xfrm>
          <a:prstGeom prst="ellipse">
            <a:avLst/>
          </a:prstGeom>
          <a:solidFill>
            <a:srgbClr val="F4A261"/>
          </a:solidFill>
          <a:ln/>
        </p:spPr>
      </p:sp>
      <p:sp>
        <p:nvSpPr>
          <p:cNvPr id="29" name="token 11-1"/>
          <p:cNvSpPr/>
          <p:nvPr/>
        </p:nvSpPr>
        <p:spPr>
          <a:xfrm>
            <a:off x="11603736" y="1728216"/>
            <a:ext cx="182880" cy="182880"/>
          </a:xfrm>
          <a:prstGeom prst="ellipse">
            <a:avLst/>
          </a:prstGeom>
          <a:solidFill>
            <a:srgbClr val="1B7F8C">
              <a:alpha val="55000"/>
            </a:srgbClr>
          </a:solidFill>
          <a:ln/>
        </p:spPr>
      </p:sp>
      <p:sp>
        <p:nvSpPr>
          <p:cNvPr id="30" name="token 0-2"/>
          <p:cNvSpPr/>
          <p:nvPr/>
        </p:nvSpPr>
        <p:spPr>
          <a:xfrm>
            <a:off x="8183880" y="2039112"/>
            <a:ext cx="182880" cy="182880"/>
          </a:xfrm>
          <a:prstGeom prst="ellipse">
            <a:avLst/>
          </a:prstGeom>
          <a:solidFill>
            <a:srgbClr val="1B7F8C">
              <a:alpha val="55000"/>
            </a:srgbClr>
          </a:solidFill>
          <a:ln/>
        </p:spPr>
      </p:sp>
      <p:sp>
        <p:nvSpPr>
          <p:cNvPr id="31" name="token 1-2"/>
          <p:cNvSpPr/>
          <p:nvPr/>
        </p:nvSpPr>
        <p:spPr>
          <a:xfrm>
            <a:off x="8494776" y="2039112"/>
            <a:ext cx="182880" cy="182880"/>
          </a:xfrm>
          <a:prstGeom prst="ellipse">
            <a:avLst/>
          </a:prstGeom>
          <a:solidFill>
            <a:srgbClr val="1B7F8C">
              <a:alpha val="55000"/>
            </a:srgbClr>
          </a:solidFill>
          <a:ln/>
        </p:spPr>
      </p:sp>
      <p:sp>
        <p:nvSpPr>
          <p:cNvPr id="32" name="token 2-2"/>
          <p:cNvSpPr/>
          <p:nvPr/>
        </p:nvSpPr>
        <p:spPr>
          <a:xfrm>
            <a:off x="8805672" y="2039112"/>
            <a:ext cx="182880" cy="182880"/>
          </a:xfrm>
          <a:prstGeom prst="ellipse">
            <a:avLst/>
          </a:prstGeom>
          <a:solidFill>
            <a:srgbClr val="1B7F8C">
              <a:alpha val="55000"/>
            </a:srgbClr>
          </a:solidFill>
          <a:ln/>
        </p:spPr>
      </p:sp>
      <p:sp>
        <p:nvSpPr>
          <p:cNvPr id="33" name="token 3-2"/>
          <p:cNvSpPr/>
          <p:nvPr/>
        </p:nvSpPr>
        <p:spPr>
          <a:xfrm>
            <a:off x="9116568" y="2039112"/>
            <a:ext cx="182880" cy="182880"/>
          </a:xfrm>
          <a:prstGeom prst="ellipse">
            <a:avLst/>
          </a:prstGeom>
          <a:solidFill>
            <a:srgbClr val="F4A261"/>
          </a:solidFill>
          <a:ln/>
        </p:spPr>
      </p:sp>
      <p:sp>
        <p:nvSpPr>
          <p:cNvPr id="34" name="token 4-2"/>
          <p:cNvSpPr/>
          <p:nvPr/>
        </p:nvSpPr>
        <p:spPr>
          <a:xfrm>
            <a:off x="9427464" y="2039112"/>
            <a:ext cx="182880" cy="182880"/>
          </a:xfrm>
          <a:prstGeom prst="ellipse">
            <a:avLst/>
          </a:prstGeom>
          <a:solidFill>
            <a:srgbClr val="F4A261"/>
          </a:solidFill>
          <a:ln/>
        </p:spPr>
      </p:sp>
      <p:sp>
        <p:nvSpPr>
          <p:cNvPr id="35" name="token 5-2"/>
          <p:cNvSpPr/>
          <p:nvPr/>
        </p:nvSpPr>
        <p:spPr>
          <a:xfrm>
            <a:off x="9738360" y="2039112"/>
            <a:ext cx="182880" cy="182880"/>
          </a:xfrm>
          <a:prstGeom prst="ellipse">
            <a:avLst/>
          </a:prstGeom>
          <a:solidFill>
            <a:srgbClr val="1B7F8C">
              <a:alpha val="55000"/>
            </a:srgbClr>
          </a:solidFill>
          <a:ln/>
        </p:spPr>
      </p:sp>
      <p:sp>
        <p:nvSpPr>
          <p:cNvPr id="36" name="token 6-2"/>
          <p:cNvSpPr/>
          <p:nvPr/>
        </p:nvSpPr>
        <p:spPr>
          <a:xfrm>
            <a:off x="10049256" y="2039112"/>
            <a:ext cx="182880" cy="182880"/>
          </a:xfrm>
          <a:prstGeom prst="ellipse">
            <a:avLst/>
          </a:prstGeom>
          <a:solidFill>
            <a:srgbClr val="1B7F8C">
              <a:alpha val="55000"/>
            </a:srgbClr>
          </a:solidFill>
          <a:ln/>
        </p:spPr>
      </p:sp>
      <p:sp>
        <p:nvSpPr>
          <p:cNvPr id="37" name="token 7-2"/>
          <p:cNvSpPr/>
          <p:nvPr/>
        </p:nvSpPr>
        <p:spPr>
          <a:xfrm>
            <a:off x="10360152" y="2039112"/>
            <a:ext cx="182880" cy="182880"/>
          </a:xfrm>
          <a:prstGeom prst="ellipse">
            <a:avLst/>
          </a:prstGeom>
          <a:solidFill>
            <a:srgbClr val="1B7F8C">
              <a:alpha val="55000"/>
            </a:srgbClr>
          </a:solidFill>
          <a:ln/>
        </p:spPr>
      </p:sp>
      <p:sp>
        <p:nvSpPr>
          <p:cNvPr id="38" name="token 8-2"/>
          <p:cNvSpPr/>
          <p:nvPr/>
        </p:nvSpPr>
        <p:spPr>
          <a:xfrm>
            <a:off x="10671048" y="2039112"/>
            <a:ext cx="182880" cy="182880"/>
          </a:xfrm>
          <a:prstGeom prst="ellipse">
            <a:avLst/>
          </a:prstGeom>
          <a:solidFill>
            <a:srgbClr val="1B7F8C">
              <a:alpha val="55000"/>
            </a:srgbClr>
          </a:solidFill>
          <a:ln/>
        </p:spPr>
      </p:sp>
      <p:sp>
        <p:nvSpPr>
          <p:cNvPr id="39" name="token 9-2"/>
          <p:cNvSpPr/>
          <p:nvPr/>
        </p:nvSpPr>
        <p:spPr>
          <a:xfrm>
            <a:off x="10981944" y="2039112"/>
            <a:ext cx="182880" cy="182880"/>
          </a:xfrm>
          <a:prstGeom prst="ellipse">
            <a:avLst/>
          </a:prstGeom>
          <a:solidFill>
            <a:srgbClr val="1B7F8C">
              <a:alpha val="55000"/>
            </a:srgbClr>
          </a:solidFill>
          <a:ln/>
        </p:spPr>
      </p:sp>
      <p:sp>
        <p:nvSpPr>
          <p:cNvPr id="40" name="token 10-2"/>
          <p:cNvSpPr/>
          <p:nvPr/>
        </p:nvSpPr>
        <p:spPr>
          <a:xfrm>
            <a:off x="11292840" y="2039112"/>
            <a:ext cx="182880" cy="182880"/>
          </a:xfrm>
          <a:prstGeom prst="ellipse">
            <a:avLst/>
          </a:prstGeom>
          <a:solidFill>
            <a:srgbClr val="F4A261"/>
          </a:solidFill>
          <a:ln/>
        </p:spPr>
      </p:sp>
      <p:sp>
        <p:nvSpPr>
          <p:cNvPr id="41" name="token 11-2"/>
          <p:cNvSpPr/>
          <p:nvPr/>
        </p:nvSpPr>
        <p:spPr>
          <a:xfrm>
            <a:off x="11603736" y="2039112"/>
            <a:ext cx="182880" cy="182880"/>
          </a:xfrm>
          <a:prstGeom prst="ellipse">
            <a:avLst/>
          </a:prstGeom>
          <a:solidFill>
            <a:srgbClr val="1B7F8C">
              <a:alpha val="55000"/>
            </a:srgbClr>
          </a:solidFill>
          <a:ln/>
        </p:spPr>
      </p:sp>
      <p:sp>
        <p:nvSpPr>
          <p:cNvPr id="42" name="token 0-3"/>
          <p:cNvSpPr/>
          <p:nvPr/>
        </p:nvSpPr>
        <p:spPr>
          <a:xfrm>
            <a:off x="8183880" y="2350008"/>
            <a:ext cx="182880" cy="182880"/>
          </a:xfrm>
          <a:prstGeom prst="ellipse">
            <a:avLst/>
          </a:prstGeom>
          <a:solidFill>
            <a:srgbClr val="1B7F8C">
              <a:alpha val="55000"/>
            </a:srgbClr>
          </a:solidFill>
          <a:ln/>
        </p:spPr>
      </p:sp>
      <p:sp>
        <p:nvSpPr>
          <p:cNvPr id="43" name="token 1-3"/>
          <p:cNvSpPr/>
          <p:nvPr/>
        </p:nvSpPr>
        <p:spPr>
          <a:xfrm>
            <a:off x="8494776" y="2350008"/>
            <a:ext cx="182880" cy="182880"/>
          </a:xfrm>
          <a:prstGeom prst="ellipse">
            <a:avLst/>
          </a:prstGeom>
          <a:solidFill>
            <a:srgbClr val="1B7F8C">
              <a:alpha val="55000"/>
            </a:srgbClr>
          </a:solidFill>
          <a:ln/>
        </p:spPr>
      </p:sp>
      <p:sp>
        <p:nvSpPr>
          <p:cNvPr id="44" name="token 2-3"/>
          <p:cNvSpPr/>
          <p:nvPr/>
        </p:nvSpPr>
        <p:spPr>
          <a:xfrm>
            <a:off x="8805672" y="2350008"/>
            <a:ext cx="182880" cy="182880"/>
          </a:xfrm>
          <a:prstGeom prst="ellipse">
            <a:avLst/>
          </a:prstGeom>
          <a:solidFill>
            <a:srgbClr val="1B7F8C">
              <a:alpha val="55000"/>
            </a:srgbClr>
          </a:solidFill>
          <a:ln/>
        </p:spPr>
      </p:sp>
      <p:sp>
        <p:nvSpPr>
          <p:cNvPr id="45" name="token 3-3"/>
          <p:cNvSpPr/>
          <p:nvPr/>
        </p:nvSpPr>
        <p:spPr>
          <a:xfrm>
            <a:off x="9116568" y="2350008"/>
            <a:ext cx="182880" cy="182880"/>
          </a:xfrm>
          <a:prstGeom prst="ellipse">
            <a:avLst/>
          </a:prstGeom>
          <a:solidFill>
            <a:srgbClr val="F4A261"/>
          </a:solidFill>
          <a:ln/>
        </p:spPr>
      </p:sp>
      <p:sp>
        <p:nvSpPr>
          <p:cNvPr id="46" name="token 4-3"/>
          <p:cNvSpPr/>
          <p:nvPr/>
        </p:nvSpPr>
        <p:spPr>
          <a:xfrm>
            <a:off x="9427464" y="2350008"/>
            <a:ext cx="182880" cy="182880"/>
          </a:xfrm>
          <a:prstGeom prst="ellipse">
            <a:avLst/>
          </a:prstGeom>
          <a:solidFill>
            <a:srgbClr val="F4A261"/>
          </a:solidFill>
          <a:ln/>
        </p:spPr>
      </p:sp>
      <p:sp>
        <p:nvSpPr>
          <p:cNvPr id="47" name="token 5-3"/>
          <p:cNvSpPr/>
          <p:nvPr/>
        </p:nvSpPr>
        <p:spPr>
          <a:xfrm>
            <a:off x="9738360" y="2350008"/>
            <a:ext cx="182880" cy="182880"/>
          </a:xfrm>
          <a:prstGeom prst="ellipse">
            <a:avLst/>
          </a:prstGeom>
          <a:solidFill>
            <a:srgbClr val="F4A261"/>
          </a:solidFill>
          <a:ln/>
        </p:spPr>
      </p:sp>
      <p:sp>
        <p:nvSpPr>
          <p:cNvPr id="48" name="token 6-3"/>
          <p:cNvSpPr/>
          <p:nvPr/>
        </p:nvSpPr>
        <p:spPr>
          <a:xfrm>
            <a:off x="10049256" y="2350008"/>
            <a:ext cx="182880" cy="182880"/>
          </a:xfrm>
          <a:prstGeom prst="ellipse">
            <a:avLst/>
          </a:prstGeom>
          <a:solidFill>
            <a:srgbClr val="1B7F8C">
              <a:alpha val="55000"/>
            </a:srgbClr>
          </a:solidFill>
          <a:ln/>
        </p:spPr>
      </p:sp>
      <p:sp>
        <p:nvSpPr>
          <p:cNvPr id="49" name="token 7-3"/>
          <p:cNvSpPr/>
          <p:nvPr/>
        </p:nvSpPr>
        <p:spPr>
          <a:xfrm>
            <a:off x="10360152" y="2350008"/>
            <a:ext cx="182880" cy="182880"/>
          </a:xfrm>
          <a:prstGeom prst="ellipse">
            <a:avLst/>
          </a:prstGeom>
          <a:solidFill>
            <a:srgbClr val="1B7F8C">
              <a:alpha val="55000"/>
            </a:srgbClr>
          </a:solidFill>
          <a:ln/>
        </p:spPr>
      </p:sp>
      <p:sp>
        <p:nvSpPr>
          <p:cNvPr id="50" name="token 8-3"/>
          <p:cNvSpPr/>
          <p:nvPr/>
        </p:nvSpPr>
        <p:spPr>
          <a:xfrm>
            <a:off x="10671048" y="2350008"/>
            <a:ext cx="182880" cy="182880"/>
          </a:xfrm>
          <a:prstGeom prst="ellipse">
            <a:avLst/>
          </a:prstGeom>
          <a:solidFill>
            <a:srgbClr val="1B7F8C">
              <a:alpha val="55000"/>
            </a:srgbClr>
          </a:solidFill>
          <a:ln/>
        </p:spPr>
      </p:sp>
      <p:sp>
        <p:nvSpPr>
          <p:cNvPr id="51" name="token 9-3"/>
          <p:cNvSpPr/>
          <p:nvPr/>
        </p:nvSpPr>
        <p:spPr>
          <a:xfrm>
            <a:off x="10981944" y="2350008"/>
            <a:ext cx="182880" cy="182880"/>
          </a:xfrm>
          <a:prstGeom prst="ellipse">
            <a:avLst/>
          </a:prstGeom>
          <a:solidFill>
            <a:srgbClr val="1B7F8C">
              <a:alpha val="55000"/>
            </a:srgbClr>
          </a:solidFill>
          <a:ln/>
        </p:spPr>
      </p:sp>
      <p:sp>
        <p:nvSpPr>
          <p:cNvPr id="52" name="token 10-3"/>
          <p:cNvSpPr/>
          <p:nvPr/>
        </p:nvSpPr>
        <p:spPr>
          <a:xfrm>
            <a:off x="11292840" y="2350008"/>
            <a:ext cx="182880" cy="182880"/>
          </a:xfrm>
          <a:prstGeom prst="ellipse">
            <a:avLst/>
          </a:prstGeom>
          <a:solidFill>
            <a:srgbClr val="1B7F8C">
              <a:alpha val="55000"/>
            </a:srgbClr>
          </a:solidFill>
          <a:ln/>
        </p:spPr>
      </p:sp>
      <p:sp>
        <p:nvSpPr>
          <p:cNvPr id="53" name="token 11-3"/>
          <p:cNvSpPr/>
          <p:nvPr/>
        </p:nvSpPr>
        <p:spPr>
          <a:xfrm>
            <a:off x="11603736" y="2350008"/>
            <a:ext cx="182880" cy="182880"/>
          </a:xfrm>
          <a:prstGeom prst="ellipse">
            <a:avLst/>
          </a:prstGeom>
          <a:solidFill>
            <a:srgbClr val="1B7F8C">
              <a:alpha val="55000"/>
            </a:srgbClr>
          </a:solidFill>
          <a:ln/>
        </p:spPr>
      </p:sp>
      <p:sp>
        <p:nvSpPr>
          <p:cNvPr id="54" name="token 0-4"/>
          <p:cNvSpPr/>
          <p:nvPr/>
        </p:nvSpPr>
        <p:spPr>
          <a:xfrm>
            <a:off x="8183880" y="2660904"/>
            <a:ext cx="182880" cy="182880"/>
          </a:xfrm>
          <a:prstGeom prst="ellipse">
            <a:avLst/>
          </a:prstGeom>
          <a:solidFill>
            <a:srgbClr val="1B7F8C">
              <a:alpha val="55000"/>
            </a:srgbClr>
          </a:solidFill>
          <a:ln/>
        </p:spPr>
      </p:sp>
      <p:sp>
        <p:nvSpPr>
          <p:cNvPr id="55" name="token 1-4"/>
          <p:cNvSpPr/>
          <p:nvPr/>
        </p:nvSpPr>
        <p:spPr>
          <a:xfrm>
            <a:off x="8494776" y="2660904"/>
            <a:ext cx="182880" cy="182880"/>
          </a:xfrm>
          <a:prstGeom prst="ellipse">
            <a:avLst/>
          </a:prstGeom>
          <a:solidFill>
            <a:srgbClr val="1B7F8C">
              <a:alpha val="55000"/>
            </a:srgbClr>
          </a:solidFill>
          <a:ln/>
        </p:spPr>
      </p:sp>
      <p:sp>
        <p:nvSpPr>
          <p:cNvPr id="56" name="token 2-4"/>
          <p:cNvSpPr/>
          <p:nvPr/>
        </p:nvSpPr>
        <p:spPr>
          <a:xfrm>
            <a:off x="8805672" y="2660904"/>
            <a:ext cx="182880" cy="182880"/>
          </a:xfrm>
          <a:prstGeom prst="ellipse">
            <a:avLst/>
          </a:prstGeom>
          <a:solidFill>
            <a:srgbClr val="1B7F8C">
              <a:alpha val="55000"/>
            </a:srgbClr>
          </a:solidFill>
          <a:ln/>
        </p:spPr>
      </p:sp>
      <p:sp>
        <p:nvSpPr>
          <p:cNvPr id="57" name="token 3-4"/>
          <p:cNvSpPr/>
          <p:nvPr/>
        </p:nvSpPr>
        <p:spPr>
          <a:xfrm>
            <a:off x="9116568" y="2660904"/>
            <a:ext cx="182880" cy="182880"/>
          </a:xfrm>
          <a:prstGeom prst="ellipse">
            <a:avLst/>
          </a:prstGeom>
          <a:solidFill>
            <a:srgbClr val="1B7F8C">
              <a:alpha val="55000"/>
            </a:srgbClr>
          </a:solidFill>
          <a:ln/>
        </p:spPr>
      </p:sp>
      <p:sp>
        <p:nvSpPr>
          <p:cNvPr id="58" name="token 4-4"/>
          <p:cNvSpPr/>
          <p:nvPr/>
        </p:nvSpPr>
        <p:spPr>
          <a:xfrm>
            <a:off x="9427464" y="2660904"/>
            <a:ext cx="182880" cy="182880"/>
          </a:xfrm>
          <a:prstGeom prst="ellipse">
            <a:avLst/>
          </a:prstGeom>
          <a:solidFill>
            <a:srgbClr val="F4A261"/>
          </a:solidFill>
          <a:ln/>
        </p:spPr>
      </p:sp>
      <p:sp>
        <p:nvSpPr>
          <p:cNvPr id="59" name="token 5-4"/>
          <p:cNvSpPr/>
          <p:nvPr/>
        </p:nvSpPr>
        <p:spPr>
          <a:xfrm>
            <a:off x="9738360" y="2660904"/>
            <a:ext cx="182880" cy="182880"/>
          </a:xfrm>
          <a:prstGeom prst="ellipse">
            <a:avLst/>
          </a:prstGeom>
          <a:solidFill>
            <a:srgbClr val="F4A261"/>
          </a:solidFill>
          <a:ln/>
        </p:spPr>
      </p:sp>
      <p:sp>
        <p:nvSpPr>
          <p:cNvPr id="60" name="token 6-4"/>
          <p:cNvSpPr/>
          <p:nvPr/>
        </p:nvSpPr>
        <p:spPr>
          <a:xfrm>
            <a:off x="10049256" y="2660904"/>
            <a:ext cx="182880" cy="182880"/>
          </a:xfrm>
          <a:prstGeom prst="ellipse">
            <a:avLst/>
          </a:prstGeom>
          <a:solidFill>
            <a:srgbClr val="1B7F8C">
              <a:alpha val="55000"/>
            </a:srgbClr>
          </a:solidFill>
          <a:ln/>
        </p:spPr>
      </p:sp>
      <p:sp>
        <p:nvSpPr>
          <p:cNvPr id="61" name="token 7-4"/>
          <p:cNvSpPr/>
          <p:nvPr/>
        </p:nvSpPr>
        <p:spPr>
          <a:xfrm>
            <a:off x="10360152" y="2660904"/>
            <a:ext cx="182880" cy="182880"/>
          </a:xfrm>
          <a:prstGeom prst="ellipse">
            <a:avLst/>
          </a:prstGeom>
          <a:solidFill>
            <a:srgbClr val="1B7F8C">
              <a:alpha val="55000"/>
            </a:srgbClr>
          </a:solidFill>
          <a:ln/>
        </p:spPr>
      </p:sp>
      <p:sp>
        <p:nvSpPr>
          <p:cNvPr id="62" name="token 8-4"/>
          <p:cNvSpPr/>
          <p:nvPr/>
        </p:nvSpPr>
        <p:spPr>
          <a:xfrm>
            <a:off x="10671048" y="2660904"/>
            <a:ext cx="182880" cy="182880"/>
          </a:xfrm>
          <a:prstGeom prst="ellipse">
            <a:avLst/>
          </a:prstGeom>
          <a:solidFill>
            <a:srgbClr val="1B7F8C">
              <a:alpha val="55000"/>
            </a:srgbClr>
          </a:solidFill>
          <a:ln/>
        </p:spPr>
      </p:sp>
      <p:sp>
        <p:nvSpPr>
          <p:cNvPr id="63" name="token 9-4"/>
          <p:cNvSpPr/>
          <p:nvPr/>
        </p:nvSpPr>
        <p:spPr>
          <a:xfrm>
            <a:off x="10981944" y="2660904"/>
            <a:ext cx="182880" cy="182880"/>
          </a:xfrm>
          <a:prstGeom prst="ellipse">
            <a:avLst/>
          </a:prstGeom>
          <a:solidFill>
            <a:srgbClr val="F4A261"/>
          </a:solidFill>
          <a:ln/>
        </p:spPr>
      </p:sp>
      <p:sp>
        <p:nvSpPr>
          <p:cNvPr id="64" name="token 10-4"/>
          <p:cNvSpPr/>
          <p:nvPr/>
        </p:nvSpPr>
        <p:spPr>
          <a:xfrm>
            <a:off x="11292840" y="2660904"/>
            <a:ext cx="182880" cy="182880"/>
          </a:xfrm>
          <a:prstGeom prst="ellipse">
            <a:avLst/>
          </a:prstGeom>
          <a:solidFill>
            <a:srgbClr val="F4A261"/>
          </a:solidFill>
          <a:ln/>
        </p:spPr>
      </p:sp>
      <p:sp>
        <p:nvSpPr>
          <p:cNvPr id="65" name="token 11-4"/>
          <p:cNvSpPr/>
          <p:nvPr/>
        </p:nvSpPr>
        <p:spPr>
          <a:xfrm>
            <a:off x="11603736" y="2660904"/>
            <a:ext cx="182880" cy="182880"/>
          </a:xfrm>
          <a:prstGeom prst="ellipse">
            <a:avLst/>
          </a:prstGeom>
          <a:solidFill>
            <a:srgbClr val="1B7F8C">
              <a:alpha val="55000"/>
            </a:srgbClr>
          </a:solidFill>
          <a:ln/>
        </p:spPr>
      </p:sp>
      <p:sp>
        <p:nvSpPr>
          <p:cNvPr id="66" name="token 0-5"/>
          <p:cNvSpPr/>
          <p:nvPr/>
        </p:nvSpPr>
        <p:spPr>
          <a:xfrm>
            <a:off x="8183880" y="2971800"/>
            <a:ext cx="182880" cy="182880"/>
          </a:xfrm>
          <a:prstGeom prst="ellipse">
            <a:avLst/>
          </a:prstGeom>
          <a:solidFill>
            <a:srgbClr val="1B7F8C">
              <a:alpha val="55000"/>
            </a:srgbClr>
          </a:solidFill>
          <a:ln/>
        </p:spPr>
      </p:sp>
      <p:sp>
        <p:nvSpPr>
          <p:cNvPr id="67" name="token 1-5"/>
          <p:cNvSpPr/>
          <p:nvPr/>
        </p:nvSpPr>
        <p:spPr>
          <a:xfrm>
            <a:off x="8494776" y="2971800"/>
            <a:ext cx="182880" cy="182880"/>
          </a:xfrm>
          <a:prstGeom prst="ellipse">
            <a:avLst/>
          </a:prstGeom>
          <a:solidFill>
            <a:srgbClr val="1B7F8C">
              <a:alpha val="55000"/>
            </a:srgbClr>
          </a:solidFill>
          <a:ln/>
        </p:spPr>
      </p:sp>
      <p:sp>
        <p:nvSpPr>
          <p:cNvPr id="68" name="token 2-5"/>
          <p:cNvSpPr/>
          <p:nvPr/>
        </p:nvSpPr>
        <p:spPr>
          <a:xfrm>
            <a:off x="8805672" y="2971800"/>
            <a:ext cx="182880" cy="182880"/>
          </a:xfrm>
          <a:prstGeom prst="ellipse">
            <a:avLst/>
          </a:prstGeom>
          <a:solidFill>
            <a:srgbClr val="1B7F8C">
              <a:alpha val="55000"/>
            </a:srgbClr>
          </a:solidFill>
          <a:ln/>
        </p:spPr>
      </p:sp>
      <p:sp>
        <p:nvSpPr>
          <p:cNvPr id="69" name="token 3-5"/>
          <p:cNvSpPr/>
          <p:nvPr/>
        </p:nvSpPr>
        <p:spPr>
          <a:xfrm>
            <a:off x="9116568" y="2971800"/>
            <a:ext cx="182880" cy="182880"/>
          </a:xfrm>
          <a:prstGeom prst="ellipse">
            <a:avLst/>
          </a:prstGeom>
          <a:solidFill>
            <a:srgbClr val="1B7F8C">
              <a:alpha val="55000"/>
            </a:srgbClr>
          </a:solidFill>
          <a:ln/>
        </p:spPr>
      </p:sp>
      <p:sp>
        <p:nvSpPr>
          <p:cNvPr id="70" name="token 4-5"/>
          <p:cNvSpPr/>
          <p:nvPr/>
        </p:nvSpPr>
        <p:spPr>
          <a:xfrm>
            <a:off x="9427464" y="2971800"/>
            <a:ext cx="182880" cy="182880"/>
          </a:xfrm>
          <a:prstGeom prst="ellipse">
            <a:avLst/>
          </a:prstGeom>
          <a:solidFill>
            <a:srgbClr val="1B7F8C">
              <a:alpha val="55000"/>
            </a:srgbClr>
          </a:solidFill>
          <a:ln/>
        </p:spPr>
      </p:sp>
      <p:sp>
        <p:nvSpPr>
          <p:cNvPr id="71" name="token 5-5"/>
          <p:cNvSpPr/>
          <p:nvPr/>
        </p:nvSpPr>
        <p:spPr>
          <a:xfrm>
            <a:off x="9738360" y="2971800"/>
            <a:ext cx="182880" cy="182880"/>
          </a:xfrm>
          <a:prstGeom prst="ellipse">
            <a:avLst/>
          </a:prstGeom>
          <a:solidFill>
            <a:srgbClr val="1B7F8C">
              <a:alpha val="55000"/>
            </a:srgbClr>
          </a:solidFill>
          <a:ln/>
        </p:spPr>
      </p:sp>
      <p:sp>
        <p:nvSpPr>
          <p:cNvPr id="72" name="token 6-5"/>
          <p:cNvSpPr/>
          <p:nvPr/>
        </p:nvSpPr>
        <p:spPr>
          <a:xfrm>
            <a:off x="10049256" y="2971800"/>
            <a:ext cx="182880" cy="182880"/>
          </a:xfrm>
          <a:prstGeom prst="ellipse">
            <a:avLst/>
          </a:prstGeom>
          <a:solidFill>
            <a:srgbClr val="1B7F8C">
              <a:alpha val="55000"/>
            </a:srgbClr>
          </a:solidFill>
          <a:ln/>
        </p:spPr>
      </p:sp>
      <p:sp>
        <p:nvSpPr>
          <p:cNvPr id="73" name="token 7-5"/>
          <p:cNvSpPr/>
          <p:nvPr/>
        </p:nvSpPr>
        <p:spPr>
          <a:xfrm>
            <a:off x="10360152" y="2971800"/>
            <a:ext cx="182880" cy="182880"/>
          </a:xfrm>
          <a:prstGeom prst="ellipse">
            <a:avLst/>
          </a:prstGeom>
          <a:solidFill>
            <a:srgbClr val="1B7F8C">
              <a:alpha val="55000"/>
            </a:srgbClr>
          </a:solidFill>
          <a:ln/>
        </p:spPr>
      </p:sp>
      <p:sp>
        <p:nvSpPr>
          <p:cNvPr id="74" name="token 8-5"/>
          <p:cNvSpPr/>
          <p:nvPr/>
        </p:nvSpPr>
        <p:spPr>
          <a:xfrm>
            <a:off x="10671048" y="2971800"/>
            <a:ext cx="182880" cy="182880"/>
          </a:xfrm>
          <a:prstGeom prst="ellipse">
            <a:avLst/>
          </a:prstGeom>
          <a:solidFill>
            <a:srgbClr val="1B7F8C">
              <a:alpha val="55000"/>
            </a:srgbClr>
          </a:solidFill>
          <a:ln/>
        </p:spPr>
      </p:sp>
      <p:sp>
        <p:nvSpPr>
          <p:cNvPr id="75" name="token 9-5"/>
          <p:cNvSpPr/>
          <p:nvPr/>
        </p:nvSpPr>
        <p:spPr>
          <a:xfrm>
            <a:off x="10981944" y="2971800"/>
            <a:ext cx="182880" cy="182880"/>
          </a:xfrm>
          <a:prstGeom prst="ellipse">
            <a:avLst/>
          </a:prstGeom>
          <a:solidFill>
            <a:srgbClr val="F4A261"/>
          </a:solidFill>
          <a:ln/>
        </p:spPr>
      </p:sp>
      <p:sp>
        <p:nvSpPr>
          <p:cNvPr id="76" name="token 10-5"/>
          <p:cNvSpPr/>
          <p:nvPr/>
        </p:nvSpPr>
        <p:spPr>
          <a:xfrm>
            <a:off x="11292840" y="2971800"/>
            <a:ext cx="182880" cy="182880"/>
          </a:xfrm>
          <a:prstGeom prst="ellipse">
            <a:avLst/>
          </a:prstGeom>
          <a:solidFill>
            <a:srgbClr val="F4A261"/>
          </a:solidFill>
          <a:ln/>
        </p:spPr>
      </p:sp>
      <p:sp>
        <p:nvSpPr>
          <p:cNvPr id="77" name="token 11-5"/>
          <p:cNvSpPr/>
          <p:nvPr/>
        </p:nvSpPr>
        <p:spPr>
          <a:xfrm>
            <a:off x="11603736" y="2971800"/>
            <a:ext cx="182880" cy="182880"/>
          </a:xfrm>
          <a:prstGeom prst="ellipse">
            <a:avLst/>
          </a:prstGeom>
          <a:solidFill>
            <a:srgbClr val="1B7F8C">
              <a:alpha val="55000"/>
            </a:srgbClr>
          </a:solidFill>
          <a:ln/>
        </p:spPr>
      </p:sp>
      <p:sp>
        <p:nvSpPr>
          <p:cNvPr id="78" name="token 0-6"/>
          <p:cNvSpPr/>
          <p:nvPr/>
        </p:nvSpPr>
        <p:spPr>
          <a:xfrm>
            <a:off x="8183880" y="3282696"/>
            <a:ext cx="182880" cy="182880"/>
          </a:xfrm>
          <a:prstGeom prst="ellipse">
            <a:avLst/>
          </a:prstGeom>
          <a:solidFill>
            <a:srgbClr val="1B7F8C">
              <a:alpha val="55000"/>
            </a:srgbClr>
          </a:solidFill>
          <a:ln/>
        </p:spPr>
      </p:sp>
      <p:sp>
        <p:nvSpPr>
          <p:cNvPr id="79" name="token 1-6"/>
          <p:cNvSpPr/>
          <p:nvPr/>
        </p:nvSpPr>
        <p:spPr>
          <a:xfrm>
            <a:off x="8494776" y="3282696"/>
            <a:ext cx="182880" cy="182880"/>
          </a:xfrm>
          <a:prstGeom prst="ellipse">
            <a:avLst/>
          </a:prstGeom>
          <a:solidFill>
            <a:srgbClr val="1B7F8C">
              <a:alpha val="55000"/>
            </a:srgbClr>
          </a:solidFill>
          <a:ln/>
        </p:spPr>
      </p:sp>
      <p:sp>
        <p:nvSpPr>
          <p:cNvPr id="80" name="token 2-6"/>
          <p:cNvSpPr/>
          <p:nvPr/>
        </p:nvSpPr>
        <p:spPr>
          <a:xfrm>
            <a:off x="8805672" y="3282696"/>
            <a:ext cx="182880" cy="182880"/>
          </a:xfrm>
          <a:prstGeom prst="ellipse">
            <a:avLst/>
          </a:prstGeom>
          <a:solidFill>
            <a:srgbClr val="1B7F8C">
              <a:alpha val="55000"/>
            </a:srgbClr>
          </a:solidFill>
          <a:ln/>
        </p:spPr>
      </p:sp>
      <p:sp>
        <p:nvSpPr>
          <p:cNvPr id="81" name="token 3-6"/>
          <p:cNvSpPr/>
          <p:nvPr/>
        </p:nvSpPr>
        <p:spPr>
          <a:xfrm>
            <a:off x="9116568" y="3282696"/>
            <a:ext cx="182880" cy="182880"/>
          </a:xfrm>
          <a:prstGeom prst="ellipse">
            <a:avLst/>
          </a:prstGeom>
          <a:solidFill>
            <a:srgbClr val="1B7F8C">
              <a:alpha val="55000"/>
            </a:srgbClr>
          </a:solidFill>
          <a:ln/>
        </p:spPr>
      </p:sp>
      <p:sp>
        <p:nvSpPr>
          <p:cNvPr id="82" name="token 4-6"/>
          <p:cNvSpPr/>
          <p:nvPr/>
        </p:nvSpPr>
        <p:spPr>
          <a:xfrm>
            <a:off x="9427464" y="3282696"/>
            <a:ext cx="182880" cy="182880"/>
          </a:xfrm>
          <a:prstGeom prst="ellipse">
            <a:avLst/>
          </a:prstGeom>
          <a:solidFill>
            <a:srgbClr val="1B7F8C">
              <a:alpha val="55000"/>
            </a:srgbClr>
          </a:solidFill>
          <a:ln/>
        </p:spPr>
      </p:sp>
      <p:sp>
        <p:nvSpPr>
          <p:cNvPr id="83" name="token 5-6"/>
          <p:cNvSpPr/>
          <p:nvPr/>
        </p:nvSpPr>
        <p:spPr>
          <a:xfrm>
            <a:off x="9738360" y="3282696"/>
            <a:ext cx="182880" cy="182880"/>
          </a:xfrm>
          <a:prstGeom prst="ellipse">
            <a:avLst/>
          </a:prstGeom>
          <a:solidFill>
            <a:srgbClr val="1B7F8C">
              <a:alpha val="55000"/>
            </a:srgbClr>
          </a:solidFill>
          <a:ln/>
        </p:spPr>
      </p:sp>
      <p:sp>
        <p:nvSpPr>
          <p:cNvPr id="84" name="token 6-6"/>
          <p:cNvSpPr/>
          <p:nvPr/>
        </p:nvSpPr>
        <p:spPr>
          <a:xfrm>
            <a:off x="10049256" y="3282696"/>
            <a:ext cx="182880" cy="182880"/>
          </a:xfrm>
          <a:prstGeom prst="ellipse">
            <a:avLst/>
          </a:prstGeom>
          <a:solidFill>
            <a:srgbClr val="1B7F8C">
              <a:alpha val="55000"/>
            </a:srgbClr>
          </a:solidFill>
          <a:ln/>
        </p:spPr>
      </p:sp>
      <p:sp>
        <p:nvSpPr>
          <p:cNvPr id="85" name="token 7-6"/>
          <p:cNvSpPr/>
          <p:nvPr/>
        </p:nvSpPr>
        <p:spPr>
          <a:xfrm>
            <a:off x="10360152" y="3282696"/>
            <a:ext cx="182880" cy="182880"/>
          </a:xfrm>
          <a:prstGeom prst="ellipse">
            <a:avLst/>
          </a:prstGeom>
          <a:solidFill>
            <a:srgbClr val="1B7F8C">
              <a:alpha val="55000"/>
            </a:srgbClr>
          </a:solidFill>
          <a:ln/>
        </p:spPr>
      </p:sp>
      <p:sp>
        <p:nvSpPr>
          <p:cNvPr id="86" name="token 8-6"/>
          <p:cNvSpPr/>
          <p:nvPr/>
        </p:nvSpPr>
        <p:spPr>
          <a:xfrm>
            <a:off x="10671048" y="3282696"/>
            <a:ext cx="182880" cy="182880"/>
          </a:xfrm>
          <a:prstGeom prst="ellipse">
            <a:avLst/>
          </a:prstGeom>
          <a:solidFill>
            <a:srgbClr val="1B7F8C">
              <a:alpha val="55000"/>
            </a:srgbClr>
          </a:solidFill>
          <a:ln/>
        </p:spPr>
      </p:sp>
      <p:sp>
        <p:nvSpPr>
          <p:cNvPr id="87" name="token 9-6"/>
          <p:cNvSpPr/>
          <p:nvPr/>
        </p:nvSpPr>
        <p:spPr>
          <a:xfrm>
            <a:off x="10981944" y="3282696"/>
            <a:ext cx="182880" cy="182880"/>
          </a:xfrm>
          <a:prstGeom prst="ellipse">
            <a:avLst/>
          </a:prstGeom>
          <a:solidFill>
            <a:srgbClr val="1B7F8C">
              <a:alpha val="55000"/>
            </a:srgbClr>
          </a:solidFill>
          <a:ln/>
        </p:spPr>
      </p:sp>
      <p:sp>
        <p:nvSpPr>
          <p:cNvPr id="88" name="token 10-6"/>
          <p:cNvSpPr/>
          <p:nvPr/>
        </p:nvSpPr>
        <p:spPr>
          <a:xfrm>
            <a:off x="11292840" y="3282696"/>
            <a:ext cx="182880" cy="182880"/>
          </a:xfrm>
          <a:prstGeom prst="ellipse">
            <a:avLst/>
          </a:prstGeom>
          <a:solidFill>
            <a:srgbClr val="1B7F8C">
              <a:alpha val="55000"/>
            </a:srgbClr>
          </a:solidFill>
          <a:ln/>
        </p:spPr>
      </p:sp>
      <p:sp>
        <p:nvSpPr>
          <p:cNvPr id="89" name="token 11-6"/>
          <p:cNvSpPr/>
          <p:nvPr/>
        </p:nvSpPr>
        <p:spPr>
          <a:xfrm>
            <a:off x="11603736" y="3282696"/>
            <a:ext cx="182880" cy="182880"/>
          </a:xfrm>
          <a:prstGeom prst="ellipse">
            <a:avLst/>
          </a:prstGeom>
          <a:solidFill>
            <a:srgbClr val="1B7F8C">
              <a:alpha val="55000"/>
            </a:srgbClr>
          </a:solidFill>
          <a:ln/>
        </p:spPr>
      </p:sp>
      <p:sp>
        <p:nvSpPr>
          <p:cNvPr id="90" name="Text 88"/>
          <p:cNvSpPr txBox="1"/>
          <p:nvPr/>
        </p:nvSpPr>
        <p:spPr>
          <a:xfrm>
            <a:off x="8183880" y="3749040"/>
            <a:ext cx="3840480" cy="274320"/>
          </a:xfrm>
          <a:prstGeom prst="rect">
            <a:avLst/>
          </a:prstGeom>
          <a:noFill/>
          <a:ln/>
        </p:spPr>
        <p:txBody>
          <a:bodyPr wrap="square" lIns="0" tIns="0" rIns="0" bIns="0" rtlCol="0" anchor="t"/>
          <a:lstStyle/>
          <a:p>
            <a:pPr indent="0" marL="0">
              <a:buNone/>
            </a:pPr>
            <a:r>
              <a:rPr lang="en-US" sz="1200" i="1" dirty="0">
                <a:solidFill>
                  <a:srgbClr val="CADCE4"/>
                </a:solidFill>
                <a:latin typeface="Calibri" pitchFamily="34" charset="0"/>
                <a:ea typeface="Calibri" pitchFamily="34" charset="-122"/>
                <a:cs typeface="Calibri" pitchFamily="34" charset="-120"/>
              </a:rPr>
              <a:t>256 patch tokens routed into 32 macro-slots</a:t>
            </a:r>
            <a:endParaRPr lang="en-US" sz="1200" dirty="0"/>
          </a:p>
        </p:txBody>
      </p:sp>
      <p:sp>
        <p:nvSpPr>
          <p:cNvPr id="91" name="Logo disc"/>
          <p:cNvSpPr/>
          <p:nvPr/>
        </p:nvSpPr>
        <p:spPr>
          <a:xfrm>
            <a:off x="9464040" y="4572000"/>
            <a:ext cx="1463040" cy="1463040"/>
          </a:xfrm>
          <a:prstGeom prst="ellipse">
            <a:avLst/>
          </a:prstGeom>
          <a:solidFill>
            <a:srgbClr val="FFFFFF"/>
          </a:solidFill>
          <a:ln/>
        </p:spPr>
      </p:sp>
      <p:pic>
        <p:nvPicPr>
          <p:cNvPr id="92" name="SRMIST emblem" descr="SRM Institute of Science and Technology emblem">    </p:cNvPr>
          <p:cNvPicPr>
            <a:picLocks noChangeAspect="1"/>
          </p:cNvPicPr>
          <p:nvPr/>
        </p:nvPicPr>
        <p:blipFill>
          <a:blip r:embed="rId1"/>
          <a:stretch>
            <a:fillRect/>
          </a:stretch>
        </p:blipFill>
        <p:spPr>
          <a:xfrm>
            <a:off x="9555480" y="4663440"/>
            <a:ext cx="1280160" cy="128016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Abstract</a:t>
            </a:r>
            <a:endParaRPr lang="en-US" sz="3200" dirty="0"/>
          </a:p>
        </p:txBody>
      </p:sp>
      <p:sp>
        <p:nvSpPr>
          <p:cNvPr id="3" name="Abstract panel"/>
          <p:cNvSpPr/>
          <p:nvPr/>
        </p:nvSpPr>
        <p:spPr>
          <a:xfrm>
            <a:off x="548640" y="1280160"/>
            <a:ext cx="7223760" cy="4892040"/>
          </a:xfrm>
          <a:prstGeom prst="roundRect">
            <a:avLst>
              <a:gd name="adj" fmla="val 1495"/>
            </a:avLst>
          </a:prstGeom>
          <a:solidFill>
            <a:srgbClr val="EAF1F4"/>
          </a:solidFill>
          <a:ln/>
        </p:spPr>
      </p:sp>
      <p:sp>
        <p:nvSpPr>
          <p:cNvPr id="4" name="Text 2"/>
          <p:cNvSpPr txBox="1"/>
          <p:nvPr/>
        </p:nvSpPr>
        <p:spPr>
          <a:xfrm>
            <a:off x="777240" y="1463040"/>
            <a:ext cx="6766560" cy="4572000"/>
          </a:xfrm>
          <a:prstGeom prst="rect">
            <a:avLst/>
          </a:prstGeom>
          <a:noFill/>
          <a:ln/>
        </p:spPr>
        <p:txBody>
          <a:bodyPr wrap="square" lIns="0" tIns="0" rIns="0" bIns="0" rtlCol="0" anchor="t"/>
          <a:lstStyle/>
          <a:p>
            <a:pPr indent="0" marL="0">
              <a:lnSpc>
                <a:spcPct val="105000"/>
              </a:lnSpc>
              <a:buNone/>
            </a:pPr>
            <a:r>
              <a:rPr lang="en-US" sz="1550" dirty="0">
                <a:solidFill>
                  <a:srgbClr val="1A2530"/>
                </a:solidFill>
                <a:latin typeface="Calibri" pitchFamily="34" charset="0"/>
                <a:ea typeface="Calibri" pitchFamily="34" charset="-122"/>
                <a:cs typeface="Calibri" pitchFamily="34" charset="-120"/>
              </a:rPr>
              <a:t>Hierarchical vision transformers fix their multi-scale structure by hand (shifted windows, patch merging). Our minor project, CET-ViT, instead routes 256 patch tokens into 32 learned macro-slots with one top-3 sparse assignment (0.0069M parameters) and reported +3.91 points over a size-matched Swin on CIFAR-100. A follow-up self-audit (237 runs, 229 H100-hours) showed that this headline does not survive a compute-matched control and per-arm learning-rate tuning: at the locked learning rate the grouping branch is 1.16 points below a no-branch control on CIFAR-100 and 1.67 below on Tiny-ImageNet, and its sign at tuned rates depends on rate and data set. The open question is therefore not whether grouping works, but what it buys beyond extra capacity. This major project (i) releases a corrected, reproducible baseline; (ii) tests learned grouping against capacity controls (register-style input-independent slots, frozen random routers, fixed block routing) under per-arm tuning and at least five seeds; (iii) extends the comparison to ImageNet-100; and (iv) evaluates the 'emergent regions' claim quantitatively against object masks. Analysis plans are registered before the final runs. Outputs: a public, licensed evaluation harness and two manuscripts.</a:t>
            </a:r>
            <a:endParaRPr lang="en-US" sz="1550" dirty="0"/>
          </a:p>
        </p:txBody>
      </p:sp>
      <p:sp>
        <p:nvSpPr>
          <p:cNvPr id="5" name="Contribution card 1"/>
          <p:cNvSpPr/>
          <p:nvPr/>
        </p:nvSpPr>
        <p:spPr>
          <a:xfrm>
            <a:off x="8046720" y="1280160"/>
            <a:ext cx="3611880" cy="1097280"/>
          </a:xfrm>
          <a:prstGeom prst="roundRect">
            <a:avLst>
              <a:gd name="adj" fmla="val 6667"/>
            </a:avLst>
          </a:prstGeom>
          <a:solidFill>
            <a:srgbClr val="FFFFFF"/>
          </a:solidFill>
          <a:ln w="12700">
            <a:solidFill>
              <a:srgbClr val="D3DEE4"/>
            </a:solidFill>
            <a:prstDash val="solid"/>
          </a:ln>
        </p:spPr>
      </p:sp>
      <p:sp>
        <p:nvSpPr>
          <p:cNvPr id="6" name="Contribution badge 1"/>
          <p:cNvSpPr/>
          <p:nvPr/>
        </p:nvSpPr>
        <p:spPr>
          <a:xfrm>
            <a:off x="8229600" y="1554480"/>
            <a:ext cx="548640" cy="548640"/>
          </a:xfrm>
          <a:prstGeom prst="ellipse">
            <a:avLst/>
          </a:prstGeom>
          <a:solidFill>
            <a:srgbClr val="1B7F8C"/>
          </a:solidFill>
          <a:ln/>
        </p:spPr>
      </p:sp>
      <p:sp>
        <p:nvSpPr>
          <p:cNvPr id="7" name="Contribution badge 1 label"/>
          <p:cNvSpPr txBox="1"/>
          <p:nvPr/>
        </p:nvSpPr>
        <p:spPr>
          <a:xfrm>
            <a:off x="8229600" y="155448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8" name="Text 6"/>
          <p:cNvSpPr txBox="1"/>
          <p:nvPr/>
        </p:nvSpPr>
        <p:spPr>
          <a:xfrm>
            <a:off x="8961120" y="1444752"/>
            <a:ext cx="2606040" cy="320040"/>
          </a:xfrm>
          <a:prstGeom prst="rect">
            <a:avLst/>
          </a:prstGeom>
          <a:noFill/>
          <a:ln/>
        </p:spPr>
        <p:txBody>
          <a:bodyPr wrap="square" lIns="0" tIns="0" rIns="0" bIns="0" rtlCol="0" anchor="t"/>
          <a:lstStyle/>
          <a:p>
            <a:pPr indent="0" marL="0">
              <a:buNone/>
            </a:pPr>
            <a:r>
              <a:rPr lang="en-US" sz="1600" b="1" dirty="0">
                <a:solidFill>
                  <a:srgbClr val="0F2A3D"/>
                </a:solidFill>
                <a:latin typeface="Calibri" pitchFamily="34" charset="0"/>
                <a:ea typeface="Calibri" pitchFamily="34" charset="-122"/>
                <a:cs typeface="Calibri" pitchFamily="34" charset="-120"/>
              </a:rPr>
              <a:t>Corrected baseline</a:t>
            </a:r>
            <a:endParaRPr lang="en-US" sz="1600" dirty="0"/>
          </a:p>
        </p:txBody>
      </p:sp>
      <p:sp>
        <p:nvSpPr>
          <p:cNvPr id="9" name="Text 7"/>
          <p:cNvSpPr txBox="1"/>
          <p:nvPr/>
        </p:nvSpPr>
        <p:spPr>
          <a:xfrm>
            <a:off x="8961120" y="1783080"/>
            <a:ext cx="2606040" cy="548640"/>
          </a:xfrm>
          <a:prstGeom prst="rect">
            <a:avLst/>
          </a:prstGeom>
          <a:noFill/>
          <a:ln/>
        </p:spPr>
        <p:txBody>
          <a:bodyPr wrap="square" lIns="0" tIns="0" rIns="0" bIns="0" rtlCol="0" anchor="t"/>
          <a:lstStyle/>
          <a:p>
            <a:pPr indent="0" marL="0">
              <a:buNone/>
            </a:pPr>
            <a:r>
              <a:rPr lang="en-US" sz="1300" dirty="0">
                <a:solidFill>
                  <a:srgbClr val="5B6B77"/>
                </a:solidFill>
                <a:latin typeface="Calibri" pitchFamily="34" charset="0"/>
                <a:ea typeface="Calibri" pitchFamily="34" charset="-122"/>
                <a:cs typeface="Calibri" pitchFamily="34" charset="-120"/>
              </a:rPr>
              <a:t>Release a reproducible, licensed CET-ViT.</a:t>
            </a:r>
            <a:endParaRPr lang="en-US" sz="1300" dirty="0"/>
          </a:p>
        </p:txBody>
      </p:sp>
      <p:sp>
        <p:nvSpPr>
          <p:cNvPr id="10" name="Contribution card 2"/>
          <p:cNvSpPr/>
          <p:nvPr/>
        </p:nvSpPr>
        <p:spPr>
          <a:xfrm>
            <a:off x="8046720" y="2514600"/>
            <a:ext cx="3611880" cy="1097280"/>
          </a:xfrm>
          <a:prstGeom prst="roundRect">
            <a:avLst>
              <a:gd name="adj" fmla="val 6667"/>
            </a:avLst>
          </a:prstGeom>
          <a:solidFill>
            <a:srgbClr val="FFFFFF"/>
          </a:solidFill>
          <a:ln w="12700">
            <a:solidFill>
              <a:srgbClr val="D3DEE4"/>
            </a:solidFill>
            <a:prstDash val="solid"/>
          </a:ln>
        </p:spPr>
      </p:sp>
      <p:sp>
        <p:nvSpPr>
          <p:cNvPr id="11" name="Contribution badge 2"/>
          <p:cNvSpPr/>
          <p:nvPr/>
        </p:nvSpPr>
        <p:spPr>
          <a:xfrm>
            <a:off x="8229600" y="2788920"/>
            <a:ext cx="548640" cy="548640"/>
          </a:xfrm>
          <a:prstGeom prst="ellipse">
            <a:avLst/>
          </a:prstGeom>
          <a:solidFill>
            <a:srgbClr val="1B7F8C"/>
          </a:solidFill>
          <a:ln/>
        </p:spPr>
      </p:sp>
      <p:sp>
        <p:nvSpPr>
          <p:cNvPr id="12" name="Contribution badge 2 label"/>
          <p:cNvSpPr txBox="1"/>
          <p:nvPr/>
        </p:nvSpPr>
        <p:spPr>
          <a:xfrm>
            <a:off x="8229600" y="27889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3" name="Text 11"/>
          <p:cNvSpPr txBox="1"/>
          <p:nvPr/>
        </p:nvSpPr>
        <p:spPr>
          <a:xfrm>
            <a:off x="8961120" y="2679192"/>
            <a:ext cx="2606040" cy="320040"/>
          </a:xfrm>
          <a:prstGeom prst="rect">
            <a:avLst/>
          </a:prstGeom>
          <a:noFill/>
          <a:ln/>
        </p:spPr>
        <p:txBody>
          <a:bodyPr wrap="square" lIns="0" tIns="0" rIns="0" bIns="0" rtlCol="0" anchor="t"/>
          <a:lstStyle/>
          <a:p>
            <a:pPr indent="0" marL="0">
              <a:buNone/>
            </a:pPr>
            <a:r>
              <a:rPr lang="en-US" sz="1600" b="1" dirty="0">
                <a:solidFill>
                  <a:srgbClr val="0F2A3D"/>
                </a:solidFill>
                <a:latin typeface="Calibri" pitchFamily="34" charset="0"/>
                <a:ea typeface="Calibri" pitchFamily="34" charset="-122"/>
                <a:cs typeface="Calibri" pitchFamily="34" charset="-120"/>
              </a:rPr>
              <a:t>Capacity controls</a:t>
            </a:r>
            <a:endParaRPr lang="en-US" sz="1600" dirty="0"/>
          </a:p>
        </p:txBody>
      </p:sp>
      <p:sp>
        <p:nvSpPr>
          <p:cNvPr id="14" name="Text 12"/>
          <p:cNvSpPr txBox="1"/>
          <p:nvPr/>
        </p:nvSpPr>
        <p:spPr>
          <a:xfrm>
            <a:off x="8961120" y="3017520"/>
            <a:ext cx="2606040" cy="548640"/>
          </a:xfrm>
          <a:prstGeom prst="rect">
            <a:avLst/>
          </a:prstGeom>
          <a:noFill/>
          <a:ln/>
        </p:spPr>
        <p:txBody>
          <a:bodyPr wrap="square" lIns="0" tIns="0" rIns="0" bIns="0" rtlCol="0" anchor="t"/>
          <a:lstStyle/>
          <a:p>
            <a:pPr indent="0" marL="0">
              <a:buNone/>
            </a:pPr>
            <a:r>
              <a:rPr lang="en-US" sz="1300" dirty="0">
                <a:solidFill>
                  <a:srgbClr val="5B6B77"/>
                </a:solidFill>
                <a:latin typeface="Calibri" pitchFamily="34" charset="0"/>
                <a:ea typeface="Calibri" pitchFamily="34" charset="-122"/>
                <a:cs typeface="Calibri" pitchFamily="34" charset="-120"/>
              </a:rPr>
              <a:t>Learned routing vs registers, random and fixed routers.</a:t>
            </a:r>
            <a:endParaRPr lang="en-US" sz="1300" dirty="0"/>
          </a:p>
        </p:txBody>
      </p:sp>
      <p:sp>
        <p:nvSpPr>
          <p:cNvPr id="15" name="Contribution card 3"/>
          <p:cNvSpPr/>
          <p:nvPr/>
        </p:nvSpPr>
        <p:spPr>
          <a:xfrm>
            <a:off x="8046720" y="3749040"/>
            <a:ext cx="3611880" cy="1097280"/>
          </a:xfrm>
          <a:prstGeom prst="roundRect">
            <a:avLst>
              <a:gd name="adj" fmla="val 6667"/>
            </a:avLst>
          </a:prstGeom>
          <a:solidFill>
            <a:srgbClr val="FFFFFF"/>
          </a:solidFill>
          <a:ln w="12700">
            <a:solidFill>
              <a:srgbClr val="D3DEE4"/>
            </a:solidFill>
            <a:prstDash val="solid"/>
          </a:ln>
        </p:spPr>
      </p:sp>
      <p:sp>
        <p:nvSpPr>
          <p:cNvPr id="16" name="Contribution badge 3"/>
          <p:cNvSpPr/>
          <p:nvPr/>
        </p:nvSpPr>
        <p:spPr>
          <a:xfrm>
            <a:off x="8229600" y="4023360"/>
            <a:ext cx="548640" cy="548640"/>
          </a:xfrm>
          <a:prstGeom prst="ellipse">
            <a:avLst/>
          </a:prstGeom>
          <a:solidFill>
            <a:srgbClr val="1B7F8C"/>
          </a:solidFill>
          <a:ln/>
        </p:spPr>
      </p:sp>
      <p:sp>
        <p:nvSpPr>
          <p:cNvPr id="17" name="Contribution badge 3 label"/>
          <p:cNvSpPr txBox="1"/>
          <p:nvPr/>
        </p:nvSpPr>
        <p:spPr>
          <a:xfrm>
            <a:off x="8229600" y="402336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18" name="Text 16"/>
          <p:cNvSpPr txBox="1"/>
          <p:nvPr/>
        </p:nvSpPr>
        <p:spPr>
          <a:xfrm>
            <a:off x="8961120" y="3913632"/>
            <a:ext cx="2606040" cy="320040"/>
          </a:xfrm>
          <a:prstGeom prst="rect">
            <a:avLst/>
          </a:prstGeom>
          <a:noFill/>
          <a:ln/>
        </p:spPr>
        <p:txBody>
          <a:bodyPr wrap="square" lIns="0" tIns="0" rIns="0" bIns="0" rtlCol="0" anchor="t"/>
          <a:lstStyle/>
          <a:p>
            <a:pPr indent="0" marL="0">
              <a:buNone/>
            </a:pPr>
            <a:r>
              <a:rPr lang="en-US" sz="1600" b="1" dirty="0">
                <a:solidFill>
                  <a:srgbClr val="0F2A3D"/>
                </a:solidFill>
                <a:latin typeface="Calibri" pitchFamily="34" charset="0"/>
                <a:ea typeface="Calibri" pitchFamily="34" charset="-122"/>
                <a:cs typeface="Calibri" pitchFamily="34" charset="-120"/>
              </a:rPr>
              <a:t>Scale</a:t>
            </a:r>
            <a:endParaRPr lang="en-US" sz="1600" dirty="0"/>
          </a:p>
        </p:txBody>
      </p:sp>
      <p:sp>
        <p:nvSpPr>
          <p:cNvPr id="19" name="Text 17"/>
          <p:cNvSpPr txBox="1"/>
          <p:nvPr/>
        </p:nvSpPr>
        <p:spPr>
          <a:xfrm>
            <a:off x="8961120" y="4251960"/>
            <a:ext cx="2606040" cy="548640"/>
          </a:xfrm>
          <a:prstGeom prst="rect">
            <a:avLst/>
          </a:prstGeom>
          <a:noFill/>
          <a:ln/>
        </p:spPr>
        <p:txBody>
          <a:bodyPr wrap="square" lIns="0" tIns="0" rIns="0" bIns="0" rtlCol="0" anchor="t"/>
          <a:lstStyle/>
          <a:p>
            <a:pPr indent="0" marL="0">
              <a:buNone/>
            </a:pPr>
            <a:r>
              <a:rPr lang="en-US" sz="1300" dirty="0">
                <a:solidFill>
                  <a:srgbClr val="5B6B77"/>
                </a:solidFill>
                <a:latin typeface="Calibri" pitchFamily="34" charset="0"/>
                <a:ea typeface="Calibri" pitchFamily="34" charset="-122"/>
                <a:cs typeface="Calibri" pitchFamily="34" charset="-120"/>
              </a:rPr>
              <a:t>Extend the comparison to ImageNet-100.</a:t>
            </a:r>
            <a:endParaRPr lang="en-US" sz="1300" dirty="0"/>
          </a:p>
        </p:txBody>
      </p:sp>
      <p:sp>
        <p:nvSpPr>
          <p:cNvPr id="20" name="Contribution card 4"/>
          <p:cNvSpPr/>
          <p:nvPr/>
        </p:nvSpPr>
        <p:spPr>
          <a:xfrm>
            <a:off x="8046720" y="4983480"/>
            <a:ext cx="3611880" cy="1097280"/>
          </a:xfrm>
          <a:prstGeom prst="roundRect">
            <a:avLst>
              <a:gd name="adj" fmla="val 6667"/>
            </a:avLst>
          </a:prstGeom>
          <a:solidFill>
            <a:srgbClr val="FFFFFF"/>
          </a:solidFill>
          <a:ln w="12700">
            <a:solidFill>
              <a:srgbClr val="D3DEE4"/>
            </a:solidFill>
            <a:prstDash val="solid"/>
          </a:ln>
        </p:spPr>
      </p:sp>
      <p:sp>
        <p:nvSpPr>
          <p:cNvPr id="21" name="Contribution badge 4"/>
          <p:cNvSpPr/>
          <p:nvPr/>
        </p:nvSpPr>
        <p:spPr>
          <a:xfrm>
            <a:off x="8229600" y="5257800"/>
            <a:ext cx="548640" cy="548640"/>
          </a:xfrm>
          <a:prstGeom prst="ellipse">
            <a:avLst/>
          </a:prstGeom>
          <a:solidFill>
            <a:srgbClr val="1B7F8C"/>
          </a:solidFill>
          <a:ln/>
        </p:spPr>
      </p:sp>
      <p:sp>
        <p:nvSpPr>
          <p:cNvPr id="22" name="Contribution badge 4 label"/>
          <p:cNvSpPr txBox="1"/>
          <p:nvPr/>
        </p:nvSpPr>
        <p:spPr>
          <a:xfrm>
            <a:off x="8229600" y="525780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3" name="Text 21"/>
          <p:cNvSpPr txBox="1"/>
          <p:nvPr/>
        </p:nvSpPr>
        <p:spPr>
          <a:xfrm>
            <a:off x="8961120" y="5148072"/>
            <a:ext cx="2606040" cy="320040"/>
          </a:xfrm>
          <a:prstGeom prst="rect">
            <a:avLst/>
          </a:prstGeom>
          <a:noFill/>
          <a:ln/>
        </p:spPr>
        <p:txBody>
          <a:bodyPr wrap="square" lIns="0" tIns="0" rIns="0" bIns="0" rtlCol="0" anchor="t"/>
          <a:lstStyle/>
          <a:p>
            <a:pPr indent="0" marL="0">
              <a:buNone/>
            </a:pPr>
            <a:r>
              <a:rPr lang="en-US" sz="1600" b="1" dirty="0">
                <a:solidFill>
                  <a:srgbClr val="0F2A3D"/>
                </a:solidFill>
                <a:latin typeface="Calibri" pitchFamily="34" charset="0"/>
                <a:ea typeface="Calibri" pitchFamily="34" charset="-122"/>
                <a:cs typeface="Calibri" pitchFamily="34" charset="-120"/>
              </a:rPr>
              <a:t>Regions</a:t>
            </a:r>
            <a:endParaRPr lang="en-US" sz="1600" dirty="0"/>
          </a:p>
        </p:txBody>
      </p:sp>
      <p:sp>
        <p:nvSpPr>
          <p:cNvPr id="24" name="Text 22"/>
          <p:cNvSpPr txBox="1"/>
          <p:nvPr/>
        </p:nvSpPr>
        <p:spPr>
          <a:xfrm>
            <a:off x="8961120" y="5486400"/>
            <a:ext cx="2606040" cy="548640"/>
          </a:xfrm>
          <a:prstGeom prst="rect">
            <a:avLst/>
          </a:prstGeom>
          <a:noFill/>
          <a:ln/>
        </p:spPr>
        <p:txBody>
          <a:bodyPr wrap="square" lIns="0" tIns="0" rIns="0" bIns="0" rtlCol="0" anchor="t"/>
          <a:lstStyle/>
          <a:p>
            <a:pPr indent="0" marL="0">
              <a:buNone/>
            </a:pPr>
            <a:r>
              <a:rPr lang="en-US" sz="1300" dirty="0">
                <a:solidFill>
                  <a:srgbClr val="5B6B77"/>
                </a:solidFill>
                <a:latin typeface="Calibri" pitchFamily="34" charset="0"/>
                <a:ea typeface="Calibri" pitchFamily="34" charset="-122"/>
                <a:cs typeface="Calibri" pitchFamily="34" charset="-120"/>
              </a:rPr>
              <a:t>Score emergent regions against object masks.</a:t>
            </a:r>
            <a:endParaRPr lang="en-US" sz="13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Introduction: from fixed hierarchies to learned grouping</a:t>
            </a:r>
            <a:endParaRPr lang="en-US" sz="3200" dirty="0"/>
          </a:p>
        </p:txBody>
      </p:sp>
      <p:sp>
        <p:nvSpPr>
          <p:cNvPr id="3" name="Pipeline step 1"/>
          <p:cNvSpPr/>
          <p:nvPr/>
        </p:nvSpPr>
        <p:spPr>
          <a:xfrm>
            <a:off x="548640" y="1325880"/>
            <a:ext cx="1627632" cy="1051560"/>
          </a:xfrm>
          <a:prstGeom prst="roundRect">
            <a:avLst>
              <a:gd name="adj" fmla="val 6957"/>
            </a:avLst>
          </a:prstGeom>
          <a:solidFill>
            <a:srgbClr val="EAF1F4"/>
          </a:solidFill>
          <a:ln/>
        </p:spPr>
      </p:sp>
      <p:sp>
        <p:nvSpPr>
          <p:cNvPr id="4" name="Text 2"/>
          <p:cNvSpPr txBox="1"/>
          <p:nvPr/>
        </p:nvSpPr>
        <p:spPr>
          <a:xfrm>
            <a:off x="640080" y="1508760"/>
            <a:ext cx="1444752" cy="320040"/>
          </a:xfrm>
          <a:prstGeom prst="rect">
            <a:avLst/>
          </a:prstGeom>
          <a:noFill/>
          <a:ln/>
        </p:spPr>
        <p:txBody>
          <a:bodyPr wrap="square" lIns="0" tIns="0" rIns="0" bIns="0" rtlCol="0" anchor="t"/>
          <a:lstStyle/>
          <a:p>
            <a:pPr algn="ctr" indent="0" marL="0">
              <a:buNone/>
            </a:pPr>
            <a:r>
              <a:rPr lang="en-US" sz="1400" b="1" dirty="0">
                <a:solidFill>
                  <a:srgbClr val="0F2A3D"/>
                </a:solidFill>
                <a:latin typeface="Calibri" pitchFamily="34" charset="0"/>
                <a:ea typeface="Calibri" pitchFamily="34" charset="-122"/>
                <a:cs typeface="Calibri" pitchFamily="34" charset="-120"/>
              </a:rPr>
              <a:t>Image patches</a:t>
            </a:r>
            <a:endParaRPr lang="en-US" sz="1400" dirty="0"/>
          </a:p>
        </p:txBody>
      </p:sp>
      <p:sp>
        <p:nvSpPr>
          <p:cNvPr id="5" name="Text 3"/>
          <p:cNvSpPr txBox="1"/>
          <p:nvPr/>
        </p:nvSpPr>
        <p:spPr>
          <a:xfrm>
            <a:off x="640080" y="1892808"/>
            <a:ext cx="1444752" cy="365760"/>
          </a:xfrm>
          <a:prstGeom prst="rect">
            <a:avLst/>
          </a:prstGeom>
          <a:noFill/>
          <a:ln/>
        </p:spPr>
        <p:txBody>
          <a:bodyPr wrap="square" lIns="0" tIns="0" rIns="0" bIns="0" rtlCol="0" anchor="t"/>
          <a:lstStyle/>
          <a:p>
            <a:pPr algn="ctr" indent="0" marL="0">
              <a:buNone/>
            </a:pPr>
            <a:r>
              <a:rPr lang="en-US" sz="1200" dirty="0">
                <a:solidFill>
                  <a:srgbClr val="5B6B77"/>
                </a:solidFill>
                <a:latin typeface="Calibri" pitchFamily="34" charset="0"/>
                <a:ea typeface="Calibri" pitchFamily="34" charset="-122"/>
                <a:cs typeface="Calibri" pitchFamily="34" charset="-120"/>
              </a:rPr>
              <a:t>256 tokens</a:t>
            </a:r>
            <a:endParaRPr lang="en-US" sz="1200" dirty="0"/>
          </a:p>
        </p:txBody>
      </p:sp>
      <p:sp>
        <p:nvSpPr>
          <p:cNvPr id="6" name="Pipeline arrow 1"/>
          <p:cNvSpPr/>
          <p:nvPr/>
        </p:nvSpPr>
        <p:spPr>
          <a:xfrm>
            <a:off x="2203704" y="1755648"/>
            <a:ext cx="201168" cy="201168"/>
          </a:xfrm>
          <a:prstGeom prst="rightArrow">
            <a:avLst/>
          </a:prstGeom>
          <a:solidFill>
            <a:srgbClr val="5B6B77"/>
          </a:solidFill>
          <a:ln/>
        </p:spPr>
      </p:sp>
      <p:sp>
        <p:nvSpPr>
          <p:cNvPr id="7" name="Pipeline step 2"/>
          <p:cNvSpPr/>
          <p:nvPr/>
        </p:nvSpPr>
        <p:spPr>
          <a:xfrm>
            <a:off x="2432304" y="1325880"/>
            <a:ext cx="1627632" cy="1051560"/>
          </a:xfrm>
          <a:prstGeom prst="roundRect">
            <a:avLst>
              <a:gd name="adj" fmla="val 6957"/>
            </a:avLst>
          </a:prstGeom>
          <a:solidFill>
            <a:srgbClr val="EAF1F4"/>
          </a:solidFill>
          <a:ln/>
        </p:spPr>
      </p:sp>
      <p:sp>
        <p:nvSpPr>
          <p:cNvPr id="8" name="Text 6"/>
          <p:cNvSpPr txBox="1"/>
          <p:nvPr/>
        </p:nvSpPr>
        <p:spPr>
          <a:xfrm>
            <a:off x="2523744" y="1508760"/>
            <a:ext cx="1444752" cy="320040"/>
          </a:xfrm>
          <a:prstGeom prst="rect">
            <a:avLst/>
          </a:prstGeom>
          <a:noFill/>
          <a:ln/>
        </p:spPr>
        <p:txBody>
          <a:bodyPr wrap="square" lIns="0" tIns="0" rIns="0" bIns="0" rtlCol="0" anchor="t"/>
          <a:lstStyle/>
          <a:p>
            <a:pPr algn="ctr" indent="0" marL="0">
              <a:buNone/>
            </a:pPr>
            <a:r>
              <a:rPr lang="en-US" sz="1400" b="1" dirty="0">
                <a:solidFill>
                  <a:srgbClr val="0F2A3D"/>
                </a:solidFill>
                <a:latin typeface="Calibri" pitchFamily="34" charset="0"/>
                <a:ea typeface="Calibri" pitchFamily="34" charset="-122"/>
                <a:cs typeface="Calibri" pitchFamily="34" charset="-120"/>
              </a:rPr>
              <a:t>Micro encoder</a:t>
            </a:r>
            <a:endParaRPr lang="en-US" sz="1400" dirty="0"/>
          </a:p>
        </p:txBody>
      </p:sp>
      <p:sp>
        <p:nvSpPr>
          <p:cNvPr id="9" name="Text 7"/>
          <p:cNvSpPr txBox="1"/>
          <p:nvPr/>
        </p:nvSpPr>
        <p:spPr>
          <a:xfrm>
            <a:off x="2523744" y="1892808"/>
            <a:ext cx="1444752" cy="365760"/>
          </a:xfrm>
          <a:prstGeom prst="rect">
            <a:avLst/>
          </a:prstGeom>
          <a:noFill/>
          <a:ln/>
        </p:spPr>
        <p:txBody>
          <a:bodyPr wrap="square" lIns="0" tIns="0" rIns="0" bIns="0" rtlCol="0" anchor="t"/>
          <a:lstStyle/>
          <a:p>
            <a:pPr algn="ctr" indent="0" marL="0">
              <a:buNone/>
            </a:pPr>
            <a:r>
              <a:rPr lang="en-US" sz="1200" dirty="0">
                <a:solidFill>
                  <a:srgbClr val="5B6B77"/>
                </a:solidFill>
                <a:latin typeface="Calibri" pitchFamily="34" charset="0"/>
                <a:ea typeface="Calibri" pitchFamily="34" charset="-122"/>
                <a:cs typeface="Calibri" pitchFamily="34" charset="-120"/>
              </a:rPr>
              <a:t>stages 1-2</a:t>
            </a:r>
            <a:endParaRPr lang="en-US" sz="1200" dirty="0"/>
          </a:p>
        </p:txBody>
      </p:sp>
      <p:sp>
        <p:nvSpPr>
          <p:cNvPr id="10" name="Pipeline arrow 2"/>
          <p:cNvSpPr/>
          <p:nvPr/>
        </p:nvSpPr>
        <p:spPr>
          <a:xfrm>
            <a:off x="4087368" y="1755648"/>
            <a:ext cx="201168" cy="201168"/>
          </a:xfrm>
          <a:prstGeom prst="rightArrow">
            <a:avLst/>
          </a:prstGeom>
          <a:solidFill>
            <a:srgbClr val="5B6B77"/>
          </a:solidFill>
          <a:ln/>
        </p:spPr>
      </p:sp>
      <p:sp>
        <p:nvSpPr>
          <p:cNvPr id="11" name="Pipeline step 3"/>
          <p:cNvSpPr/>
          <p:nvPr/>
        </p:nvSpPr>
        <p:spPr>
          <a:xfrm>
            <a:off x="4315968" y="1325880"/>
            <a:ext cx="1627632" cy="1051560"/>
          </a:xfrm>
          <a:prstGeom prst="roundRect">
            <a:avLst>
              <a:gd name="adj" fmla="val 6957"/>
            </a:avLst>
          </a:prstGeom>
          <a:solidFill>
            <a:srgbClr val="1B7F8C"/>
          </a:solidFill>
          <a:ln/>
        </p:spPr>
      </p:sp>
      <p:sp>
        <p:nvSpPr>
          <p:cNvPr id="12" name="Text 10"/>
          <p:cNvSpPr txBox="1"/>
          <p:nvPr/>
        </p:nvSpPr>
        <p:spPr>
          <a:xfrm>
            <a:off x="4407408" y="1508760"/>
            <a:ext cx="1444752" cy="320040"/>
          </a:xfrm>
          <a:prstGeom prst="rect">
            <a:avLst/>
          </a:prstGeom>
          <a:noFill/>
          <a:ln/>
        </p:spPr>
        <p:txBody>
          <a:bodyPr wrap="square" lIns="0" tIns="0" rIns="0" bIns="0" rtlCol="0" anchor="t"/>
          <a:lstStyle/>
          <a:p>
            <a:pPr algn="ctr" indent="0" marL="0">
              <a:buNone/>
            </a:pPr>
            <a:r>
              <a:rPr lang="en-US" sz="1400" b="1" dirty="0">
                <a:solidFill>
                  <a:srgbClr val="FFFFFF"/>
                </a:solidFill>
                <a:latin typeface="Calibri" pitchFamily="34" charset="0"/>
                <a:ea typeface="Calibri" pitchFamily="34" charset="-122"/>
                <a:cs typeface="Calibri" pitchFamily="34" charset="-120"/>
              </a:rPr>
              <a:t>V-CEO router</a:t>
            </a:r>
            <a:endParaRPr lang="en-US" sz="1400" dirty="0"/>
          </a:p>
        </p:txBody>
      </p:sp>
      <p:sp>
        <p:nvSpPr>
          <p:cNvPr id="13" name="Text 11"/>
          <p:cNvSpPr txBox="1"/>
          <p:nvPr/>
        </p:nvSpPr>
        <p:spPr>
          <a:xfrm>
            <a:off x="4407408" y="1892808"/>
            <a:ext cx="1444752" cy="365760"/>
          </a:xfrm>
          <a:prstGeom prst="rect">
            <a:avLst/>
          </a:prstGeom>
          <a:noFill/>
          <a:ln/>
        </p:spPr>
        <p:txBody>
          <a:bodyPr wrap="square" lIns="0" tIns="0" rIns="0" bIns="0" rtlCol="0" anchor="t"/>
          <a:lstStyle/>
          <a:p>
            <a:pPr algn="ctr" indent="0" marL="0">
              <a:buNone/>
            </a:pPr>
            <a:r>
              <a:rPr lang="en-US" sz="1200" dirty="0">
                <a:solidFill>
                  <a:srgbClr val="FFFFFF"/>
                </a:solidFill>
                <a:latin typeface="Calibri" pitchFamily="34" charset="0"/>
                <a:ea typeface="Calibri" pitchFamily="34" charset="-122"/>
                <a:cs typeface="Calibri" pitchFamily="34" charset="-120"/>
              </a:rPr>
              <a:t>top-3 of 32 slots</a:t>
            </a:r>
            <a:endParaRPr lang="en-US" sz="1200" dirty="0"/>
          </a:p>
        </p:txBody>
      </p:sp>
      <p:sp>
        <p:nvSpPr>
          <p:cNvPr id="14" name="Pipeline arrow 3"/>
          <p:cNvSpPr/>
          <p:nvPr/>
        </p:nvSpPr>
        <p:spPr>
          <a:xfrm>
            <a:off x="5971032" y="1755648"/>
            <a:ext cx="201168" cy="201168"/>
          </a:xfrm>
          <a:prstGeom prst="rightArrow">
            <a:avLst/>
          </a:prstGeom>
          <a:solidFill>
            <a:srgbClr val="5B6B77"/>
          </a:solidFill>
          <a:ln/>
        </p:spPr>
      </p:sp>
      <p:sp>
        <p:nvSpPr>
          <p:cNvPr id="15" name="Pipeline step 4"/>
          <p:cNvSpPr/>
          <p:nvPr/>
        </p:nvSpPr>
        <p:spPr>
          <a:xfrm>
            <a:off x="6199632" y="1325880"/>
            <a:ext cx="1627632" cy="1051560"/>
          </a:xfrm>
          <a:prstGeom prst="roundRect">
            <a:avLst>
              <a:gd name="adj" fmla="val 6957"/>
            </a:avLst>
          </a:prstGeom>
          <a:solidFill>
            <a:srgbClr val="EAF1F4"/>
          </a:solidFill>
          <a:ln/>
        </p:spPr>
      </p:sp>
      <p:sp>
        <p:nvSpPr>
          <p:cNvPr id="16" name="Text 14"/>
          <p:cNvSpPr txBox="1"/>
          <p:nvPr/>
        </p:nvSpPr>
        <p:spPr>
          <a:xfrm>
            <a:off x="6291072" y="1508760"/>
            <a:ext cx="1444752" cy="320040"/>
          </a:xfrm>
          <a:prstGeom prst="rect">
            <a:avLst/>
          </a:prstGeom>
          <a:noFill/>
          <a:ln/>
        </p:spPr>
        <p:txBody>
          <a:bodyPr wrap="square" lIns="0" tIns="0" rIns="0" bIns="0" rtlCol="0" anchor="t"/>
          <a:lstStyle/>
          <a:p>
            <a:pPr algn="ctr" indent="0" marL="0">
              <a:buNone/>
            </a:pPr>
            <a:r>
              <a:rPr lang="en-US" sz="1400" b="1" dirty="0">
                <a:solidFill>
                  <a:srgbClr val="0F2A3D"/>
                </a:solidFill>
                <a:latin typeface="Calibri" pitchFamily="34" charset="0"/>
                <a:ea typeface="Calibri" pitchFamily="34" charset="-122"/>
                <a:cs typeface="Calibri" pitchFamily="34" charset="-120"/>
              </a:rPr>
              <a:t>Macro encoder</a:t>
            </a:r>
            <a:endParaRPr lang="en-US" sz="1400" dirty="0"/>
          </a:p>
        </p:txBody>
      </p:sp>
      <p:sp>
        <p:nvSpPr>
          <p:cNvPr id="17" name="Text 15"/>
          <p:cNvSpPr txBox="1"/>
          <p:nvPr/>
        </p:nvSpPr>
        <p:spPr>
          <a:xfrm>
            <a:off x="6291072" y="1892808"/>
            <a:ext cx="1444752" cy="365760"/>
          </a:xfrm>
          <a:prstGeom prst="rect">
            <a:avLst/>
          </a:prstGeom>
          <a:noFill/>
          <a:ln/>
        </p:spPr>
        <p:txBody>
          <a:bodyPr wrap="square" lIns="0" tIns="0" rIns="0" bIns="0" rtlCol="0" anchor="t"/>
          <a:lstStyle/>
          <a:p>
            <a:pPr algn="ctr" indent="0" marL="0">
              <a:buNone/>
            </a:pPr>
            <a:r>
              <a:rPr lang="en-US" sz="1200" dirty="0">
                <a:solidFill>
                  <a:srgbClr val="5B6B77"/>
                </a:solidFill>
                <a:latin typeface="Calibri" pitchFamily="34" charset="0"/>
                <a:ea typeface="Calibri" pitchFamily="34" charset="-122"/>
                <a:cs typeface="Calibri" pitchFamily="34" charset="-120"/>
              </a:rPr>
              <a:t>+ cross-scale attention</a:t>
            </a:r>
            <a:endParaRPr lang="en-US" sz="1200" dirty="0"/>
          </a:p>
        </p:txBody>
      </p:sp>
      <p:sp>
        <p:nvSpPr>
          <p:cNvPr id="18" name="Pipeline arrow 4"/>
          <p:cNvSpPr/>
          <p:nvPr/>
        </p:nvSpPr>
        <p:spPr>
          <a:xfrm>
            <a:off x="7854696" y="1755648"/>
            <a:ext cx="201168" cy="201168"/>
          </a:xfrm>
          <a:prstGeom prst="rightArrow">
            <a:avLst/>
          </a:prstGeom>
          <a:solidFill>
            <a:srgbClr val="5B6B77"/>
          </a:solidFill>
          <a:ln/>
        </p:spPr>
      </p:sp>
      <p:sp>
        <p:nvSpPr>
          <p:cNvPr id="19" name="Pipeline step 5"/>
          <p:cNvSpPr/>
          <p:nvPr/>
        </p:nvSpPr>
        <p:spPr>
          <a:xfrm>
            <a:off x="8083296" y="1325880"/>
            <a:ext cx="1627632" cy="1051560"/>
          </a:xfrm>
          <a:prstGeom prst="roundRect">
            <a:avLst>
              <a:gd name="adj" fmla="val 6957"/>
            </a:avLst>
          </a:prstGeom>
          <a:solidFill>
            <a:srgbClr val="EAF1F4"/>
          </a:solidFill>
          <a:ln/>
        </p:spPr>
      </p:sp>
      <p:sp>
        <p:nvSpPr>
          <p:cNvPr id="20" name="Text 18"/>
          <p:cNvSpPr txBox="1"/>
          <p:nvPr/>
        </p:nvSpPr>
        <p:spPr>
          <a:xfrm>
            <a:off x="8174736" y="1508760"/>
            <a:ext cx="1444752" cy="320040"/>
          </a:xfrm>
          <a:prstGeom prst="rect">
            <a:avLst/>
          </a:prstGeom>
          <a:noFill/>
          <a:ln/>
        </p:spPr>
        <p:txBody>
          <a:bodyPr wrap="square" lIns="0" tIns="0" rIns="0" bIns="0" rtlCol="0" anchor="t"/>
          <a:lstStyle/>
          <a:p>
            <a:pPr algn="ctr" indent="0" marL="0">
              <a:buNone/>
            </a:pPr>
            <a:r>
              <a:rPr lang="en-US" sz="1400" b="1" dirty="0">
                <a:solidFill>
                  <a:srgbClr val="0F2A3D"/>
                </a:solidFill>
                <a:latin typeface="Calibri" pitchFamily="34" charset="0"/>
                <a:ea typeface="Calibri" pitchFamily="34" charset="-122"/>
                <a:cs typeface="Calibri" pitchFamily="34" charset="-120"/>
              </a:rPr>
              <a:t>Deep encoder</a:t>
            </a:r>
            <a:endParaRPr lang="en-US" sz="1400" dirty="0"/>
          </a:p>
        </p:txBody>
      </p:sp>
      <p:sp>
        <p:nvSpPr>
          <p:cNvPr id="21" name="Text 19"/>
          <p:cNvSpPr txBox="1"/>
          <p:nvPr/>
        </p:nvSpPr>
        <p:spPr>
          <a:xfrm>
            <a:off x="8174736" y="1892808"/>
            <a:ext cx="1444752" cy="365760"/>
          </a:xfrm>
          <a:prstGeom prst="rect">
            <a:avLst/>
          </a:prstGeom>
          <a:noFill/>
          <a:ln/>
        </p:spPr>
        <p:txBody>
          <a:bodyPr wrap="square" lIns="0" tIns="0" rIns="0" bIns="0" rtlCol="0" anchor="t"/>
          <a:lstStyle/>
          <a:p>
            <a:pPr algn="ctr" indent="0" marL="0">
              <a:buNone/>
            </a:pPr>
            <a:r>
              <a:rPr lang="en-US" sz="1200" dirty="0">
                <a:solidFill>
                  <a:srgbClr val="5B6B77"/>
                </a:solidFill>
                <a:latin typeface="Calibri" pitchFamily="34" charset="0"/>
                <a:ea typeface="Calibri" pitchFamily="34" charset="-122"/>
                <a:cs typeface="Calibri" pitchFamily="34" charset="-120"/>
              </a:rPr>
              <a:t>fused with macro summary</a:t>
            </a:r>
            <a:endParaRPr lang="en-US" sz="1200" dirty="0"/>
          </a:p>
        </p:txBody>
      </p:sp>
      <p:sp>
        <p:nvSpPr>
          <p:cNvPr id="22" name="Pipeline arrow 5"/>
          <p:cNvSpPr/>
          <p:nvPr/>
        </p:nvSpPr>
        <p:spPr>
          <a:xfrm>
            <a:off x="9738360" y="1755648"/>
            <a:ext cx="201168" cy="201168"/>
          </a:xfrm>
          <a:prstGeom prst="rightArrow">
            <a:avLst/>
          </a:prstGeom>
          <a:solidFill>
            <a:srgbClr val="5B6B77"/>
          </a:solidFill>
          <a:ln/>
        </p:spPr>
      </p:sp>
      <p:sp>
        <p:nvSpPr>
          <p:cNvPr id="23" name="Pipeline step 6"/>
          <p:cNvSpPr/>
          <p:nvPr/>
        </p:nvSpPr>
        <p:spPr>
          <a:xfrm>
            <a:off x="9966960" y="1325880"/>
            <a:ext cx="1627632" cy="1051560"/>
          </a:xfrm>
          <a:prstGeom prst="roundRect">
            <a:avLst>
              <a:gd name="adj" fmla="val 6957"/>
            </a:avLst>
          </a:prstGeom>
          <a:solidFill>
            <a:srgbClr val="EAF1F4"/>
          </a:solidFill>
          <a:ln/>
        </p:spPr>
      </p:sp>
      <p:sp>
        <p:nvSpPr>
          <p:cNvPr id="24" name="Text 22"/>
          <p:cNvSpPr txBox="1"/>
          <p:nvPr/>
        </p:nvSpPr>
        <p:spPr>
          <a:xfrm>
            <a:off x="10058400" y="1508760"/>
            <a:ext cx="1444752" cy="320040"/>
          </a:xfrm>
          <a:prstGeom prst="rect">
            <a:avLst/>
          </a:prstGeom>
          <a:noFill/>
          <a:ln/>
        </p:spPr>
        <p:txBody>
          <a:bodyPr wrap="square" lIns="0" tIns="0" rIns="0" bIns="0" rtlCol="0" anchor="t"/>
          <a:lstStyle/>
          <a:p>
            <a:pPr algn="ctr" indent="0" marL="0">
              <a:buNone/>
            </a:pPr>
            <a:r>
              <a:rPr lang="en-US" sz="1400" b="1" dirty="0">
                <a:solidFill>
                  <a:srgbClr val="0F2A3D"/>
                </a:solidFill>
                <a:latin typeface="Calibri" pitchFamily="34" charset="0"/>
                <a:ea typeface="Calibri" pitchFamily="34" charset="-122"/>
                <a:cs typeface="Calibri" pitchFamily="34" charset="-120"/>
              </a:rPr>
              <a:t>Classifier</a:t>
            </a:r>
            <a:endParaRPr lang="en-US" sz="1400" dirty="0"/>
          </a:p>
        </p:txBody>
      </p:sp>
      <p:sp>
        <p:nvSpPr>
          <p:cNvPr id="25" name="Text 23"/>
          <p:cNvSpPr txBox="1"/>
          <p:nvPr/>
        </p:nvSpPr>
        <p:spPr>
          <a:xfrm>
            <a:off x="10058400" y="1892808"/>
            <a:ext cx="1444752" cy="365760"/>
          </a:xfrm>
          <a:prstGeom prst="rect">
            <a:avLst/>
          </a:prstGeom>
          <a:noFill/>
          <a:ln/>
        </p:spPr>
        <p:txBody>
          <a:bodyPr wrap="square" lIns="0" tIns="0" rIns="0" bIns="0" rtlCol="0" anchor="t"/>
          <a:lstStyle/>
          <a:p>
            <a:pPr algn="ctr" indent="0" marL="0">
              <a:buNone/>
            </a:pPr>
            <a:r>
              <a:rPr lang="en-US" sz="1200" dirty="0">
                <a:solidFill>
                  <a:srgbClr val="5B6B77"/>
                </a:solidFill>
                <a:latin typeface="Calibri" pitchFamily="34" charset="0"/>
                <a:ea typeface="Calibri" pitchFamily="34" charset="-122"/>
                <a:cs typeface="Calibri" pitchFamily="34" charset="-120"/>
              </a:rPr>
              <a:t>100 classes</a:t>
            </a:r>
            <a:endParaRPr lang="en-US" sz="1200" dirty="0"/>
          </a:p>
        </p:txBody>
      </p:sp>
      <p:sp>
        <p:nvSpPr>
          <p:cNvPr id="26" name="Intro card 1"/>
          <p:cNvSpPr/>
          <p:nvPr/>
        </p:nvSpPr>
        <p:spPr>
          <a:xfrm>
            <a:off x="548640" y="2697480"/>
            <a:ext cx="3566160" cy="3429000"/>
          </a:xfrm>
          <a:prstGeom prst="roundRect">
            <a:avLst>
              <a:gd name="adj" fmla="val 2133"/>
            </a:avLst>
          </a:prstGeom>
          <a:solidFill>
            <a:srgbClr val="FFFFFF"/>
          </a:solidFill>
          <a:ln w="12700">
            <a:solidFill>
              <a:srgbClr val="D3DEE4"/>
            </a:solidFill>
            <a:prstDash val="solid"/>
          </a:ln>
        </p:spPr>
      </p:sp>
      <p:sp>
        <p:nvSpPr>
          <p:cNvPr id="27" name="Intro badge 1"/>
          <p:cNvSpPr/>
          <p:nvPr/>
        </p:nvSpPr>
        <p:spPr>
          <a:xfrm>
            <a:off x="777240" y="2926080"/>
            <a:ext cx="457200" cy="457200"/>
          </a:xfrm>
          <a:prstGeom prst="ellipse">
            <a:avLst/>
          </a:prstGeom>
          <a:solidFill>
            <a:srgbClr val="1B7F8C"/>
          </a:solidFill>
          <a:ln/>
        </p:spPr>
      </p:sp>
      <p:sp>
        <p:nvSpPr>
          <p:cNvPr id="28" name="Intro badge 1 label"/>
          <p:cNvSpPr txBox="1"/>
          <p:nvPr/>
        </p:nvSpPr>
        <p:spPr>
          <a:xfrm>
            <a:off x="777240" y="292608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29" name="Text 27"/>
          <p:cNvSpPr txBox="1"/>
          <p:nvPr/>
        </p:nvSpPr>
        <p:spPr>
          <a:xfrm>
            <a:off x="1371600" y="2999232"/>
            <a:ext cx="2560320" cy="365760"/>
          </a:xfrm>
          <a:prstGeom prst="rect">
            <a:avLst/>
          </a:prstGeom>
          <a:noFill/>
          <a:ln/>
        </p:spPr>
        <p:txBody>
          <a:bodyPr wrap="square" lIns="0" tIns="0" rIns="0" bIns="0" rtlCol="0" anchor="t"/>
          <a:lstStyle/>
          <a:p>
            <a:pPr indent="0" marL="0">
              <a:buNone/>
            </a:pPr>
            <a:r>
              <a:rPr lang="en-US" sz="1800" b="1" dirty="0">
                <a:solidFill>
                  <a:srgbClr val="0F2A3D"/>
                </a:solidFill>
                <a:latin typeface="Calibri" pitchFamily="34" charset="0"/>
                <a:ea typeface="Calibri" pitchFamily="34" charset="-122"/>
                <a:cs typeface="Calibri" pitchFamily="34" charset="-120"/>
              </a:rPr>
              <a:t>Context</a:t>
            </a:r>
            <a:endParaRPr lang="en-US" sz="1800" dirty="0"/>
          </a:p>
        </p:txBody>
      </p:sp>
      <p:sp>
        <p:nvSpPr>
          <p:cNvPr id="30" name="Text 28"/>
          <p:cNvSpPr txBox="1"/>
          <p:nvPr/>
        </p:nvSpPr>
        <p:spPr>
          <a:xfrm>
            <a:off x="777240" y="3657600"/>
            <a:ext cx="3154680" cy="2377440"/>
          </a:xfrm>
          <a:prstGeom prst="rect">
            <a:avLst/>
          </a:prstGeom>
          <a:noFill/>
          <a:ln/>
        </p:spPr>
        <p:txBody>
          <a:bodyPr wrap="square" lIns="0" tIns="0" rIns="0" bIns="0" rtlCol="0" anchor="t"/>
          <a:lstStyle/>
          <a:p>
            <a:pPr indent="0" marL="0">
              <a:lnSpc>
                <a:spcPct val="105000"/>
              </a:lnSpc>
              <a:buNone/>
            </a:pPr>
            <a:r>
              <a:rPr lang="en-US" sz="1600" dirty="0">
                <a:solidFill>
                  <a:srgbClr val="1A2530"/>
                </a:solidFill>
                <a:latin typeface="Calibri" pitchFamily="34" charset="0"/>
                <a:ea typeface="Calibri" pitchFamily="34" charset="-122"/>
                <a:cs typeface="Calibri" pitchFamily="34" charset="-120"/>
              </a:rPr>
              <a:t>Swin and PVT fix their multi-scale structure by hand. 2025-26 work learns merging, adaptive tokens, registers and slots instead.</a:t>
            </a:r>
            <a:endParaRPr lang="en-US" sz="1600" dirty="0"/>
          </a:p>
        </p:txBody>
      </p:sp>
      <p:sp>
        <p:nvSpPr>
          <p:cNvPr id="31" name="Intro card 2"/>
          <p:cNvSpPr/>
          <p:nvPr/>
        </p:nvSpPr>
        <p:spPr>
          <a:xfrm>
            <a:off x="4297680" y="2697480"/>
            <a:ext cx="3566160" cy="3429000"/>
          </a:xfrm>
          <a:prstGeom prst="roundRect">
            <a:avLst>
              <a:gd name="adj" fmla="val 2133"/>
            </a:avLst>
          </a:prstGeom>
          <a:solidFill>
            <a:srgbClr val="FFFFFF"/>
          </a:solidFill>
          <a:ln w="12700">
            <a:solidFill>
              <a:srgbClr val="D3DEE4"/>
            </a:solidFill>
            <a:prstDash val="solid"/>
          </a:ln>
        </p:spPr>
      </p:sp>
      <p:sp>
        <p:nvSpPr>
          <p:cNvPr id="32" name="Intro badge 2"/>
          <p:cNvSpPr/>
          <p:nvPr/>
        </p:nvSpPr>
        <p:spPr>
          <a:xfrm>
            <a:off x="4526280" y="2926080"/>
            <a:ext cx="457200" cy="457200"/>
          </a:xfrm>
          <a:prstGeom prst="ellipse">
            <a:avLst/>
          </a:prstGeom>
          <a:solidFill>
            <a:srgbClr val="1B7F8C"/>
          </a:solidFill>
          <a:ln/>
        </p:spPr>
      </p:sp>
      <p:sp>
        <p:nvSpPr>
          <p:cNvPr id="33" name="Intro badge 2 label"/>
          <p:cNvSpPr txBox="1"/>
          <p:nvPr/>
        </p:nvSpPr>
        <p:spPr>
          <a:xfrm>
            <a:off x="4526280" y="292608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34" name="Text 32"/>
          <p:cNvSpPr txBox="1"/>
          <p:nvPr/>
        </p:nvSpPr>
        <p:spPr>
          <a:xfrm>
            <a:off x="5120640" y="2999232"/>
            <a:ext cx="2560320" cy="365760"/>
          </a:xfrm>
          <a:prstGeom prst="rect">
            <a:avLst/>
          </a:prstGeom>
          <a:noFill/>
          <a:ln/>
        </p:spPr>
        <p:txBody>
          <a:bodyPr wrap="square" lIns="0" tIns="0" rIns="0" bIns="0" rtlCol="0" anchor="t"/>
          <a:lstStyle/>
          <a:p>
            <a:pPr indent="0" marL="0">
              <a:buNone/>
            </a:pPr>
            <a:r>
              <a:rPr lang="en-US" sz="1800" b="1" dirty="0">
                <a:solidFill>
                  <a:srgbClr val="0F2A3D"/>
                </a:solidFill>
                <a:latin typeface="Calibri" pitchFamily="34" charset="0"/>
                <a:ea typeface="Calibri" pitchFamily="34" charset="-122"/>
                <a:cs typeface="Calibri" pitchFamily="34" charset="-120"/>
              </a:rPr>
              <a:t>Minor project</a:t>
            </a:r>
            <a:endParaRPr lang="en-US" sz="1800" dirty="0"/>
          </a:p>
        </p:txBody>
      </p:sp>
      <p:sp>
        <p:nvSpPr>
          <p:cNvPr id="35" name="Text 33"/>
          <p:cNvSpPr txBox="1"/>
          <p:nvPr/>
        </p:nvSpPr>
        <p:spPr>
          <a:xfrm>
            <a:off x="4526280" y="3657600"/>
            <a:ext cx="3154680" cy="2377440"/>
          </a:xfrm>
          <a:prstGeom prst="rect">
            <a:avLst/>
          </a:prstGeom>
          <a:noFill/>
          <a:ln/>
        </p:spPr>
        <p:txBody>
          <a:bodyPr wrap="square" lIns="0" tIns="0" rIns="0" bIns="0" rtlCol="0" anchor="t"/>
          <a:lstStyle/>
          <a:p>
            <a:pPr indent="0" marL="0">
              <a:lnSpc>
                <a:spcPct val="105000"/>
              </a:lnSpc>
              <a:buNone/>
            </a:pPr>
            <a:r>
              <a:rPr lang="en-US" sz="1600" dirty="0">
                <a:solidFill>
                  <a:srgbClr val="1A2530"/>
                </a:solidFill>
                <a:latin typeface="Calibri" pitchFamily="34" charset="0"/>
                <a:ea typeface="Calibri" pitchFamily="34" charset="-122"/>
                <a:cs typeface="Calibri" pitchFamily="34" charset="-120"/>
              </a:rPr>
              <a:t>CET-ViT routes tokens into 32 slots with one top-3 sparse softmax (0.0069M parameters). Trained from scratch on CIFAR-100 and Tiny-ImageNet. The original causal-emergence framing was withdrawn.</a:t>
            </a:r>
            <a:endParaRPr lang="en-US" sz="1600" dirty="0"/>
          </a:p>
        </p:txBody>
      </p:sp>
      <p:sp>
        <p:nvSpPr>
          <p:cNvPr id="36" name="Intro card 3"/>
          <p:cNvSpPr/>
          <p:nvPr/>
        </p:nvSpPr>
        <p:spPr>
          <a:xfrm>
            <a:off x="8046720" y="2697480"/>
            <a:ext cx="3566160" cy="3429000"/>
          </a:xfrm>
          <a:prstGeom prst="roundRect">
            <a:avLst>
              <a:gd name="adj" fmla="val 2133"/>
            </a:avLst>
          </a:prstGeom>
          <a:solidFill>
            <a:srgbClr val="FFFFFF"/>
          </a:solidFill>
          <a:ln w="12700">
            <a:solidFill>
              <a:srgbClr val="D3DEE4"/>
            </a:solidFill>
            <a:prstDash val="solid"/>
          </a:ln>
        </p:spPr>
      </p:sp>
      <p:sp>
        <p:nvSpPr>
          <p:cNvPr id="37" name="Intro badge 3"/>
          <p:cNvSpPr/>
          <p:nvPr/>
        </p:nvSpPr>
        <p:spPr>
          <a:xfrm>
            <a:off x="8275320" y="2926080"/>
            <a:ext cx="457200" cy="457200"/>
          </a:xfrm>
          <a:prstGeom prst="ellipse">
            <a:avLst/>
          </a:prstGeom>
          <a:solidFill>
            <a:srgbClr val="F4A261"/>
          </a:solidFill>
          <a:ln/>
        </p:spPr>
      </p:sp>
      <p:sp>
        <p:nvSpPr>
          <p:cNvPr id="38" name="Intro badge 3 label"/>
          <p:cNvSpPr txBox="1"/>
          <p:nvPr/>
        </p:nvSpPr>
        <p:spPr>
          <a:xfrm>
            <a:off x="8275320" y="2926080"/>
            <a:ext cx="457200" cy="457200"/>
          </a:xfrm>
          <a:prstGeom prst="rect">
            <a:avLst/>
          </a:prstGeom>
          <a:noFill/>
          <a:ln/>
        </p:spPr>
        <p:txBody>
          <a:bodyPr wrap="square" lIns="0" tIns="0" rIns="0" bIns="0" rtlCol="0" anchor="ctr"/>
          <a:lstStyle/>
          <a:p>
            <a:pPr algn="ctr" indent="0" marL="0">
              <a:buNone/>
            </a:pPr>
            <a:r>
              <a:rPr lang="en-US" sz="1600" b="1" dirty="0">
                <a:solidFill>
                  <a:srgbClr val="0F2A3D"/>
                </a:solidFill>
                <a:latin typeface="Calibri" pitchFamily="34" charset="0"/>
                <a:ea typeface="Calibri" pitchFamily="34" charset="-122"/>
                <a:cs typeface="Calibri" pitchFamily="34" charset="-120"/>
              </a:rPr>
              <a:t>3</a:t>
            </a:r>
            <a:endParaRPr lang="en-US" sz="1600" dirty="0"/>
          </a:p>
        </p:txBody>
      </p:sp>
      <p:sp>
        <p:nvSpPr>
          <p:cNvPr id="39" name="Text 37"/>
          <p:cNvSpPr txBox="1"/>
          <p:nvPr/>
        </p:nvSpPr>
        <p:spPr>
          <a:xfrm>
            <a:off x="8869680" y="2999232"/>
            <a:ext cx="2560320" cy="365760"/>
          </a:xfrm>
          <a:prstGeom prst="rect">
            <a:avLst/>
          </a:prstGeom>
          <a:noFill/>
          <a:ln/>
        </p:spPr>
        <p:txBody>
          <a:bodyPr wrap="square" lIns="0" tIns="0" rIns="0" bIns="0" rtlCol="0" anchor="t"/>
          <a:lstStyle/>
          <a:p>
            <a:pPr indent="0" marL="0">
              <a:buNone/>
            </a:pPr>
            <a:r>
              <a:rPr lang="en-US" sz="1800" b="1" dirty="0">
                <a:solidFill>
                  <a:srgbClr val="0F2A3D"/>
                </a:solidFill>
                <a:latin typeface="Calibri" pitchFamily="34" charset="0"/>
                <a:ea typeface="Calibri" pitchFamily="34" charset="-122"/>
                <a:cs typeface="Calibri" pitchFamily="34" charset="-120"/>
              </a:rPr>
              <a:t>Self-audit</a:t>
            </a:r>
            <a:endParaRPr lang="en-US" sz="1800" dirty="0"/>
          </a:p>
        </p:txBody>
      </p:sp>
      <p:sp>
        <p:nvSpPr>
          <p:cNvPr id="40" name="Text 38"/>
          <p:cNvSpPr txBox="1"/>
          <p:nvPr/>
        </p:nvSpPr>
        <p:spPr>
          <a:xfrm>
            <a:off x="8275320" y="3657600"/>
            <a:ext cx="3154680" cy="2377440"/>
          </a:xfrm>
          <a:prstGeom prst="rect">
            <a:avLst/>
          </a:prstGeom>
          <a:noFill/>
          <a:ln/>
        </p:spPr>
        <p:txBody>
          <a:bodyPr wrap="square" lIns="0" tIns="0" rIns="0" bIns="0" rtlCol="0" anchor="t"/>
          <a:lstStyle/>
          <a:p>
            <a:pPr indent="0" marL="0">
              <a:lnSpc>
                <a:spcPct val="105000"/>
              </a:lnSpc>
              <a:buNone/>
            </a:pPr>
            <a:r>
              <a:rPr lang="en-US" sz="1600" dirty="0">
                <a:solidFill>
                  <a:srgbClr val="1A2530"/>
                </a:solidFill>
                <a:latin typeface="Calibri" pitchFamily="34" charset="0"/>
                <a:ea typeface="Calibri" pitchFamily="34" charset="-122"/>
                <a:cs typeface="Calibri" pitchFamily="34" charset="-120"/>
              </a:rPr>
              <a:t>A compute-matched control, MAC-matched Swins and per-arm tuning (237 runs) showed the headline margin does not hold up. The open question is what grouping adds beyond capacity.</a:t>
            </a:r>
            <a:endParaRPr lang="en-US" sz="16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What our own audit found</a:t>
            </a:r>
            <a:endParaRPr lang="en-US" sz="3200" dirty="0"/>
          </a:p>
        </p:txBody>
      </p:sp>
      <p:graphicFrame>
        <p:nvGraphicFramePr>
          <p:cNvPr id="3" name="Branch minus control chart" descr=""/>
          <p:cNvGraphicFramePr/>
          <p:nvPr/>
        </p:nvGraphicFramePr>
        <p:xfrm>
          <a:off x="548640" y="1234440"/>
          <a:ext cx="7223760" cy="4937760"/>
        </p:xfrm>
        <a:graphic xmlns:a="http://schemas.openxmlformats.org/drawingml/2006/main">
          <a:graphicData uri="http://schemas.openxmlformats.org/drawingml/2006/chart">
            <c:chart xmlns:c="http://schemas.openxmlformats.org/drawingml/2006/chart" r:id="rId1"/>
          </a:graphicData>
        </a:graphic>
      </p:graphicFrame>
      <p:sp>
        <p:nvSpPr>
          <p:cNvPr id="4" name="Stat card 1"/>
          <p:cNvSpPr/>
          <p:nvPr/>
        </p:nvSpPr>
        <p:spPr>
          <a:xfrm>
            <a:off x="8046720" y="1234440"/>
            <a:ext cx="3611880" cy="1554480"/>
          </a:xfrm>
          <a:prstGeom prst="roundRect">
            <a:avLst>
              <a:gd name="adj" fmla="val 4706"/>
            </a:avLst>
          </a:prstGeom>
          <a:solidFill>
            <a:srgbClr val="EAF1F4"/>
          </a:solidFill>
          <a:ln/>
        </p:spPr>
      </p:sp>
      <p:sp>
        <p:nvSpPr>
          <p:cNvPr id="5" name="Text 2"/>
          <p:cNvSpPr txBox="1"/>
          <p:nvPr/>
        </p:nvSpPr>
        <p:spPr>
          <a:xfrm>
            <a:off x="8229600" y="1371600"/>
            <a:ext cx="3246120" cy="685800"/>
          </a:xfrm>
          <a:prstGeom prst="rect">
            <a:avLst/>
          </a:prstGeom>
          <a:noFill/>
          <a:ln/>
        </p:spPr>
        <p:txBody>
          <a:bodyPr wrap="square" lIns="0" tIns="0" rIns="0" bIns="0" rtlCol="0" anchor="t"/>
          <a:lstStyle/>
          <a:p>
            <a:pPr indent="0" marL="0">
              <a:buNone/>
            </a:pPr>
            <a:r>
              <a:rPr lang="en-US" sz="4000" b="1" dirty="0">
                <a:solidFill>
                  <a:srgbClr val="1B7F8C"/>
                </a:solidFill>
                <a:latin typeface="Cambria" pitchFamily="34" charset="0"/>
                <a:ea typeface="Cambria" pitchFamily="34" charset="-122"/>
                <a:cs typeface="Cambria" pitchFamily="34" charset="-120"/>
              </a:rPr>
              <a:t>237</a:t>
            </a:r>
            <a:endParaRPr lang="en-US" sz="4000" dirty="0"/>
          </a:p>
        </p:txBody>
      </p:sp>
      <p:sp>
        <p:nvSpPr>
          <p:cNvPr id="6" name="Text 3"/>
          <p:cNvSpPr txBox="1"/>
          <p:nvPr/>
        </p:nvSpPr>
        <p:spPr>
          <a:xfrm>
            <a:off x="8229600" y="2103120"/>
            <a:ext cx="3246120" cy="640080"/>
          </a:xfrm>
          <a:prstGeom prst="rect">
            <a:avLst/>
          </a:prstGeom>
          <a:noFill/>
          <a:ln/>
        </p:spPr>
        <p:txBody>
          <a:bodyPr wrap="square" lIns="0" tIns="0" rIns="0" bIns="0" rtlCol="0" anchor="t"/>
          <a:lstStyle/>
          <a:p>
            <a:pPr indent="0" marL="0">
              <a:buNone/>
            </a:pPr>
            <a:r>
              <a:rPr lang="en-US" sz="1300" dirty="0">
                <a:solidFill>
                  <a:srgbClr val="1A2530"/>
                </a:solidFill>
                <a:latin typeface="Calibri" pitchFamily="34" charset="0"/>
                <a:ea typeface="Calibri" pitchFamily="34" charset="-122"/>
                <a:cs typeface="Calibri" pitchFamily="34" charset="-120"/>
              </a:rPr>
              <a:t>runs, 229.29 H100-hours</a:t>
            </a:r>
            <a:endParaRPr lang="en-US" sz="1300" dirty="0"/>
          </a:p>
        </p:txBody>
      </p:sp>
      <p:sp>
        <p:nvSpPr>
          <p:cNvPr id="7" name="Stat card 2"/>
          <p:cNvSpPr/>
          <p:nvPr/>
        </p:nvSpPr>
        <p:spPr>
          <a:xfrm>
            <a:off x="8046720" y="2926080"/>
            <a:ext cx="3611880" cy="1554480"/>
          </a:xfrm>
          <a:prstGeom prst="roundRect">
            <a:avLst>
              <a:gd name="adj" fmla="val 4706"/>
            </a:avLst>
          </a:prstGeom>
          <a:solidFill>
            <a:srgbClr val="EAF1F4"/>
          </a:solidFill>
          <a:ln/>
        </p:spPr>
      </p:sp>
      <p:sp>
        <p:nvSpPr>
          <p:cNvPr id="8" name="Text 5"/>
          <p:cNvSpPr txBox="1"/>
          <p:nvPr/>
        </p:nvSpPr>
        <p:spPr>
          <a:xfrm>
            <a:off x="8229600" y="3063240"/>
            <a:ext cx="3246120" cy="685800"/>
          </a:xfrm>
          <a:prstGeom prst="rect">
            <a:avLst/>
          </a:prstGeom>
          <a:noFill/>
          <a:ln/>
        </p:spPr>
        <p:txBody>
          <a:bodyPr wrap="square" lIns="0" tIns="0" rIns="0" bIns="0" rtlCol="0" anchor="t"/>
          <a:lstStyle/>
          <a:p>
            <a:pPr indent="0" marL="0">
              <a:buNone/>
            </a:pPr>
            <a:r>
              <a:rPr lang="en-US" sz="4000" b="1" dirty="0">
                <a:solidFill>
                  <a:srgbClr val="1B7F8C"/>
                </a:solidFill>
                <a:latin typeface="Cambria" pitchFamily="34" charset="0"/>
                <a:ea typeface="Cambria" pitchFamily="34" charset="-122"/>
                <a:cs typeface="Cambria" pitchFamily="34" charset="-120"/>
              </a:rPr>
              <a:t>75.20</a:t>
            </a:r>
            <a:endParaRPr lang="en-US" sz="4000" dirty="0"/>
          </a:p>
        </p:txBody>
      </p:sp>
      <p:sp>
        <p:nvSpPr>
          <p:cNvPr id="9" name="Text 6"/>
          <p:cNvSpPr txBox="1"/>
          <p:nvPr/>
        </p:nvSpPr>
        <p:spPr>
          <a:xfrm>
            <a:off x="8229600" y="3794760"/>
            <a:ext cx="3246120" cy="640080"/>
          </a:xfrm>
          <a:prstGeom prst="rect">
            <a:avLst/>
          </a:prstGeom>
          <a:noFill/>
          <a:ln/>
        </p:spPr>
        <p:txBody>
          <a:bodyPr wrap="square" lIns="0" tIns="0" rIns="0" bIns="0" rtlCol="0" anchor="t"/>
          <a:lstStyle/>
          <a:p>
            <a:pPr indent="0" marL="0">
              <a:buNone/>
            </a:pPr>
            <a:r>
              <a:rPr lang="en-US" sz="1300" dirty="0">
                <a:solidFill>
                  <a:srgbClr val="1A2530"/>
                </a:solidFill>
                <a:latin typeface="Calibri" pitchFamily="34" charset="0"/>
                <a:ea typeface="Calibri" pitchFamily="34" charset="-122"/>
                <a:cs typeface="Calibri" pitchFamily="34" charset="-120"/>
              </a:rPr>
              <a:t>released no-aux checkpoint, not the logged 74.15</a:t>
            </a:r>
            <a:endParaRPr lang="en-US" sz="1300" dirty="0"/>
          </a:p>
        </p:txBody>
      </p:sp>
      <p:sp>
        <p:nvSpPr>
          <p:cNvPr id="10" name="Stat card 3"/>
          <p:cNvSpPr/>
          <p:nvPr/>
        </p:nvSpPr>
        <p:spPr>
          <a:xfrm>
            <a:off x="8046720" y="4617720"/>
            <a:ext cx="3611880" cy="1554480"/>
          </a:xfrm>
          <a:prstGeom prst="roundRect">
            <a:avLst>
              <a:gd name="adj" fmla="val 4706"/>
            </a:avLst>
          </a:prstGeom>
          <a:solidFill>
            <a:srgbClr val="EAF1F4"/>
          </a:solidFill>
          <a:ln/>
        </p:spPr>
      </p:sp>
      <p:sp>
        <p:nvSpPr>
          <p:cNvPr id="11" name="Text 8"/>
          <p:cNvSpPr txBox="1"/>
          <p:nvPr/>
        </p:nvSpPr>
        <p:spPr>
          <a:xfrm>
            <a:off x="8229600" y="4754880"/>
            <a:ext cx="3246120" cy="685800"/>
          </a:xfrm>
          <a:prstGeom prst="rect">
            <a:avLst/>
          </a:prstGeom>
          <a:noFill/>
          <a:ln/>
        </p:spPr>
        <p:txBody>
          <a:bodyPr wrap="square" lIns="0" tIns="0" rIns="0" bIns="0" rtlCol="0" anchor="t"/>
          <a:lstStyle/>
          <a:p>
            <a:pPr indent="0" marL="0">
              <a:buNone/>
            </a:pPr>
            <a:r>
              <a:rPr lang="en-US" sz="4000" b="1" dirty="0">
                <a:solidFill>
                  <a:srgbClr val="C8553D"/>
                </a:solidFill>
                <a:latin typeface="Cambria" pitchFamily="34" charset="0"/>
                <a:ea typeface="Cambria" pitchFamily="34" charset="-122"/>
                <a:cs typeface="Cambria" pitchFamily="34" charset="-120"/>
              </a:rPr>
              <a:t>+3.91</a:t>
            </a:r>
            <a:endParaRPr lang="en-US" sz="4000" dirty="0"/>
          </a:p>
        </p:txBody>
      </p:sp>
      <p:sp>
        <p:nvSpPr>
          <p:cNvPr id="12" name="Text 9"/>
          <p:cNvSpPr txBox="1"/>
          <p:nvPr/>
        </p:nvSpPr>
        <p:spPr>
          <a:xfrm>
            <a:off x="8229600" y="5486400"/>
            <a:ext cx="3246120" cy="640080"/>
          </a:xfrm>
          <a:prstGeom prst="rect">
            <a:avLst/>
          </a:prstGeom>
          <a:noFill/>
          <a:ln/>
        </p:spPr>
        <p:txBody>
          <a:bodyPr wrap="square" lIns="0" tIns="0" rIns="0" bIns="0" rtlCol="0" anchor="t"/>
          <a:lstStyle/>
          <a:p>
            <a:pPr indent="0" marL="0">
              <a:buNone/>
            </a:pPr>
            <a:r>
              <a:rPr lang="en-US" sz="1300" dirty="0">
                <a:solidFill>
                  <a:srgbClr val="1A2530"/>
                </a:solidFill>
                <a:latin typeface="Calibri" pitchFamily="34" charset="0"/>
                <a:ea typeface="Calibri" pitchFamily="34" charset="-122"/>
                <a:cs typeface="Calibri" pitchFamily="34" charset="-120"/>
              </a:rPr>
              <a:t>minor-project margin over Swin: one-seed baseline, test-split selection</a:t>
            </a:r>
            <a:endParaRPr lang="en-US" sz="13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Literature survey: 25 works from 2025-2026</a:t>
            </a:r>
            <a:endParaRPr lang="en-US" sz="3200" dirty="0"/>
          </a:p>
        </p:txBody>
      </p:sp>
      <p:sp>
        <p:nvSpPr>
          <p:cNvPr id="3" name="Theme card Token merging and pruning"/>
          <p:cNvSpPr/>
          <p:nvPr/>
        </p:nvSpPr>
        <p:spPr>
          <a:xfrm>
            <a:off x="548640" y="1280160"/>
            <a:ext cx="2651760" cy="2423160"/>
          </a:xfrm>
          <a:prstGeom prst="roundRect">
            <a:avLst>
              <a:gd name="adj" fmla="val 3019"/>
            </a:avLst>
          </a:prstGeom>
          <a:solidFill>
            <a:srgbClr val="EAF1F4"/>
          </a:solidFill>
          <a:ln/>
        </p:spPr>
      </p:sp>
      <p:sp>
        <p:nvSpPr>
          <p:cNvPr id="4" name="Text 2"/>
          <p:cNvSpPr txBox="1"/>
          <p:nvPr/>
        </p:nvSpPr>
        <p:spPr>
          <a:xfrm>
            <a:off x="731520" y="1325880"/>
            <a:ext cx="914400" cy="731520"/>
          </a:xfrm>
          <a:prstGeom prst="rect">
            <a:avLst/>
          </a:prstGeom>
          <a:noFill/>
          <a:ln/>
        </p:spPr>
        <p:txBody>
          <a:bodyPr wrap="square" lIns="0" tIns="0" rIns="0" bIns="0" rtlCol="0" anchor="t"/>
          <a:lstStyle/>
          <a:p>
            <a:pPr indent="0" marL="0">
              <a:buNone/>
            </a:pPr>
            <a:r>
              <a:rPr lang="en-US" sz="4400" b="1" dirty="0">
                <a:solidFill>
                  <a:srgbClr val="1B7F8C"/>
                </a:solidFill>
                <a:latin typeface="Cambria" pitchFamily="34" charset="0"/>
                <a:ea typeface="Cambria" pitchFamily="34" charset="-122"/>
                <a:cs typeface="Cambria" pitchFamily="34" charset="-120"/>
              </a:rPr>
              <a:t>5</a:t>
            </a:r>
            <a:endParaRPr lang="en-US" sz="4400" dirty="0"/>
          </a:p>
        </p:txBody>
      </p:sp>
      <p:sp>
        <p:nvSpPr>
          <p:cNvPr id="5" name="Text 3"/>
          <p:cNvSpPr txBox="1"/>
          <p:nvPr/>
        </p:nvSpPr>
        <p:spPr>
          <a:xfrm>
            <a:off x="731520" y="2057400"/>
            <a:ext cx="2286000" cy="502920"/>
          </a:xfrm>
          <a:prstGeom prst="rect">
            <a:avLst/>
          </a:prstGeom>
          <a:noFill/>
          <a:ln/>
        </p:spPr>
        <p:txBody>
          <a:bodyPr wrap="square" lIns="0" tIns="0" rIns="0" bIns="0" rtlCol="0" anchor="t"/>
          <a:lstStyle/>
          <a:p>
            <a:pPr indent="0" marL="0">
              <a:buNone/>
            </a:pPr>
            <a:r>
              <a:rPr lang="en-US" sz="1500" b="1" dirty="0">
                <a:solidFill>
                  <a:srgbClr val="0F2A3D"/>
                </a:solidFill>
                <a:latin typeface="Calibri" pitchFamily="34" charset="0"/>
                <a:ea typeface="Calibri" pitchFamily="34" charset="-122"/>
                <a:cs typeface="Calibri" pitchFamily="34" charset="-120"/>
              </a:rPr>
              <a:t>Token merging and pruning</a:t>
            </a:r>
            <a:endParaRPr lang="en-US" sz="1500" dirty="0"/>
          </a:p>
        </p:txBody>
      </p:sp>
      <p:sp>
        <p:nvSpPr>
          <p:cNvPr id="6" name="Text 4"/>
          <p:cNvSpPr txBox="1"/>
          <p:nvPr/>
        </p:nvSpPr>
        <p:spPr>
          <a:xfrm>
            <a:off x="731520" y="2560320"/>
            <a:ext cx="2286000" cy="640080"/>
          </a:xfrm>
          <a:prstGeom prst="rect">
            <a:avLst/>
          </a:prstGeom>
          <a:noFill/>
          <a:ln/>
        </p:spPr>
        <p:txBody>
          <a:bodyPr wrap="square" lIns="0" tIns="0" rIns="0" bIns="0" rtlCol="0" anchor="t"/>
          <a:lstStyle/>
          <a:p>
            <a:pPr indent="0" marL="0">
              <a:buNone/>
            </a:pPr>
            <a:r>
              <a:rPr lang="en-US" sz="1200" dirty="0">
                <a:solidFill>
                  <a:srgbClr val="5B6B77"/>
                </a:solidFill>
                <a:latin typeface="Calibri" pitchFamily="34" charset="0"/>
                <a:ea typeface="Calibri" pitchFamily="34" charset="-122"/>
                <a:cs typeface="Calibri" pitchFamily="34" charset="-120"/>
              </a:rPr>
              <a:t>Frequency-aware, saliency-driven, calibrated merging; SPOT; LTM</a:t>
            </a:r>
            <a:endParaRPr lang="en-US" sz="1200" dirty="0"/>
          </a:p>
        </p:txBody>
      </p:sp>
      <p:sp>
        <p:nvSpPr>
          <p:cNvPr id="7" name="Text 5"/>
          <p:cNvSpPr txBox="1"/>
          <p:nvPr/>
        </p:nvSpPr>
        <p:spPr>
          <a:xfrm>
            <a:off x="731520" y="3200400"/>
            <a:ext cx="2286000" cy="457200"/>
          </a:xfrm>
          <a:prstGeom prst="rect">
            <a:avLst/>
          </a:prstGeom>
          <a:noFill/>
          <a:ln/>
        </p:spPr>
        <p:txBody>
          <a:bodyPr wrap="square" lIns="0" tIns="0" rIns="0" bIns="0" rtlCol="0" anchor="t"/>
          <a:lstStyle/>
          <a:p>
            <a:pPr indent="0" marL="0">
              <a:buNone/>
            </a:pPr>
            <a:r>
              <a:rPr lang="en-US" sz="1200" i="1" dirty="0">
                <a:solidFill>
                  <a:srgbClr val="1A2530"/>
                </a:solidFill>
                <a:latin typeface="Calibri" pitchFamily="34" charset="0"/>
                <a:ea typeface="Calibri" pitchFamily="34" charset="-122"/>
                <a:cs typeface="Calibri" pitchFamily="34" charset="-120"/>
              </a:rPr>
              <a:t>Efficiency framing, inference time</a:t>
            </a:r>
            <a:endParaRPr lang="en-US" sz="1200" dirty="0"/>
          </a:p>
        </p:txBody>
      </p:sp>
      <p:sp>
        <p:nvSpPr>
          <p:cNvPr id="8" name="Theme card Hierarchical and adaptive tokenization"/>
          <p:cNvSpPr/>
          <p:nvPr/>
        </p:nvSpPr>
        <p:spPr>
          <a:xfrm>
            <a:off x="3355848" y="1280160"/>
            <a:ext cx="2651760" cy="2423160"/>
          </a:xfrm>
          <a:prstGeom prst="roundRect">
            <a:avLst>
              <a:gd name="adj" fmla="val 3019"/>
            </a:avLst>
          </a:prstGeom>
          <a:solidFill>
            <a:srgbClr val="EAF1F4"/>
          </a:solidFill>
          <a:ln/>
        </p:spPr>
      </p:sp>
      <p:sp>
        <p:nvSpPr>
          <p:cNvPr id="9" name="Text 7"/>
          <p:cNvSpPr txBox="1"/>
          <p:nvPr/>
        </p:nvSpPr>
        <p:spPr>
          <a:xfrm>
            <a:off x="3538728" y="1325880"/>
            <a:ext cx="914400" cy="731520"/>
          </a:xfrm>
          <a:prstGeom prst="rect">
            <a:avLst/>
          </a:prstGeom>
          <a:noFill/>
          <a:ln/>
        </p:spPr>
        <p:txBody>
          <a:bodyPr wrap="square" lIns="0" tIns="0" rIns="0" bIns="0" rtlCol="0" anchor="t"/>
          <a:lstStyle/>
          <a:p>
            <a:pPr indent="0" marL="0">
              <a:buNone/>
            </a:pPr>
            <a:r>
              <a:rPr lang="en-US" sz="4400" b="1" dirty="0">
                <a:solidFill>
                  <a:srgbClr val="1B7F8C"/>
                </a:solidFill>
                <a:latin typeface="Cambria" pitchFamily="34" charset="0"/>
                <a:ea typeface="Cambria" pitchFamily="34" charset="-122"/>
                <a:cs typeface="Cambria" pitchFamily="34" charset="-120"/>
              </a:rPr>
              <a:t>4</a:t>
            </a:r>
            <a:endParaRPr lang="en-US" sz="4400" dirty="0"/>
          </a:p>
        </p:txBody>
      </p:sp>
      <p:sp>
        <p:nvSpPr>
          <p:cNvPr id="10" name="Text 8"/>
          <p:cNvSpPr txBox="1"/>
          <p:nvPr/>
        </p:nvSpPr>
        <p:spPr>
          <a:xfrm>
            <a:off x="3538728" y="2057400"/>
            <a:ext cx="2286000" cy="502920"/>
          </a:xfrm>
          <a:prstGeom prst="rect">
            <a:avLst/>
          </a:prstGeom>
          <a:noFill/>
          <a:ln/>
        </p:spPr>
        <p:txBody>
          <a:bodyPr wrap="square" lIns="0" tIns="0" rIns="0" bIns="0" rtlCol="0" anchor="t"/>
          <a:lstStyle/>
          <a:p>
            <a:pPr indent="0" marL="0">
              <a:buNone/>
            </a:pPr>
            <a:r>
              <a:rPr lang="en-US" sz="1500" b="1" dirty="0">
                <a:solidFill>
                  <a:srgbClr val="0F2A3D"/>
                </a:solidFill>
                <a:latin typeface="Calibri" pitchFamily="34" charset="0"/>
                <a:ea typeface="Calibri" pitchFamily="34" charset="-122"/>
                <a:cs typeface="Calibri" pitchFamily="34" charset="-120"/>
              </a:rPr>
              <a:t>Hierarchical and adaptive tokenization</a:t>
            </a:r>
            <a:endParaRPr lang="en-US" sz="1500" dirty="0"/>
          </a:p>
        </p:txBody>
      </p:sp>
      <p:sp>
        <p:nvSpPr>
          <p:cNvPr id="11" name="Text 9"/>
          <p:cNvSpPr txBox="1"/>
          <p:nvPr/>
        </p:nvSpPr>
        <p:spPr>
          <a:xfrm>
            <a:off x="3538728" y="2560320"/>
            <a:ext cx="2286000" cy="640080"/>
          </a:xfrm>
          <a:prstGeom prst="rect">
            <a:avLst/>
          </a:prstGeom>
          <a:noFill/>
          <a:ln/>
        </p:spPr>
        <p:txBody>
          <a:bodyPr wrap="square" lIns="0" tIns="0" rIns="0" bIns="0" rtlCol="0" anchor="t"/>
          <a:lstStyle/>
          <a:p>
            <a:pPr indent="0" marL="0">
              <a:buNone/>
            </a:pPr>
            <a:r>
              <a:rPr lang="en-US" sz="1200" dirty="0">
                <a:solidFill>
                  <a:srgbClr val="5B6B77"/>
                </a:solidFill>
                <a:latin typeface="Calibri" pitchFamily="34" charset="0"/>
                <a:ea typeface="Calibri" pitchFamily="34" charset="-122"/>
                <a:cs typeface="Calibri" pitchFamily="34" charset="-120"/>
              </a:rPr>
              <a:t>Stepwise patch merging, DART, adaptive-length tokens, CoSwin</a:t>
            </a:r>
            <a:endParaRPr lang="en-US" sz="1200" dirty="0"/>
          </a:p>
        </p:txBody>
      </p:sp>
      <p:sp>
        <p:nvSpPr>
          <p:cNvPr id="12" name="Text 10"/>
          <p:cNvSpPr txBox="1"/>
          <p:nvPr/>
        </p:nvSpPr>
        <p:spPr>
          <a:xfrm>
            <a:off x="3538728" y="3200400"/>
            <a:ext cx="2286000" cy="457200"/>
          </a:xfrm>
          <a:prstGeom prst="rect">
            <a:avLst/>
          </a:prstGeom>
          <a:noFill/>
          <a:ln/>
        </p:spPr>
        <p:txBody>
          <a:bodyPr wrap="square" lIns="0" tIns="0" rIns="0" bIns="0" rtlCol="0" anchor="t"/>
          <a:lstStyle/>
          <a:p>
            <a:pPr indent="0" marL="0">
              <a:buNone/>
            </a:pPr>
            <a:r>
              <a:rPr lang="en-US" sz="1200" i="1" dirty="0">
                <a:solidFill>
                  <a:srgbClr val="1A2530"/>
                </a:solidFill>
                <a:latin typeface="Calibri" pitchFamily="34" charset="0"/>
                <a:ea typeface="Calibri" pitchFamily="34" charset="-122"/>
                <a:cs typeface="Calibri" pitchFamily="34" charset="-120"/>
              </a:rPr>
              <a:t>Content-adaptive structure; small-data hierarchies</a:t>
            </a:r>
            <a:endParaRPr lang="en-US" sz="1200" dirty="0"/>
          </a:p>
        </p:txBody>
      </p:sp>
      <p:sp>
        <p:nvSpPr>
          <p:cNvPr id="13" name="Theme card Extra tokens and registers"/>
          <p:cNvSpPr/>
          <p:nvPr/>
        </p:nvSpPr>
        <p:spPr>
          <a:xfrm>
            <a:off x="6163056" y="1280160"/>
            <a:ext cx="2651760" cy="2423160"/>
          </a:xfrm>
          <a:prstGeom prst="roundRect">
            <a:avLst>
              <a:gd name="adj" fmla="val 3019"/>
            </a:avLst>
          </a:prstGeom>
          <a:solidFill>
            <a:srgbClr val="1B7F8C"/>
          </a:solidFill>
          <a:ln/>
        </p:spPr>
      </p:sp>
      <p:sp>
        <p:nvSpPr>
          <p:cNvPr id="14" name="Text 12"/>
          <p:cNvSpPr txBox="1"/>
          <p:nvPr/>
        </p:nvSpPr>
        <p:spPr>
          <a:xfrm>
            <a:off x="6345936" y="1325880"/>
            <a:ext cx="914400" cy="73152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4</a:t>
            </a:r>
            <a:endParaRPr lang="en-US" sz="4400" dirty="0"/>
          </a:p>
        </p:txBody>
      </p:sp>
      <p:sp>
        <p:nvSpPr>
          <p:cNvPr id="15" name="Text 13"/>
          <p:cNvSpPr txBox="1"/>
          <p:nvPr/>
        </p:nvSpPr>
        <p:spPr>
          <a:xfrm>
            <a:off x="6345936" y="2057400"/>
            <a:ext cx="2286000" cy="502920"/>
          </a:xfrm>
          <a:prstGeom prst="rect">
            <a:avLst/>
          </a:prstGeom>
          <a:noFill/>
          <a:ln/>
        </p:spPr>
        <p:txBody>
          <a:bodyPr wrap="square" lIns="0" tIns="0" rIns="0" bIns="0" rtlCol="0" anchor="t"/>
          <a:lstStyle/>
          <a:p>
            <a:pPr indent="0" marL="0">
              <a:buNone/>
            </a:pPr>
            <a:r>
              <a:rPr lang="en-US" sz="1500" b="1" dirty="0">
                <a:solidFill>
                  <a:srgbClr val="FFFFFF"/>
                </a:solidFill>
                <a:latin typeface="Calibri" pitchFamily="34" charset="0"/>
                <a:ea typeface="Calibri" pitchFamily="34" charset="-122"/>
                <a:cs typeface="Calibri" pitchFamily="34" charset="-120"/>
              </a:rPr>
              <a:t>Extra tokens and registers</a:t>
            </a:r>
            <a:endParaRPr lang="en-US" sz="1500" dirty="0"/>
          </a:p>
        </p:txBody>
      </p:sp>
      <p:sp>
        <p:nvSpPr>
          <p:cNvPr id="16" name="Text 14"/>
          <p:cNvSpPr txBox="1"/>
          <p:nvPr/>
        </p:nvSpPr>
        <p:spPr>
          <a:xfrm>
            <a:off x="6345936" y="2560320"/>
            <a:ext cx="2286000" cy="640080"/>
          </a:xfrm>
          <a:prstGeom prst="rect">
            <a:avLst/>
          </a:prstGeom>
          <a:noFill/>
          <a:ln/>
        </p:spPr>
        <p:txBody>
          <a:bodyPr wrap="square" lIns="0" tIns="0" rIns="0" bIns="0" rtlCol="0" anchor="t"/>
          <a:lstStyle/>
          <a:p>
            <a:pPr indent="0" marL="0">
              <a:buNone/>
            </a:pPr>
            <a:r>
              <a:rPr lang="en-US" sz="1200" dirty="0">
                <a:solidFill>
                  <a:srgbClr val="FFFFFF"/>
                </a:solidFill>
                <a:latin typeface="Calibri" pitchFamily="34" charset="0"/>
                <a:ea typeface="Calibri" pitchFamily="34" charset="-122"/>
                <a:cs typeface="Calibri" pitchFamily="34" charset="-120"/>
              </a:rPr>
              <a:t>Training-free and self-distilled registers, [CLS] decoupling, extra tokens</a:t>
            </a:r>
            <a:endParaRPr lang="en-US" sz="1200" dirty="0"/>
          </a:p>
        </p:txBody>
      </p:sp>
      <p:sp>
        <p:nvSpPr>
          <p:cNvPr id="17" name="Text 15"/>
          <p:cNvSpPr txBox="1"/>
          <p:nvPr/>
        </p:nvSpPr>
        <p:spPr>
          <a:xfrm>
            <a:off x="6345936" y="3200400"/>
            <a:ext cx="2286000" cy="457200"/>
          </a:xfrm>
          <a:prstGeom prst="rect">
            <a:avLst/>
          </a:prstGeom>
          <a:noFill/>
          <a:ln/>
        </p:spPr>
        <p:txBody>
          <a:bodyPr wrap="square" lIns="0" tIns="0" rIns="0" bIns="0" rtlCol="0" anchor="t"/>
          <a:lstStyle/>
          <a:p>
            <a:pPr indent="0" marL="0">
              <a:buNone/>
            </a:pPr>
            <a:r>
              <a:rPr lang="en-US" sz="1200" i="1" dirty="0">
                <a:solidFill>
                  <a:srgbClr val="FFFFFF"/>
                </a:solidFill>
                <a:latin typeface="Calibri" pitchFamily="34" charset="0"/>
                <a:ea typeface="Calibri" pitchFamily="34" charset="-122"/>
                <a:cs typeface="Calibri" pitchFamily="34" charset="-120"/>
              </a:rPr>
              <a:t>The control missing from the minor project</a:t>
            </a:r>
            <a:endParaRPr lang="en-US" sz="1200" dirty="0"/>
          </a:p>
        </p:txBody>
      </p:sp>
      <p:sp>
        <p:nvSpPr>
          <p:cNvPr id="18" name="Theme card Object-centric and slots"/>
          <p:cNvSpPr/>
          <p:nvPr/>
        </p:nvSpPr>
        <p:spPr>
          <a:xfrm>
            <a:off x="8970264" y="1280160"/>
            <a:ext cx="2651760" cy="2423160"/>
          </a:xfrm>
          <a:prstGeom prst="roundRect">
            <a:avLst>
              <a:gd name="adj" fmla="val 3019"/>
            </a:avLst>
          </a:prstGeom>
          <a:solidFill>
            <a:srgbClr val="EAF1F4"/>
          </a:solidFill>
          <a:ln/>
        </p:spPr>
      </p:sp>
      <p:sp>
        <p:nvSpPr>
          <p:cNvPr id="19" name="Text 17"/>
          <p:cNvSpPr txBox="1"/>
          <p:nvPr/>
        </p:nvSpPr>
        <p:spPr>
          <a:xfrm>
            <a:off x="9153144" y="1325880"/>
            <a:ext cx="914400" cy="731520"/>
          </a:xfrm>
          <a:prstGeom prst="rect">
            <a:avLst/>
          </a:prstGeom>
          <a:noFill/>
          <a:ln/>
        </p:spPr>
        <p:txBody>
          <a:bodyPr wrap="square" lIns="0" tIns="0" rIns="0" bIns="0" rtlCol="0" anchor="t"/>
          <a:lstStyle/>
          <a:p>
            <a:pPr indent="0" marL="0">
              <a:buNone/>
            </a:pPr>
            <a:r>
              <a:rPr lang="en-US" sz="4400" b="1" dirty="0">
                <a:solidFill>
                  <a:srgbClr val="1B7F8C"/>
                </a:solidFill>
                <a:latin typeface="Cambria" pitchFamily="34" charset="0"/>
                <a:ea typeface="Cambria" pitchFamily="34" charset="-122"/>
                <a:cs typeface="Cambria" pitchFamily="34" charset="-120"/>
              </a:rPr>
              <a:t>3</a:t>
            </a:r>
            <a:endParaRPr lang="en-US" sz="4400" dirty="0"/>
          </a:p>
        </p:txBody>
      </p:sp>
      <p:sp>
        <p:nvSpPr>
          <p:cNvPr id="20" name="Text 18"/>
          <p:cNvSpPr txBox="1"/>
          <p:nvPr/>
        </p:nvSpPr>
        <p:spPr>
          <a:xfrm>
            <a:off x="9153144" y="2057400"/>
            <a:ext cx="2286000" cy="502920"/>
          </a:xfrm>
          <a:prstGeom prst="rect">
            <a:avLst/>
          </a:prstGeom>
          <a:noFill/>
          <a:ln/>
        </p:spPr>
        <p:txBody>
          <a:bodyPr wrap="square" lIns="0" tIns="0" rIns="0" bIns="0" rtlCol="0" anchor="t"/>
          <a:lstStyle/>
          <a:p>
            <a:pPr indent="0" marL="0">
              <a:buNone/>
            </a:pPr>
            <a:r>
              <a:rPr lang="en-US" sz="1500" b="1" dirty="0">
                <a:solidFill>
                  <a:srgbClr val="0F2A3D"/>
                </a:solidFill>
                <a:latin typeface="Calibri" pitchFamily="34" charset="0"/>
                <a:ea typeface="Calibri" pitchFamily="34" charset="-122"/>
                <a:cs typeface="Calibri" pitchFamily="34" charset="-120"/>
              </a:rPr>
              <a:t>Object-centric and slots</a:t>
            </a:r>
            <a:endParaRPr lang="en-US" sz="1500" dirty="0"/>
          </a:p>
        </p:txBody>
      </p:sp>
      <p:sp>
        <p:nvSpPr>
          <p:cNvPr id="21" name="Text 19"/>
          <p:cNvSpPr txBox="1"/>
          <p:nvPr/>
        </p:nvSpPr>
        <p:spPr>
          <a:xfrm>
            <a:off x="9153144" y="2560320"/>
            <a:ext cx="2286000" cy="640080"/>
          </a:xfrm>
          <a:prstGeom prst="rect">
            <a:avLst/>
          </a:prstGeom>
          <a:noFill/>
          <a:ln/>
        </p:spPr>
        <p:txBody>
          <a:bodyPr wrap="square" lIns="0" tIns="0" rIns="0" bIns="0" rtlCol="0" anchor="t"/>
          <a:lstStyle/>
          <a:p>
            <a:pPr indent="0" marL="0">
              <a:buNone/>
            </a:pPr>
            <a:r>
              <a:rPr lang="en-US" sz="1200" dirty="0">
                <a:solidFill>
                  <a:srgbClr val="5B6B77"/>
                </a:solidFill>
                <a:latin typeface="Calibri" pitchFamily="34" charset="0"/>
                <a:ea typeface="Calibri" pitchFamily="34" charset="-122"/>
                <a:cs typeface="Calibri" pitchFamily="34" charset="-120"/>
              </a:rPr>
              <a:t>Target-encoder bootstrapping, GLASS, SlotAdapt</a:t>
            </a:r>
            <a:endParaRPr lang="en-US" sz="1200" dirty="0"/>
          </a:p>
        </p:txBody>
      </p:sp>
      <p:sp>
        <p:nvSpPr>
          <p:cNvPr id="22" name="Text 20"/>
          <p:cNvSpPr txBox="1"/>
          <p:nvPr/>
        </p:nvSpPr>
        <p:spPr>
          <a:xfrm>
            <a:off x="9153144" y="3200400"/>
            <a:ext cx="2286000" cy="457200"/>
          </a:xfrm>
          <a:prstGeom prst="rect">
            <a:avLst/>
          </a:prstGeom>
          <a:noFill/>
          <a:ln/>
        </p:spPr>
        <p:txBody>
          <a:bodyPr wrap="square" lIns="0" tIns="0" rIns="0" bIns="0" rtlCol="0" anchor="t"/>
          <a:lstStyle/>
          <a:p>
            <a:pPr indent="0" marL="0">
              <a:buNone/>
            </a:pPr>
            <a:r>
              <a:rPr lang="en-US" sz="1200" i="1" dirty="0">
                <a:solidFill>
                  <a:srgbClr val="1A2530"/>
                </a:solidFill>
                <a:latin typeface="Calibri" pitchFamily="34" charset="0"/>
                <a:ea typeface="Calibri" pitchFamily="34" charset="-122"/>
                <a:cs typeface="Calibri" pitchFamily="34" charset="-120"/>
              </a:rPr>
              <a:t>Reconstruction-based, not label-only</a:t>
            </a:r>
            <a:endParaRPr lang="en-US" sz="1200" dirty="0"/>
          </a:p>
        </p:txBody>
      </p:sp>
      <p:sp>
        <p:nvSpPr>
          <p:cNvPr id="23" name="Theme card Dense features and regions"/>
          <p:cNvSpPr/>
          <p:nvPr/>
        </p:nvSpPr>
        <p:spPr>
          <a:xfrm>
            <a:off x="548640" y="3840480"/>
            <a:ext cx="2651760" cy="2423160"/>
          </a:xfrm>
          <a:prstGeom prst="roundRect">
            <a:avLst>
              <a:gd name="adj" fmla="val 3019"/>
            </a:avLst>
          </a:prstGeom>
          <a:solidFill>
            <a:srgbClr val="EAF1F4"/>
          </a:solidFill>
          <a:ln/>
        </p:spPr>
      </p:sp>
      <p:sp>
        <p:nvSpPr>
          <p:cNvPr id="24" name="Text 22"/>
          <p:cNvSpPr txBox="1"/>
          <p:nvPr/>
        </p:nvSpPr>
        <p:spPr>
          <a:xfrm>
            <a:off x="731520" y="3886200"/>
            <a:ext cx="914400" cy="731520"/>
          </a:xfrm>
          <a:prstGeom prst="rect">
            <a:avLst/>
          </a:prstGeom>
          <a:noFill/>
          <a:ln/>
        </p:spPr>
        <p:txBody>
          <a:bodyPr wrap="square" lIns="0" tIns="0" rIns="0" bIns="0" rtlCol="0" anchor="t"/>
          <a:lstStyle/>
          <a:p>
            <a:pPr indent="0" marL="0">
              <a:buNone/>
            </a:pPr>
            <a:r>
              <a:rPr lang="en-US" sz="4400" b="1" dirty="0">
                <a:solidFill>
                  <a:srgbClr val="1B7F8C"/>
                </a:solidFill>
                <a:latin typeface="Cambria" pitchFamily="34" charset="0"/>
                <a:ea typeface="Cambria" pitchFamily="34" charset="-122"/>
                <a:cs typeface="Cambria" pitchFamily="34" charset="-120"/>
              </a:rPr>
              <a:t>2</a:t>
            </a:r>
            <a:endParaRPr lang="en-US" sz="4400" dirty="0"/>
          </a:p>
        </p:txBody>
      </p:sp>
      <p:sp>
        <p:nvSpPr>
          <p:cNvPr id="25" name="Text 23"/>
          <p:cNvSpPr txBox="1"/>
          <p:nvPr/>
        </p:nvSpPr>
        <p:spPr>
          <a:xfrm>
            <a:off x="731520" y="4617720"/>
            <a:ext cx="2286000" cy="502920"/>
          </a:xfrm>
          <a:prstGeom prst="rect">
            <a:avLst/>
          </a:prstGeom>
          <a:noFill/>
          <a:ln/>
        </p:spPr>
        <p:txBody>
          <a:bodyPr wrap="square" lIns="0" tIns="0" rIns="0" bIns="0" rtlCol="0" anchor="t"/>
          <a:lstStyle/>
          <a:p>
            <a:pPr indent="0" marL="0">
              <a:buNone/>
            </a:pPr>
            <a:r>
              <a:rPr lang="en-US" sz="1500" b="1" dirty="0">
                <a:solidFill>
                  <a:srgbClr val="0F2A3D"/>
                </a:solidFill>
                <a:latin typeface="Calibri" pitchFamily="34" charset="0"/>
                <a:ea typeface="Calibri" pitchFamily="34" charset="-122"/>
                <a:cs typeface="Calibri" pitchFamily="34" charset="-120"/>
              </a:rPr>
              <a:t>Dense features and regions</a:t>
            </a:r>
            <a:endParaRPr lang="en-US" sz="1500" dirty="0"/>
          </a:p>
        </p:txBody>
      </p:sp>
      <p:sp>
        <p:nvSpPr>
          <p:cNvPr id="26" name="Text 24"/>
          <p:cNvSpPr txBox="1"/>
          <p:nvPr/>
        </p:nvSpPr>
        <p:spPr>
          <a:xfrm>
            <a:off x="731520" y="5120640"/>
            <a:ext cx="2286000" cy="640080"/>
          </a:xfrm>
          <a:prstGeom prst="rect">
            <a:avLst/>
          </a:prstGeom>
          <a:noFill/>
          <a:ln/>
        </p:spPr>
        <p:txBody>
          <a:bodyPr wrap="square" lIns="0" tIns="0" rIns="0" bIns="0" rtlCol="0" anchor="t"/>
          <a:lstStyle/>
          <a:p>
            <a:pPr indent="0" marL="0">
              <a:buNone/>
            </a:pPr>
            <a:r>
              <a:rPr lang="en-US" sz="1200" dirty="0">
                <a:solidFill>
                  <a:srgbClr val="5B6B77"/>
                </a:solidFill>
                <a:latin typeface="Calibri" pitchFamily="34" charset="0"/>
                <a:ea typeface="Calibri" pitchFamily="34" charset="-122"/>
                <a:cs typeface="Calibri" pitchFamily="34" charset="-120"/>
              </a:rPr>
              <a:t>DINOv3, Object DINO</a:t>
            </a:r>
            <a:endParaRPr lang="en-US" sz="1200" dirty="0"/>
          </a:p>
        </p:txBody>
      </p:sp>
      <p:sp>
        <p:nvSpPr>
          <p:cNvPr id="27" name="Text 25"/>
          <p:cNvSpPr txBox="1"/>
          <p:nvPr/>
        </p:nvSpPr>
        <p:spPr>
          <a:xfrm>
            <a:off x="731520" y="5760720"/>
            <a:ext cx="2286000" cy="457200"/>
          </a:xfrm>
          <a:prstGeom prst="rect">
            <a:avLst/>
          </a:prstGeom>
          <a:noFill/>
          <a:ln/>
        </p:spPr>
        <p:txBody>
          <a:bodyPr wrap="square" lIns="0" tIns="0" rIns="0" bIns="0" rtlCol="0" anchor="t"/>
          <a:lstStyle/>
          <a:p>
            <a:pPr indent="0" marL="0">
              <a:buNone/>
            </a:pPr>
            <a:r>
              <a:rPr lang="en-US" sz="1200" i="1" dirty="0">
                <a:solidFill>
                  <a:srgbClr val="1A2530"/>
                </a:solidFill>
                <a:latin typeface="Calibri" pitchFamily="34" charset="0"/>
                <a:ea typeface="Calibri" pitchFamily="34" charset="-122"/>
                <a:cs typeface="Calibri" pitchFamily="34" charset="-120"/>
              </a:rPr>
              <a:t>Region quality is protocol-sensitive</a:t>
            </a:r>
            <a:endParaRPr lang="en-US" sz="1200" dirty="0"/>
          </a:p>
        </p:txBody>
      </p:sp>
      <p:sp>
        <p:nvSpPr>
          <p:cNvPr id="28" name="Theme card Evaluation rigour"/>
          <p:cNvSpPr/>
          <p:nvPr/>
        </p:nvSpPr>
        <p:spPr>
          <a:xfrm>
            <a:off x="3355848" y="3840480"/>
            <a:ext cx="2651760" cy="2423160"/>
          </a:xfrm>
          <a:prstGeom prst="roundRect">
            <a:avLst>
              <a:gd name="adj" fmla="val 3019"/>
            </a:avLst>
          </a:prstGeom>
          <a:solidFill>
            <a:srgbClr val="EAF1F4"/>
          </a:solidFill>
          <a:ln/>
        </p:spPr>
      </p:sp>
      <p:sp>
        <p:nvSpPr>
          <p:cNvPr id="29" name="Text 27"/>
          <p:cNvSpPr txBox="1"/>
          <p:nvPr/>
        </p:nvSpPr>
        <p:spPr>
          <a:xfrm>
            <a:off x="3538728" y="3886200"/>
            <a:ext cx="914400" cy="731520"/>
          </a:xfrm>
          <a:prstGeom prst="rect">
            <a:avLst/>
          </a:prstGeom>
          <a:noFill/>
          <a:ln/>
        </p:spPr>
        <p:txBody>
          <a:bodyPr wrap="square" lIns="0" tIns="0" rIns="0" bIns="0" rtlCol="0" anchor="t"/>
          <a:lstStyle/>
          <a:p>
            <a:pPr indent="0" marL="0">
              <a:buNone/>
            </a:pPr>
            <a:r>
              <a:rPr lang="en-US" sz="4400" b="1" dirty="0">
                <a:solidFill>
                  <a:srgbClr val="1B7F8C"/>
                </a:solidFill>
                <a:latin typeface="Cambria" pitchFamily="34" charset="0"/>
                <a:ea typeface="Cambria" pitchFamily="34" charset="-122"/>
                <a:cs typeface="Cambria" pitchFamily="34" charset="-120"/>
              </a:rPr>
              <a:t>3</a:t>
            </a:r>
            <a:endParaRPr lang="en-US" sz="4400" dirty="0"/>
          </a:p>
        </p:txBody>
      </p:sp>
      <p:sp>
        <p:nvSpPr>
          <p:cNvPr id="30" name="Text 28"/>
          <p:cNvSpPr txBox="1"/>
          <p:nvPr/>
        </p:nvSpPr>
        <p:spPr>
          <a:xfrm>
            <a:off x="3538728" y="4617720"/>
            <a:ext cx="2286000" cy="502920"/>
          </a:xfrm>
          <a:prstGeom prst="rect">
            <a:avLst/>
          </a:prstGeom>
          <a:noFill/>
          <a:ln/>
        </p:spPr>
        <p:txBody>
          <a:bodyPr wrap="square" lIns="0" tIns="0" rIns="0" bIns="0" rtlCol="0" anchor="t"/>
          <a:lstStyle/>
          <a:p>
            <a:pPr indent="0" marL="0">
              <a:buNone/>
            </a:pPr>
            <a:r>
              <a:rPr lang="en-US" sz="1500" b="1" dirty="0">
                <a:solidFill>
                  <a:srgbClr val="0F2A3D"/>
                </a:solidFill>
                <a:latin typeface="Calibri" pitchFamily="34" charset="0"/>
                <a:ea typeface="Calibri" pitchFamily="34" charset="-122"/>
                <a:cs typeface="Calibri" pitchFamily="34" charset="-120"/>
              </a:rPr>
              <a:t>Evaluation rigour</a:t>
            </a:r>
            <a:endParaRPr lang="en-US" sz="1500" dirty="0"/>
          </a:p>
        </p:txBody>
      </p:sp>
      <p:sp>
        <p:nvSpPr>
          <p:cNvPr id="31" name="Text 29"/>
          <p:cNvSpPr txBox="1"/>
          <p:nvPr/>
        </p:nvSpPr>
        <p:spPr>
          <a:xfrm>
            <a:off x="3538728" y="5120640"/>
            <a:ext cx="2286000" cy="640080"/>
          </a:xfrm>
          <a:prstGeom prst="rect">
            <a:avLst/>
          </a:prstGeom>
          <a:noFill/>
          <a:ln/>
        </p:spPr>
        <p:txBody>
          <a:bodyPr wrap="square" lIns="0" tIns="0" rIns="0" bIns="0" rtlCol="0" anchor="t"/>
          <a:lstStyle/>
          <a:p>
            <a:pPr indent="0" marL="0">
              <a:buNone/>
            </a:pPr>
            <a:r>
              <a:rPr lang="en-US" sz="1200" dirty="0">
                <a:solidFill>
                  <a:srgbClr val="5B6B77"/>
                </a:solidFill>
                <a:latin typeface="Calibri" pitchFamily="34" charset="0"/>
                <a:ea typeface="Calibri" pitchFamily="34" charset="-122"/>
                <a:cs typeface="Calibri" pitchFamily="34" charset="-120"/>
              </a:rPr>
              <a:t>Matched-tuning optimizer study, hyper-parameter-free learning, LM reasoning audit</a:t>
            </a:r>
            <a:endParaRPr lang="en-US" sz="1200" dirty="0"/>
          </a:p>
        </p:txBody>
      </p:sp>
      <p:sp>
        <p:nvSpPr>
          <p:cNvPr id="32" name="Text 30"/>
          <p:cNvSpPr txBox="1"/>
          <p:nvPr/>
        </p:nvSpPr>
        <p:spPr>
          <a:xfrm>
            <a:off x="3538728" y="5760720"/>
            <a:ext cx="2286000" cy="457200"/>
          </a:xfrm>
          <a:prstGeom prst="rect">
            <a:avLst/>
          </a:prstGeom>
          <a:noFill/>
          <a:ln/>
        </p:spPr>
        <p:txBody>
          <a:bodyPr wrap="square" lIns="0" tIns="0" rIns="0" bIns="0" rtlCol="0" anchor="t"/>
          <a:lstStyle/>
          <a:p>
            <a:pPr indent="0" marL="0">
              <a:buNone/>
            </a:pPr>
            <a:r>
              <a:rPr lang="en-US" sz="1200" i="1" dirty="0">
                <a:solidFill>
                  <a:srgbClr val="1A2530"/>
                </a:solidFill>
                <a:latin typeface="Calibri" pitchFamily="34" charset="0"/>
                <a:ea typeface="Calibri" pitchFamily="34" charset="-122"/>
                <a:cs typeface="Calibri" pitchFamily="34" charset="-120"/>
              </a:rPr>
              <a:t>Tuning, variance, transparency</a:t>
            </a:r>
            <a:endParaRPr lang="en-US" sz="1200" dirty="0"/>
          </a:p>
        </p:txBody>
      </p:sp>
      <p:sp>
        <p:nvSpPr>
          <p:cNvPr id="33" name="Theme card Causal emergence"/>
          <p:cNvSpPr/>
          <p:nvPr/>
        </p:nvSpPr>
        <p:spPr>
          <a:xfrm>
            <a:off x="6163056" y="3840480"/>
            <a:ext cx="2651760" cy="2423160"/>
          </a:xfrm>
          <a:prstGeom prst="roundRect">
            <a:avLst>
              <a:gd name="adj" fmla="val 3019"/>
            </a:avLst>
          </a:prstGeom>
          <a:solidFill>
            <a:srgbClr val="EAF1F4"/>
          </a:solidFill>
          <a:ln/>
        </p:spPr>
      </p:sp>
      <p:sp>
        <p:nvSpPr>
          <p:cNvPr id="34" name="Text 32"/>
          <p:cNvSpPr txBox="1"/>
          <p:nvPr/>
        </p:nvSpPr>
        <p:spPr>
          <a:xfrm>
            <a:off x="6345936" y="3886200"/>
            <a:ext cx="914400" cy="731520"/>
          </a:xfrm>
          <a:prstGeom prst="rect">
            <a:avLst/>
          </a:prstGeom>
          <a:noFill/>
          <a:ln/>
        </p:spPr>
        <p:txBody>
          <a:bodyPr wrap="square" lIns="0" tIns="0" rIns="0" bIns="0" rtlCol="0" anchor="t"/>
          <a:lstStyle/>
          <a:p>
            <a:pPr indent="0" marL="0">
              <a:buNone/>
            </a:pPr>
            <a:r>
              <a:rPr lang="en-US" sz="4400" b="1" dirty="0">
                <a:solidFill>
                  <a:srgbClr val="1B7F8C"/>
                </a:solidFill>
                <a:latin typeface="Cambria" pitchFamily="34" charset="0"/>
                <a:ea typeface="Cambria" pitchFamily="34" charset="-122"/>
                <a:cs typeface="Cambria" pitchFamily="34" charset="-120"/>
              </a:rPr>
              <a:t>2</a:t>
            </a:r>
            <a:endParaRPr lang="en-US" sz="4400" dirty="0"/>
          </a:p>
        </p:txBody>
      </p:sp>
      <p:sp>
        <p:nvSpPr>
          <p:cNvPr id="35" name="Text 33"/>
          <p:cNvSpPr txBox="1"/>
          <p:nvPr/>
        </p:nvSpPr>
        <p:spPr>
          <a:xfrm>
            <a:off x="6345936" y="4617720"/>
            <a:ext cx="2286000" cy="502920"/>
          </a:xfrm>
          <a:prstGeom prst="rect">
            <a:avLst/>
          </a:prstGeom>
          <a:noFill/>
          <a:ln/>
        </p:spPr>
        <p:txBody>
          <a:bodyPr wrap="square" lIns="0" tIns="0" rIns="0" bIns="0" rtlCol="0" anchor="t"/>
          <a:lstStyle/>
          <a:p>
            <a:pPr indent="0" marL="0">
              <a:buNone/>
            </a:pPr>
            <a:r>
              <a:rPr lang="en-US" sz="1500" b="1" dirty="0">
                <a:solidFill>
                  <a:srgbClr val="0F2A3D"/>
                </a:solidFill>
                <a:latin typeface="Calibri" pitchFamily="34" charset="0"/>
                <a:ea typeface="Calibri" pitchFamily="34" charset="-122"/>
                <a:cs typeface="Calibri" pitchFamily="34" charset="-120"/>
              </a:rPr>
              <a:t>Causal emergence</a:t>
            </a:r>
            <a:endParaRPr lang="en-US" sz="1500" dirty="0"/>
          </a:p>
        </p:txBody>
      </p:sp>
      <p:sp>
        <p:nvSpPr>
          <p:cNvPr id="36" name="Text 34"/>
          <p:cNvSpPr txBox="1"/>
          <p:nvPr/>
        </p:nvSpPr>
        <p:spPr>
          <a:xfrm>
            <a:off x="6345936" y="5120640"/>
            <a:ext cx="2286000" cy="640080"/>
          </a:xfrm>
          <a:prstGeom prst="rect">
            <a:avLst/>
          </a:prstGeom>
          <a:noFill/>
          <a:ln/>
        </p:spPr>
        <p:txBody>
          <a:bodyPr wrap="square" lIns="0" tIns="0" rIns="0" bIns="0" rtlCol="0" anchor="t"/>
          <a:lstStyle/>
          <a:p>
            <a:pPr indent="0" marL="0">
              <a:buNone/>
            </a:pPr>
            <a:r>
              <a:rPr lang="en-US" sz="1200" dirty="0">
                <a:solidFill>
                  <a:srgbClr val="5B6B77"/>
                </a:solidFill>
                <a:latin typeface="Calibri" pitchFamily="34" charset="0"/>
                <a:ea typeface="Calibri" pitchFamily="34" charset="-122"/>
                <a:cs typeface="Calibri" pitchFamily="34" charset="-120"/>
              </a:rPr>
              <a:t>Causal emergence 2.0, SVD reversibility</a:t>
            </a:r>
            <a:endParaRPr lang="en-US" sz="1200" dirty="0"/>
          </a:p>
        </p:txBody>
      </p:sp>
      <p:sp>
        <p:nvSpPr>
          <p:cNvPr id="37" name="Text 35"/>
          <p:cNvSpPr txBox="1"/>
          <p:nvPr/>
        </p:nvSpPr>
        <p:spPr>
          <a:xfrm>
            <a:off x="6345936" y="5760720"/>
            <a:ext cx="2286000" cy="457200"/>
          </a:xfrm>
          <a:prstGeom prst="rect">
            <a:avLst/>
          </a:prstGeom>
          <a:noFill/>
          <a:ln/>
        </p:spPr>
        <p:txBody>
          <a:bodyPr wrap="square" lIns="0" tIns="0" rIns="0" bIns="0" rtlCol="0" anchor="t"/>
          <a:lstStyle/>
          <a:p>
            <a:pPr indent="0" marL="0">
              <a:buNone/>
            </a:pPr>
            <a:r>
              <a:rPr lang="en-US" sz="1200" i="1" dirty="0">
                <a:solidFill>
                  <a:srgbClr val="1A2530"/>
                </a:solidFill>
                <a:latin typeface="Calibri" pitchFamily="34" charset="0"/>
                <a:ea typeface="Calibri" pitchFamily="34" charset="-122"/>
                <a:cs typeface="Calibri" pitchFamily="34" charset="-120"/>
              </a:rPr>
              <a:t>Original motivation, not operationalised</a:t>
            </a:r>
            <a:endParaRPr lang="en-US" sz="1200" dirty="0"/>
          </a:p>
        </p:txBody>
      </p:sp>
      <p:sp>
        <p:nvSpPr>
          <p:cNvPr id="38" name="Theme card Own prior work"/>
          <p:cNvSpPr/>
          <p:nvPr/>
        </p:nvSpPr>
        <p:spPr>
          <a:xfrm>
            <a:off x="8970264" y="3840480"/>
            <a:ext cx="2651760" cy="2423160"/>
          </a:xfrm>
          <a:prstGeom prst="roundRect">
            <a:avLst>
              <a:gd name="adj" fmla="val 3019"/>
            </a:avLst>
          </a:prstGeom>
          <a:solidFill>
            <a:srgbClr val="EAF1F4"/>
          </a:solidFill>
          <a:ln/>
        </p:spPr>
      </p:sp>
      <p:sp>
        <p:nvSpPr>
          <p:cNvPr id="39" name="Text 37"/>
          <p:cNvSpPr txBox="1"/>
          <p:nvPr/>
        </p:nvSpPr>
        <p:spPr>
          <a:xfrm>
            <a:off x="9153144" y="3886200"/>
            <a:ext cx="914400" cy="731520"/>
          </a:xfrm>
          <a:prstGeom prst="rect">
            <a:avLst/>
          </a:prstGeom>
          <a:noFill/>
          <a:ln/>
        </p:spPr>
        <p:txBody>
          <a:bodyPr wrap="square" lIns="0" tIns="0" rIns="0" bIns="0" rtlCol="0" anchor="t"/>
          <a:lstStyle/>
          <a:p>
            <a:pPr indent="0" marL="0">
              <a:buNone/>
            </a:pPr>
            <a:r>
              <a:rPr lang="en-US" sz="4400" b="1" dirty="0">
                <a:solidFill>
                  <a:srgbClr val="1B7F8C"/>
                </a:solidFill>
                <a:latin typeface="Cambria" pitchFamily="34" charset="0"/>
                <a:ea typeface="Cambria" pitchFamily="34" charset="-122"/>
                <a:cs typeface="Cambria" pitchFamily="34" charset="-120"/>
              </a:rPr>
              <a:t>2</a:t>
            </a:r>
            <a:endParaRPr lang="en-US" sz="4400" dirty="0"/>
          </a:p>
        </p:txBody>
      </p:sp>
      <p:sp>
        <p:nvSpPr>
          <p:cNvPr id="40" name="Text 38"/>
          <p:cNvSpPr txBox="1"/>
          <p:nvPr/>
        </p:nvSpPr>
        <p:spPr>
          <a:xfrm>
            <a:off x="9153144" y="4617720"/>
            <a:ext cx="2286000" cy="502920"/>
          </a:xfrm>
          <a:prstGeom prst="rect">
            <a:avLst/>
          </a:prstGeom>
          <a:noFill/>
          <a:ln/>
        </p:spPr>
        <p:txBody>
          <a:bodyPr wrap="square" lIns="0" tIns="0" rIns="0" bIns="0" rtlCol="0" anchor="t"/>
          <a:lstStyle/>
          <a:p>
            <a:pPr indent="0" marL="0">
              <a:buNone/>
            </a:pPr>
            <a:r>
              <a:rPr lang="en-US" sz="1500" b="1" dirty="0">
                <a:solidFill>
                  <a:srgbClr val="0F2A3D"/>
                </a:solidFill>
                <a:latin typeface="Calibri" pitchFamily="34" charset="0"/>
                <a:ea typeface="Calibri" pitchFamily="34" charset="-122"/>
                <a:cs typeface="Calibri" pitchFamily="34" charset="-120"/>
              </a:rPr>
              <a:t>Own prior work</a:t>
            </a:r>
            <a:endParaRPr lang="en-US" sz="1500" dirty="0"/>
          </a:p>
        </p:txBody>
      </p:sp>
      <p:sp>
        <p:nvSpPr>
          <p:cNvPr id="41" name="Text 39"/>
          <p:cNvSpPr txBox="1"/>
          <p:nvPr/>
        </p:nvSpPr>
        <p:spPr>
          <a:xfrm>
            <a:off x="9153144" y="5120640"/>
            <a:ext cx="2286000" cy="640080"/>
          </a:xfrm>
          <a:prstGeom prst="rect">
            <a:avLst/>
          </a:prstGeom>
          <a:noFill/>
          <a:ln/>
        </p:spPr>
        <p:txBody>
          <a:bodyPr wrap="square" lIns="0" tIns="0" rIns="0" bIns="0" rtlCol="0" anchor="t"/>
          <a:lstStyle/>
          <a:p>
            <a:pPr indent="0" marL="0">
              <a:buNone/>
            </a:pPr>
            <a:r>
              <a:rPr lang="en-US" sz="1200" dirty="0">
                <a:solidFill>
                  <a:srgbClr val="5B6B77"/>
                </a:solidFill>
                <a:latin typeface="Calibri" pitchFamily="34" charset="0"/>
                <a:ea typeface="Calibri" pitchFamily="34" charset="-122"/>
                <a:cs typeface="Calibri" pitchFamily="34" charset="-120"/>
              </a:rPr>
              <a:t>CET-ViT paper, compute-matched audit</a:t>
            </a:r>
            <a:endParaRPr lang="en-US" sz="1200" dirty="0"/>
          </a:p>
        </p:txBody>
      </p:sp>
      <p:sp>
        <p:nvSpPr>
          <p:cNvPr id="42" name="Text 40"/>
          <p:cNvSpPr txBox="1"/>
          <p:nvPr/>
        </p:nvSpPr>
        <p:spPr>
          <a:xfrm>
            <a:off x="9153144" y="5760720"/>
            <a:ext cx="2286000" cy="457200"/>
          </a:xfrm>
          <a:prstGeom prst="rect">
            <a:avLst/>
          </a:prstGeom>
          <a:noFill/>
          <a:ln/>
        </p:spPr>
        <p:txBody>
          <a:bodyPr wrap="square" lIns="0" tIns="0" rIns="0" bIns="0" rtlCol="0" anchor="t"/>
          <a:lstStyle/>
          <a:p>
            <a:pPr indent="0" marL="0">
              <a:buNone/>
            </a:pPr>
            <a:r>
              <a:rPr lang="en-US" sz="1200" i="1" dirty="0">
                <a:solidFill>
                  <a:srgbClr val="1A2530"/>
                </a:solidFill>
                <a:latin typeface="Calibri" pitchFamily="34" charset="0"/>
                <a:ea typeface="Calibri" pitchFamily="34" charset="-122"/>
                <a:cs typeface="Calibri" pitchFamily="34" charset="-120"/>
              </a:rPr>
              <a:t>Starting point and its limits</a:t>
            </a:r>
            <a:endParaRPr lang="en-US" sz="12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Survey I: token merging and pruning</a:t>
            </a:r>
            <a:endParaRPr lang="en-US" sz="3200" dirty="0"/>
          </a:p>
        </p:txBody>
      </p:sp>
      <p:graphicFrame>
        <p:nvGraphicFramePr>
          <p:cNvPr id="7" name="Literature table"/>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3657600"/>
                <a:gridCol w="3566160"/>
                <a:gridCol w="3840480"/>
              </a:tblGrid>
              <a:tr h="41148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Work (venue, year)</a:t>
                      </a:r>
                      <a:endParaRPr lang="en-US" sz="1300" dirty="0">
                        <a:latin typeface="Calibri" charset="0"/>
                        <a:ea typeface="Calibri" charset="0"/>
                        <a:cs typeface="Calibri" charset="0"/>
                      </a:endParaRPr>
                    </a:p>
                  </a:txBody>
                  <a:tcPr marL="91440" marR="91440" marT="36576" marB="36576" anchor="ctr">
                    <a:lnL w="6350" cap="flat" cmpd="sng" algn="ctr">
                      <a:solidFill>
                        <a:srgbClr val="D3DEE4"/>
                      </a:solidFill>
                      <a:prstDash val="solid"/>
                      <a:round/>
                      <a:headEnd type="none" w="med" len="med"/>
                      <a:tailEnd type="none" w="med" len="med"/>
                    </a:lnL>
                    <a:lnR w="6350" cap="flat" cmpd="sng" algn="ctr">
                      <a:solidFill>
                        <a:srgbClr val="D3DEE4"/>
                      </a:solidFill>
                      <a:prstDash val="solid"/>
                      <a:round/>
                      <a:headEnd type="none" w="med" len="med"/>
                      <a:tailEnd type="none" w="med" len="med"/>
                    </a:lnR>
                    <a:lnT w="6350" cap="flat" cmpd="sng" algn="ctr">
                      <a:solidFill>
                        <a:srgbClr val="D3DEE4"/>
                      </a:solidFill>
                      <a:prstDash val="solid"/>
                      <a:round/>
                      <a:headEnd type="none" w="med" len="med"/>
                      <a:tailEnd type="none" w="med" len="med"/>
                    </a:lnT>
                    <a:lnB w="6350" cap="flat" cmpd="sng" algn="ctr">
                      <a:solidFill>
                        <a:srgbClr val="D3DEE4"/>
                      </a:solidFill>
                      <a:prstDash val="solid"/>
                      <a:round/>
                      <a:headEnd type="none" w="med" len="med"/>
                      <a:tailEnd type="none" w="med" len="med"/>
                    </a:lnB>
                    <a:solidFill>
                      <a:srgbClr val="0F2A3D"/>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Idea</a:t>
                      </a:r>
                      <a:endParaRPr lang="en-US" sz="1300" dirty="0">
                        <a:latin typeface="Calibri" charset="0"/>
                        <a:ea typeface="Calibri" charset="0"/>
                        <a:cs typeface="Calibri" charset="0"/>
                      </a:endParaRPr>
                    </a:p>
                  </a:txBody>
                  <a:tcPr marL="91440" marR="91440" marT="36576" marB="36576" anchor="ctr">
                    <a:lnL w="6350" cap="flat" cmpd="sng" algn="ctr">
                      <a:solidFill>
                        <a:srgbClr val="D3DEE4"/>
                      </a:solidFill>
                      <a:prstDash val="solid"/>
                      <a:round/>
                      <a:headEnd type="none" w="med" len="med"/>
                      <a:tailEnd type="none" w="med" len="med"/>
                    </a:lnL>
                    <a:lnR w="6350" cap="flat" cmpd="sng" algn="ctr">
                      <a:solidFill>
                        <a:srgbClr val="D3DEE4"/>
                      </a:solidFill>
                      <a:prstDash val="solid"/>
                      <a:round/>
                      <a:headEnd type="none" w="med" len="med"/>
                      <a:tailEnd type="none" w="med" len="med"/>
                    </a:lnR>
                    <a:lnT w="6350" cap="flat" cmpd="sng" algn="ctr">
                      <a:solidFill>
                        <a:srgbClr val="D3DEE4"/>
                      </a:solidFill>
                      <a:prstDash val="solid"/>
                      <a:round/>
                      <a:headEnd type="none" w="med" len="med"/>
                      <a:tailEnd type="none" w="med" len="med"/>
                    </a:lnT>
                    <a:lnB w="6350" cap="flat" cmpd="sng" algn="ctr">
                      <a:solidFill>
                        <a:srgbClr val="D3DEE4"/>
                      </a:solidFill>
                      <a:prstDash val="solid"/>
                      <a:round/>
                      <a:headEnd type="none" w="med" len="med"/>
                      <a:tailEnd type="none" w="med" len="med"/>
                    </a:lnB>
                    <a:solidFill>
                      <a:srgbClr val="0F2A3D"/>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Limitation / gap for this project</a:t>
                      </a:r>
                      <a:endParaRPr lang="en-US" sz="1300" dirty="0">
                        <a:latin typeface="Calibri" charset="0"/>
                        <a:ea typeface="Calibri" charset="0"/>
                        <a:cs typeface="Calibri" charset="0"/>
                      </a:endParaRPr>
                    </a:p>
                  </a:txBody>
                  <a:tcPr marL="91440" marR="91440" marT="36576" marB="36576" anchor="ctr">
                    <a:lnL w="6350" cap="flat" cmpd="sng" algn="ctr">
                      <a:solidFill>
                        <a:srgbClr val="D3DEE4"/>
                      </a:solidFill>
                      <a:prstDash val="solid"/>
                      <a:round/>
                      <a:headEnd type="none" w="med" len="med"/>
                      <a:tailEnd type="none" w="med" len="med"/>
                    </a:lnL>
                    <a:lnR w="6350" cap="flat" cmpd="sng" algn="ctr">
                      <a:solidFill>
                        <a:srgbClr val="D3DEE4"/>
                      </a:solidFill>
                      <a:prstDash val="solid"/>
                      <a:round/>
                      <a:headEnd type="none" w="med" len="med"/>
                      <a:tailEnd type="none" w="med" len="med"/>
                    </a:lnR>
                    <a:lnT w="6350" cap="flat" cmpd="sng" algn="ctr">
                      <a:solidFill>
                        <a:srgbClr val="D3DEE4"/>
                      </a:solidFill>
                      <a:prstDash val="solid"/>
                      <a:round/>
                      <a:headEnd type="none" w="med" len="med"/>
                      <a:tailEnd type="none" w="med" len="med"/>
                    </a:lnT>
                    <a:lnB w="6350" cap="flat" cmpd="sng" algn="ctr">
                      <a:solidFill>
                        <a:srgbClr val="D3DEE4"/>
                      </a:solidFill>
                      <a:prstDash val="solid"/>
                      <a:round/>
                      <a:headEnd type="none" w="med" len="med"/>
                      <a:tailEnd type="none" w="med" len="med"/>
                    </a:lnB>
                    <a:solidFill>
                      <a:srgbClr val="0F2A3D"/>
                    </a:solidFill>
                  </a:tcPr>
                </a:tc>
              </a:tr>
              <a:tr h="868680">
                <a:tc>
                  <a:txBody>
                    <a:bodyPr/>
                    <a:lstStyle/>
                    <a:p>
                      <a:pPr indent="0" marL="0">
                        <a:buNone/>
                      </a:pPr>
                      <a:r>
                        <a:rPr lang="en-US" sz="1300" b="1" dirty="0">
                          <a:solidFill>
                            <a:srgbClr val="0F2A3D"/>
                          </a:solidFill>
                          <a:latin typeface="Calibri" pitchFamily="34" charset="0"/>
                          <a:ea typeface="Calibri" pitchFamily="34" charset="-122"/>
                          <a:cs typeface="Calibri" pitchFamily="34" charset="-120"/>
                        </a:rPr>
                        <a:t>[1] Lee et al., Frequency-aware token reduction (NeurIPS 2025)</a:t>
                      </a:r>
                      <a:endParaRPr lang="en-US" sz="1300" dirty="0">
                        <a:latin typeface="Calibri" charset="0"/>
                        <a:ea typeface="Calibri" charset="0"/>
                        <a:cs typeface="Calibri" charset="0"/>
                      </a:endParaRPr>
                    </a:p>
                  </a:txBody>
                  <a:tcPr marL="91440" marR="91440" marT="36576" marB="36576" anchor="ctr">
                    <a:lnL w="6350" cap="flat" cmpd="sng" algn="ctr">
                      <a:solidFill>
                        <a:srgbClr val="D3DEE4"/>
                      </a:solidFill>
                      <a:prstDash val="solid"/>
                      <a:round/>
                      <a:headEnd type="none" w="med" len="med"/>
                      <a:tailEnd type="none" w="med" len="med"/>
                    </a:lnL>
                    <a:lnR w="6350" cap="flat" cmpd="sng" algn="ctr">
                      <a:solidFill>
                        <a:srgbClr val="D3DEE4"/>
                      </a:solidFill>
                      <a:prstDash val="solid"/>
                      <a:round/>
                      <a:headEnd type="none" w="med" len="med"/>
                      <a:tailEnd type="none" w="med" len="med"/>
                    </a:lnR>
                    <a:lnT w="6350" cap="flat" cmpd="sng" algn="ctr">
                      <a:solidFill>
                        <a:srgbClr val="D3DEE4"/>
                      </a:solidFill>
                      <a:prstDash val="solid"/>
                      <a:round/>
                      <a:headEnd type="none" w="med" len="med"/>
                      <a:tailEnd type="none" w="med" len="med"/>
                    </a:lnT>
                    <a:lnB w="6350" cap="flat" cmpd="sng" algn="ctr">
                      <a:solidFill>
                        <a:srgbClr val="D3DEE4"/>
                      </a:solidFill>
                      <a:prstDash val="solid"/>
                      <a:round/>
                      <a:headEnd type="none" w="med" len="med"/>
                      <a:tailEnd type="none" w="med" len="med"/>
                    </a:lnB>
                    <a:solidFill>
                      <a:srgbClr val="EAF1F4"/>
                    </a:solidFill>
                  </a:tcPr>
                </a:tc>
                <a:tc>
                  <a:txBody>
                    <a:bodyPr/>
                    <a:lstStyle/>
                    <a:p>
                      <a:pPr indent="0" marL="0">
                        <a:buNone/>
                      </a:pPr>
                      <a:r>
                        <a:rPr lang="en-US" sz="1300" dirty="0">
                          <a:solidFill>
                            <a:srgbClr val="1A2530"/>
                          </a:solidFill>
                          <a:latin typeface="Calibri" pitchFamily="34" charset="0"/>
                          <a:ea typeface="Calibri" pitchFamily="34" charset="-122"/>
                          <a:cs typeface="Calibri" pitchFamily="34" charset="-120"/>
                        </a:rPr>
                        <a:t>Frequency-aware pruning and merging of ViT tokens.</a:t>
                      </a:r>
                      <a:endParaRPr lang="en-US" sz="1300" dirty="0">
                        <a:latin typeface="Calibri" charset="0"/>
                        <a:ea typeface="Calibri" charset="0"/>
                        <a:cs typeface="Calibri" charset="0"/>
                      </a:endParaRPr>
                    </a:p>
                  </a:txBody>
                  <a:tcPr marL="91440" marR="91440" marT="36576" marB="36576" anchor="ctr">
                    <a:lnL w="6350" cap="flat" cmpd="sng" algn="ctr">
                      <a:solidFill>
                        <a:srgbClr val="D3DEE4"/>
                      </a:solidFill>
                      <a:prstDash val="solid"/>
                      <a:round/>
                      <a:headEnd type="none" w="med" len="med"/>
                      <a:tailEnd type="none" w="med" len="med"/>
                    </a:lnL>
                    <a:lnR w="6350" cap="flat" cmpd="sng" algn="ctr">
                      <a:solidFill>
                        <a:srgbClr val="D3DEE4"/>
                      </a:solidFill>
                      <a:prstDash val="solid"/>
                      <a:round/>
                      <a:headEnd type="none" w="med" len="med"/>
                      <a:tailEnd type="none" w="med" len="med"/>
                    </a:lnR>
                    <a:lnT w="6350" cap="flat" cmpd="sng" algn="ctr">
                      <a:solidFill>
                        <a:srgbClr val="D3DEE4"/>
                      </a:solidFill>
                      <a:prstDash val="solid"/>
                      <a:round/>
                      <a:headEnd type="none" w="med" len="med"/>
                      <a:tailEnd type="none" w="med" len="med"/>
                    </a:lnT>
                    <a:lnB w="6350" cap="flat" cmpd="sng" algn="ctr">
                      <a:solidFill>
                        <a:srgbClr val="D3DEE4"/>
                      </a:solidFill>
                      <a:prstDash val="solid"/>
                      <a:round/>
                      <a:headEnd type="none" w="med" len="med"/>
                      <a:tailEnd type="none" w="med" len="med"/>
                    </a:lnB>
                    <a:solidFill>
                      <a:srgbClr val="EAF1F4"/>
                    </a:solidFill>
                  </a:tcPr>
                </a:tc>
                <a:tc>
                  <a:txBody>
                    <a:bodyPr/>
                    <a:lstStyle/>
                    <a:p>
                      <a:pPr indent="0" marL="0">
                        <a:buNone/>
                      </a:pPr>
                      <a:r>
                        <a:rPr lang="en-US" sz="1300" dirty="0">
                          <a:solidFill>
                            <a:srgbClr val="1A2530"/>
                          </a:solidFill>
                          <a:latin typeface="Calibri" pitchFamily="34" charset="0"/>
                          <a:ea typeface="Calibri" pitchFamily="34" charset="-122"/>
                          <a:cs typeface="Calibri" pitchFamily="34" charset="-120"/>
                        </a:rPr>
                        <a:t>Efficiency-only; no capacity control; not from-scratch small images.</a:t>
                      </a:r>
                      <a:endParaRPr lang="en-US" sz="1300" dirty="0">
                        <a:latin typeface="Calibri" charset="0"/>
                        <a:ea typeface="Calibri" charset="0"/>
                        <a:cs typeface="Calibri" charset="0"/>
                      </a:endParaRPr>
                    </a:p>
                  </a:txBody>
                  <a:tcPr marL="91440" marR="91440" marT="36576" marB="36576" anchor="ctr">
                    <a:lnL w="6350" cap="flat" cmpd="sng" algn="ctr">
                      <a:solidFill>
                        <a:srgbClr val="D3DEE4"/>
                      </a:solidFill>
                      <a:prstDash val="solid"/>
                      <a:round/>
                      <a:headEnd type="none" w="med" len="med"/>
                      <a:tailEnd type="none" w="med" len="med"/>
                    </a:lnL>
                    <a:lnR w="6350" cap="flat" cmpd="sng" algn="ctr">
                      <a:solidFill>
                        <a:srgbClr val="D3DEE4"/>
                      </a:solidFill>
                      <a:prstDash val="solid"/>
                      <a:round/>
                      <a:headEnd type="none" w="med" len="med"/>
                      <a:tailEnd type="none" w="med" len="med"/>
                    </a:lnR>
                    <a:lnT w="6350" cap="flat" cmpd="sng" algn="ctr">
                      <a:solidFill>
                        <a:srgbClr val="D3DEE4"/>
                      </a:solidFill>
                      <a:prstDash val="solid"/>
                      <a:round/>
                      <a:headEnd type="none" w="med" len="med"/>
                      <a:tailEnd type="none" w="med" len="med"/>
                    </a:lnT>
                    <a:lnB w="6350" cap="flat" cmpd="sng" algn="ctr">
                      <a:solidFill>
                        <a:srgbClr val="D3DEE4"/>
                      </a:solidFill>
                      <a:prstDash val="solid"/>
                      <a:round/>
                      <a:headEnd type="none" w="med" len="med"/>
                      <a:tailEnd type="none" w="med" len="med"/>
                    </a:lnB>
                    <a:solidFill>
                      <a:srgbClr val="EAF1F4"/>
                    </a:solidFill>
                  </a:tcPr>
                </a:tc>
              </a:tr>
              <a:tr h="868680">
                <a:tc>
                  <a:txBody>
                    <a:bodyPr/>
                    <a:lstStyle/>
                    <a:p>
                      <a:pPr indent="0" marL="0">
                        <a:buNone/>
                      </a:pPr>
                      <a:r>
                        <a:rPr lang="en-US" sz="1300" b="1" dirty="0">
                          <a:solidFill>
                            <a:srgbClr val="0F2A3D"/>
                          </a:solidFill>
                          <a:latin typeface="Calibri" pitchFamily="34" charset="0"/>
                          <a:ea typeface="Calibri" pitchFamily="34" charset="-122"/>
                          <a:cs typeface="Calibri" pitchFamily="34" charset="-120"/>
                        </a:rPr>
                        <a:t>[2] Xie et al., Saliency-driven token merging (CVPR 2026)</a:t>
                      </a:r>
                      <a:endParaRPr lang="en-US" sz="1300" dirty="0">
                        <a:latin typeface="Calibri" charset="0"/>
                        <a:ea typeface="Calibri" charset="0"/>
                        <a:cs typeface="Calibri" charset="0"/>
                      </a:endParaRPr>
                    </a:p>
                  </a:txBody>
                  <a:tcPr marL="91440" marR="91440" marT="36576" marB="36576" anchor="ctr">
                    <a:lnL w="6350" cap="flat" cmpd="sng" algn="ctr">
                      <a:solidFill>
                        <a:srgbClr val="D3DEE4"/>
                      </a:solidFill>
                      <a:prstDash val="solid"/>
                      <a:round/>
                      <a:headEnd type="none" w="med" len="med"/>
                      <a:tailEnd type="none" w="med" len="med"/>
                    </a:lnL>
                    <a:lnR w="6350" cap="flat" cmpd="sng" algn="ctr">
                      <a:solidFill>
                        <a:srgbClr val="D3DEE4"/>
                      </a:solidFill>
                      <a:prstDash val="solid"/>
                      <a:round/>
                      <a:headEnd type="none" w="med" len="med"/>
                      <a:tailEnd type="none" w="med" len="med"/>
                    </a:lnR>
                    <a:lnT w="6350" cap="flat" cmpd="sng" algn="ctr">
                      <a:solidFill>
                        <a:srgbClr val="D3DEE4"/>
                      </a:solidFill>
                      <a:prstDash val="solid"/>
                      <a:round/>
                      <a:headEnd type="none" w="med" len="med"/>
                      <a:tailEnd type="none" w="med" len="med"/>
                    </a:lnT>
                    <a:lnB w="6350" cap="flat" cmpd="sng" algn="ctr">
                      <a:solidFill>
                        <a:srgbClr val="D3DEE4"/>
                      </a:solidFill>
                      <a:prstDash val="solid"/>
                      <a:round/>
                      <a:headEnd type="none" w="med" len="med"/>
                      <a:tailEnd type="none" w="med" len="med"/>
                    </a:lnB>
                    <a:solidFill>
                      <a:srgbClr val="FFFFFF"/>
                    </a:solidFill>
                  </a:tcPr>
                </a:tc>
                <a:tc>
                  <a:txBody>
                    <a:bodyPr/>
                    <a:lstStyle/>
                    <a:p>
                      <a:pPr indent="0" marL="0">
                        <a:buNone/>
                      </a:pPr>
                      <a:r>
                        <a:rPr lang="en-US" sz="1300" dirty="0">
                          <a:solidFill>
                            <a:srgbClr val="1A2530"/>
                          </a:solidFill>
                          <a:latin typeface="Calibri" pitchFamily="34" charset="0"/>
                          <a:ea typeface="Calibri" pitchFamily="34" charset="-122"/>
                          <a:cs typeface="Calibri" pitchFamily="34" charset="-120"/>
                        </a:rPr>
                        <a:t>Training-free merging guided by attention plus saliency.</a:t>
                      </a:r>
                      <a:endParaRPr lang="en-US" sz="1300" dirty="0">
                        <a:latin typeface="Calibri" charset="0"/>
                        <a:ea typeface="Calibri" charset="0"/>
                        <a:cs typeface="Calibri" charset="0"/>
                      </a:endParaRPr>
                    </a:p>
                  </a:txBody>
                  <a:tcPr marL="91440" marR="91440" marT="36576" marB="36576" anchor="ctr">
                    <a:lnL w="6350" cap="flat" cmpd="sng" algn="ctr">
                      <a:solidFill>
                        <a:srgbClr val="D3DEE4"/>
                      </a:solidFill>
                      <a:prstDash val="solid"/>
                      <a:round/>
                      <a:headEnd type="none" w="med" len="med"/>
                      <a:tailEnd type="none" w="med" len="med"/>
                    </a:lnL>
                    <a:lnR w="6350" cap="flat" cmpd="sng" algn="ctr">
                      <a:solidFill>
                        <a:srgbClr val="D3DEE4"/>
                      </a:solidFill>
                      <a:prstDash val="solid"/>
                      <a:round/>
                      <a:headEnd type="none" w="med" len="med"/>
                      <a:tailEnd type="none" w="med" len="med"/>
                    </a:lnR>
                    <a:lnT w="6350" cap="flat" cmpd="sng" algn="ctr">
                      <a:solidFill>
                        <a:srgbClr val="D3DEE4"/>
                      </a:solidFill>
                      <a:prstDash val="solid"/>
                      <a:round/>
                      <a:headEnd type="none" w="med" len="med"/>
                      <a:tailEnd type="none" w="med" len="med"/>
                    </a:lnT>
                    <a:lnB w="6350" cap="flat" cmpd="sng" algn="ctr">
                      <a:solidFill>
                        <a:srgbClr val="D3DEE4"/>
                      </a:solidFill>
                      <a:prstDash val="solid"/>
                      <a:round/>
                      <a:headEnd type="none" w="med" len="med"/>
                      <a:tailEnd type="none" w="med" len="med"/>
                    </a:lnB>
                    <a:solidFill>
                      <a:srgbClr val="FFFFFF"/>
                    </a:solidFill>
                  </a:tcPr>
                </a:tc>
                <a:tc>
                  <a:txBody>
                    <a:bodyPr/>
                    <a:lstStyle/>
                    <a:p>
                      <a:pPr indent="0" marL="0">
                        <a:buNone/>
                      </a:pPr>
                      <a:r>
                        <a:rPr lang="en-US" sz="1300" dirty="0">
                          <a:solidFill>
                            <a:srgbClr val="1A2530"/>
                          </a:solidFill>
                          <a:latin typeface="Calibri" pitchFamily="34" charset="0"/>
                          <a:ea typeface="Calibri" pitchFamily="34" charset="-122"/>
                          <a:cs typeface="Calibri" pitchFamily="34" charset="-120"/>
                        </a:rPr>
                        <a:t>Inference-time and training-free; no learned grouping.</a:t>
                      </a:r>
                      <a:endParaRPr lang="en-US" sz="1300" dirty="0">
                        <a:latin typeface="Calibri" charset="0"/>
                        <a:ea typeface="Calibri" charset="0"/>
                        <a:cs typeface="Calibri" charset="0"/>
                      </a:endParaRPr>
                    </a:p>
                  </a:txBody>
                  <a:tcPr marL="91440" marR="91440" marT="36576" marB="36576" anchor="ctr">
                    <a:lnL w="6350" cap="flat" cmpd="sng" algn="ctr">
                      <a:solidFill>
                        <a:srgbClr val="D3DEE4"/>
                      </a:solidFill>
                      <a:prstDash val="solid"/>
                      <a:round/>
                      <a:headEnd type="none" w="med" len="med"/>
                      <a:tailEnd type="none" w="med" len="med"/>
                    </a:lnL>
                    <a:lnR w="6350" cap="flat" cmpd="sng" algn="ctr">
                      <a:solidFill>
                        <a:srgbClr val="D3DEE4"/>
                      </a:solidFill>
                      <a:prstDash val="solid"/>
                      <a:round/>
                      <a:headEnd type="none" w="med" len="med"/>
                      <a:tailEnd type="none" w="med" len="med"/>
                    </a:lnR>
                    <a:lnT w="6350" cap="flat" cmpd="sng" algn="ctr">
                      <a:solidFill>
                        <a:srgbClr val="D3DEE4"/>
                      </a:solidFill>
                      <a:prstDash val="solid"/>
                      <a:round/>
                      <a:headEnd type="none" w="med" len="med"/>
                      <a:tailEnd type="none" w="med" len="med"/>
                    </a:lnT>
                    <a:lnB w="6350" cap="flat" cmpd="sng" algn="ctr">
                      <a:solidFill>
                        <a:srgbClr val="D3DEE4"/>
                      </a:solidFill>
                      <a:prstDash val="solid"/>
                      <a:round/>
                      <a:headEnd type="none" w="med" len="med"/>
                      <a:tailEnd type="none" w="med" len="med"/>
                    </a:lnB>
                    <a:solidFill>
                      <a:srgbClr val="FFFFFF"/>
                    </a:solidFill>
                  </a:tcPr>
                </a:tc>
              </a:tr>
              <a:tr h="868680">
                <a:tc>
                  <a:txBody>
                    <a:bodyPr/>
                    <a:lstStyle/>
                    <a:p>
                      <a:pPr indent="0" marL="0">
                        <a:buNone/>
                      </a:pPr>
                      <a:r>
                        <a:rPr lang="en-US" sz="1300" b="1" dirty="0">
                          <a:solidFill>
                            <a:srgbClr val="0F2A3D"/>
                          </a:solidFill>
                          <a:latin typeface="Calibri" pitchFamily="34" charset="0"/>
                          <a:ea typeface="Calibri" pitchFamily="34" charset="-122"/>
                          <a:cs typeface="Calibri" pitchFamily="34" charset="-120"/>
                        </a:rPr>
                        <a:t>[3] Zhou et al., Calibrated scaling for token merging (ICML 2026)</a:t>
                      </a:r>
                      <a:endParaRPr lang="en-US" sz="1300" dirty="0">
                        <a:latin typeface="Calibri" charset="0"/>
                        <a:ea typeface="Calibri" charset="0"/>
                        <a:cs typeface="Calibri" charset="0"/>
                      </a:endParaRPr>
                    </a:p>
                  </a:txBody>
                  <a:tcPr marL="91440" marR="91440" marT="36576" marB="36576" anchor="ctr">
                    <a:lnL w="6350" cap="flat" cmpd="sng" algn="ctr">
                      <a:solidFill>
                        <a:srgbClr val="D3DEE4"/>
                      </a:solidFill>
                      <a:prstDash val="solid"/>
                      <a:round/>
                      <a:headEnd type="none" w="med" len="med"/>
                      <a:tailEnd type="none" w="med" len="med"/>
                    </a:lnL>
                    <a:lnR w="6350" cap="flat" cmpd="sng" algn="ctr">
                      <a:solidFill>
                        <a:srgbClr val="D3DEE4"/>
                      </a:solidFill>
                      <a:prstDash val="solid"/>
                      <a:round/>
                      <a:headEnd type="none" w="med" len="med"/>
                      <a:tailEnd type="none" w="med" len="med"/>
                    </a:lnR>
                    <a:lnT w="6350" cap="flat" cmpd="sng" algn="ctr">
                      <a:solidFill>
                        <a:srgbClr val="D3DEE4"/>
                      </a:solidFill>
                      <a:prstDash val="solid"/>
                      <a:round/>
                      <a:headEnd type="none" w="med" len="med"/>
                      <a:tailEnd type="none" w="med" len="med"/>
                    </a:lnT>
                    <a:lnB w="6350" cap="flat" cmpd="sng" algn="ctr">
                      <a:solidFill>
                        <a:srgbClr val="D3DEE4"/>
                      </a:solidFill>
                      <a:prstDash val="solid"/>
                      <a:round/>
                      <a:headEnd type="none" w="med" len="med"/>
                      <a:tailEnd type="none" w="med" len="med"/>
                    </a:lnB>
                    <a:solidFill>
                      <a:srgbClr val="EAF1F4"/>
                    </a:solidFill>
                  </a:tcPr>
                </a:tc>
                <a:tc>
                  <a:txBody>
                    <a:bodyPr/>
                    <a:lstStyle/>
                    <a:p>
                      <a:pPr indent="0" marL="0">
                        <a:buNone/>
                      </a:pPr>
                      <a:r>
                        <a:rPr lang="en-US" sz="1300" dirty="0">
                          <a:solidFill>
                            <a:srgbClr val="1A2530"/>
                          </a:solidFill>
                          <a:latin typeface="Calibri" pitchFamily="34" charset="0"/>
                          <a:ea typeface="Calibri" pitchFamily="34" charset="-122"/>
                          <a:cs typeface="Calibri" pitchFamily="34" charset="-120"/>
                        </a:rPr>
                        <a:t>Corrects distribution shift caused by token merging.</a:t>
                      </a:r>
                      <a:endParaRPr lang="en-US" sz="1300" dirty="0">
                        <a:latin typeface="Calibri" charset="0"/>
                        <a:ea typeface="Calibri" charset="0"/>
                        <a:cs typeface="Calibri" charset="0"/>
                      </a:endParaRPr>
                    </a:p>
                  </a:txBody>
                  <a:tcPr marL="91440" marR="91440" marT="36576" marB="36576" anchor="ctr">
                    <a:lnL w="6350" cap="flat" cmpd="sng" algn="ctr">
                      <a:solidFill>
                        <a:srgbClr val="D3DEE4"/>
                      </a:solidFill>
                      <a:prstDash val="solid"/>
                      <a:round/>
                      <a:headEnd type="none" w="med" len="med"/>
                      <a:tailEnd type="none" w="med" len="med"/>
                    </a:lnL>
                    <a:lnR w="6350" cap="flat" cmpd="sng" algn="ctr">
                      <a:solidFill>
                        <a:srgbClr val="D3DEE4"/>
                      </a:solidFill>
                      <a:prstDash val="solid"/>
                      <a:round/>
                      <a:headEnd type="none" w="med" len="med"/>
                      <a:tailEnd type="none" w="med" len="med"/>
                    </a:lnR>
                    <a:lnT w="6350" cap="flat" cmpd="sng" algn="ctr">
                      <a:solidFill>
                        <a:srgbClr val="D3DEE4"/>
                      </a:solidFill>
                      <a:prstDash val="solid"/>
                      <a:round/>
                      <a:headEnd type="none" w="med" len="med"/>
                      <a:tailEnd type="none" w="med" len="med"/>
                    </a:lnT>
                    <a:lnB w="6350" cap="flat" cmpd="sng" algn="ctr">
                      <a:solidFill>
                        <a:srgbClr val="D3DEE4"/>
                      </a:solidFill>
                      <a:prstDash val="solid"/>
                      <a:round/>
                      <a:headEnd type="none" w="med" len="med"/>
                      <a:tailEnd type="none" w="med" len="med"/>
                    </a:lnB>
                    <a:solidFill>
                      <a:srgbClr val="EAF1F4"/>
                    </a:solidFill>
                  </a:tcPr>
                </a:tc>
                <a:tc>
                  <a:txBody>
                    <a:bodyPr/>
                    <a:lstStyle/>
                    <a:p>
                      <a:pPr indent="0" marL="0">
                        <a:buNone/>
                      </a:pPr>
                      <a:r>
                        <a:rPr lang="en-US" sz="1300" dirty="0">
                          <a:solidFill>
                            <a:srgbClr val="1A2530"/>
                          </a:solidFill>
                          <a:latin typeface="Calibri" pitchFamily="34" charset="0"/>
                          <a:ea typeface="Calibri" pitchFamily="34" charset="-122"/>
                          <a:cs typeface="Calibri" pitchFamily="34" charset="-120"/>
                        </a:rPr>
                        <a:t>Merging fails at high compression; our design keeps all tokens.</a:t>
                      </a:r>
                      <a:endParaRPr lang="en-US" sz="1300" dirty="0">
                        <a:latin typeface="Calibri" charset="0"/>
                        <a:ea typeface="Calibri" charset="0"/>
                        <a:cs typeface="Calibri" charset="0"/>
                      </a:endParaRPr>
                    </a:p>
                  </a:txBody>
                  <a:tcPr marL="91440" marR="91440" marT="36576" marB="36576" anchor="ctr">
                    <a:lnL w="6350" cap="flat" cmpd="sng" algn="ctr">
                      <a:solidFill>
                        <a:srgbClr val="D3DEE4"/>
                      </a:solidFill>
                      <a:prstDash val="solid"/>
                      <a:round/>
                      <a:headEnd type="none" w="med" len="med"/>
                      <a:tailEnd type="none" w="med" len="med"/>
                    </a:lnL>
                    <a:lnR w="6350" cap="flat" cmpd="sng" algn="ctr">
                      <a:solidFill>
                        <a:srgbClr val="D3DEE4"/>
                      </a:solidFill>
                      <a:prstDash val="solid"/>
                      <a:round/>
                      <a:headEnd type="none" w="med" len="med"/>
                      <a:tailEnd type="none" w="med" len="med"/>
                    </a:lnR>
                    <a:lnT w="6350" cap="flat" cmpd="sng" algn="ctr">
                      <a:solidFill>
                        <a:srgbClr val="D3DEE4"/>
                      </a:solidFill>
                      <a:prstDash val="solid"/>
                      <a:round/>
                      <a:headEnd type="none" w="med" len="med"/>
                      <a:tailEnd type="none" w="med" len="med"/>
                    </a:lnT>
                    <a:lnB w="6350" cap="flat" cmpd="sng" algn="ctr">
                      <a:solidFill>
                        <a:srgbClr val="D3DEE4"/>
                      </a:solidFill>
                      <a:prstDash val="solid"/>
                      <a:round/>
                      <a:headEnd type="none" w="med" len="med"/>
                      <a:tailEnd type="none" w="med" len="med"/>
                    </a:lnB>
                    <a:solidFill>
                      <a:srgbClr val="EAF1F4"/>
                    </a:solidFill>
                  </a:tcPr>
                </a:tc>
              </a:tr>
              <a:tr h="868680">
                <a:tc>
                  <a:txBody>
                    <a:bodyPr/>
                    <a:lstStyle/>
                    <a:p>
                      <a:pPr indent="0" marL="0">
                        <a:buNone/>
                      </a:pPr>
                      <a:r>
                        <a:rPr lang="en-US" sz="1300" b="1" dirty="0">
                          <a:solidFill>
                            <a:srgbClr val="0F2A3D"/>
                          </a:solidFill>
                          <a:latin typeface="Calibri" pitchFamily="34" charset="0"/>
                          <a:ea typeface="Calibri" pitchFamily="34" charset="-122"/>
                          <a:cs typeface="Calibri" pitchFamily="34" charset="-120"/>
                        </a:rPr>
                        <a:t>[4] Schlesinger et al., SPOT (CVPR 2026 Findings)</a:t>
                      </a:r>
                      <a:endParaRPr lang="en-US" sz="1300" dirty="0">
                        <a:latin typeface="Calibri" charset="0"/>
                        <a:ea typeface="Calibri" charset="0"/>
                        <a:cs typeface="Calibri" charset="0"/>
                      </a:endParaRPr>
                    </a:p>
                  </a:txBody>
                  <a:tcPr marL="91440" marR="91440" marT="36576" marB="36576" anchor="ctr">
                    <a:lnL w="6350" cap="flat" cmpd="sng" algn="ctr">
                      <a:solidFill>
                        <a:srgbClr val="D3DEE4"/>
                      </a:solidFill>
                      <a:prstDash val="solid"/>
                      <a:round/>
                      <a:headEnd type="none" w="med" len="med"/>
                      <a:tailEnd type="none" w="med" len="med"/>
                    </a:lnL>
                    <a:lnR w="6350" cap="flat" cmpd="sng" algn="ctr">
                      <a:solidFill>
                        <a:srgbClr val="D3DEE4"/>
                      </a:solidFill>
                      <a:prstDash val="solid"/>
                      <a:round/>
                      <a:headEnd type="none" w="med" len="med"/>
                      <a:tailEnd type="none" w="med" len="med"/>
                    </a:lnR>
                    <a:lnT w="6350" cap="flat" cmpd="sng" algn="ctr">
                      <a:solidFill>
                        <a:srgbClr val="D3DEE4"/>
                      </a:solidFill>
                      <a:prstDash val="solid"/>
                      <a:round/>
                      <a:headEnd type="none" w="med" len="med"/>
                      <a:tailEnd type="none" w="med" len="med"/>
                    </a:lnT>
                    <a:lnB w="6350" cap="flat" cmpd="sng" algn="ctr">
                      <a:solidFill>
                        <a:srgbClr val="D3DEE4"/>
                      </a:solidFill>
                      <a:prstDash val="solid"/>
                      <a:round/>
                      <a:headEnd type="none" w="med" len="med"/>
                      <a:tailEnd type="none" w="med" len="med"/>
                    </a:lnB>
                    <a:solidFill>
                      <a:srgbClr val="FFFFFF"/>
                    </a:solidFill>
                  </a:tcPr>
                </a:tc>
                <a:tc>
                  <a:txBody>
                    <a:bodyPr/>
                    <a:lstStyle/>
                    <a:p>
                      <a:pPr indent="0" marL="0">
                        <a:buNone/>
                      </a:pPr>
                      <a:r>
                        <a:rPr lang="en-US" sz="1300" dirty="0">
                          <a:solidFill>
                            <a:srgbClr val="1A2530"/>
                          </a:solidFill>
                          <a:latin typeface="Calibri" pitchFamily="34" charset="0"/>
                          <a:ea typeface="Calibri" pitchFamily="34" charset="-122"/>
                          <a:cs typeface="Calibri" pitchFamily="34" charset="-120"/>
                        </a:rPr>
                        <a:t>Early attention-guided token pruning.</a:t>
                      </a:r>
                      <a:endParaRPr lang="en-US" sz="1300" dirty="0">
                        <a:latin typeface="Calibri" charset="0"/>
                        <a:ea typeface="Calibri" charset="0"/>
                        <a:cs typeface="Calibri" charset="0"/>
                      </a:endParaRPr>
                    </a:p>
                  </a:txBody>
                  <a:tcPr marL="91440" marR="91440" marT="36576" marB="36576" anchor="ctr">
                    <a:lnL w="6350" cap="flat" cmpd="sng" algn="ctr">
                      <a:solidFill>
                        <a:srgbClr val="D3DEE4"/>
                      </a:solidFill>
                      <a:prstDash val="solid"/>
                      <a:round/>
                      <a:headEnd type="none" w="med" len="med"/>
                      <a:tailEnd type="none" w="med" len="med"/>
                    </a:lnL>
                    <a:lnR w="6350" cap="flat" cmpd="sng" algn="ctr">
                      <a:solidFill>
                        <a:srgbClr val="D3DEE4"/>
                      </a:solidFill>
                      <a:prstDash val="solid"/>
                      <a:round/>
                      <a:headEnd type="none" w="med" len="med"/>
                      <a:tailEnd type="none" w="med" len="med"/>
                    </a:lnR>
                    <a:lnT w="6350" cap="flat" cmpd="sng" algn="ctr">
                      <a:solidFill>
                        <a:srgbClr val="D3DEE4"/>
                      </a:solidFill>
                      <a:prstDash val="solid"/>
                      <a:round/>
                      <a:headEnd type="none" w="med" len="med"/>
                      <a:tailEnd type="none" w="med" len="med"/>
                    </a:lnT>
                    <a:lnB w="6350" cap="flat" cmpd="sng" algn="ctr">
                      <a:solidFill>
                        <a:srgbClr val="D3DEE4"/>
                      </a:solidFill>
                      <a:prstDash val="solid"/>
                      <a:round/>
                      <a:headEnd type="none" w="med" len="med"/>
                      <a:tailEnd type="none" w="med" len="med"/>
                    </a:lnB>
                    <a:solidFill>
                      <a:srgbClr val="FFFFFF"/>
                    </a:solidFill>
                  </a:tcPr>
                </a:tc>
                <a:tc>
                  <a:txBody>
                    <a:bodyPr/>
                    <a:lstStyle/>
                    <a:p>
                      <a:pPr indent="0" marL="0">
                        <a:buNone/>
                      </a:pPr>
                      <a:r>
                        <a:rPr lang="en-US" sz="1300" dirty="0">
                          <a:solidFill>
                            <a:srgbClr val="1A2530"/>
                          </a:solidFill>
                          <a:latin typeface="Calibri" pitchFamily="34" charset="0"/>
                          <a:ea typeface="Calibri" pitchFamily="34" charset="-122"/>
                          <a:cs typeface="Calibri" pitchFamily="34" charset="-120"/>
                        </a:rPr>
                        <a:t>Irreversible pruning; efficiency, not representation.</a:t>
                      </a:r>
                      <a:endParaRPr lang="en-US" sz="1300" dirty="0">
                        <a:latin typeface="Calibri" charset="0"/>
                        <a:ea typeface="Calibri" charset="0"/>
                        <a:cs typeface="Calibri" charset="0"/>
                      </a:endParaRPr>
                    </a:p>
                  </a:txBody>
                  <a:tcPr marL="91440" marR="91440" marT="36576" marB="36576" anchor="ctr">
                    <a:lnL w="6350" cap="flat" cmpd="sng" algn="ctr">
                      <a:solidFill>
                        <a:srgbClr val="D3DEE4"/>
                      </a:solidFill>
                      <a:prstDash val="solid"/>
                      <a:round/>
                      <a:headEnd type="none" w="med" len="med"/>
                      <a:tailEnd type="none" w="med" len="med"/>
                    </a:lnL>
                    <a:lnR w="6350" cap="flat" cmpd="sng" algn="ctr">
                      <a:solidFill>
                        <a:srgbClr val="D3DEE4"/>
                      </a:solidFill>
                      <a:prstDash val="solid"/>
                      <a:round/>
                      <a:headEnd type="none" w="med" len="med"/>
                      <a:tailEnd type="none" w="med" len="med"/>
                    </a:lnR>
                    <a:lnT w="6350" cap="flat" cmpd="sng" algn="ctr">
                      <a:solidFill>
                        <a:srgbClr val="D3DEE4"/>
                      </a:solidFill>
                      <a:prstDash val="solid"/>
                      <a:round/>
                      <a:headEnd type="none" w="med" len="med"/>
                      <a:tailEnd type="none" w="med" len="med"/>
                    </a:lnT>
                    <a:lnB w="6350" cap="flat" cmpd="sng" algn="ctr">
                      <a:solidFill>
                        <a:srgbClr val="D3DEE4"/>
                      </a:solidFill>
                      <a:prstDash val="solid"/>
                      <a:round/>
                      <a:headEnd type="none" w="med" len="med"/>
                      <a:tailEnd type="none" w="med" len="med"/>
                    </a:lnB>
                    <a:solidFill>
                      <a:srgbClr val="FFFFFF"/>
                    </a:solidFill>
                  </a:tcPr>
                </a:tc>
              </a:tr>
              <a:tr h="868680">
                <a:tc>
                  <a:txBody>
                    <a:bodyPr/>
                    <a:lstStyle/>
                    <a:p>
                      <a:pPr indent="0" marL="0">
                        <a:buNone/>
                      </a:pPr>
                      <a:r>
                        <a:rPr lang="en-US" sz="1300" b="1" dirty="0">
                          <a:solidFill>
                            <a:srgbClr val="0F2A3D"/>
                          </a:solidFill>
                          <a:latin typeface="Calibri" pitchFamily="34" charset="0"/>
                          <a:ea typeface="Calibri" pitchFamily="34" charset="-122"/>
                          <a:cs typeface="Calibri" pitchFamily="34" charset="-120"/>
                        </a:rPr>
                        <a:t>[5] Wang &amp; Yang, LTM-Transformer (IEEE TPAMI 2025)</a:t>
                      </a:r>
                      <a:endParaRPr lang="en-US" sz="1300" dirty="0">
                        <a:latin typeface="Calibri" charset="0"/>
                        <a:ea typeface="Calibri" charset="0"/>
                        <a:cs typeface="Calibri" charset="0"/>
                      </a:endParaRPr>
                    </a:p>
                  </a:txBody>
                  <a:tcPr marL="91440" marR="91440" marT="36576" marB="36576" anchor="ctr">
                    <a:lnL w="6350" cap="flat" cmpd="sng" algn="ctr">
                      <a:solidFill>
                        <a:srgbClr val="D3DEE4"/>
                      </a:solidFill>
                      <a:prstDash val="solid"/>
                      <a:round/>
                      <a:headEnd type="none" w="med" len="med"/>
                      <a:tailEnd type="none" w="med" len="med"/>
                    </a:lnL>
                    <a:lnR w="6350" cap="flat" cmpd="sng" algn="ctr">
                      <a:solidFill>
                        <a:srgbClr val="D3DEE4"/>
                      </a:solidFill>
                      <a:prstDash val="solid"/>
                      <a:round/>
                      <a:headEnd type="none" w="med" len="med"/>
                      <a:tailEnd type="none" w="med" len="med"/>
                    </a:lnR>
                    <a:lnT w="6350" cap="flat" cmpd="sng" algn="ctr">
                      <a:solidFill>
                        <a:srgbClr val="D3DEE4"/>
                      </a:solidFill>
                      <a:prstDash val="solid"/>
                      <a:round/>
                      <a:headEnd type="none" w="med" len="med"/>
                      <a:tailEnd type="none" w="med" len="med"/>
                    </a:lnT>
                    <a:lnB w="6350" cap="flat" cmpd="sng" algn="ctr">
                      <a:solidFill>
                        <a:srgbClr val="D3DEE4"/>
                      </a:solidFill>
                      <a:prstDash val="solid"/>
                      <a:round/>
                      <a:headEnd type="none" w="med" len="med"/>
                      <a:tailEnd type="none" w="med" len="med"/>
                    </a:lnB>
                    <a:solidFill>
                      <a:srgbClr val="EAF1F4"/>
                    </a:solidFill>
                  </a:tcPr>
                </a:tc>
                <a:tc>
                  <a:txBody>
                    <a:bodyPr/>
                    <a:lstStyle/>
                    <a:p>
                      <a:pPr indent="0" marL="0">
                        <a:buNone/>
                      </a:pPr>
                      <a:r>
                        <a:rPr lang="en-US" sz="1300" dirty="0">
                          <a:solidFill>
                            <a:srgbClr val="1A2530"/>
                          </a:solidFill>
                          <a:latin typeface="Calibri" pitchFamily="34" charset="0"/>
                          <a:ea typeface="Calibri" pitchFamily="34" charset="-122"/>
                          <a:cs typeface="Calibri" pitchFamily="34" charset="-120"/>
                        </a:rPr>
                        <a:t>Learned token merging with an information-bottleneck loss.</a:t>
                      </a:r>
                      <a:endParaRPr lang="en-US" sz="1300" dirty="0">
                        <a:latin typeface="Calibri" charset="0"/>
                        <a:ea typeface="Calibri" charset="0"/>
                        <a:cs typeface="Calibri" charset="0"/>
                      </a:endParaRPr>
                    </a:p>
                  </a:txBody>
                  <a:tcPr marL="91440" marR="91440" marT="36576" marB="36576" anchor="ctr">
                    <a:lnL w="6350" cap="flat" cmpd="sng" algn="ctr">
                      <a:solidFill>
                        <a:srgbClr val="D3DEE4"/>
                      </a:solidFill>
                      <a:prstDash val="solid"/>
                      <a:round/>
                      <a:headEnd type="none" w="med" len="med"/>
                      <a:tailEnd type="none" w="med" len="med"/>
                    </a:lnL>
                    <a:lnR w="6350" cap="flat" cmpd="sng" algn="ctr">
                      <a:solidFill>
                        <a:srgbClr val="D3DEE4"/>
                      </a:solidFill>
                      <a:prstDash val="solid"/>
                      <a:round/>
                      <a:headEnd type="none" w="med" len="med"/>
                      <a:tailEnd type="none" w="med" len="med"/>
                    </a:lnR>
                    <a:lnT w="6350" cap="flat" cmpd="sng" algn="ctr">
                      <a:solidFill>
                        <a:srgbClr val="D3DEE4"/>
                      </a:solidFill>
                      <a:prstDash val="solid"/>
                      <a:round/>
                      <a:headEnd type="none" w="med" len="med"/>
                      <a:tailEnd type="none" w="med" len="med"/>
                    </a:lnT>
                    <a:lnB w="6350" cap="flat" cmpd="sng" algn="ctr">
                      <a:solidFill>
                        <a:srgbClr val="D3DEE4"/>
                      </a:solidFill>
                      <a:prstDash val="solid"/>
                      <a:round/>
                      <a:headEnd type="none" w="med" len="med"/>
                      <a:tailEnd type="none" w="med" len="med"/>
                    </a:lnB>
                    <a:solidFill>
                      <a:srgbClr val="EAF1F4"/>
                    </a:solidFill>
                  </a:tcPr>
                </a:tc>
                <a:tc>
                  <a:txBody>
                    <a:bodyPr/>
                    <a:lstStyle/>
                    <a:p>
                      <a:pPr indent="0" marL="0">
                        <a:buNone/>
                      </a:pPr>
                      <a:r>
                        <a:rPr lang="en-US" sz="1300" dirty="0">
                          <a:solidFill>
                            <a:srgbClr val="1A2530"/>
                          </a:solidFill>
                          <a:latin typeface="Calibri" pitchFamily="34" charset="0"/>
                          <a:ea typeface="Calibri" pitchFamily="34" charset="-122"/>
                          <a:cs typeface="Calibri" pitchFamily="34" charset="-120"/>
                        </a:rPr>
                        <a:t>No usable public code; our two re-implementations diverged.</a:t>
                      </a:r>
                      <a:endParaRPr lang="en-US" sz="1300" dirty="0">
                        <a:latin typeface="Calibri" charset="0"/>
                        <a:ea typeface="Calibri" charset="0"/>
                        <a:cs typeface="Calibri" charset="0"/>
                      </a:endParaRPr>
                    </a:p>
                  </a:txBody>
                  <a:tcPr marL="91440" marR="91440" marT="36576" marB="36576" anchor="ctr">
                    <a:lnL w="6350" cap="flat" cmpd="sng" algn="ctr">
                      <a:solidFill>
                        <a:srgbClr val="D3DEE4"/>
                      </a:solidFill>
                      <a:prstDash val="solid"/>
                      <a:round/>
                      <a:headEnd type="none" w="med" len="med"/>
                      <a:tailEnd type="none" w="med" len="med"/>
                    </a:lnL>
                    <a:lnR w="6350" cap="flat" cmpd="sng" algn="ctr">
                      <a:solidFill>
                        <a:srgbClr val="D3DEE4"/>
                      </a:solidFill>
                      <a:prstDash val="solid"/>
                      <a:round/>
                      <a:headEnd type="none" w="med" len="med"/>
                      <a:tailEnd type="none" w="med" len="med"/>
                    </a:lnR>
                    <a:lnT w="6350" cap="flat" cmpd="sng" algn="ctr">
                      <a:solidFill>
                        <a:srgbClr val="D3DEE4"/>
                      </a:solidFill>
                      <a:prstDash val="solid"/>
                      <a:round/>
                      <a:headEnd type="none" w="med" len="med"/>
                      <a:tailEnd type="none" w="med" len="med"/>
                    </a:lnT>
                    <a:lnB w="6350" cap="flat" cmpd="sng" algn="ctr">
                      <a:solidFill>
                        <a:srgbClr val="D3DEE4"/>
                      </a:solidFill>
                      <a:prstDash val="solid"/>
                      <a:round/>
                      <a:headEnd type="none" w="med" len="med"/>
                      <a:tailEnd type="none" w="med" len="med"/>
                    </a:lnB>
                    <a:solidFill>
                      <a:srgbClr val="EAF1F4"/>
                    </a:solidFill>
                  </a:tcPr>
                </a:tc>
              </a:tr>
            </a:tbl>
          </a:graphicData>
        </a:graphic>
      </p:graphicFrame>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Survey II: adaptive tokenization and slots</a:t>
            </a:r>
            <a:endParaRPr lang="en-US" sz="3200" dirty="0"/>
          </a:p>
        </p:txBody>
      </p:sp>
      <p:graphicFrame>
        <p:nvGraphicFramePr>
          <p:cNvPr id="8" name="Literature table"/>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3657600"/>
                <a:gridCol w="3566160"/>
                <a:gridCol w="3840480"/>
              </a:tblGrid>
              <a:tr h="41148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Work (venue, year)</a:t>
                      </a:r>
                      <a:endParaRPr lang="en-US" sz="1300" dirty="0">
                        <a:latin typeface="Calibri" charset="0"/>
                        <a:ea typeface="Calibri" charset="0"/>
                        <a:cs typeface="Calibri" charset="0"/>
                      </a:endParaRPr>
                    </a:p>
                  </a:txBody>
                  <a:tcPr marL="91440" marR="91440" marT="36576" marB="36576" anchor="ctr">
                    <a:lnL w="6350" cap="flat" cmpd="sng" algn="ctr">
                      <a:solidFill>
                        <a:srgbClr val="D3DEE4"/>
                      </a:solidFill>
                      <a:prstDash val="solid"/>
                      <a:round/>
                      <a:headEnd type="none" w="med" len="med"/>
                      <a:tailEnd type="none" w="med" len="med"/>
                    </a:lnL>
                    <a:lnR w="6350" cap="flat" cmpd="sng" algn="ctr">
                      <a:solidFill>
                        <a:srgbClr val="D3DEE4"/>
                      </a:solidFill>
                      <a:prstDash val="solid"/>
                      <a:round/>
                      <a:headEnd type="none" w="med" len="med"/>
                      <a:tailEnd type="none" w="med" len="med"/>
                    </a:lnR>
                    <a:lnT w="6350" cap="flat" cmpd="sng" algn="ctr">
                      <a:solidFill>
                        <a:srgbClr val="D3DEE4"/>
                      </a:solidFill>
                      <a:prstDash val="solid"/>
                      <a:round/>
                      <a:headEnd type="none" w="med" len="med"/>
                      <a:tailEnd type="none" w="med" len="med"/>
                    </a:lnT>
                    <a:lnB w="6350" cap="flat" cmpd="sng" algn="ctr">
                      <a:solidFill>
                        <a:srgbClr val="D3DEE4"/>
                      </a:solidFill>
                      <a:prstDash val="solid"/>
                      <a:round/>
                      <a:headEnd type="none" w="med" len="med"/>
                      <a:tailEnd type="none" w="med" len="med"/>
                    </a:lnB>
                    <a:solidFill>
                      <a:srgbClr val="0F2A3D"/>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Idea</a:t>
                      </a:r>
                      <a:endParaRPr lang="en-US" sz="1300" dirty="0">
                        <a:latin typeface="Calibri" charset="0"/>
                        <a:ea typeface="Calibri" charset="0"/>
                        <a:cs typeface="Calibri" charset="0"/>
                      </a:endParaRPr>
                    </a:p>
                  </a:txBody>
                  <a:tcPr marL="91440" marR="91440" marT="36576" marB="36576" anchor="ctr">
                    <a:lnL w="6350" cap="flat" cmpd="sng" algn="ctr">
                      <a:solidFill>
                        <a:srgbClr val="D3DEE4"/>
                      </a:solidFill>
                      <a:prstDash val="solid"/>
                      <a:round/>
                      <a:headEnd type="none" w="med" len="med"/>
                      <a:tailEnd type="none" w="med" len="med"/>
                    </a:lnL>
                    <a:lnR w="6350" cap="flat" cmpd="sng" algn="ctr">
                      <a:solidFill>
                        <a:srgbClr val="D3DEE4"/>
                      </a:solidFill>
                      <a:prstDash val="solid"/>
                      <a:round/>
                      <a:headEnd type="none" w="med" len="med"/>
                      <a:tailEnd type="none" w="med" len="med"/>
                    </a:lnR>
                    <a:lnT w="6350" cap="flat" cmpd="sng" algn="ctr">
                      <a:solidFill>
                        <a:srgbClr val="D3DEE4"/>
                      </a:solidFill>
                      <a:prstDash val="solid"/>
                      <a:round/>
                      <a:headEnd type="none" w="med" len="med"/>
                      <a:tailEnd type="none" w="med" len="med"/>
                    </a:lnT>
                    <a:lnB w="6350" cap="flat" cmpd="sng" algn="ctr">
                      <a:solidFill>
                        <a:srgbClr val="D3DEE4"/>
                      </a:solidFill>
                      <a:prstDash val="solid"/>
                      <a:round/>
                      <a:headEnd type="none" w="med" len="med"/>
                      <a:tailEnd type="none" w="med" len="med"/>
                    </a:lnB>
                    <a:solidFill>
                      <a:srgbClr val="0F2A3D"/>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Limitation / gap for this project</a:t>
                      </a:r>
                      <a:endParaRPr lang="en-US" sz="1300" dirty="0">
                        <a:latin typeface="Calibri" charset="0"/>
                        <a:ea typeface="Calibri" charset="0"/>
                        <a:cs typeface="Calibri" charset="0"/>
                      </a:endParaRPr>
                    </a:p>
                  </a:txBody>
                  <a:tcPr marL="91440" marR="91440" marT="36576" marB="36576" anchor="ctr">
                    <a:lnL w="6350" cap="flat" cmpd="sng" algn="ctr">
                      <a:solidFill>
                        <a:srgbClr val="D3DEE4"/>
                      </a:solidFill>
                      <a:prstDash val="solid"/>
                      <a:round/>
                      <a:headEnd type="none" w="med" len="med"/>
                      <a:tailEnd type="none" w="med" len="med"/>
                    </a:lnL>
                    <a:lnR w="6350" cap="flat" cmpd="sng" algn="ctr">
                      <a:solidFill>
                        <a:srgbClr val="D3DEE4"/>
                      </a:solidFill>
                      <a:prstDash val="solid"/>
                      <a:round/>
                      <a:headEnd type="none" w="med" len="med"/>
                      <a:tailEnd type="none" w="med" len="med"/>
                    </a:lnR>
                    <a:lnT w="6350" cap="flat" cmpd="sng" algn="ctr">
                      <a:solidFill>
                        <a:srgbClr val="D3DEE4"/>
                      </a:solidFill>
                      <a:prstDash val="solid"/>
                      <a:round/>
                      <a:headEnd type="none" w="med" len="med"/>
                      <a:tailEnd type="none" w="med" len="med"/>
                    </a:lnT>
                    <a:lnB w="6350" cap="flat" cmpd="sng" algn="ctr">
                      <a:solidFill>
                        <a:srgbClr val="D3DEE4"/>
                      </a:solidFill>
                      <a:prstDash val="solid"/>
                      <a:round/>
                      <a:headEnd type="none" w="med" len="med"/>
                      <a:tailEnd type="none" w="med" len="med"/>
                    </a:lnB>
                    <a:solidFill>
                      <a:srgbClr val="0F2A3D"/>
                    </a:solidFill>
                  </a:tcPr>
                </a:tc>
              </a:tr>
              <a:tr h="658368">
                <a:tc>
                  <a:txBody>
                    <a:bodyPr/>
                    <a:lstStyle/>
                    <a:p>
                      <a:pPr indent="0" marL="0">
                        <a:buNone/>
                      </a:pPr>
                      <a:r>
                        <a:rPr lang="en-US" sz="1300" b="1" dirty="0">
                          <a:solidFill>
                            <a:srgbClr val="0F2A3D"/>
                          </a:solidFill>
                          <a:latin typeface="Calibri" pitchFamily="34" charset="0"/>
                          <a:ea typeface="Calibri" pitchFamily="34" charset="-122"/>
                          <a:cs typeface="Calibri" pitchFamily="34" charset="-120"/>
                        </a:rPr>
                        <a:t>[6] Yu et al., Stepwise patch merging (IJCAI 2025)</a:t>
                      </a:r>
                      <a:endParaRPr lang="en-US" sz="1300" dirty="0">
                        <a:latin typeface="Calibri" charset="0"/>
                        <a:ea typeface="Calibri" charset="0"/>
                        <a:cs typeface="Calibri" charset="0"/>
                      </a:endParaRPr>
                    </a:p>
                  </a:txBody>
                  <a:tcPr marL="91440" marR="91440" marT="36576" marB="36576" anchor="ctr">
                    <a:lnL w="6350" cap="flat" cmpd="sng" algn="ctr">
                      <a:solidFill>
                        <a:srgbClr val="D3DEE4"/>
                      </a:solidFill>
                      <a:prstDash val="solid"/>
                      <a:round/>
                      <a:headEnd type="none" w="med" len="med"/>
                      <a:tailEnd type="none" w="med" len="med"/>
                    </a:lnL>
                    <a:lnR w="6350" cap="flat" cmpd="sng" algn="ctr">
                      <a:solidFill>
                        <a:srgbClr val="D3DEE4"/>
                      </a:solidFill>
                      <a:prstDash val="solid"/>
                      <a:round/>
                      <a:headEnd type="none" w="med" len="med"/>
                      <a:tailEnd type="none" w="med" len="med"/>
                    </a:lnR>
                    <a:lnT w="6350" cap="flat" cmpd="sng" algn="ctr">
                      <a:solidFill>
                        <a:srgbClr val="D3DEE4"/>
                      </a:solidFill>
                      <a:prstDash val="solid"/>
                      <a:round/>
                      <a:headEnd type="none" w="med" len="med"/>
                      <a:tailEnd type="none" w="med" len="med"/>
                    </a:lnT>
                    <a:lnB w="6350" cap="flat" cmpd="sng" algn="ctr">
                      <a:solidFill>
                        <a:srgbClr val="D3DEE4"/>
                      </a:solidFill>
                      <a:prstDash val="solid"/>
                      <a:round/>
                      <a:headEnd type="none" w="med" len="med"/>
                      <a:tailEnd type="none" w="med" len="med"/>
                    </a:lnB>
                    <a:solidFill>
                      <a:srgbClr val="EAF1F4"/>
                    </a:solidFill>
                  </a:tcPr>
                </a:tc>
                <a:tc>
                  <a:txBody>
                    <a:bodyPr/>
                    <a:lstStyle/>
                    <a:p>
                      <a:pPr indent="0" marL="0">
                        <a:buNone/>
                      </a:pPr>
                      <a:r>
                        <a:rPr lang="en-US" sz="1300" dirty="0">
                          <a:solidFill>
                            <a:srgbClr val="1A2530"/>
                          </a:solidFill>
                          <a:latin typeface="Calibri" pitchFamily="34" charset="0"/>
                          <a:ea typeface="Calibri" pitchFamily="34" charset="-122"/>
                          <a:cs typeface="Calibri" pitchFamily="34" charset="-120"/>
                        </a:rPr>
                        <a:t>Improved patch merging for hierarchical ViTs.</a:t>
                      </a:r>
                      <a:endParaRPr lang="en-US" sz="1300" dirty="0">
                        <a:latin typeface="Calibri" charset="0"/>
                        <a:ea typeface="Calibri" charset="0"/>
                        <a:cs typeface="Calibri" charset="0"/>
                      </a:endParaRPr>
                    </a:p>
                  </a:txBody>
                  <a:tcPr marL="91440" marR="91440" marT="36576" marB="36576" anchor="ctr">
                    <a:lnL w="6350" cap="flat" cmpd="sng" algn="ctr">
                      <a:solidFill>
                        <a:srgbClr val="D3DEE4"/>
                      </a:solidFill>
                      <a:prstDash val="solid"/>
                      <a:round/>
                      <a:headEnd type="none" w="med" len="med"/>
                      <a:tailEnd type="none" w="med" len="med"/>
                    </a:lnL>
                    <a:lnR w="6350" cap="flat" cmpd="sng" algn="ctr">
                      <a:solidFill>
                        <a:srgbClr val="D3DEE4"/>
                      </a:solidFill>
                      <a:prstDash val="solid"/>
                      <a:round/>
                      <a:headEnd type="none" w="med" len="med"/>
                      <a:tailEnd type="none" w="med" len="med"/>
                    </a:lnR>
                    <a:lnT w="6350" cap="flat" cmpd="sng" algn="ctr">
                      <a:solidFill>
                        <a:srgbClr val="D3DEE4"/>
                      </a:solidFill>
                      <a:prstDash val="solid"/>
                      <a:round/>
                      <a:headEnd type="none" w="med" len="med"/>
                      <a:tailEnd type="none" w="med" len="med"/>
                    </a:lnT>
                    <a:lnB w="6350" cap="flat" cmpd="sng" algn="ctr">
                      <a:solidFill>
                        <a:srgbClr val="D3DEE4"/>
                      </a:solidFill>
                      <a:prstDash val="solid"/>
                      <a:round/>
                      <a:headEnd type="none" w="med" len="med"/>
                      <a:tailEnd type="none" w="med" len="med"/>
                    </a:lnB>
                    <a:solidFill>
                      <a:srgbClr val="EAF1F4"/>
                    </a:solidFill>
                  </a:tcPr>
                </a:tc>
                <a:tc>
                  <a:txBody>
                    <a:bodyPr/>
                    <a:lstStyle/>
                    <a:p>
                      <a:pPr indent="0" marL="0">
                        <a:buNone/>
                      </a:pPr>
                      <a:r>
                        <a:rPr lang="en-US" sz="1300" dirty="0">
                          <a:solidFill>
                            <a:srgbClr val="1A2530"/>
                          </a:solidFill>
                          <a:latin typeface="Calibri" pitchFamily="34" charset="0"/>
                          <a:ea typeface="Calibri" pitchFamily="34" charset="-122"/>
                          <a:cs typeface="Calibri" pitchFamily="34" charset="-120"/>
                        </a:rPr>
                        <a:t>Designed schedule, not content-driven grouping.</a:t>
                      </a:r>
                      <a:endParaRPr lang="en-US" sz="1300" dirty="0">
                        <a:latin typeface="Calibri" charset="0"/>
                        <a:ea typeface="Calibri" charset="0"/>
                        <a:cs typeface="Calibri" charset="0"/>
                      </a:endParaRPr>
                    </a:p>
                  </a:txBody>
                  <a:tcPr marL="91440" marR="91440" marT="36576" marB="36576" anchor="ctr">
                    <a:lnL w="6350" cap="flat" cmpd="sng" algn="ctr">
                      <a:solidFill>
                        <a:srgbClr val="D3DEE4"/>
                      </a:solidFill>
                      <a:prstDash val="solid"/>
                      <a:round/>
                      <a:headEnd type="none" w="med" len="med"/>
                      <a:tailEnd type="none" w="med" len="med"/>
                    </a:lnL>
                    <a:lnR w="6350" cap="flat" cmpd="sng" algn="ctr">
                      <a:solidFill>
                        <a:srgbClr val="D3DEE4"/>
                      </a:solidFill>
                      <a:prstDash val="solid"/>
                      <a:round/>
                      <a:headEnd type="none" w="med" len="med"/>
                      <a:tailEnd type="none" w="med" len="med"/>
                    </a:lnR>
                    <a:lnT w="6350" cap="flat" cmpd="sng" algn="ctr">
                      <a:solidFill>
                        <a:srgbClr val="D3DEE4"/>
                      </a:solidFill>
                      <a:prstDash val="solid"/>
                      <a:round/>
                      <a:headEnd type="none" w="med" len="med"/>
                      <a:tailEnd type="none" w="med" len="med"/>
                    </a:lnT>
                    <a:lnB w="6350" cap="flat" cmpd="sng" algn="ctr">
                      <a:solidFill>
                        <a:srgbClr val="D3DEE4"/>
                      </a:solidFill>
                      <a:prstDash val="solid"/>
                      <a:round/>
                      <a:headEnd type="none" w="med" len="med"/>
                      <a:tailEnd type="none" w="med" len="med"/>
                    </a:lnB>
                    <a:solidFill>
                      <a:srgbClr val="EAF1F4"/>
                    </a:solidFill>
                  </a:tcPr>
                </a:tc>
              </a:tr>
              <a:tr h="658368">
                <a:tc>
                  <a:txBody>
                    <a:bodyPr/>
                    <a:lstStyle/>
                    <a:p>
                      <a:pPr indent="0" marL="0">
                        <a:buNone/>
                      </a:pPr>
                      <a:r>
                        <a:rPr lang="en-US" sz="1300" b="1" dirty="0">
                          <a:solidFill>
                            <a:srgbClr val="0F2A3D"/>
                          </a:solidFill>
                          <a:latin typeface="Calibri" pitchFamily="34" charset="0"/>
                          <a:ea typeface="Calibri" pitchFamily="34" charset="-122"/>
                          <a:cs typeface="Calibri" pitchFamily="34" charset="-120"/>
                        </a:rPr>
                        <a:t>[7] Yin et al., DART (arXiv 2025)</a:t>
                      </a:r>
                      <a:endParaRPr lang="en-US" sz="1300" dirty="0">
                        <a:latin typeface="Calibri" charset="0"/>
                        <a:ea typeface="Calibri" charset="0"/>
                        <a:cs typeface="Calibri" charset="0"/>
                      </a:endParaRPr>
                    </a:p>
                  </a:txBody>
                  <a:tcPr marL="91440" marR="91440" marT="36576" marB="36576" anchor="ctr">
                    <a:lnL w="6350" cap="flat" cmpd="sng" algn="ctr">
                      <a:solidFill>
                        <a:srgbClr val="D3DEE4"/>
                      </a:solidFill>
                      <a:prstDash val="solid"/>
                      <a:round/>
                      <a:headEnd type="none" w="med" len="med"/>
                      <a:tailEnd type="none" w="med" len="med"/>
                    </a:lnL>
                    <a:lnR w="6350" cap="flat" cmpd="sng" algn="ctr">
                      <a:solidFill>
                        <a:srgbClr val="D3DEE4"/>
                      </a:solidFill>
                      <a:prstDash val="solid"/>
                      <a:round/>
                      <a:headEnd type="none" w="med" len="med"/>
                      <a:tailEnd type="none" w="med" len="med"/>
                    </a:lnR>
                    <a:lnT w="6350" cap="flat" cmpd="sng" algn="ctr">
                      <a:solidFill>
                        <a:srgbClr val="D3DEE4"/>
                      </a:solidFill>
                      <a:prstDash val="solid"/>
                      <a:round/>
                      <a:headEnd type="none" w="med" len="med"/>
                      <a:tailEnd type="none" w="med" len="med"/>
                    </a:lnT>
                    <a:lnB w="6350" cap="flat" cmpd="sng" algn="ctr">
                      <a:solidFill>
                        <a:srgbClr val="D3DEE4"/>
                      </a:solidFill>
                      <a:prstDash val="solid"/>
                      <a:round/>
                      <a:headEnd type="none" w="med" len="med"/>
                      <a:tailEnd type="none" w="med" len="med"/>
                    </a:lnB>
                    <a:solidFill>
                      <a:srgbClr val="FFFFFF"/>
                    </a:solidFill>
                  </a:tcPr>
                </a:tc>
                <a:tc>
                  <a:txBody>
                    <a:bodyPr/>
                    <a:lstStyle/>
                    <a:p>
                      <a:pPr indent="0" marL="0">
                        <a:buNone/>
                      </a:pPr>
                      <a:r>
                        <a:rPr lang="en-US" sz="1300" dirty="0">
                          <a:solidFill>
                            <a:srgbClr val="1A2530"/>
                          </a:solidFill>
                          <a:latin typeface="Calibri" pitchFamily="34" charset="0"/>
                          <a:ea typeface="Calibri" pitchFamily="34" charset="-122"/>
                          <a:cs typeface="Calibri" pitchFamily="34" charset="-120"/>
                        </a:rPr>
                        <a:t>Differentiable content-adaptive region tokenizer.</a:t>
                      </a:r>
                      <a:endParaRPr lang="en-US" sz="1300" dirty="0">
                        <a:latin typeface="Calibri" charset="0"/>
                        <a:ea typeface="Calibri" charset="0"/>
                        <a:cs typeface="Calibri" charset="0"/>
                      </a:endParaRPr>
                    </a:p>
                  </a:txBody>
                  <a:tcPr marL="91440" marR="91440" marT="36576" marB="36576" anchor="ctr">
                    <a:lnL w="6350" cap="flat" cmpd="sng" algn="ctr">
                      <a:solidFill>
                        <a:srgbClr val="D3DEE4"/>
                      </a:solidFill>
                      <a:prstDash val="solid"/>
                      <a:round/>
                      <a:headEnd type="none" w="med" len="med"/>
                      <a:tailEnd type="none" w="med" len="med"/>
                    </a:lnL>
                    <a:lnR w="6350" cap="flat" cmpd="sng" algn="ctr">
                      <a:solidFill>
                        <a:srgbClr val="D3DEE4"/>
                      </a:solidFill>
                      <a:prstDash val="solid"/>
                      <a:round/>
                      <a:headEnd type="none" w="med" len="med"/>
                      <a:tailEnd type="none" w="med" len="med"/>
                    </a:lnR>
                    <a:lnT w="6350" cap="flat" cmpd="sng" algn="ctr">
                      <a:solidFill>
                        <a:srgbClr val="D3DEE4"/>
                      </a:solidFill>
                      <a:prstDash val="solid"/>
                      <a:round/>
                      <a:headEnd type="none" w="med" len="med"/>
                      <a:tailEnd type="none" w="med" len="med"/>
                    </a:lnT>
                    <a:lnB w="6350" cap="flat" cmpd="sng" algn="ctr">
                      <a:solidFill>
                        <a:srgbClr val="D3DEE4"/>
                      </a:solidFill>
                      <a:prstDash val="solid"/>
                      <a:round/>
                      <a:headEnd type="none" w="med" len="med"/>
                      <a:tailEnd type="none" w="med" len="med"/>
                    </a:lnB>
                    <a:solidFill>
                      <a:srgbClr val="FFFFFF"/>
                    </a:solidFill>
                  </a:tcPr>
                </a:tc>
                <a:tc>
                  <a:txBody>
                    <a:bodyPr/>
                    <a:lstStyle/>
                    <a:p>
                      <a:pPr indent="0" marL="0">
                        <a:buNone/>
                      </a:pPr>
                      <a:r>
                        <a:rPr lang="en-US" sz="1300" dirty="0">
                          <a:solidFill>
                            <a:srgbClr val="1A2530"/>
                          </a:solidFill>
                          <a:latin typeface="Calibri" pitchFamily="34" charset="0"/>
                          <a:ea typeface="Calibri" pitchFamily="34" charset="-122"/>
                          <a:cs typeface="Calibri" pitchFamily="34" charset="-120"/>
                        </a:rPr>
                        <a:t>Acts at the input; no capacity-matched comparison.</a:t>
                      </a:r>
                      <a:endParaRPr lang="en-US" sz="1300" dirty="0">
                        <a:latin typeface="Calibri" charset="0"/>
                        <a:ea typeface="Calibri" charset="0"/>
                        <a:cs typeface="Calibri" charset="0"/>
                      </a:endParaRPr>
                    </a:p>
                  </a:txBody>
                  <a:tcPr marL="91440" marR="91440" marT="36576" marB="36576" anchor="ctr">
                    <a:lnL w="6350" cap="flat" cmpd="sng" algn="ctr">
                      <a:solidFill>
                        <a:srgbClr val="D3DEE4"/>
                      </a:solidFill>
                      <a:prstDash val="solid"/>
                      <a:round/>
                      <a:headEnd type="none" w="med" len="med"/>
                      <a:tailEnd type="none" w="med" len="med"/>
                    </a:lnL>
                    <a:lnR w="6350" cap="flat" cmpd="sng" algn="ctr">
                      <a:solidFill>
                        <a:srgbClr val="D3DEE4"/>
                      </a:solidFill>
                      <a:prstDash val="solid"/>
                      <a:round/>
                      <a:headEnd type="none" w="med" len="med"/>
                      <a:tailEnd type="none" w="med" len="med"/>
                    </a:lnR>
                    <a:lnT w="6350" cap="flat" cmpd="sng" algn="ctr">
                      <a:solidFill>
                        <a:srgbClr val="D3DEE4"/>
                      </a:solidFill>
                      <a:prstDash val="solid"/>
                      <a:round/>
                      <a:headEnd type="none" w="med" len="med"/>
                      <a:tailEnd type="none" w="med" len="med"/>
                    </a:lnT>
                    <a:lnB w="6350" cap="flat" cmpd="sng" algn="ctr">
                      <a:solidFill>
                        <a:srgbClr val="D3DEE4"/>
                      </a:solidFill>
                      <a:prstDash val="solid"/>
                      <a:round/>
                      <a:headEnd type="none" w="med" len="med"/>
                      <a:tailEnd type="none" w="med" len="med"/>
                    </a:lnB>
                    <a:solidFill>
                      <a:srgbClr val="FFFFFF"/>
                    </a:solidFill>
                  </a:tcPr>
                </a:tc>
              </a:tr>
              <a:tr h="658368">
                <a:tc>
                  <a:txBody>
                    <a:bodyPr/>
                    <a:lstStyle/>
                    <a:p>
                      <a:pPr indent="0" marL="0">
                        <a:buNone/>
                      </a:pPr>
                      <a:r>
                        <a:rPr lang="en-US" sz="1300" b="1" dirty="0">
                          <a:solidFill>
                            <a:srgbClr val="0F2A3D"/>
                          </a:solidFill>
                          <a:latin typeface="Calibri" pitchFamily="34" charset="0"/>
                          <a:ea typeface="Calibri" pitchFamily="34" charset="-122"/>
                          <a:cs typeface="Calibri" pitchFamily="34" charset="-120"/>
                        </a:rPr>
                        <a:t>[8] Duggal et al., Adaptive-length tokenization (ICLR 2025)</a:t>
                      </a:r>
                      <a:endParaRPr lang="en-US" sz="1300" dirty="0">
                        <a:latin typeface="Calibri" charset="0"/>
                        <a:ea typeface="Calibri" charset="0"/>
                        <a:cs typeface="Calibri" charset="0"/>
                      </a:endParaRPr>
                    </a:p>
                  </a:txBody>
                  <a:tcPr marL="91440" marR="91440" marT="36576" marB="36576" anchor="ctr">
                    <a:lnL w="6350" cap="flat" cmpd="sng" algn="ctr">
                      <a:solidFill>
                        <a:srgbClr val="D3DEE4"/>
                      </a:solidFill>
                      <a:prstDash val="solid"/>
                      <a:round/>
                      <a:headEnd type="none" w="med" len="med"/>
                      <a:tailEnd type="none" w="med" len="med"/>
                    </a:lnL>
                    <a:lnR w="6350" cap="flat" cmpd="sng" algn="ctr">
                      <a:solidFill>
                        <a:srgbClr val="D3DEE4"/>
                      </a:solidFill>
                      <a:prstDash val="solid"/>
                      <a:round/>
                      <a:headEnd type="none" w="med" len="med"/>
                      <a:tailEnd type="none" w="med" len="med"/>
                    </a:lnR>
                    <a:lnT w="6350" cap="flat" cmpd="sng" algn="ctr">
                      <a:solidFill>
                        <a:srgbClr val="D3DEE4"/>
                      </a:solidFill>
                      <a:prstDash val="solid"/>
                      <a:round/>
                      <a:headEnd type="none" w="med" len="med"/>
                      <a:tailEnd type="none" w="med" len="med"/>
                    </a:lnT>
                    <a:lnB w="6350" cap="flat" cmpd="sng" algn="ctr">
                      <a:solidFill>
                        <a:srgbClr val="D3DEE4"/>
                      </a:solidFill>
                      <a:prstDash val="solid"/>
                      <a:round/>
                      <a:headEnd type="none" w="med" len="med"/>
                      <a:tailEnd type="none" w="med" len="med"/>
                    </a:lnB>
                    <a:solidFill>
                      <a:srgbClr val="EAF1F4"/>
                    </a:solidFill>
                  </a:tcPr>
                </a:tc>
                <a:tc>
                  <a:txBody>
                    <a:bodyPr/>
                    <a:lstStyle/>
                    <a:p>
                      <a:pPr indent="0" marL="0">
                        <a:buNone/>
                      </a:pPr>
                      <a:r>
                        <a:rPr lang="en-US" sz="1300" dirty="0">
                          <a:solidFill>
                            <a:srgbClr val="1A2530"/>
                          </a:solidFill>
                          <a:latin typeface="Calibri" pitchFamily="34" charset="0"/>
                          <a:ea typeface="Calibri" pitchFamily="34" charset="-122"/>
                          <a:cs typeface="Calibri" pitchFamily="34" charset="-120"/>
                        </a:rPr>
                        <a:t>Variable-length image tokens via recurrent allocation.</a:t>
                      </a:r>
                      <a:endParaRPr lang="en-US" sz="1300" dirty="0">
                        <a:latin typeface="Calibri" charset="0"/>
                        <a:ea typeface="Calibri" charset="0"/>
                        <a:cs typeface="Calibri" charset="0"/>
                      </a:endParaRPr>
                    </a:p>
                  </a:txBody>
                  <a:tcPr marL="91440" marR="91440" marT="36576" marB="36576" anchor="ctr">
                    <a:lnL w="6350" cap="flat" cmpd="sng" algn="ctr">
                      <a:solidFill>
                        <a:srgbClr val="D3DEE4"/>
                      </a:solidFill>
                      <a:prstDash val="solid"/>
                      <a:round/>
                      <a:headEnd type="none" w="med" len="med"/>
                      <a:tailEnd type="none" w="med" len="med"/>
                    </a:lnL>
                    <a:lnR w="6350" cap="flat" cmpd="sng" algn="ctr">
                      <a:solidFill>
                        <a:srgbClr val="D3DEE4"/>
                      </a:solidFill>
                      <a:prstDash val="solid"/>
                      <a:round/>
                      <a:headEnd type="none" w="med" len="med"/>
                      <a:tailEnd type="none" w="med" len="med"/>
                    </a:lnR>
                    <a:lnT w="6350" cap="flat" cmpd="sng" algn="ctr">
                      <a:solidFill>
                        <a:srgbClr val="D3DEE4"/>
                      </a:solidFill>
                      <a:prstDash val="solid"/>
                      <a:round/>
                      <a:headEnd type="none" w="med" len="med"/>
                      <a:tailEnd type="none" w="med" len="med"/>
                    </a:lnT>
                    <a:lnB w="6350" cap="flat" cmpd="sng" algn="ctr">
                      <a:solidFill>
                        <a:srgbClr val="D3DEE4"/>
                      </a:solidFill>
                      <a:prstDash val="solid"/>
                      <a:round/>
                      <a:headEnd type="none" w="med" len="med"/>
                      <a:tailEnd type="none" w="med" len="med"/>
                    </a:lnB>
                    <a:solidFill>
                      <a:srgbClr val="EAF1F4"/>
                    </a:solidFill>
                  </a:tcPr>
                </a:tc>
                <a:tc>
                  <a:txBody>
                    <a:bodyPr/>
                    <a:lstStyle/>
                    <a:p>
                      <a:pPr indent="0" marL="0">
                        <a:buNone/>
                      </a:pPr>
                      <a:r>
                        <a:rPr lang="en-US" sz="1300" dirty="0">
                          <a:solidFill>
                            <a:srgbClr val="1A2530"/>
                          </a:solidFill>
                          <a:latin typeface="Calibri" pitchFamily="34" charset="0"/>
                          <a:ea typeface="Calibri" pitchFamily="34" charset="-122"/>
                          <a:cs typeface="Calibri" pitchFamily="34" charset="-120"/>
                        </a:rPr>
                        <a:t>Tokenizer setting; our dynamic-K claim did not verify.</a:t>
                      </a:r>
                      <a:endParaRPr lang="en-US" sz="1300" dirty="0">
                        <a:latin typeface="Calibri" charset="0"/>
                        <a:ea typeface="Calibri" charset="0"/>
                        <a:cs typeface="Calibri" charset="0"/>
                      </a:endParaRPr>
                    </a:p>
                  </a:txBody>
                  <a:tcPr marL="91440" marR="91440" marT="36576" marB="36576" anchor="ctr">
                    <a:lnL w="6350" cap="flat" cmpd="sng" algn="ctr">
                      <a:solidFill>
                        <a:srgbClr val="D3DEE4"/>
                      </a:solidFill>
                      <a:prstDash val="solid"/>
                      <a:round/>
                      <a:headEnd type="none" w="med" len="med"/>
                      <a:tailEnd type="none" w="med" len="med"/>
                    </a:lnL>
                    <a:lnR w="6350" cap="flat" cmpd="sng" algn="ctr">
                      <a:solidFill>
                        <a:srgbClr val="D3DEE4"/>
                      </a:solidFill>
                      <a:prstDash val="solid"/>
                      <a:round/>
                      <a:headEnd type="none" w="med" len="med"/>
                      <a:tailEnd type="none" w="med" len="med"/>
                    </a:lnR>
                    <a:lnT w="6350" cap="flat" cmpd="sng" algn="ctr">
                      <a:solidFill>
                        <a:srgbClr val="D3DEE4"/>
                      </a:solidFill>
                      <a:prstDash val="solid"/>
                      <a:round/>
                      <a:headEnd type="none" w="med" len="med"/>
                      <a:tailEnd type="none" w="med" len="med"/>
                    </a:lnT>
                    <a:lnB w="6350" cap="flat" cmpd="sng" algn="ctr">
                      <a:solidFill>
                        <a:srgbClr val="D3DEE4"/>
                      </a:solidFill>
                      <a:prstDash val="solid"/>
                      <a:round/>
                      <a:headEnd type="none" w="med" len="med"/>
                      <a:tailEnd type="none" w="med" len="med"/>
                    </a:lnB>
                    <a:solidFill>
                      <a:srgbClr val="EAF1F4"/>
                    </a:solidFill>
                  </a:tcPr>
                </a:tc>
              </a:tr>
              <a:tr h="658368">
                <a:tc>
                  <a:txBody>
                    <a:bodyPr/>
                    <a:lstStyle/>
                    <a:p>
                      <a:pPr indent="0" marL="0">
                        <a:buNone/>
                      </a:pPr>
                      <a:r>
                        <a:rPr lang="en-US" sz="1300" b="1" dirty="0">
                          <a:solidFill>
                            <a:srgbClr val="0F2A3D"/>
                          </a:solidFill>
                          <a:latin typeface="Calibri" pitchFamily="34" charset="0"/>
                          <a:ea typeface="Calibri" pitchFamily="34" charset="-122"/>
                          <a:cs typeface="Calibri" pitchFamily="34" charset="-120"/>
                        </a:rPr>
                        <a:t>[9] Khadka et al., CoSwin (arXiv 2025)</a:t>
                      </a:r>
                      <a:endParaRPr lang="en-US" sz="1300" dirty="0">
                        <a:latin typeface="Calibri" charset="0"/>
                        <a:ea typeface="Calibri" charset="0"/>
                        <a:cs typeface="Calibri" charset="0"/>
                      </a:endParaRPr>
                    </a:p>
                  </a:txBody>
                  <a:tcPr marL="91440" marR="91440" marT="36576" marB="36576" anchor="ctr">
                    <a:lnL w="6350" cap="flat" cmpd="sng" algn="ctr">
                      <a:solidFill>
                        <a:srgbClr val="D3DEE4"/>
                      </a:solidFill>
                      <a:prstDash val="solid"/>
                      <a:round/>
                      <a:headEnd type="none" w="med" len="med"/>
                      <a:tailEnd type="none" w="med" len="med"/>
                    </a:lnL>
                    <a:lnR w="6350" cap="flat" cmpd="sng" algn="ctr">
                      <a:solidFill>
                        <a:srgbClr val="D3DEE4"/>
                      </a:solidFill>
                      <a:prstDash val="solid"/>
                      <a:round/>
                      <a:headEnd type="none" w="med" len="med"/>
                      <a:tailEnd type="none" w="med" len="med"/>
                    </a:lnR>
                    <a:lnT w="6350" cap="flat" cmpd="sng" algn="ctr">
                      <a:solidFill>
                        <a:srgbClr val="D3DEE4"/>
                      </a:solidFill>
                      <a:prstDash val="solid"/>
                      <a:round/>
                      <a:headEnd type="none" w="med" len="med"/>
                      <a:tailEnd type="none" w="med" len="med"/>
                    </a:lnT>
                    <a:lnB w="6350" cap="flat" cmpd="sng" algn="ctr">
                      <a:solidFill>
                        <a:srgbClr val="D3DEE4"/>
                      </a:solidFill>
                      <a:prstDash val="solid"/>
                      <a:round/>
                      <a:headEnd type="none" w="med" len="med"/>
                      <a:tailEnd type="none" w="med" len="med"/>
                    </a:lnB>
                    <a:solidFill>
                      <a:srgbClr val="FFFFFF"/>
                    </a:solidFill>
                  </a:tcPr>
                </a:tc>
                <a:tc>
                  <a:txBody>
                    <a:bodyPr/>
                    <a:lstStyle/>
                    <a:p>
                      <a:pPr indent="0" marL="0">
                        <a:buNone/>
                      </a:pPr>
                      <a:r>
                        <a:rPr lang="en-US" sz="1300" dirty="0">
                          <a:solidFill>
                            <a:srgbClr val="1A2530"/>
                          </a:solidFill>
                          <a:latin typeface="Calibri" pitchFamily="34" charset="0"/>
                          <a:ea typeface="Calibri" pitchFamily="34" charset="-122"/>
                          <a:cs typeface="Calibri" pitchFamily="34" charset="-120"/>
                        </a:rPr>
                        <a:t>Convolution-enhanced hierarchical Swin for small data.</a:t>
                      </a:r>
                      <a:endParaRPr lang="en-US" sz="1300" dirty="0">
                        <a:latin typeface="Calibri" charset="0"/>
                        <a:ea typeface="Calibri" charset="0"/>
                        <a:cs typeface="Calibri" charset="0"/>
                      </a:endParaRPr>
                    </a:p>
                  </a:txBody>
                  <a:tcPr marL="91440" marR="91440" marT="36576" marB="36576" anchor="ctr">
                    <a:lnL w="6350" cap="flat" cmpd="sng" algn="ctr">
                      <a:solidFill>
                        <a:srgbClr val="D3DEE4"/>
                      </a:solidFill>
                      <a:prstDash val="solid"/>
                      <a:round/>
                      <a:headEnd type="none" w="med" len="med"/>
                      <a:tailEnd type="none" w="med" len="med"/>
                    </a:lnL>
                    <a:lnR w="6350" cap="flat" cmpd="sng" algn="ctr">
                      <a:solidFill>
                        <a:srgbClr val="D3DEE4"/>
                      </a:solidFill>
                      <a:prstDash val="solid"/>
                      <a:round/>
                      <a:headEnd type="none" w="med" len="med"/>
                      <a:tailEnd type="none" w="med" len="med"/>
                    </a:lnR>
                    <a:lnT w="6350" cap="flat" cmpd="sng" algn="ctr">
                      <a:solidFill>
                        <a:srgbClr val="D3DEE4"/>
                      </a:solidFill>
                      <a:prstDash val="solid"/>
                      <a:round/>
                      <a:headEnd type="none" w="med" len="med"/>
                      <a:tailEnd type="none" w="med" len="med"/>
                    </a:lnT>
                    <a:lnB w="6350" cap="flat" cmpd="sng" algn="ctr">
                      <a:solidFill>
                        <a:srgbClr val="D3DEE4"/>
                      </a:solidFill>
                      <a:prstDash val="solid"/>
                      <a:round/>
                      <a:headEnd type="none" w="med" len="med"/>
                      <a:tailEnd type="none" w="med" len="med"/>
                    </a:lnB>
                    <a:solidFill>
                      <a:srgbClr val="FFFFFF"/>
                    </a:solidFill>
                  </a:tcPr>
                </a:tc>
                <a:tc>
                  <a:txBody>
                    <a:bodyPr/>
                    <a:lstStyle/>
                    <a:p>
                      <a:pPr indent="0" marL="0">
                        <a:buNone/>
                      </a:pPr>
                      <a:r>
                        <a:rPr lang="en-US" sz="1300" dirty="0">
                          <a:solidFill>
                            <a:srgbClr val="1A2530"/>
                          </a:solidFill>
                          <a:latin typeface="Calibri" pitchFamily="34" charset="0"/>
                          <a:ea typeface="Calibri" pitchFamily="34" charset="-122"/>
                          <a:cs typeface="Calibri" pitchFamily="34" charset="-120"/>
                        </a:rPr>
                        <a:t>Same regime; hand-designed prior; baseline candidate.</a:t>
                      </a:r>
                      <a:endParaRPr lang="en-US" sz="1300" dirty="0">
                        <a:latin typeface="Calibri" charset="0"/>
                        <a:ea typeface="Calibri" charset="0"/>
                        <a:cs typeface="Calibri" charset="0"/>
                      </a:endParaRPr>
                    </a:p>
                  </a:txBody>
                  <a:tcPr marL="91440" marR="91440" marT="36576" marB="36576" anchor="ctr">
                    <a:lnL w="6350" cap="flat" cmpd="sng" algn="ctr">
                      <a:solidFill>
                        <a:srgbClr val="D3DEE4"/>
                      </a:solidFill>
                      <a:prstDash val="solid"/>
                      <a:round/>
                      <a:headEnd type="none" w="med" len="med"/>
                      <a:tailEnd type="none" w="med" len="med"/>
                    </a:lnL>
                    <a:lnR w="6350" cap="flat" cmpd="sng" algn="ctr">
                      <a:solidFill>
                        <a:srgbClr val="D3DEE4"/>
                      </a:solidFill>
                      <a:prstDash val="solid"/>
                      <a:round/>
                      <a:headEnd type="none" w="med" len="med"/>
                      <a:tailEnd type="none" w="med" len="med"/>
                    </a:lnR>
                    <a:lnT w="6350" cap="flat" cmpd="sng" algn="ctr">
                      <a:solidFill>
                        <a:srgbClr val="D3DEE4"/>
                      </a:solidFill>
                      <a:prstDash val="solid"/>
                      <a:round/>
                      <a:headEnd type="none" w="med" len="med"/>
                      <a:tailEnd type="none" w="med" len="med"/>
                    </a:lnT>
                    <a:lnB w="6350" cap="flat" cmpd="sng" algn="ctr">
                      <a:solidFill>
                        <a:srgbClr val="D3DEE4"/>
                      </a:solidFill>
                      <a:prstDash val="solid"/>
                      <a:round/>
                      <a:headEnd type="none" w="med" len="med"/>
                      <a:tailEnd type="none" w="med" len="med"/>
                    </a:lnB>
                    <a:solidFill>
                      <a:srgbClr val="FFFFFF"/>
                    </a:solidFill>
                  </a:tcPr>
                </a:tc>
              </a:tr>
              <a:tr h="658368">
                <a:tc>
                  <a:txBody>
                    <a:bodyPr/>
                    <a:lstStyle/>
                    <a:p>
                      <a:pPr indent="0" marL="0">
                        <a:buNone/>
                      </a:pPr>
                      <a:r>
                        <a:rPr lang="en-US" sz="1300" b="1" dirty="0">
                          <a:solidFill>
                            <a:srgbClr val="0F2A3D"/>
                          </a:solidFill>
                          <a:latin typeface="Calibri" pitchFamily="34" charset="0"/>
                          <a:ea typeface="Calibri" pitchFamily="34" charset="-122"/>
                          <a:cs typeface="Calibri" pitchFamily="34" charset="-120"/>
                        </a:rPr>
                        <a:t>[14] Dukic et al., Target-encoder bootstrapping (ICLR 2025)</a:t>
                      </a:r>
                      <a:endParaRPr lang="en-US" sz="1300" dirty="0">
                        <a:latin typeface="Calibri" charset="0"/>
                        <a:ea typeface="Calibri" charset="0"/>
                        <a:cs typeface="Calibri" charset="0"/>
                      </a:endParaRPr>
                    </a:p>
                  </a:txBody>
                  <a:tcPr marL="91440" marR="91440" marT="36576" marB="36576" anchor="ctr">
                    <a:lnL w="6350" cap="flat" cmpd="sng" algn="ctr">
                      <a:solidFill>
                        <a:srgbClr val="D3DEE4"/>
                      </a:solidFill>
                      <a:prstDash val="solid"/>
                      <a:round/>
                      <a:headEnd type="none" w="med" len="med"/>
                      <a:tailEnd type="none" w="med" len="med"/>
                    </a:lnL>
                    <a:lnR w="6350" cap="flat" cmpd="sng" algn="ctr">
                      <a:solidFill>
                        <a:srgbClr val="D3DEE4"/>
                      </a:solidFill>
                      <a:prstDash val="solid"/>
                      <a:round/>
                      <a:headEnd type="none" w="med" len="med"/>
                      <a:tailEnd type="none" w="med" len="med"/>
                    </a:lnR>
                    <a:lnT w="6350" cap="flat" cmpd="sng" algn="ctr">
                      <a:solidFill>
                        <a:srgbClr val="D3DEE4"/>
                      </a:solidFill>
                      <a:prstDash val="solid"/>
                      <a:round/>
                      <a:headEnd type="none" w="med" len="med"/>
                      <a:tailEnd type="none" w="med" len="med"/>
                    </a:lnT>
                    <a:lnB w="6350" cap="flat" cmpd="sng" algn="ctr">
                      <a:solidFill>
                        <a:srgbClr val="D3DEE4"/>
                      </a:solidFill>
                      <a:prstDash val="solid"/>
                      <a:round/>
                      <a:headEnd type="none" w="med" len="med"/>
                      <a:tailEnd type="none" w="med" len="med"/>
                    </a:lnB>
                    <a:solidFill>
                      <a:srgbClr val="EAF1F4"/>
                    </a:solidFill>
                  </a:tcPr>
                </a:tc>
                <a:tc>
                  <a:txBody>
                    <a:bodyPr/>
                    <a:lstStyle/>
                    <a:p>
                      <a:pPr indent="0" marL="0">
                        <a:buNone/>
                      </a:pPr>
                      <a:r>
                        <a:rPr lang="en-US" sz="1300" dirty="0">
                          <a:solidFill>
                            <a:srgbClr val="1A2530"/>
                          </a:solidFill>
                          <a:latin typeface="Calibri" pitchFamily="34" charset="0"/>
                          <a:ea typeface="Calibri" pitchFamily="34" charset="-122"/>
                          <a:cs typeface="Calibri" pitchFamily="34" charset="-120"/>
                        </a:rPr>
                        <a:t>Bootstraps targets for slot-attention pretraining.</a:t>
                      </a:r>
                      <a:endParaRPr lang="en-US" sz="1300" dirty="0">
                        <a:latin typeface="Calibri" charset="0"/>
                        <a:ea typeface="Calibri" charset="0"/>
                        <a:cs typeface="Calibri" charset="0"/>
                      </a:endParaRPr>
                    </a:p>
                  </a:txBody>
                  <a:tcPr marL="91440" marR="91440" marT="36576" marB="36576" anchor="ctr">
                    <a:lnL w="6350" cap="flat" cmpd="sng" algn="ctr">
                      <a:solidFill>
                        <a:srgbClr val="D3DEE4"/>
                      </a:solidFill>
                      <a:prstDash val="solid"/>
                      <a:round/>
                      <a:headEnd type="none" w="med" len="med"/>
                      <a:tailEnd type="none" w="med" len="med"/>
                    </a:lnL>
                    <a:lnR w="6350" cap="flat" cmpd="sng" algn="ctr">
                      <a:solidFill>
                        <a:srgbClr val="D3DEE4"/>
                      </a:solidFill>
                      <a:prstDash val="solid"/>
                      <a:round/>
                      <a:headEnd type="none" w="med" len="med"/>
                      <a:tailEnd type="none" w="med" len="med"/>
                    </a:lnR>
                    <a:lnT w="6350" cap="flat" cmpd="sng" algn="ctr">
                      <a:solidFill>
                        <a:srgbClr val="D3DEE4"/>
                      </a:solidFill>
                      <a:prstDash val="solid"/>
                      <a:round/>
                      <a:headEnd type="none" w="med" len="med"/>
                      <a:tailEnd type="none" w="med" len="med"/>
                    </a:lnT>
                    <a:lnB w="6350" cap="flat" cmpd="sng" algn="ctr">
                      <a:solidFill>
                        <a:srgbClr val="D3DEE4"/>
                      </a:solidFill>
                      <a:prstDash val="solid"/>
                      <a:round/>
                      <a:headEnd type="none" w="med" len="med"/>
                      <a:tailEnd type="none" w="med" len="med"/>
                    </a:lnB>
                    <a:solidFill>
                      <a:srgbClr val="EAF1F4"/>
                    </a:solidFill>
                  </a:tcPr>
                </a:tc>
                <a:tc>
                  <a:txBody>
                    <a:bodyPr/>
                    <a:lstStyle/>
                    <a:p>
                      <a:pPr indent="0" marL="0">
                        <a:buNone/>
                      </a:pPr>
                      <a:r>
                        <a:rPr lang="en-US" sz="1300" dirty="0">
                          <a:solidFill>
                            <a:srgbClr val="1A2530"/>
                          </a:solidFill>
                          <a:latin typeface="Calibri" pitchFamily="34" charset="0"/>
                          <a:ea typeface="Calibri" pitchFamily="34" charset="-122"/>
                          <a:cs typeface="Calibri" pitchFamily="34" charset="-120"/>
                        </a:rPr>
                        <a:t>Reconstruction-based; not label-only classification training.</a:t>
                      </a:r>
                      <a:endParaRPr lang="en-US" sz="1300" dirty="0">
                        <a:latin typeface="Calibri" charset="0"/>
                        <a:ea typeface="Calibri" charset="0"/>
                        <a:cs typeface="Calibri" charset="0"/>
                      </a:endParaRPr>
                    </a:p>
                  </a:txBody>
                  <a:tcPr marL="91440" marR="91440" marT="36576" marB="36576" anchor="ctr">
                    <a:lnL w="6350" cap="flat" cmpd="sng" algn="ctr">
                      <a:solidFill>
                        <a:srgbClr val="D3DEE4"/>
                      </a:solidFill>
                      <a:prstDash val="solid"/>
                      <a:round/>
                      <a:headEnd type="none" w="med" len="med"/>
                      <a:tailEnd type="none" w="med" len="med"/>
                    </a:lnL>
                    <a:lnR w="6350" cap="flat" cmpd="sng" algn="ctr">
                      <a:solidFill>
                        <a:srgbClr val="D3DEE4"/>
                      </a:solidFill>
                      <a:prstDash val="solid"/>
                      <a:round/>
                      <a:headEnd type="none" w="med" len="med"/>
                      <a:tailEnd type="none" w="med" len="med"/>
                    </a:lnR>
                    <a:lnT w="6350" cap="flat" cmpd="sng" algn="ctr">
                      <a:solidFill>
                        <a:srgbClr val="D3DEE4"/>
                      </a:solidFill>
                      <a:prstDash val="solid"/>
                      <a:round/>
                      <a:headEnd type="none" w="med" len="med"/>
                      <a:tailEnd type="none" w="med" len="med"/>
                    </a:lnT>
                    <a:lnB w="6350" cap="flat" cmpd="sng" algn="ctr">
                      <a:solidFill>
                        <a:srgbClr val="D3DEE4"/>
                      </a:solidFill>
                      <a:prstDash val="solid"/>
                      <a:round/>
                      <a:headEnd type="none" w="med" len="med"/>
                      <a:tailEnd type="none" w="med" len="med"/>
                    </a:lnB>
                    <a:solidFill>
                      <a:srgbClr val="EAF1F4"/>
                    </a:solidFill>
                  </a:tcPr>
                </a:tc>
              </a:tr>
              <a:tr h="658368">
                <a:tc>
                  <a:txBody>
                    <a:bodyPr/>
                    <a:lstStyle/>
                    <a:p>
                      <a:pPr indent="0" marL="0">
                        <a:buNone/>
                      </a:pPr>
                      <a:r>
                        <a:rPr lang="en-US" sz="1300" b="1" dirty="0">
                          <a:solidFill>
                            <a:srgbClr val="0F2A3D"/>
                          </a:solidFill>
                          <a:latin typeface="Calibri" pitchFamily="34" charset="0"/>
                          <a:ea typeface="Calibri" pitchFamily="34" charset="-122"/>
                          <a:cs typeface="Calibri" pitchFamily="34" charset="-120"/>
                        </a:rPr>
                        <a:t>[15] Singh et al., GLASS (CVPR 2025)</a:t>
                      </a:r>
                      <a:endParaRPr lang="en-US" sz="1300" dirty="0">
                        <a:latin typeface="Calibri" charset="0"/>
                        <a:ea typeface="Calibri" charset="0"/>
                        <a:cs typeface="Calibri" charset="0"/>
                      </a:endParaRPr>
                    </a:p>
                  </a:txBody>
                  <a:tcPr marL="91440" marR="91440" marT="36576" marB="36576" anchor="ctr">
                    <a:lnL w="6350" cap="flat" cmpd="sng" algn="ctr">
                      <a:solidFill>
                        <a:srgbClr val="D3DEE4"/>
                      </a:solidFill>
                      <a:prstDash val="solid"/>
                      <a:round/>
                      <a:headEnd type="none" w="med" len="med"/>
                      <a:tailEnd type="none" w="med" len="med"/>
                    </a:lnL>
                    <a:lnR w="6350" cap="flat" cmpd="sng" algn="ctr">
                      <a:solidFill>
                        <a:srgbClr val="D3DEE4"/>
                      </a:solidFill>
                      <a:prstDash val="solid"/>
                      <a:round/>
                      <a:headEnd type="none" w="med" len="med"/>
                      <a:tailEnd type="none" w="med" len="med"/>
                    </a:lnR>
                    <a:lnT w="6350" cap="flat" cmpd="sng" algn="ctr">
                      <a:solidFill>
                        <a:srgbClr val="D3DEE4"/>
                      </a:solidFill>
                      <a:prstDash val="solid"/>
                      <a:round/>
                      <a:headEnd type="none" w="med" len="med"/>
                      <a:tailEnd type="none" w="med" len="med"/>
                    </a:lnT>
                    <a:lnB w="6350" cap="flat" cmpd="sng" algn="ctr">
                      <a:solidFill>
                        <a:srgbClr val="D3DEE4"/>
                      </a:solidFill>
                      <a:prstDash val="solid"/>
                      <a:round/>
                      <a:headEnd type="none" w="med" len="med"/>
                      <a:tailEnd type="none" w="med" len="med"/>
                    </a:lnB>
                    <a:solidFill>
                      <a:srgbClr val="FFFFFF"/>
                    </a:solidFill>
                  </a:tcPr>
                </a:tc>
                <a:tc>
                  <a:txBody>
                    <a:bodyPr/>
                    <a:lstStyle/>
                    <a:p>
                      <a:pPr indent="0" marL="0">
                        <a:buNone/>
                      </a:pPr>
                      <a:r>
                        <a:rPr lang="en-US" sz="1300" dirty="0">
                          <a:solidFill>
                            <a:srgbClr val="1A2530"/>
                          </a:solidFill>
                          <a:latin typeface="Calibri" pitchFamily="34" charset="0"/>
                          <a:ea typeface="Calibri" pitchFamily="34" charset="-122"/>
                          <a:cs typeface="Calibri" pitchFamily="34" charset="-120"/>
                        </a:rPr>
                        <a:t>Guided latent slot diffusion for real images.</a:t>
                      </a:r>
                      <a:endParaRPr lang="en-US" sz="1300" dirty="0">
                        <a:latin typeface="Calibri" charset="0"/>
                        <a:ea typeface="Calibri" charset="0"/>
                        <a:cs typeface="Calibri" charset="0"/>
                      </a:endParaRPr>
                    </a:p>
                  </a:txBody>
                  <a:tcPr marL="91440" marR="91440" marT="36576" marB="36576" anchor="ctr">
                    <a:lnL w="6350" cap="flat" cmpd="sng" algn="ctr">
                      <a:solidFill>
                        <a:srgbClr val="D3DEE4"/>
                      </a:solidFill>
                      <a:prstDash val="solid"/>
                      <a:round/>
                      <a:headEnd type="none" w="med" len="med"/>
                      <a:tailEnd type="none" w="med" len="med"/>
                    </a:lnL>
                    <a:lnR w="6350" cap="flat" cmpd="sng" algn="ctr">
                      <a:solidFill>
                        <a:srgbClr val="D3DEE4"/>
                      </a:solidFill>
                      <a:prstDash val="solid"/>
                      <a:round/>
                      <a:headEnd type="none" w="med" len="med"/>
                      <a:tailEnd type="none" w="med" len="med"/>
                    </a:lnR>
                    <a:lnT w="6350" cap="flat" cmpd="sng" algn="ctr">
                      <a:solidFill>
                        <a:srgbClr val="D3DEE4"/>
                      </a:solidFill>
                      <a:prstDash val="solid"/>
                      <a:round/>
                      <a:headEnd type="none" w="med" len="med"/>
                      <a:tailEnd type="none" w="med" len="med"/>
                    </a:lnT>
                    <a:lnB w="6350" cap="flat" cmpd="sng" algn="ctr">
                      <a:solidFill>
                        <a:srgbClr val="D3DEE4"/>
                      </a:solidFill>
                      <a:prstDash val="solid"/>
                      <a:round/>
                      <a:headEnd type="none" w="med" len="med"/>
                      <a:tailEnd type="none" w="med" len="med"/>
                    </a:lnB>
                    <a:solidFill>
                      <a:srgbClr val="FFFFFF"/>
                    </a:solidFill>
                  </a:tcPr>
                </a:tc>
                <a:tc>
                  <a:txBody>
                    <a:bodyPr/>
                    <a:lstStyle/>
                    <a:p>
                      <a:pPr indent="0" marL="0">
                        <a:buNone/>
                      </a:pPr>
                      <a:r>
                        <a:rPr lang="en-US" sz="1300" dirty="0">
                          <a:solidFill>
                            <a:srgbClr val="1A2530"/>
                          </a:solidFill>
                          <a:latin typeface="Calibri" pitchFamily="34" charset="0"/>
                          <a:ea typeface="Calibri" pitchFamily="34" charset="-122"/>
                          <a:cs typeface="Calibri" pitchFamily="34" charset="-120"/>
                        </a:rPr>
                        <a:t>Heavy generative decoder; different goal.</a:t>
                      </a:r>
                      <a:endParaRPr lang="en-US" sz="1300" dirty="0">
                        <a:latin typeface="Calibri" charset="0"/>
                        <a:ea typeface="Calibri" charset="0"/>
                        <a:cs typeface="Calibri" charset="0"/>
                      </a:endParaRPr>
                    </a:p>
                  </a:txBody>
                  <a:tcPr marL="91440" marR="91440" marT="36576" marB="36576" anchor="ctr">
                    <a:lnL w="6350" cap="flat" cmpd="sng" algn="ctr">
                      <a:solidFill>
                        <a:srgbClr val="D3DEE4"/>
                      </a:solidFill>
                      <a:prstDash val="solid"/>
                      <a:round/>
                      <a:headEnd type="none" w="med" len="med"/>
                      <a:tailEnd type="none" w="med" len="med"/>
                    </a:lnL>
                    <a:lnR w="6350" cap="flat" cmpd="sng" algn="ctr">
                      <a:solidFill>
                        <a:srgbClr val="D3DEE4"/>
                      </a:solidFill>
                      <a:prstDash val="solid"/>
                      <a:round/>
                      <a:headEnd type="none" w="med" len="med"/>
                      <a:tailEnd type="none" w="med" len="med"/>
                    </a:lnR>
                    <a:lnT w="6350" cap="flat" cmpd="sng" algn="ctr">
                      <a:solidFill>
                        <a:srgbClr val="D3DEE4"/>
                      </a:solidFill>
                      <a:prstDash val="solid"/>
                      <a:round/>
                      <a:headEnd type="none" w="med" len="med"/>
                      <a:tailEnd type="none" w="med" len="med"/>
                    </a:lnT>
                    <a:lnB w="6350" cap="flat" cmpd="sng" algn="ctr">
                      <a:solidFill>
                        <a:srgbClr val="D3DEE4"/>
                      </a:solidFill>
                      <a:prstDash val="solid"/>
                      <a:round/>
                      <a:headEnd type="none" w="med" len="med"/>
                      <a:tailEnd type="none" w="med" len="med"/>
                    </a:lnB>
                    <a:solidFill>
                      <a:srgbClr val="FFFFFF"/>
                    </a:solidFill>
                  </a:tcPr>
                </a:tc>
              </a:tr>
              <a:tr h="658368">
                <a:tc>
                  <a:txBody>
                    <a:bodyPr/>
                    <a:lstStyle/>
                    <a:p>
                      <a:pPr indent="0" marL="0">
                        <a:buNone/>
                      </a:pPr>
                      <a:r>
                        <a:rPr lang="en-US" sz="1300" b="1" dirty="0">
                          <a:solidFill>
                            <a:srgbClr val="0F2A3D"/>
                          </a:solidFill>
                          <a:latin typeface="Calibri" pitchFamily="34" charset="0"/>
                          <a:ea typeface="Calibri" pitchFamily="34" charset="-122"/>
                          <a:cs typeface="Calibri" pitchFamily="34" charset="-120"/>
                        </a:rPr>
                        <a:t>[16] Akan, Slots in real-world scenarios (arXiv 2025)</a:t>
                      </a:r>
                      <a:endParaRPr lang="en-US" sz="1300" dirty="0">
                        <a:latin typeface="Calibri" charset="0"/>
                        <a:ea typeface="Calibri" charset="0"/>
                        <a:cs typeface="Calibri" charset="0"/>
                      </a:endParaRPr>
                    </a:p>
                  </a:txBody>
                  <a:tcPr marL="91440" marR="91440" marT="36576" marB="36576" anchor="ctr">
                    <a:lnL w="6350" cap="flat" cmpd="sng" algn="ctr">
                      <a:solidFill>
                        <a:srgbClr val="D3DEE4"/>
                      </a:solidFill>
                      <a:prstDash val="solid"/>
                      <a:round/>
                      <a:headEnd type="none" w="med" len="med"/>
                      <a:tailEnd type="none" w="med" len="med"/>
                    </a:lnL>
                    <a:lnR w="6350" cap="flat" cmpd="sng" algn="ctr">
                      <a:solidFill>
                        <a:srgbClr val="D3DEE4"/>
                      </a:solidFill>
                      <a:prstDash val="solid"/>
                      <a:round/>
                      <a:headEnd type="none" w="med" len="med"/>
                      <a:tailEnd type="none" w="med" len="med"/>
                    </a:lnR>
                    <a:lnT w="6350" cap="flat" cmpd="sng" algn="ctr">
                      <a:solidFill>
                        <a:srgbClr val="D3DEE4"/>
                      </a:solidFill>
                      <a:prstDash val="solid"/>
                      <a:round/>
                      <a:headEnd type="none" w="med" len="med"/>
                      <a:tailEnd type="none" w="med" len="med"/>
                    </a:lnT>
                    <a:lnB w="6350" cap="flat" cmpd="sng" algn="ctr">
                      <a:solidFill>
                        <a:srgbClr val="D3DEE4"/>
                      </a:solidFill>
                      <a:prstDash val="solid"/>
                      <a:round/>
                      <a:headEnd type="none" w="med" len="med"/>
                      <a:tailEnd type="none" w="med" len="med"/>
                    </a:lnB>
                    <a:solidFill>
                      <a:srgbClr val="EAF1F4"/>
                    </a:solidFill>
                  </a:tcPr>
                </a:tc>
                <a:tc>
                  <a:txBody>
                    <a:bodyPr/>
                    <a:lstStyle/>
                    <a:p>
                      <a:pPr indent="0" marL="0">
                        <a:buNone/>
                      </a:pPr>
                      <a:r>
                        <a:rPr lang="en-US" sz="1300" dirty="0">
                          <a:solidFill>
                            <a:srgbClr val="1A2530"/>
                          </a:solidFill>
                          <a:latin typeface="Calibri" pitchFamily="34" charset="0"/>
                          <a:ea typeface="Calibri" pitchFamily="34" charset="-122"/>
                          <a:cs typeface="Calibri" pitchFamily="34" charset="-120"/>
                        </a:rPr>
                        <a:t>Slot adapters plus a register token for diffusion models.</a:t>
                      </a:r>
                      <a:endParaRPr lang="en-US" sz="1300" dirty="0">
                        <a:latin typeface="Calibri" charset="0"/>
                        <a:ea typeface="Calibri" charset="0"/>
                        <a:cs typeface="Calibri" charset="0"/>
                      </a:endParaRPr>
                    </a:p>
                  </a:txBody>
                  <a:tcPr marL="91440" marR="91440" marT="36576" marB="36576" anchor="ctr">
                    <a:lnL w="6350" cap="flat" cmpd="sng" algn="ctr">
                      <a:solidFill>
                        <a:srgbClr val="D3DEE4"/>
                      </a:solidFill>
                      <a:prstDash val="solid"/>
                      <a:round/>
                      <a:headEnd type="none" w="med" len="med"/>
                      <a:tailEnd type="none" w="med" len="med"/>
                    </a:lnL>
                    <a:lnR w="6350" cap="flat" cmpd="sng" algn="ctr">
                      <a:solidFill>
                        <a:srgbClr val="D3DEE4"/>
                      </a:solidFill>
                      <a:prstDash val="solid"/>
                      <a:round/>
                      <a:headEnd type="none" w="med" len="med"/>
                      <a:tailEnd type="none" w="med" len="med"/>
                    </a:lnR>
                    <a:lnT w="6350" cap="flat" cmpd="sng" algn="ctr">
                      <a:solidFill>
                        <a:srgbClr val="D3DEE4"/>
                      </a:solidFill>
                      <a:prstDash val="solid"/>
                      <a:round/>
                      <a:headEnd type="none" w="med" len="med"/>
                      <a:tailEnd type="none" w="med" len="med"/>
                    </a:lnT>
                    <a:lnB w="6350" cap="flat" cmpd="sng" algn="ctr">
                      <a:solidFill>
                        <a:srgbClr val="D3DEE4"/>
                      </a:solidFill>
                      <a:prstDash val="solid"/>
                      <a:round/>
                      <a:headEnd type="none" w="med" len="med"/>
                      <a:tailEnd type="none" w="med" len="med"/>
                    </a:lnB>
                    <a:solidFill>
                      <a:srgbClr val="EAF1F4"/>
                    </a:solidFill>
                  </a:tcPr>
                </a:tc>
                <a:tc>
                  <a:txBody>
                    <a:bodyPr/>
                    <a:lstStyle/>
                    <a:p>
                      <a:pPr indent="0" marL="0">
                        <a:buNone/>
                      </a:pPr>
                      <a:r>
                        <a:rPr lang="en-US" sz="1300" dirty="0">
                          <a:solidFill>
                            <a:srgbClr val="1A2530"/>
                          </a:solidFill>
                          <a:latin typeface="Calibri" pitchFamily="34" charset="0"/>
                          <a:ea typeface="Calibri" pitchFamily="34" charset="-122"/>
                          <a:cs typeface="Calibri" pitchFamily="34" charset="-120"/>
                        </a:rPr>
                        <a:t>Register token beside slots; supports our register control.</a:t>
                      </a:r>
                      <a:endParaRPr lang="en-US" sz="1300" dirty="0">
                        <a:latin typeface="Calibri" charset="0"/>
                        <a:ea typeface="Calibri" charset="0"/>
                        <a:cs typeface="Calibri" charset="0"/>
                      </a:endParaRPr>
                    </a:p>
                  </a:txBody>
                  <a:tcPr marL="91440" marR="91440" marT="36576" marB="36576" anchor="ctr">
                    <a:lnL w="6350" cap="flat" cmpd="sng" algn="ctr">
                      <a:solidFill>
                        <a:srgbClr val="D3DEE4"/>
                      </a:solidFill>
                      <a:prstDash val="solid"/>
                      <a:round/>
                      <a:headEnd type="none" w="med" len="med"/>
                      <a:tailEnd type="none" w="med" len="med"/>
                    </a:lnL>
                    <a:lnR w="6350" cap="flat" cmpd="sng" algn="ctr">
                      <a:solidFill>
                        <a:srgbClr val="D3DEE4"/>
                      </a:solidFill>
                      <a:prstDash val="solid"/>
                      <a:round/>
                      <a:headEnd type="none" w="med" len="med"/>
                      <a:tailEnd type="none" w="med" len="med"/>
                    </a:lnR>
                    <a:lnT w="6350" cap="flat" cmpd="sng" algn="ctr">
                      <a:solidFill>
                        <a:srgbClr val="D3DEE4"/>
                      </a:solidFill>
                      <a:prstDash val="solid"/>
                      <a:round/>
                      <a:headEnd type="none" w="med" len="med"/>
                      <a:tailEnd type="none" w="med" len="med"/>
                    </a:lnT>
                    <a:lnB w="6350" cap="flat" cmpd="sng" algn="ctr">
                      <a:solidFill>
                        <a:srgbClr val="D3DEE4"/>
                      </a:solidFill>
                      <a:prstDash val="solid"/>
                      <a:round/>
                      <a:headEnd type="none" w="med" len="med"/>
                      <a:tailEnd type="none" w="med" len="med"/>
                    </a:lnB>
                    <a:solidFill>
                      <a:srgbClr val="EAF1F4"/>
                    </a:solidFill>
                  </a:tcPr>
                </a:tc>
              </a:tr>
            </a:tbl>
          </a:graphicData>
        </a:graphic>
      </p:graphicFrame>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Survey III: registers and region quality</a:t>
            </a:r>
            <a:endParaRPr lang="en-US" sz="3200" dirty="0"/>
          </a:p>
        </p:txBody>
      </p:sp>
      <p:graphicFrame>
        <p:nvGraphicFramePr>
          <p:cNvPr id="9" name="Literature table"/>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3657600"/>
                <a:gridCol w="3566160"/>
                <a:gridCol w="3840480"/>
              </a:tblGrid>
              <a:tr h="41148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Work (venue, year)</a:t>
                      </a:r>
                      <a:endParaRPr lang="en-US" sz="1300" dirty="0">
                        <a:latin typeface="Calibri" charset="0"/>
                        <a:ea typeface="Calibri" charset="0"/>
                        <a:cs typeface="Calibri" charset="0"/>
                      </a:endParaRPr>
                    </a:p>
                  </a:txBody>
                  <a:tcPr marL="91440" marR="91440" marT="36576" marB="36576" anchor="ctr">
                    <a:lnL w="6350" cap="flat" cmpd="sng" algn="ctr">
                      <a:solidFill>
                        <a:srgbClr val="D3DEE4"/>
                      </a:solidFill>
                      <a:prstDash val="solid"/>
                      <a:round/>
                      <a:headEnd type="none" w="med" len="med"/>
                      <a:tailEnd type="none" w="med" len="med"/>
                    </a:lnL>
                    <a:lnR w="6350" cap="flat" cmpd="sng" algn="ctr">
                      <a:solidFill>
                        <a:srgbClr val="D3DEE4"/>
                      </a:solidFill>
                      <a:prstDash val="solid"/>
                      <a:round/>
                      <a:headEnd type="none" w="med" len="med"/>
                      <a:tailEnd type="none" w="med" len="med"/>
                    </a:lnR>
                    <a:lnT w="6350" cap="flat" cmpd="sng" algn="ctr">
                      <a:solidFill>
                        <a:srgbClr val="D3DEE4"/>
                      </a:solidFill>
                      <a:prstDash val="solid"/>
                      <a:round/>
                      <a:headEnd type="none" w="med" len="med"/>
                      <a:tailEnd type="none" w="med" len="med"/>
                    </a:lnT>
                    <a:lnB w="6350" cap="flat" cmpd="sng" algn="ctr">
                      <a:solidFill>
                        <a:srgbClr val="D3DEE4"/>
                      </a:solidFill>
                      <a:prstDash val="solid"/>
                      <a:round/>
                      <a:headEnd type="none" w="med" len="med"/>
                      <a:tailEnd type="none" w="med" len="med"/>
                    </a:lnB>
                    <a:solidFill>
                      <a:srgbClr val="0F2A3D"/>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Idea</a:t>
                      </a:r>
                      <a:endParaRPr lang="en-US" sz="1300" dirty="0">
                        <a:latin typeface="Calibri" charset="0"/>
                        <a:ea typeface="Calibri" charset="0"/>
                        <a:cs typeface="Calibri" charset="0"/>
                      </a:endParaRPr>
                    </a:p>
                  </a:txBody>
                  <a:tcPr marL="91440" marR="91440" marT="36576" marB="36576" anchor="ctr">
                    <a:lnL w="6350" cap="flat" cmpd="sng" algn="ctr">
                      <a:solidFill>
                        <a:srgbClr val="D3DEE4"/>
                      </a:solidFill>
                      <a:prstDash val="solid"/>
                      <a:round/>
                      <a:headEnd type="none" w="med" len="med"/>
                      <a:tailEnd type="none" w="med" len="med"/>
                    </a:lnL>
                    <a:lnR w="6350" cap="flat" cmpd="sng" algn="ctr">
                      <a:solidFill>
                        <a:srgbClr val="D3DEE4"/>
                      </a:solidFill>
                      <a:prstDash val="solid"/>
                      <a:round/>
                      <a:headEnd type="none" w="med" len="med"/>
                      <a:tailEnd type="none" w="med" len="med"/>
                    </a:lnR>
                    <a:lnT w="6350" cap="flat" cmpd="sng" algn="ctr">
                      <a:solidFill>
                        <a:srgbClr val="D3DEE4"/>
                      </a:solidFill>
                      <a:prstDash val="solid"/>
                      <a:round/>
                      <a:headEnd type="none" w="med" len="med"/>
                      <a:tailEnd type="none" w="med" len="med"/>
                    </a:lnT>
                    <a:lnB w="6350" cap="flat" cmpd="sng" algn="ctr">
                      <a:solidFill>
                        <a:srgbClr val="D3DEE4"/>
                      </a:solidFill>
                      <a:prstDash val="solid"/>
                      <a:round/>
                      <a:headEnd type="none" w="med" len="med"/>
                      <a:tailEnd type="none" w="med" len="med"/>
                    </a:lnB>
                    <a:solidFill>
                      <a:srgbClr val="0F2A3D"/>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Limitation / gap for this project</a:t>
                      </a:r>
                      <a:endParaRPr lang="en-US" sz="1300" dirty="0">
                        <a:latin typeface="Calibri" charset="0"/>
                        <a:ea typeface="Calibri" charset="0"/>
                        <a:cs typeface="Calibri" charset="0"/>
                      </a:endParaRPr>
                    </a:p>
                  </a:txBody>
                  <a:tcPr marL="91440" marR="91440" marT="36576" marB="36576" anchor="ctr">
                    <a:lnL w="6350" cap="flat" cmpd="sng" algn="ctr">
                      <a:solidFill>
                        <a:srgbClr val="D3DEE4"/>
                      </a:solidFill>
                      <a:prstDash val="solid"/>
                      <a:round/>
                      <a:headEnd type="none" w="med" len="med"/>
                      <a:tailEnd type="none" w="med" len="med"/>
                    </a:lnL>
                    <a:lnR w="6350" cap="flat" cmpd="sng" algn="ctr">
                      <a:solidFill>
                        <a:srgbClr val="D3DEE4"/>
                      </a:solidFill>
                      <a:prstDash val="solid"/>
                      <a:round/>
                      <a:headEnd type="none" w="med" len="med"/>
                      <a:tailEnd type="none" w="med" len="med"/>
                    </a:lnR>
                    <a:lnT w="6350" cap="flat" cmpd="sng" algn="ctr">
                      <a:solidFill>
                        <a:srgbClr val="D3DEE4"/>
                      </a:solidFill>
                      <a:prstDash val="solid"/>
                      <a:round/>
                      <a:headEnd type="none" w="med" len="med"/>
                      <a:tailEnd type="none" w="med" len="med"/>
                    </a:lnT>
                    <a:lnB w="6350" cap="flat" cmpd="sng" algn="ctr">
                      <a:solidFill>
                        <a:srgbClr val="D3DEE4"/>
                      </a:solidFill>
                      <a:prstDash val="solid"/>
                      <a:round/>
                      <a:headEnd type="none" w="med" len="med"/>
                      <a:tailEnd type="none" w="med" len="med"/>
                    </a:lnB>
                    <a:solidFill>
                      <a:srgbClr val="0F2A3D"/>
                    </a:solidFill>
                  </a:tcPr>
                </a:tc>
              </a:tr>
              <a:tr h="731520">
                <a:tc>
                  <a:txBody>
                    <a:bodyPr/>
                    <a:lstStyle/>
                    <a:p>
                      <a:pPr indent="0" marL="0">
                        <a:buNone/>
                      </a:pPr>
                      <a:r>
                        <a:rPr lang="en-US" sz="1300" b="1" dirty="0">
                          <a:solidFill>
                            <a:srgbClr val="0F2A3D"/>
                          </a:solidFill>
                          <a:latin typeface="Calibri" pitchFamily="34" charset="0"/>
                          <a:ea typeface="Calibri" pitchFamily="34" charset="-122"/>
                          <a:cs typeface="Calibri" pitchFamily="34" charset="-120"/>
                        </a:rPr>
                        <a:t>[10] Jiang et al., ViTs don't need trained registers (NeurIPS 2025)</a:t>
                      </a:r>
                      <a:endParaRPr lang="en-US" sz="1300" dirty="0">
                        <a:latin typeface="Calibri" charset="0"/>
                        <a:ea typeface="Calibri" charset="0"/>
                        <a:cs typeface="Calibri" charset="0"/>
                      </a:endParaRPr>
                    </a:p>
                  </a:txBody>
                  <a:tcPr marL="91440" marR="91440" marT="36576" marB="36576" anchor="ctr">
                    <a:lnL w="6350" cap="flat" cmpd="sng" algn="ctr">
                      <a:solidFill>
                        <a:srgbClr val="D3DEE4"/>
                      </a:solidFill>
                      <a:prstDash val="solid"/>
                      <a:round/>
                      <a:headEnd type="none" w="med" len="med"/>
                      <a:tailEnd type="none" w="med" len="med"/>
                    </a:lnL>
                    <a:lnR w="6350" cap="flat" cmpd="sng" algn="ctr">
                      <a:solidFill>
                        <a:srgbClr val="D3DEE4"/>
                      </a:solidFill>
                      <a:prstDash val="solid"/>
                      <a:round/>
                      <a:headEnd type="none" w="med" len="med"/>
                      <a:tailEnd type="none" w="med" len="med"/>
                    </a:lnR>
                    <a:lnT w="6350" cap="flat" cmpd="sng" algn="ctr">
                      <a:solidFill>
                        <a:srgbClr val="D3DEE4"/>
                      </a:solidFill>
                      <a:prstDash val="solid"/>
                      <a:round/>
                      <a:headEnd type="none" w="med" len="med"/>
                      <a:tailEnd type="none" w="med" len="med"/>
                    </a:lnT>
                    <a:lnB w="6350" cap="flat" cmpd="sng" algn="ctr">
                      <a:solidFill>
                        <a:srgbClr val="D3DEE4"/>
                      </a:solidFill>
                      <a:prstDash val="solid"/>
                      <a:round/>
                      <a:headEnd type="none" w="med" len="med"/>
                      <a:tailEnd type="none" w="med" len="med"/>
                    </a:lnB>
                    <a:solidFill>
                      <a:srgbClr val="EAF1F4"/>
                    </a:solidFill>
                  </a:tcPr>
                </a:tc>
                <a:tc>
                  <a:txBody>
                    <a:bodyPr/>
                    <a:lstStyle/>
                    <a:p>
                      <a:pPr indent="0" marL="0">
                        <a:buNone/>
                      </a:pPr>
                      <a:r>
                        <a:rPr lang="en-US" sz="1300" dirty="0">
                          <a:solidFill>
                            <a:srgbClr val="1A2530"/>
                          </a:solidFill>
                          <a:latin typeface="Calibri" pitchFamily="34" charset="0"/>
                          <a:ea typeface="Calibri" pitchFamily="34" charset="-122"/>
                          <a:cs typeface="Calibri" pitchFamily="34" charset="-120"/>
                        </a:rPr>
                        <a:t>Training-free removal of high-norm outlier tokens.</a:t>
                      </a:r>
                      <a:endParaRPr lang="en-US" sz="1300" dirty="0">
                        <a:latin typeface="Calibri" charset="0"/>
                        <a:ea typeface="Calibri" charset="0"/>
                        <a:cs typeface="Calibri" charset="0"/>
                      </a:endParaRPr>
                    </a:p>
                  </a:txBody>
                  <a:tcPr marL="91440" marR="91440" marT="36576" marB="36576" anchor="ctr">
                    <a:lnL w="6350" cap="flat" cmpd="sng" algn="ctr">
                      <a:solidFill>
                        <a:srgbClr val="D3DEE4"/>
                      </a:solidFill>
                      <a:prstDash val="solid"/>
                      <a:round/>
                      <a:headEnd type="none" w="med" len="med"/>
                      <a:tailEnd type="none" w="med" len="med"/>
                    </a:lnL>
                    <a:lnR w="6350" cap="flat" cmpd="sng" algn="ctr">
                      <a:solidFill>
                        <a:srgbClr val="D3DEE4"/>
                      </a:solidFill>
                      <a:prstDash val="solid"/>
                      <a:round/>
                      <a:headEnd type="none" w="med" len="med"/>
                      <a:tailEnd type="none" w="med" len="med"/>
                    </a:lnR>
                    <a:lnT w="6350" cap="flat" cmpd="sng" algn="ctr">
                      <a:solidFill>
                        <a:srgbClr val="D3DEE4"/>
                      </a:solidFill>
                      <a:prstDash val="solid"/>
                      <a:round/>
                      <a:headEnd type="none" w="med" len="med"/>
                      <a:tailEnd type="none" w="med" len="med"/>
                    </a:lnT>
                    <a:lnB w="6350" cap="flat" cmpd="sng" algn="ctr">
                      <a:solidFill>
                        <a:srgbClr val="D3DEE4"/>
                      </a:solidFill>
                      <a:prstDash val="solid"/>
                      <a:round/>
                      <a:headEnd type="none" w="med" len="med"/>
                      <a:tailEnd type="none" w="med" len="med"/>
                    </a:lnB>
                    <a:solidFill>
                      <a:srgbClr val="EAF1F4"/>
                    </a:solidFill>
                  </a:tcPr>
                </a:tc>
                <a:tc>
                  <a:txBody>
                    <a:bodyPr/>
                    <a:lstStyle/>
                    <a:p>
                      <a:pPr indent="0" marL="0">
                        <a:buNone/>
                      </a:pPr>
                      <a:r>
                        <a:rPr lang="en-US" sz="1300" dirty="0">
                          <a:solidFill>
                            <a:srgbClr val="1A2530"/>
                          </a:solidFill>
                          <a:latin typeface="Calibri" pitchFamily="34" charset="0"/>
                          <a:ea typeface="Calibri" pitchFamily="34" charset="-122"/>
                          <a:cs typeface="Calibri" pitchFamily="34" charset="-120"/>
                        </a:rPr>
                        <a:t>Register effects need a mechanistic reading for arm R.</a:t>
                      </a:r>
                      <a:endParaRPr lang="en-US" sz="1300" dirty="0">
                        <a:latin typeface="Calibri" charset="0"/>
                        <a:ea typeface="Calibri" charset="0"/>
                        <a:cs typeface="Calibri" charset="0"/>
                      </a:endParaRPr>
                    </a:p>
                  </a:txBody>
                  <a:tcPr marL="91440" marR="91440" marT="36576" marB="36576" anchor="ctr">
                    <a:lnL w="6350" cap="flat" cmpd="sng" algn="ctr">
                      <a:solidFill>
                        <a:srgbClr val="D3DEE4"/>
                      </a:solidFill>
                      <a:prstDash val="solid"/>
                      <a:round/>
                      <a:headEnd type="none" w="med" len="med"/>
                      <a:tailEnd type="none" w="med" len="med"/>
                    </a:lnL>
                    <a:lnR w="6350" cap="flat" cmpd="sng" algn="ctr">
                      <a:solidFill>
                        <a:srgbClr val="D3DEE4"/>
                      </a:solidFill>
                      <a:prstDash val="solid"/>
                      <a:round/>
                      <a:headEnd type="none" w="med" len="med"/>
                      <a:tailEnd type="none" w="med" len="med"/>
                    </a:lnR>
                    <a:lnT w="6350" cap="flat" cmpd="sng" algn="ctr">
                      <a:solidFill>
                        <a:srgbClr val="D3DEE4"/>
                      </a:solidFill>
                      <a:prstDash val="solid"/>
                      <a:round/>
                      <a:headEnd type="none" w="med" len="med"/>
                      <a:tailEnd type="none" w="med" len="med"/>
                    </a:lnT>
                    <a:lnB w="6350" cap="flat" cmpd="sng" algn="ctr">
                      <a:solidFill>
                        <a:srgbClr val="D3DEE4"/>
                      </a:solidFill>
                      <a:prstDash val="solid"/>
                      <a:round/>
                      <a:headEnd type="none" w="med" len="med"/>
                      <a:tailEnd type="none" w="med" len="med"/>
                    </a:lnB>
                    <a:solidFill>
                      <a:srgbClr val="EAF1F4"/>
                    </a:solidFill>
                  </a:tcPr>
                </a:tc>
              </a:tr>
              <a:tr h="731520">
                <a:tc>
                  <a:txBody>
                    <a:bodyPr/>
                    <a:lstStyle/>
                    <a:p>
                      <a:pPr indent="0" marL="0">
                        <a:buNone/>
                      </a:pPr>
                      <a:r>
                        <a:rPr lang="en-US" sz="1300" b="1" dirty="0">
                          <a:solidFill>
                            <a:srgbClr val="0F2A3D"/>
                          </a:solidFill>
                          <a:latin typeface="Calibri" pitchFamily="34" charset="0"/>
                          <a:ea typeface="Calibri" pitchFamily="34" charset="-122"/>
                          <a:cs typeface="Calibri" pitchFamily="34" charset="-120"/>
                        </a:rPr>
                        <a:t>[11] Yan et al., Self-distilled registers (NeurIPS 2025)</a:t>
                      </a:r>
                      <a:endParaRPr lang="en-US" sz="1300" dirty="0">
                        <a:latin typeface="Calibri" charset="0"/>
                        <a:ea typeface="Calibri" charset="0"/>
                        <a:cs typeface="Calibri" charset="0"/>
                      </a:endParaRPr>
                    </a:p>
                  </a:txBody>
                  <a:tcPr marL="91440" marR="91440" marT="36576" marB="36576" anchor="ctr">
                    <a:lnL w="6350" cap="flat" cmpd="sng" algn="ctr">
                      <a:solidFill>
                        <a:srgbClr val="D3DEE4"/>
                      </a:solidFill>
                      <a:prstDash val="solid"/>
                      <a:round/>
                      <a:headEnd type="none" w="med" len="med"/>
                      <a:tailEnd type="none" w="med" len="med"/>
                    </a:lnL>
                    <a:lnR w="6350" cap="flat" cmpd="sng" algn="ctr">
                      <a:solidFill>
                        <a:srgbClr val="D3DEE4"/>
                      </a:solidFill>
                      <a:prstDash val="solid"/>
                      <a:round/>
                      <a:headEnd type="none" w="med" len="med"/>
                      <a:tailEnd type="none" w="med" len="med"/>
                    </a:lnR>
                    <a:lnT w="6350" cap="flat" cmpd="sng" algn="ctr">
                      <a:solidFill>
                        <a:srgbClr val="D3DEE4"/>
                      </a:solidFill>
                      <a:prstDash val="solid"/>
                      <a:round/>
                      <a:headEnd type="none" w="med" len="med"/>
                      <a:tailEnd type="none" w="med" len="med"/>
                    </a:lnT>
                    <a:lnB w="6350" cap="flat" cmpd="sng" algn="ctr">
                      <a:solidFill>
                        <a:srgbClr val="D3DEE4"/>
                      </a:solidFill>
                      <a:prstDash val="solid"/>
                      <a:round/>
                      <a:headEnd type="none" w="med" len="med"/>
                      <a:tailEnd type="none" w="med" len="med"/>
                    </a:lnB>
                    <a:solidFill>
                      <a:srgbClr val="FFFFFF"/>
                    </a:solidFill>
                  </a:tcPr>
                </a:tc>
                <a:tc>
                  <a:txBody>
                    <a:bodyPr/>
                    <a:lstStyle/>
                    <a:p>
                      <a:pPr indent="0" marL="0">
                        <a:buNone/>
                      </a:pPr>
                      <a:r>
                        <a:rPr lang="en-US" sz="1300" dirty="0">
                          <a:solidFill>
                            <a:srgbClr val="1A2530"/>
                          </a:solidFill>
                          <a:latin typeface="Calibri" pitchFamily="34" charset="0"/>
                          <a:ea typeface="Calibri" pitchFamily="34" charset="-122"/>
                          <a:cs typeface="Calibri" pitchFamily="34" charset="-120"/>
                        </a:rPr>
                        <a:t>Adds register tokens to pretrained ViTs by self-distillation.</a:t>
                      </a:r>
                      <a:endParaRPr lang="en-US" sz="1300" dirty="0">
                        <a:latin typeface="Calibri" charset="0"/>
                        <a:ea typeface="Calibri" charset="0"/>
                        <a:cs typeface="Calibri" charset="0"/>
                      </a:endParaRPr>
                    </a:p>
                  </a:txBody>
                  <a:tcPr marL="91440" marR="91440" marT="36576" marB="36576" anchor="ctr">
                    <a:lnL w="6350" cap="flat" cmpd="sng" algn="ctr">
                      <a:solidFill>
                        <a:srgbClr val="D3DEE4"/>
                      </a:solidFill>
                      <a:prstDash val="solid"/>
                      <a:round/>
                      <a:headEnd type="none" w="med" len="med"/>
                      <a:tailEnd type="none" w="med" len="med"/>
                    </a:lnL>
                    <a:lnR w="6350" cap="flat" cmpd="sng" algn="ctr">
                      <a:solidFill>
                        <a:srgbClr val="D3DEE4"/>
                      </a:solidFill>
                      <a:prstDash val="solid"/>
                      <a:round/>
                      <a:headEnd type="none" w="med" len="med"/>
                      <a:tailEnd type="none" w="med" len="med"/>
                    </a:lnR>
                    <a:lnT w="6350" cap="flat" cmpd="sng" algn="ctr">
                      <a:solidFill>
                        <a:srgbClr val="D3DEE4"/>
                      </a:solidFill>
                      <a:prstDash val="solid"/>
                      <a:round/>
                      <a:headEnd type="none" w="med" len="med"/>
                      <a:tailEnd type="none" w="med" len="med"/>
                    </a:lnT>
                    <a:lnB w="6350" cap="flat" cmpd="sng" algn="ctr">
                      <a:solidFill>
                        <a:srgbClr val="D3DEE4"/>
                      </a:solidFill>
                      <a:prstDash val="solid"/>
                      <a:round/>
                      <a:headEnd type="none" w="med" len="med"/>
                      <a:tailEnd type="none" w="med" len="med"/>
                    </a:lnB>
                    <a:solidFill>
                      <a:srgbClr val="FFFFFF"/>
                    </a:solidFill>
                  </a:tcPr>
                </a:tc>
                <a:tc>
                  <a:txBody>
                    <a:bodyPr/>
                    <a:lstStyle/>
                    <a:p>
                      <a:pPr indent="0" marL="0">
                        <a:buNone/>
                      </a:pPr>
                      <a:r>
                        <a:rPr lang="en-US" sz="1300" dirty="0">
                          <a:solidFill>
                            <a:srgbClr val="1A2530"/>
                          </a:solidFill>
                          <a:latin typeface="Calibri" pitchFamily="34" charset="0"/>
                          <a:ea typeface="Calibri" pitchFamily="34" charset="-122"/>
                          <a:cs typeface="Calibri" pitchFamily="34" charset="-120"/>
                        </a:rPr>
                        <a:t>Large pretrained ViTs, not from-scratch hierarchies.</a:t>
                      </a:r>
                      <a:endParaRPr lang="en-US" sz="1300" dirty="0">
                        <a:latin typeface="Calibri" charset="0"/>
                        <a:ea typeface="Calibri" charset="0"/>
                        <a:cs typeface="Calibri" charset="0"/>
                      </a:endParaRPr>
                    </a:p>
                  </a:txBody>
                  <a:tcPr marL="91440" marR="91440" marT="36576" marB="36576" anchor="ctr">
                    <a:lnL w="6350" cap="flat" cmpd="sng" algn="ctr">
                      <a:solidFill>
                        <a:srgbClr val="D3DEE4"/>
                      </a:solidFill>
                      <a:prstDash val="solid"/>
                      <a:round/>
                      <a:headEnd type="none" w="med" len="med"/>
                      <a:tailEnd type="none" w="med" len="med"/>
                    </a:lnL>
                    <a:lnR w="6350" cap="flat" cmpd="sng" algn="ctr">
                      <a:solidFill>
                        <a:srgbClr val="D3DEE4"/>
                      </a:solidFill>
                      <a:prstDash val="solid"/>
                      <a:round/>
                      <a:headEnd type="none" w="med" len="med"/>
                      <a:tailEnd type="none" w="med" len="med"/>
                    </a:lnR>
                    <a:lnT w="6350" cap="flat" cmpd="sng" algn="ctr">
                      <a:solidFill>
                        <a:srgbClr val="D3DEE4"/>
                      </a:solidFill>
                      <a:prstDash val="solid"/>
                      <a:round/>
                      <a:headEnd type="none" w="med" len="med"/>
                      <a:tailEnd type="none" w="med" len="med"/>
                    </a:lnT>
                    <a:lnB w="6350" cap="flat" cmpd="sng" algn="ctr">
                      <a:solidFill>
                        <a:srgbClr val="D3DEE4"/>
                      </a:solidFill>
                      <a:prstDash val="solid"/>
                      <a:round/>
                      <a:headEnd type="none" w="med" len="med"/>
                      <a:tailEnd type="none" w="med" len="med"/>
                    </a:lnB>
                    <a:solidFill>
                      <a:srgbClr val="FFFFFF"/>
                    </a:solidFill>
                  </a:tcPr>
                </a:tc>
              </a:tr>
              <a:tr h="731520">
                <a:tc>
                  <a:txBody>
                    <a:bodyPr/>
                    <a:lstStyle/>
                    <a:p>
                      <a:pPr indent="0" marL="0">
                        <a:buNone/>
                      </a:pPr>
                      <a:r>
                        <a:rPr lang="en-US" sz="1300" b="1" dirty="0">
                          <a:solidFill>
                            <a:srgbClr val="0F2A3D"/>
                          </a:solidFill>
                          <a:latin typeface="Calibri" pitchFamily="34" charset="0"/>
                          <a:ea typeface="Calibri" pitchFamily="34" charset="-122"/>
                          <a:cs typeface="Calibri" pitchFamily="34" charset="-120"/>
                        </a:rPr>
                        <a:t>[12] Lappe &amp; Giese, Register and [CLS] tokens (NeurIPS 2025)</a:t>
                      </a:r>
                      <a:endParaRPr lang="en-US" sz="1300" dirty="0">
                        <a:latin typeface="Calibri" charset="0"/>
                        <a:ea typeface="Calibri" charset="0"/>
                        <a:cs typeface="Calibri" charset="0"/>
                      </a:endParaRPr>
                    </a:p>
                  </a:txBody>
                  <a:tcPr marL="91440" marR="91440" marT="36576" marB="36576" anchor="ctr">
                    <a:lnL w="6350" cap="flat" cmpd="sng" algn="ctr">
                      <a:solidFill>
                        <a:srgbClr val="D3DEE4"/>
                      </a:solidFill>
                      <a:prstDash val="solid"/>
                      <a:round/>
                      <a:headEnd type="none" w="med" len="med"/>
                      <a:tailEnd type="none" w="med" len="med"/>
                    </a:lnL>
                    <a:lnR w="6350" cap="flat" cmpd="sng" algn="ctr">
                      <a:solidFill>
                        <a:srgbClr val="D3DEE4"/>
                      </a:solidFill>
                      <a:prstDash val="solid"/>
                      <a:round/>
                      <a:headEnd type="none" w="med" len="med"/>
                      <a:tailEnd type="none" w="med" len="med"/>
                    </a:lnR>
                    <a:lnT w="6350" cap="flat" cmpd="sng" algn="ctr">
                      <a:solidFill>
                        <a:srgbClr val="D3DEE4"/>
                      </a:solidFill>
                      <a:prstDash val="solid"/>
                      <a:round/>
                      <a:headEnd type="none" w="med" len="med"/>
                      <a:tailEnd type="none" w="med" len="med"/>
                    </a:lnT>
                    <a:lnB w="6350" cap="flat" cmpd="sng" algn="ctr">
                      <a:solidFill>
                        <a:srgbClr val="D3DEE4"/>
                      </a:solidFill>
                      <a:prstDash val="solid"/>
                      <a:round/>
                      <a:headEnd type="none" w="med" len="med"/>
                      <a:tailEnd type="none" w="med" len="med"/>
                    </a:lnB>
                    <a:solidFill>
                      <a:srgbClr val="EAF1F4"/>
                    </a:solidFill>
                  </a:tcPr>
                </a:tc>
                <a:tc>
                  <a:txBody>
                    <a:bodyPr/>
                    <a:lstStyle/>
                    <a:p>
                      <a:pPr indent="0" marL="0">
                        <a:buNone/>
                      </a:pPr>
                      <a:r>
                        <a:rPr lang="en-US" sz="1300" dirty="0">
                          <a:solidFill>
                            <a:srgbClr val="1A2530"/>
                          </a:solidFill>
                          <a:latin typeface="Calibri" pitchFamily="34" charset="0"/>
                          <a:ea typeface="Calibri" pitchFamily="34" charset="-122"/>
                          <a:cs typeface="Calibri" pitchFamily="34" charset="-120"/>
                        </a:rPr>
                        <a:t>Registers and [CLS] decouple local and global features.</a:t>
                      </a:r>
                      <a:endParaRPr lang="en-US" sz="1300" dirty="0">
                        <a:latin typeface="Calibri" charset="0"/>
                        <a:ea typeface="Calibri" charset="0"/>
                        <a:cs typeface="Calibri" charset="0"/>
                      </a:endParaRPr>
                    </a:p>
                  </a:txBody>
                  <a:tcPr marL="91440" marR="91440" marT="36576" marB="36576" anchor="ctr">
                    <a:lnL w="6350" cap="flat" cmpd="sng" algn="ctr">
                      <a:solidFill>
                        <a:srgbClr val="D3DEE4"/>
                      </a:solidFill>
                      <a:prstDash val="solid"/>
                      <a:round/>
                      <a:headEnd type="none" w="med" len="med"/>
                      <a:tailEnd type="none" w="med" len="med"/>
                    </a:lnL>
                    <a:lnR w="6350" cap="flat" cmpd="sng" algn="ctr">
                      <a:solidFill>
                        <a:srgbClr val="D3DEE4"/>
                      </a:solidFill>
                      <a:prstDash val="solid"/>
                      <a:round/>
                      <a:headEnd type="none" w="med" len="med"/>
                      <a:tailEnd type="none" w="med" len="med"/>
                    </a:lnR>
                    <a:lnT w="6350" cap="flat" cmpd="sng" algn="ctr">
                      <a:solidFill>
                        <a:srgbClr val="D3DEE4"/>
                      </a:solidFill>
                      <a:prstDash val="solid"/>
                      <a:round/>
                      <a:headEnd type="none" w="med" len="med"/>
                      <a:tailEnd type="none" w="med" len="med"/>
                    </a:lnT>
                    <a:lnB w="6350" cap="flat" cmpd="sng" algn="ctr">
                      <a:solidFill>
                        <a:srgbClr val="D3DEE4"/>
                      </a:solidFill>
                      <a:prstDash val="solid"/>
                      <a:round/>
                      <a:headEnd type="none" w="med" len="med"/>
                      <a:tailEnd type="none" w="med" len="med"/>
                    </a:lnB>
                    <a:solidFill>
                      <a:srgbClr val="EAF1F4"/>
                    </a:solidFill>
                  </a:tcPr>
                </a:tc>
                <a:tc>
                  <a:txBody>
                    <a:bodyPr/>
                    <a:lstStyle/>
                    <a:p>
                      <a:pPr indent="0" marL="0">
                        <a:buNone/>
                      </a:pPr>
                      <a:r>
                        <a:rPr lang="en-US" sz="1300" dirty="0">
                          <a:solidFill>
                            <a:srgbClr val="1A2530"/>
                          </a:solidFill>
                          <a:latin typeface="Calibri" pitchFamily="34" charset="0"/>
                          <a:ea typeface="Calibri" pitchFamily="34" charset="-122"/>
                          <a:cs typeface="Calibri" pitchFamily="34" charset="-120"/>
                        </a:rPr>
                        <a:t>Extra tokens alter routing; not separated from learned routing.</a:t>
                      </a:r>
                      <a:endParaRPr lang="en-US" sz="1300" dirty="0">
                        <a:latin typeface="Calibri" charset="0"/>
                        <a:ea typeface="Calibri" charset="0"/>
                        <a:cs typeface="Calibri" charset="0"/>
                      </a:endParaRPr>
                    </a:p>
                  </a:txBody>
                  <a:tcPr marL="91440" marR="91440" marT="36576" marB="36576" anchor="ctr">
                    <a:lnL w="6350" cap="flat" cmpd="sng" algn="ctr">
                      <a:solidFill>
                        <a:srgbClr val="D3DEE4"/>
                      </a:solidFill>
                      <a:prstDash val="solid"/>
                      <a:round/>
                      <a:headEnd type="none" w="med" len="med"/>
                      <a:tailEnd type="none" w="med" len="med"/>
                    </a:lnL>
                    <a:lnR w="6350" cap="flat" cmpd="sng" algn="ctr">
                      <a:solidFill>
                        <a:srgbClr val="D3DEE4"/>
                      </a:solidFill>
                      <a:prstDash val="solid"/>
                      <a:round/>
                      <a:headEnd type="none" w="med" len="med"/>
                      <a:tailEnd type="none" w="med" len="med"/>
                    </a:lnR>
                    <a:lnT w="6350" cap="flat" cmpd="sng" algn="ctr">
                      <a:solidFill>
                        <a:srgbClr val="D3DEE4"/>
                      </a:solidFill>
                      <a:prstDash val="solid"/>
                      <a:round/>
                      <a:headEnd type="none" w="med" len="med"/>
                      <a:tailEnd type="none" w="med" len="med"/>
                    </a:lnT>
                    <a:lnB w="6350" cap="flat" cmpd="sng" algn="ctr">
                      <a:solidFill>
                        <a:srgbClr val="D3DEE4"/>
                      </a:solidFill>
                      <a:prstDash val="solid"/>
                      <a:round/>
                      <a:headEnd type="none" w="med" len="med"/>
                      <a:tailEnd type="none" w="med" len="med"/>
                    </a:lnB>
                    <a:solidFill>
                      <a:srgbClr val="EAF1F4"/>
                    </a:solidFill>
                  </a:tcPr>
                </a:tc>
              </a:tr>
              <a:tr h="731520">
                <a:tc>
                  <a:txBody>
                    <a:bodyPr/>
                    <a:lstStyle/>
                    <a:p>
                      <a:pPr indent="0" marL="0">
                        <a:buNone/>
                      </a:pPr>
                      <a:r>
                        <a:rPr lang="en-US" sz="1300" b="1" dirty="0">
                          <a:solidFill>
                            <a:srgbClr val="0F2A3D"/>
                          </a:solidFill>
                          <a:latin typeface="Calibri" pitchFamily="34" charset="0"/>
                          <a:ea typeface="Calibri" pitchFamily="34" charset="-122"/>
                          <a:cs typeface="Calibri" pitchFamily="34" charset="-120"/>
                        </a:rPr>
                        <a:t>[13] Tang &amp; Qi, The extra tokens matter (ICML 2026)</a:t>
                      </a:r>
                      <a:endParaRPr lang="en-US" sz="1300" dirty="0">
                        <a:latin typeface="Calibri" charset="0"/>
                        <a:ea typeface="Calibri" charset="0"/>
                        <a:cs typeface="Calibri" charset="0"/>
                      </a:endParaRPr>
                    </a:p>
                  </a:txBody>
                  <a:tcPr marL="91440" marR="91440" marT="36576" marB="36576" anchor="ctr">
                    <a:lnL w="6350" cap="flat" cmpd="sng" algn="ctr">
                      <a:solidFill>
                        <a:srgbClr val="D3DEE4"/>
                      </a:solidFill>
                      <a:prstDash val="solid"/>
                      <a:round/>
                      <a:headEnd type="none" w="med" len="med"/>
                      <a:tailEnd type="none" w="med" len="med"/>
                    </a:lnL>
                    <a:lnR w="6350" cap="flat" cmpd="sng" algn="ctr">
                      <a:solidFill>
                        <a:srgbClr val="D3DEE4"/>
                      </a:solidFill>
                      <a:prstDash val="solid"/>
                      <a:round/>
                      <a:headEnd type="none" w="med" len="med"/>
                      <a:tailEnd type="none" w="med" len="med"/>
                    </a:lnR>
                    <a:lnT w="6350" cap="flat" cmpd="sng" algn="ctr">
                      <a:solidFill>
                        <a:srgbClr val="D3DEE4"/>
                      </a:solidFill>
                      <a:prstDash val="solid"/>
                      <a:round/>
                      <a:headEnd type="none" w="med" len="med"/>
                      <a:tailEnd type="none" w="med" len="med"/>
                    </a:lnT>
                    <a:lnB w="6350" cap="flat" cmpd="sng" algn="ctr">
                      <a:solidFill>
                        <a:srgbClr val="D3DEE4"/>
                      </a:solidFill>
                      <a:prstDash val="solid"/>
                      <a:round/>
                      <a:headEnd type="none" w="med" len="med"/>
                      <a:tailEnd type="none" w="med" len="med"/>
                    </a:lnB>
                    <a:solidFill>
                      <a:srgbClr val="FFFFFF"/>
                    </a:solidFill>
                  </a:tcPr>
                </a:tc>
                <a:tc>
                  <a:txBody>
                    <a:bodyPr/>
                    <a:lstStyle/>
                    <a:p>
                      <a:pPr indent="0" marL="0">
                        <a:buNone/>
                      </a:pPr>
                      <a:r>
                        <a:rPr lang="en-US" sz="1300" dirty="0">
                          <a:solidFill>
                            <a:srgbClr val="1A2530"/>
                          </a:solidFill>
                          <a:latin typeface="Calibri" pitchFamily="34" charset="0"/>
                          <a:ea typeface="Calibri" pitchFamily="34" charset="-122"/>
                          <a:cs typeface="Calibri" pitchFamily="34" charset="-120"/>
                        </a:rPr>
                        <a:t>Turns extra tokens into disentangled part-like factor tokens.</a:t>
                      </a:r>
                      <a:endParaRPr lang="en-US" sz="1300" dirty="0">
                        <a:latin typeface="Calibri" charset="0"/>
                        <a:ea typeface="Calibri" charset="0"/>
                        <a:cs typeface="Calibri" charset="0"/>
                      </a:endParaRPr>
                    </a:p>
                  </a:txBody>
                  <a:tcPr marL="91440" marR="91440" marT="36576" marB="36576" anchor="ctr">
                    <a:lnL w="6350" cap="flat" cmpd="sng" algn="ctr">
                      <a:solidFill>
                        <a:srgbClr val="D3DEE4"/>
                      </a:solidFill>
                      <a:prstDash val="solid"/>
                      <a:round/>
                      <a:headEnd type="none" w="med" len="med"/>
                      <a:tailEnd type="none" w="med" len="med"/>
                    </a:lnL>
                    <a:lnR w="6350" cap="flat" cmpd="sng" algn="ctr">
                      <a:solidFill>
                        <a:srgbClr val="D3DEE4"/>
                      </a:solidFill>
                      <a:prstDash val="solid"/>
                      <a:round/>
                      <a:headEnd type="none" w="med" len="med"/>
                      <a:tailEnd type="none" w="med" len="med"/>
                    </a:lnR>
                    <a:lnT w="6350" cap="flat" cmpd="sng" algn="ctr">
                      <a:solidFill>
                        <a:srgbClr val="D3DEE4"/>
                      </a:solidFill>
                      <a:prstDash val="solid"/>
                      <a:round/>
                      <a:headEnd type="none" w="med" len="med"/>
                      <a:tailEnd type="none" w="med" len="med"/>
                    </a:lnT>
                    <a:lnB w="6350" cap="flat" cmpd="sng" algn="ctr">
                      <a:solidFill>
                        <a:srgbClr val="D3DEE4"/>
                      </a:solidFill>
                      <a:prstDash val="solid"/>
                      <a:round/>
                      <a:headEnd type="none" w="med" len="med"/>
                      <a:tailEnd type="none" w="med" len="med"/>
                    </a:lnB>
                    <a:solidFill>
                      <a:srgbClr val="FFFFFF"/>
                    </a:solidFill>
                  </a:tcPr>
                </a:tc>
                <a:tc>
                  <a:txBody>
                    <a:bodyPr/>
                    <a:lstStyle/>
                    <a:p>
                      <a:pPr indent="0" marL="0">
                        <a:buNone/>
                      </a:pPr>
                      <a:r>
                        <a:rPr lang="en-US" sz="1300" dirty="0">
                          <a:solidFill>
                            <a:srgbClr val="1A2530"/>
                          </a:solidFill>
                          <a:latin typeface="Calibri" pitchFamily="34" charset="0"/>
                          <a:ea typeface="Calibri" pitchFamily="34" charset="-122"/>
                          <a:cs typeface="Calibri" pitchFamily="34" charset="-120"/>
                        </a:rPr>
                        <a:t>Parts from extra tokens, not routed grouping; no matched comparison.</a:t>
                      </a:r>
                      <a:endParaRPr lang="en-US" sz="1300" dirty="0">
                        <a:latin typeface="Calibri" charset="0"/>
                        <a:ea typeface="Calibri" charset="0"/>
                        <a:cs typeface="Calibri" charset="0"/>
                      </a:endParaRPr>
                    </a:p>
                  </a:txBody>
                  <a:tcPr marL="91440" marR="91440" marT="36576" marB="36576" anchor="ctr">
                    <a:lnL w="6350" cap="flat" cmpd="sng" algn="ctr">
                      <a:solidFill>
                        <a:srgbClr val="D3DEE4"/>
                      </a:solidFill>
                      <a:prstDash val="solid"/>
                      <a:round/>
                      <a:headEnd type="none" w="med" len="med"/>
                      <a:tailEnd type="none" w="med" len="med"/>
                    </a:lnL>
                    <a:lnR w="6350" cap="flat" cmpd="sng" algn="ctr">
                      <a:solidFill>
                        <a:srgbClr val="D3DEE4"/>
                      </a:solidFill>
                      <a:prstDash val="solid"/>
                      <a:round/>
                      <a:headEnd type="none" w="med" len="med"/>
                      <a:tailEnd type="none" w="med" len="med"/>
                    </a:lnR>
                    <a:lnT w="6350" cap="flat" cmpd="sng" algn="ctr">
                      <a:solidFill>
                        <a:srgbClr val="D3DEE4"/>
                      </a:solidFill>
                      <a:prstDash val="solid"/>
                      <a:round/>
                      <a:headEnd type="none" w="med" len="med"/>
                      <a:tailEnd type="none" w="med" len="med"/>
                    </a:lnT>
                    <a:lnB w="6350" cap="flat" cmpd="sng" algn="ctr">
                      <a:solidFill>
                        <a:srgbClr val="D3DEE4"/>
                      </a:solidFill>
                      <a:prstDash val="solid"/>
                      <a:round/>
                      <a:headEnd type="none" w="med" len="med"/>
                      <a:tailEnd type="none" w="med" len="med"/>
                    </a:lnB>
                    <a:solidFill>
                      <a:srgbClr val="FFFFFF"/>
                    </a:solidFill>
                  </a:tcPr>
                </a:tc>
              </a:tr>
              <a:tr h="731520">
                <a:tc>
                  <a:txBody>
                    <a:bodyPr/>
                    <a:lstStyle/>
                    <a:p>
                      <a:pPr indent="0" marL="0">
                        <a:buNone/>
                      </a:pPr>
                      <a:r>
                        <a:rPr lang="en-US" sz="1300" b="1" dirty="0">
                          <a:solidFill>
                            <a:srgbClr val="0F2A3D"/>
                          </a:solidFill>
                          <a:latin typeface="Calibri" pitchFamily="34" charset="0"/>
                          <a:ea typeface="Calibri" pitchFamily="34" charset="-122"/>
                          <a:cs typeface="Calibri" pitchFamily="34" charset="-120"/>
                        </a:rPr>
                        <a:t>[17] Simeoni et al., DINOv3 (arXiv 2025)</a:t>
                      </a:r>
                      <a:endParaRPr lang="en-US" sz="1300" dirty="0">
                        <a:latin typeface="Calibri" charset="0"/>
                        <a:ea typeface="Calibri" charset="0"/>
                        <a:cs typeface="Calibri" charset="0"/>
                      </a:endParaRPr>
                    </a:p>
                  </a:txBody>
                  <a:tcPr marL="91440" marR="91440" marT="36576" marB="36576" anchor="ctr">
                    <a:lnL w="6350" cap="flat" cmpd="sng" algn="ctr">
                      <a:solidFill>
                        <a:srgbClr val="D3DEE4"/>
                      </a:solidFill>
                      <a:prstDash val="solid"/>
                      <a:round/>
                      <a:headEnd type="none" w="med" len="med"/>
                      <a:tailEnd type="none" w="med" len="med"/>
                    </a:lnL>
                    <a:lnR w="6350" cap="flat" cmpd="sng" algn="ctr">
                      <a:solidFill>
                        <a:srgbClr val="D3DEE4"/>
                      </a:solidFill>
                      <a:prstDash val="solid"/>
                      <a:round/>
                      <a:headEnd type="none" w="med" len="med"/>
                      <a:tailEnd type="none" w="med" len="med"/>
                    </a:lnR>
                    <a:lnT w="6350" cap="flat" cmpd="sng" algn="ctr">
                      <a:solidFill>
                        <a:srgbClr val="D3DEE4"/>
                      </a:solidFill>
                      <a:prstDash val="solid"/>
                      <a:round/>
                      <a:headEnd type="none" w="med" len="med"/>
                      <a:tailEnd type="none" w="med" len="med"/>
                    </a:lnT>
                    <a:lnB w="6350" cap="flat" cmpd="sng" algn="ctr">
                      <a:solidFill>
                        <a:srgbClr val="D3DEE4"/>
                      </a:solidFill>
                      <a:prstDash val="solid"/>
                      <a:round/>
                      <a:headEnd type="none" w="med" len="med"/>
                      <a:tailEnd type="none" w="med" len="med"/>
                    </a:lnB>
                    <a:solidFill>
                      <a:srgbClr val="EAF1F4"/>
                    </a:solidFill>
                  </a:tcPr>
                </a:tc>
                <a:tc>
                  <a:txBody>
                    <a:bodyPr/>
                    <a:lstStyle/>
                    <a:p>
                      <a:pPr indent="0" marL="0">
                        <a:buNone/>
                      </a:pPr>
                      <a:r>
                        <a:rPr lang="en-US" sz="1300" dirty="0">
                          <a:solidFill>
                            <a:srgbClr val="1A2530"/>
                          </a:solidFill>
                          <a:latin typeface="Calibri" pitchFamily="34" charset="0"/>
                          <a:ea typeface="Calibri" pitchFamily="34" charset="-122"/>
                          <a:cs typeface="Calibri" pitchFamily="34" charset="-120"/>
                        </a:rPr>
                        <a:t>Scaled self-supervised model with Gram-anchored dense features.</a:t>
                      </a:r>
                      <a:endParaRPr lang="en-US" sz="1300" dirty="0">
                        <a:latin typeface="Calibri" charset="0"/>
                        <a:ea typeface="Calibri" charset="0"/>
                        <a:cs typeface="Calibri" charset="0"/>
                      </a:endParaRPr>
                    </a:p>
                  </a:txBody>
                  <a:tcPr marL="91440" marR="91440" marT="36576" marB="36576" anchor="ctr">
                    <a:lnL w="6350" cap="flat" cmpd="sng" algn="ctr">
                      <a:solidFill>
                        <a:srgbClr val="D3DEE4"/>
                      </a:solidFill>
                      <a:prstDash val="solid"/>
                      <a:round/>
                      <a:headEnd type="none" w="med" len="med"/>
                      <a:tailEnd type="none" w="med" len="med"/>
                    </a:lnL>
                    <a:lnR w="6350" cap="flat" cmpd="sng" algn="ctr">
                      <a:solidFill>
                        <a:srgbClr val="D3DEE4"/>
                      </a:solidFill>
                      <a:prstDash val="solid"/>
                      <a:round/>
                      <a:headEnd type="none" w="med" len="med"/>
                      <a:tailEnd type="none" w="med" len="med"/>
                    </a:lnR>
                    <a:lnT w="6350" cap="flat" cmpd="sng" algn="ctr">
                      <a:solidFill>
                        <a:srgbClr val="D3DEE4"/>
                      </a:solidFill>
                      <a:prstDash val="solid"/>
                      <a:round/>
                      <a:headEnd type="none" w="med" len="med"/>
                      <a:tailEnd type="none" w="med" len="med"/>
                    </a:lnT>
                    <a:lnB w="6350" cap="flat" cmpd="sng" algn="ctr">
                      <a:solidFill>
                        <a:srgbClr val="D3DEE4"/>
                      </a:solidFill>
                      <a:prstDash val="solid"/>
                      <a:round/>
                      <a:headEnd type="none" w="med" len="med"/>
                      <a:tailEnd type="none" w="med" len="med"/>
                    </a:lnB>
                    <a:solidFill>
                      <a:srgbClr val="EAF1F4"/>
                    </a:solidFill>
                  </a:tcPr>
                </a:tc>
                <a:tc>
                  <a:txBody>
                    <a:bodyPr/>
                    <a:lstStyle/>
                    <a:p>
                      <a:pPr indent="0" marL="0">
                        <a:buNone/>
                      </a:pPr>
                      <a:r>
                        <a:rPr lang="en-US" sz="1300" dirty="0">
                          <a:solidFill>
                            <a:srgbClr val="1A2530"/>
                          </a:solidFill>
                          <a:latin typeface="Calibri" pitchFamily="34" charset="0"/>
                          <a:ea typeface="Calibri" pitchFamily="34" charset="-122"/>
                          <a:cs typeface="Calibri" pitchFamily="34" charset="-120"/>
                        </a:rPr>
                        <a:t>Scale beyond us; frozen reference only.</a:t>
                      </a:r>
                      <a:endParaRPr lang="en-US" sz="1300" dirty="0">
                        <a:latin typeface="Calibri" charset="0"/>
                        <a:ea typeface="Calibri" charset="0"/>
                        <a:cs typeface="Calibri" charset="0"/>
                      </a:endParaRPr>
                    </a:p>
                  </a:txBody>
                  <a:tcPr marL="91440" marR="91440" marT="36576" marB="36576" anchor="ctr">
                    <a:lnL w="6350" cap="flat" cmpd="sng" algn="ctr">
                      <a:solidFill>
                        <a:srgbClr val="D3DEE4"/>
                      </a:solidFill>
                      <a:prstDash val="solid"/>
                      <a:round/>
                      <a:headEnd type="none" w="med" len="med"/>
                      <a:tailEnd type="none" w="med" len="med"/>
                    </a:lnL>
                    <a:lnR w="6350" cap="flat" cmpd="sng" algn="ctr">
                      <a:solidFill>
                        <a:srgbClr val="D3DEE4"/>
                      </a:solidFill>
                      <a:prstDash val="solid"/>
                      <a:round/>
                      <a:headEnd type="none" w="med" len="med"/>
                      <a:tailEnd type="none" w="med" len="med"/>
                    </a:lnR>
                    <a:lnT w="6350" cap="flat" cmpd="sng" algn="ctr">
                      <a:solidFill>
                        <a:srgbClr val="D3DEE4"/>
                      </a:solidFill>
                      <a:prstDash val="solid"/>
                      <a:round/>
                      <a:headEnd type="none" w="med" len="med"/>
                      <a:tailEnd type="none" w="med" len="med"/>
                    </a:lnT>
                    <a:lnB w="6350" cap="flat" cmpd="sng" algn="ctr">
                      <a:solidFill>
                        <a:srgbClr val="D3DEE4"/>
                      </a:solidFill>
                      <a:prstDash val="solid"/>
                      <a:round/>
                      <a:headEnd type="none" w="med" len="med"/>
                      <a:tailEnd type="none" w="med" len="med"/>
                    </a:lnB>
                    <a:solidFill>
                      <a:srgbClr val="EAF1F4"/>
                    </a:solidFill>
                  </a:tcPr>
                </a:tc>
              </a:tr>
              <a:tr h="731520">
                <a:tc>
                  <a:txBody>
                    <a:bodyPr/>
                    <a:lstStyle/>
                    <a:p>
                      <a:pPr indent="0" marL="0">
                        <a:buNone/>
                      </a:pPr>
                      <a:r>
                        <a:rPr lang="en-US" sz="1300" b="1" dirty="0">
                          <a:solidFill>
                            <a:srgbClr val="0F2A3D"/>
                          </a:solidFill>
                          <a:latin typeface="Calibri" pitchFamily="34" charset="0"/>
                          <a:ea typeface="Calibri" pitchFamily="34" charset="-122"/>
                          <a:cs typeface="Calibri" pitchFamily="34" charset="-120"/>
                        </a:rPr>
                        <a:t>[18] Rawlekar et al., Object DINO (CVPR 2026)</a:t>
                      </a:r>
                      <a:endParaRPr lang="en-US" sz="1300" dirty="0">
                        <a:latin typeface="Calibri" charset="0"/>
                        <a:ea typeface="Calibri" charset="0"/>
                        <a:cs typeface="Calibri" charset="0"/>
                      </a:endParaRPr>
                    </a:p>
                  </a:txBody>
                  <a:tcPr marL="91440" marR="91440" marT="36576" marB="36576" anchor="ctr">
                    <a:lnL w="6350" cap="flat" cmpd="sng" algn="ctr">
                      <a:solidFill>
                        <a:srgbClr val="D3DEE4"/>
                      </a:solidFill>
                      <a:prstDash val="solid"/>
                      <a:round/>
                      <a:headEnd type="none" w="med" len="med"/>
                      <a:tailEnd type="none" w="med" len="med"/>
                    </a:lnL>
                    <a:lnR w="6350" cap="flat" cmpd="sng" algn="ctr">
                      <a:solidFill>
                        <a:srgbClr val="D3DEE4"/>
                      </a:solidFill>
                      <a:prstDash val="solid"/>
                      <a:round/>
                      <a:headEnd type="none" w="med" len="med"/>
                      <a:tailEnd type="none" w="med" len="med"/>
                    </a:lnR>
                    <a:lnT w="6350" cap="flat" cmpd="sng" algn="ctr">
                      <a:solidFill>
                        <a:srgbClr val="D3DEE4"/>
                      </a:solidFill>
                      <a:prstDash val="solid"/>
                      <a:round/>
                      <a:headEnd type="none" w="med" len="med"/>
                      <a:tailEnd type="none" w="med" len="med"/>
                    </a:lnT>
                    <a:lnB w="6350" cap="flat" cmpd="sng" algn="ctr">
                      <a:solidFill>
                        <a:srgbClr val="D3DEE4"/>
                      </a:solidFill>
                      <a:prstDash val="solid"/>
                      <a:round/>
                      <a:headEnd type="none" w="med" len="med"/>
                      <a:tailEnd type="none" w="med" len="med"/>
                    </a:lnB>
                    <a:solidFill>
                      <a:srgbClr val="FFFFFF"/>
                    </a:solidFill>
                  </a:tcPr>
                </a:tc>
                <a:tc>
                  <a:txBody>
                    <a:bodyPr/>
                    <a:lstStyle/>
                    <a:p>
                      <a:pPr indent="0" marL="0">
                        <a:buNone/>
                      </a:pPr>
                      <a:r>
                        <a:rPr lang="en-US" sz="1300" dirty="0">
                          <a:solidFill>
                            <a:srgbClr val="1A2530"/>
                          </a:solidFill>
                          <a:latin typeface="Calibri" pitchFamily="34" charset="0"/>
                          <a:ea typeface="Calibri" pitchFamily="34" charset="-122"/>
                          <a:cs typeface="Calibri" pitchFamily="34" charset="-120"/>
                        </a:rPr>
                        <a:t>Cleaner object maps from self-supervised ViTs.</a:t>
                      </a:r>
                      <a:endParaRPr lang="en-US" sz="1300" dirty="0">
                        <a:latin typeface="Calibri" charset="0"/>
                        <a:ea typeface="Calibri" charset="0"/>
                        <a:cs typeface="Calibri" charset="0"/>
                      </a:endParaRPr>
                    </a:p>
                  </a:txBody>
                  <a:tcPr marL="91440" marR="91440" marT="36576" marB="36576" anchor="ctr">
                    <a:lnL w="6350" cap="flat" cmpd="sng" algn="ctr">
                      <a:solidFill>
                        <a:srgbClr val="D3DEE4"/>
                      </a:solidFill>
                      <a:prstDash val="solid"/>
                      <a:round/>
                      <a:headEnd type="none" w="med" len="med"/>
                      <a:tailEnd type="none" w="med" len="med"/>
                    </a:lnL>
                    <a:lnR w="6350" cap="flat" cmpd="sng" algn="ctr">
                      <a:solidFill>
                        <a:srgbClr val="D3DEE4"/>
                      </a:solidFill>
                      <a:prstDash val="solid"/>
                      <a:round/>
                      <a:headEnd type="none" w="med" len="med"/>
                      <a:tailEnd type="none" w="med" len="med"/>
                    </a:lnR>
                    <a:lnT w="6350" cap="flat" cmpd="sng" algn="ctr">
                      <a:solidFill>
                        <a:srgbClr val="D3DEE4"/>
                      </a:solidFill>
                      <a:prstDash val="solid"/>
                      <a:round/>
                      <a:headEnd type="none" w="med" len="med"/>
                      <a:tailEnd type="none" w="med" len="med"/>
                    </a:lnT>
                    <a:lnB w="6350" cap="flat" cmpd="sng" algn="ctr">
                      <a:solidFill>
                        <a:srgbClr val="D3DEE4"/>
                      </a:solidFill>
                      <a:prstDash val="solid"/>
                      <a:round/>
                      <a:headEnd type="none" w="med" len="med"/>
                      <a:tailEnd type="none" w="med" len="med"/>
                    </a:lnB>
                    <a:solidFill>
                      <a:srgbClr val="FFFFFF"/>
                    </a:solidFill>
                  </a:tcPr>
                </a:tc>
                <a:tc>
                  <a:txBody>
                    <a:bodyPr/>
                    <a:lstStyle/>
                    <a:p>
                      <a:pPr indent="0" marL="0">
                        <a:buNone/>
                      </a:pPr>
                      <a:r>
                        <a:rPr lang="en-US" sz="1300" dirty="0">
                          <a:solidFill>
                            <a:srgbClr val="1A2530"/>
                          </a:solidFill>
                          <a:latin typeface="Calibri" pitchFamily="34" charset="0"/>
                          <a:ea typeface="Calibri" pitchFamily="34" charset="-122"/>
                          <a:cs typeface="Calibri" pitchFamily="34" charset="-120"/>
                        </a:rPr>
                        <a:t>Localisation is protocol-sensitive; RO4 fixes the protocol.</a:t>
                      </a:r>
                      <a:endParaRPr lang="en-US" sz="1300" dirty="0">
                        <a:latin typeface="Calibri" charset="0"/>
                        <a:ea typeface="Calibri" charset="0"/>
                        <a:cs typeface="Calibri" charset="0"/>
                      </a:endParaRPr>
                    </a:p>
                  </a:txBody>
                  <a:tcPr marL="91440" marR="91440" marT="36576" marB="36576" anchor="ctr">
                    <a:lnL w="6350" cap="flat" cmpd="sng" algn="ctr">
                      <a:solidFill>
                        <a:srgbClr val="D3DEE4"/>
                      </a:solidFill>
                      <a:prstDash val="solid"/>
                      <a:round/>
                      <a:headEnd type="none" w="med" len="med"/>
                      <a:tailEnd type="none" w="med" len="med"/>
                    </a:lnL>
                    <a:lnR w="6350" cap="flat" cmpd="sng" algn="ctr">
                      <a:solidFill>
                        <a:srgbClr val="D3DEE4"/>
                      </a:solidFill>
                      <a:prstDash val="solid"/>
                      <a:round/>
                      <a:headEnd type="none" w="med" len="med"/>
                      <a:tailEnd type="none" w="med" len="med"/>
                    </a:lnR>
                    <a:lnT w="6350" cap="flat" cmpd="sng" algn="ctr">
                      <a:solidFill>
                        <a:srgbClr val="D3DEE4"/>
                      </a:solidFill>
                      <a:prstDash val="solid"/>
                      <a:round/>
                      <a:headEnd type="none" w="med" len="med"/>
                      <a:tailEnd type="none" w="med" len="med"/>
                    </a:lnT>
                    <a:lnB w="6350" cap="flat" cmpd="sng" algn="ctr">
                      <a:solidFill>
                        <a:srgbClr val="D3DEE4"/>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Survey IV: rigour, theory and our own work</a:t>
            </a:r>
            <a:endParaRPr lang="en-US" sz="3200" dirty="0"/>
          </a:p>
        </p:txBody>
      </p:sp>
      <p:graphicFrame>
        <p:nvGraphicFramePr>
          <p:cNvPr id="10" name="Literature table"/>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3657600"/>
                <a:gridCol w="3566160"/>
                <a:gridCol w="3840480"/>
              </a:tblGrid>
              <a:tr h="41148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Work (venue, year)</a:t>
                      </a:r>
                      <a:endParaRPr lang="en-US" sz="1300" dirty="0">
                        <a:latin typeface="Calibri" charset="0"/>
                        <a:ea typeface="Calibri" charset="0"/>
                        <a:cs typeface="Calibri" charset="0"/>
                      </a:endParaRPr>
                    </a:p>
                  </a:txBody>
                  <a:tcPr marL="91440" marR="91440" marT="36576" marB="36576" anchor="ctr">
                    <a:lnL w="6350" cap="flat" cmpd="sng" algn="ctr">
                      <a:solidFill>
                        <a:srgbClr val="D3DEE4"/>
                      </a:solidFill>
                      <a:prstDash val="solid"/>
                      <a:round/>
                      <a:headEnd type="none" w="med" len="med"/>
                      <a:tailEnd type="none" w="med" len="med"/>
                    </a:lnL>
                    <a:lnR w="6350" cap="flat" cmpd="sng" algn="ctr">
                      <a:solidFill>
                        <a:srgbClr val="D3DEE4"/>
                      </a:solidFill>
                      <a:prstDash val="solid"/>
                      <a:round/>
                      <a:headEnd type="none" w="med" len="med"/>
                      <a:tailEnd type="none" w="med" len="med"/>
                    </a:lnR>
                    <a:lnT w="6350" cap="flat" cmpd="sng" algn="ctr">
                      <a:solidFill>
                        <a:srgbClr val="D3DEE4"/>
                      </a:solidFill>
                      <a:prstDash val="solid"/>
                      <a:round/>
                      <a:headEnd type="none" w="med" len="med"/>
                      <a:tailEnd type="none" w="med" len="med"/>
                    </a:lnT>
                    <a:lnB w="6350" cap="flat" cmpd="sng" algn="ctr">
                      <a:solidFill>
                        <a:srgbClr val="D3DEE4"/>
                      </a:solidFill>
                      <a:prstDash val="solid"/>
                      <a:round/>
                      <a:headEnd type="none" w="med" len="med"/>
                      <a:tailEnd type="none" w="med" len="med"/>
                    </a:lnB>
                    <a:solidFill>
                      <a:srgbClr val="0F2A3D"/>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Idea</a:t>
                      </a:r>
                      <a:endParaRPr lang="en-US" sz="1300" dirty="0">
                        <a:latin typeface="Calibri" charset="0"/>
                        <a:ea typeface="Calibri" charset="0"/>
                        <a:cs typeface="Calibri" charset="0"/>
                      </a:endParaRPr>
                    </a:p>
                  </a:txBody>
                  <a:tcPr marL="91440" marR="91440" marT="36576" marB="36576" anchor="ctr">
                    <a:lnL w="6350" cap="flat" cmpd="sng" algn="ctr">
                      <a:solidFill>
                        <a:srgbClr val="D3DEE4"/>
                      </a:solidFill>
                      <a:prstDash val="solid"/>
                      <a:round/>
                      <a:headEnd type="none" w="med" len="med"/>
                      <a:tailEnd type="none" w="med" len="med"/>
                    </a:lnL>
                    <a:lnR w="6350" cap="flat" cmpd="sng" algn="ctr">
                      <a:solidFill>
                        <a:srgbClr val="D3DEE4"/>
                      </a:solidFill>
                      <a:prstDash val="solid"/>
                      <a:round/>
                      <a:headEnd type="none" w="med" len="med"/>
                      <a:tailEnd type="none" w="med" len="med"/>
                    </a:lnR>
                    <a:lnT w="6350" cap="flat" cmpd="sng" algn="ctr">
                      <a:solidFill>
                        <a:srgbClr val="D3DEE4"/>
                      </a:solidFill>
                      <a:prstDash val="solid"/>
                      <a:round/>
                      <a:headEnd type="none" w="med" len="med"/>
                      <a:tailEnd type="none" w="med" len="med"/>
                    </a:lnT>
                    <a:lnB w="6350" cap="flat" cmpd="sng" algn="ctr">
                      <a:solidFill>
                        <a:srgbClr val="D3DEE4"/>
                      </a:solidFill>
                      <a:prstDash val="solid"/>
                      <a:round/>
                      <a:headEnd type="none" w="med" len="med"/>
                      <a:tailEnd type="none" w="med" len="med"/>
                    </a:lnB>
                    <a:solidFill>
                      <a:srgbClr val="0F2A3D"/>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Limitation / gap for this project</a:t>
                      </a:r>
                      <a:endParaRPr lang="en-US" sz="1300" dirty="0">
                        <a:latin typeface="Calibri" charset="0"/>
                        <a:ea typeface="Calibri" charset="0"/>
                        <a:cs typeface="Calibri" charset="0"/>
                      </a:endParaRPr>
                    </a:p>
                  </a:txBody>
                  <a:tcPr marL="91440" marR="91440" marT="36576" marB="36576" anchor="ctr">
                    <a:lnL w="6350" cap="flat" cmpd="sng" algn="ctr">
                      <a:solidFill>
                        <a:srgbClr val="D3DEE4"/>
                      </a:solidFill>
                      <a:prstDash val="solid"/>
                      <a:round/>
                      <a:headEnd type="none" w="med" len="med"/>
                      <a:tailEnd type="none" w="med" len="med"/>
                    </a:lnL>
                    <a:lnR w="6350" cap="flat" cmpd="sng" algn="ctr">
                      <a:solidFill>
                        <a:srgbClr val="D3DEE4"/>
                      </a:solidFill>
                      <a:prstDash val="solid"/>
                      <a:round/>
                      <a:headEnd type="none" w="med" len="med"/>
                      <a:tailEnd type="none" w="med" len="med"/>
                    </a:lnR>
                    <a:lnT w="6350" cap="flat" cmpd="sng" algn="ctr">
                      <a:solidFill>
                        <a:srgbClr val="D3DEE4"/>
                      </a:solidFill>
                      <a:prstDash val="solid"/>
                      <a:round/>
                      <a:headEnd type="none" w="med" len="med"/>
                      <a:tailEnd type="none" w="med" len="med"/>
                    </a:lnT>
                    <a:lnB w="6350" cap="flat" cmpd="sng" algn="ctr">
                      <a:solidFill>
                        <a:srgbClr val="D3DEE4"/>
                      </a:solidFill>
                      <a:prstDash val="solid"/>
                      <a:round/>
                      <a:headEnd type="none" w="med" len="med"/>
                      <a:tailEnd type="none" w="med" len="med"/>
                    </a:lnB>
                    <a:solidFill>
                      <a:srgbClr val="0F2A3D"/>
                    </a:solidFill>
                  </a:tcPr>
                </a:tc>
              </a:tr>
              <a:tr h="731520">
                <a:tc>
                  <a:txBody>
                    <a:bodyPr/>
                    <a:lstStyle/>
                    <a:p>
                      <a:pPr indent="0" marL="0">
                        <a:buNone/>
                      </a:pPr>
                      <a:r>
                        <a:rPr lang="en-US" sz="1300" b="1" dirty="0">
                          <a:solidFill>
                            <a:srgbClr val="0F2A3D"/>
                          </a:solidFill>
                          <a:latin typeface="Calibri" pitchFamily="34" charset="0"/>
                          <a:ea typeface="Calibri" pitchFamily="34" charset="-122"/>
                          <a:cs typeface="Calibri" pitchFamily="34" charset="-120"/>
                        </a:rPr>
                        <a:t>[19] Wen et al., Fantastic pretraining optimizers (ICLR 2026)</a:t>
                      </a:r>
                      <a:endParaRPr lang="en-US" sz="1300" dirty="0">
                        <a:latin typeface="Calibri" charset="0"/>
                        <a:ea typeface="Calibri" charset="0"/>
                        <a:cs typeface="Calibri" charset="0"/>
                      </a:endParaRPr>
                    </a:p>
                  </a:txBody>
                  <a:tcPr marL="91440" marR="91440" marT="36576" marB="36576" anchor="ctr">
                    <a:lnL w="6350" cap="flat" cmpd="sng" algn="ctr">
                      <a:solidFill>
                        <a:srgbClr val="D3DEE4"/>
                      </a:solidFill>
                      <a:prstDash val="solid"/>
                      <a:round/>
                      <a:headEnd type="none" w="med" len="med"/>
                      <a:tailEnd type="none" w="med" len="med"/>
                    </a:lnL>
                    <a:lnR w="6350" cap="flat" cmpd="sng" algn="ctr">
                      <a:solidFill>
                        <a:srgbClr val="D3DEE4"/>
                      </a:solidFill>
                      <a:prstDash val="solid"/>
                      <a:round/>
                      <a:headEnd type="none" w="med" len="med"/>
                      <a:tailEnd type="none" w="med" len="med"/>
                    </a:lnR>
                    <a:lnT w="6350" cap="flat" cmpd="sng" algn="ctr">
                      <a:solidFill>
                        <a:srgbClr val="D3DEE4"/>
                      </a:solidFill>
                      <a:prstDash val="solid"/>
                      <a:round/>
                      <a:headEnd type="none" w="med" len="med"/>
                      <a:tailEnd type="none" w="med" len="med"/>
                    </a:lnT>
                    <a:lnB w="6350" cap="flat" cmpd="sng" algn="ctr">
                      <a:solidFill>
                        <a:srgbClr val="D3DEE4"/>
                      </a:solidFill>
                      <a:prstDash val="solid"/>
                      <a:round/>
                      <a:headEnd type="none" w="med" len="med"/>
                      <a:tailEnd type="none" w="med" len="med"/>
                    </a:lnB>
                    <a:solidFill>
                      <a:srgbClr val="EAF1F4"/>
                    </a:solidFill>
                  </a:tcPr>
                </a:tc>
                <a:tc>
                  <a:txBody>
                    <a:bodyPr/>
                    <a:lstStyle/>
                    <a:p>
                      <a:pPr indent="0" marL="0">
                        <a:buNone/>
                      </a:pPr>
                      <a:r>
                        <a:rPr lang="en-US" sz="1300" dirty="0">
                          <a:solidFill>
                            <a:srgbClr val="1A2530"/>
                          </a:solidFill>
                          <a:latin typeface="Calibri" pitchFamily="34" charset="0"/>
                          <a:ea typeface="Calibri" pitchFamily="34" charset="-122"/>
                          <a:cs typeface="Calibri" pitchFamily="34" charset="-120"/>
                        </a:rPr>
                        <a:t>Matched-tuning benchmark of eleven optimizers.</a:t>
                      </a:r>
                      <a:endParaRPr lang="en-US" sz="1300" dirty="0">
                        <a:latin typeface="Calibri" charset="0"/>
                        <a:ea typeface="Calibri" charset="0"/>
                        <a:cs typeface="Calibri" charset="0"/>
                      </a:endParaRPr>
                    </a:p>
                  </a:txBody>
                  <a:tcPr marL="91440" marR="91440" marT="36576" marB="36576" anchor="ctr">
                    <a:lnL w="6350" cap="flat" cmpd="sng" algn="ctr">
                      <a:solidFill>
                        <a:srgbClr val="D3DEE4"/>
                      </a:solidFill>
                      <a:prstDash val="solid"/>
                      <a:round/>
                      <a:headEnd type="none" w="med" len="med"/>
                      <a:tailEnd type="none" w="med" len="med"/>
                    </a:lnL>
                    <a:lnR w="6350" cap="flat" cmpd="sng" algn="ctr">
                      <a:solidFill>
                        <a:srgbClr val="D3DEE4"/>
                      </a:solidFill>
                      <a:prstDash val="solid"/>
                      <a:round/>
                      <a:headEnd type="none" w="med" len="med"/>
                      <a:tailEnd type="none" w="med" len="med"/>
                    </a:lnR>
                    <a:lnT w="6350" cap="flat" cmpd="sng" algn="ctr">
                      <a:solidFill>
                        <a:srgbClr val="D3DEE4"/>
                      </a:solidFill>
                      <a:prstDash val="solid"/>
                      <a:round/>
                      <a:headEnd type="none" w="med" len="med"/>
                      <a:tailEnd type="none" w="med" len="med"/>
                    </a:lnT>
                    <a:lnB w="6350" cap="flat" cmpd="sng" algn="ctr">
                      <a:solidFill>
                        <a:srgbClr val="D3DEE4"/>
                      </a:solidFill>
                      <a:prstDash val="solid"/>
                      <a:round/>
                      <a:headEnd type="none" w="med" len="med"/>
                      <a:tailEnd type="none" w="med" len="med"/>
                    </a:lnB>
                    <a:solidFill>
                      <a:srgbClr val="EAF1F4"/>
                    </a:solidFill>
                  </a:tcPr>
                </a:tc>
                <a:tc>
                  <a:txBody>
                    <a:bodyPr/>
                    <a:lstStyle/>
                    <a:p>
                      <a:pPr indent="0" marL="0">
                        <a:buNone/>
                      </a:pPr>
                      <a:r>
                        <a:rPr lang="en-US" sz="1300" dirty="0">
                          <a:solidFill>
                            <a:srgbClr val="1A2530"/>
                          </a:solidFill>
                          <a:latin typeface="Calibri" pitchFamily="34" charset="0"/>
                          <a:ea typeface="Calibri" pitchFamily="34" charset="-122"/>
                          <a:cs typeface="Calibri" pitchFamily="34" charset="-120"/>
                        </a:rPr>
                        <a:t>Same failure as our audit; none for token grouping.</a:t>
                      </a:r>
                      <a:endParaRPr lang="en-US" sz="1300" dirty="0">
                        <a:latin typeface="Calibri" charset="0"/>
                        <a:ea typeface="Calibri" charset="0"/>
                        <a:cs typeface="Calibri" charset="0"/>
                      </a:endParaRPr>
                    </a:p>
                  </a:txBody>
                  <a:tcPr marL="91440" marR="91440" marT="36576" marB="36576" anchor="ctr">
                    <a:lnL w="6350" cap="flat" cmpd="sng" algn="ctr">
                      <a:solidFill>
                        <a:srgbClr val="D3DEE4"/>
                      </a:solidFill>
                      <a:prstDash val="solid"/>
                      <a:round/>
                      <a:headEnd type="none" w="med" len="med"/>
                      <a:tailEnd type="none" w="med" len="med"/>
                    </a:lnL>
                    <a:lnR w="6350" cap="flat" cmpd="sng" algn="ctr">
                      <a:solidFill>
                        <a:srgbClr val="D3DEE4"/>
                      </a:solidFill>
                      <a:prstDash val="solid"/>
                      <a:round/>
                      <a:headEnd type="none" w="med" len="med"/>
                      <a:tailEnd type="none" w="med" len="med"/>
                    </a:lnR>
                    <a:lnT w="6350" cap="flat" cmpd="sng" algn="ctr">
                      <a:solidFill>
                        <a:srgbClr val="D3DEE4"/>
                      </a:solidFill>
                      <a:prstDash val="solid"/>
                      <a:round/>
                      <a:headEnd type="none" w="med" len="med"/>
                      <a:tailEnd type="none" w="med" len="med"/>
                    </a:lnT>
                    <a:lnB w="6350" cap="flat" cmpd="sng" algn="ctr">
                      <a:solidFill>
                        <a:srgbClr val="D3DEE4"/>
                      </a:solidFill>
                      <a:prstDash val="solid"/>
                      <a:round/>
                      <a:headEnd type="none" w="med" len="med"/>
                      <a:tailEnd type="none" w="med" len="med"/>
                    </a:lnB>
                    <a:solidFill>
                      <a:srgbClr val="EAF1F4"/>
                    </a:solidFill>
                  </a:tcPr>
                </a:tc>
              </a:tr>
              <a:tr h="731520">
                <a:tc>
                  <a:txBody>
                    <a:bodyPr/>
                    <a:lstStyle/>
                    <a:p>
                      <a:pPr indent="0" marL="0">
                        <a:buNone/>
                      </a:pPr>
                      <a:r>
                        <a:rPr lang="en-US" sz="1300" b="1" dirty="0">
                          <a:solidFill>
                            <a:srgbClr val="0F2A3D"/>
                          </a:solidFill>
                          <a:latin typeface="Calibri" pitchFamily="34" charset="0"/>
                          <a:ea typeface="Calibri" pitchFamily="34" charset="-122"/>
                          <a:cs typeface="Calibri" pitchFamily="34" charset="-120"/>
                        </a:rPr>
                        <a:t>[20] Kasimbeg et al., Hyperparameter-free learning (TMLR 2025)</a:t>
                      </a:r>
                      <a:endParaRPr lang="en-US" sz="1300" dirty="0">
                        <a:latin typeface="Calibri" charset="0"/>
                        <a:ea typeface="Calibri" charset="0"/>
                        <a:cs typeface="Calibri" charset="0"/>
                      </a:endParaRPr>
                    </a:p>
                  </a:txBody>
                  <a:tcPr marL="91440" marR="91440" marT="36576" marB="36576" anchor="ctr">
                    <a:lnL w="6350" cap="flat" cmpd="sng" algn="ctr">
                      <a:solidFill>
                        <a:srgbClr val="D3DEE4"/>
                      </a:solidFill>
                      <a:prstDash val="solid"/>
                      <a:round/>
                      <a:headEnd type="none" w="med" len="med"/>
                      <a:tailEnd type="none" w="med" len="med"/>
                    </a:lnL>
                    <a:lnR w="6350" cap="flat" cmpd="sng" algn="ctr">
                      <a:solidFill>
                        <a:srgbClr val="D3DEE4"/>
                      </a:solidFill>
                      <a:prstDash val="solid"/>
                      <a:round/>
                      <a:headEnd type="none" w="med" len="med"/>
                      <a:tailEnd type="none" w="med" len="med"/>
                    </a:lnR>
                    <a:lnT w="6350" cap="flat" cmpd="sng" algn="ctr">
                      <a:solidFill>
                        <a:srgbClr val="D3DEE4"/>
                      </a:solidFill>
                      <a:prstDash val="solid"/>
                      <a:round/>
                      <a:headEnd type="none" w="med" len="med"/>
                      <a:tailEnd type="none" w="med" len="med"/>
                    </a:lnT>
                    <a:lnB w="6350" cap="flat" cmpd="sng" algn="ctr">
                      <a:solidFill>
                        <a:srgbClr val="D3DEE4"/>
                      </a:solidFill>
                      <a:prstDash val="solid"/>
                      <a:round/>
                      <a:headEnd type="none" w="med" len="med"/>
                      <a:tailEnd type="none" w="med" len="med"/>
                    </a:lnB>
                    <a:solidFill>
                      <a:srgbClr val="FFFFFF"/>
                    </a:solidFill>
                  </a:tcPr>
                </a:tc>
                <a:tc>
                  <a:txBody>
                    <a:bodyPr/>
                    <a:lstStyle/>
                    <a:p>
                      <a:pPr indent="0" marL="0">
                        <a:buNone/>
                      </a:pPr>
                      <a:r>
                        <a:rPr lang="en-US" sz="1300" dirty="0">
                          <a:solidFill>
                            <a:srgbClr val="1A2530"/>
                          </a:solidFill>
                          <a:latin typeface="Calibri" pitchFamily="34" charset="0"/>
                          <a:ea typeface="Calibri" pitchFamily="34" charset="-122"/>
                          <a:cs typeface="Calibri" pitchFamily="34" charset="-120"/>
                        </a:rPr>
                        <a:t>Can training avoid per-workload tuning?</a:t>
                      </a:r>
                      <a:endParaRPr lang="en-US" sz="1300" dirty="0">
                        <a:latin typeface="Calibri" charset="0"/>
                        <a:ea typeface="Calibri" charset="0"/>
                        <a:cs typeface="Calibri" charset="0"/>
                      </a:endParaRPr>
                    </a:p>
                  </a:txBody>
                  <a:tcPr marL="91440" marR="91440" marT="36576" marB="36576" anchor="ctr">
                    <a:lnL w="6350" cap="flat" cmpd="sng" algn="ctr">
                      <a:solidFill>
                        <a:srgbClr val="D3DEE4"/>
                      </a:solidFill>
                      <a:prstDash val="solid"/>
                      <a:round/>
                      <a:headEnd type="none" w="med" len="med"/>
                      <a:tailEnd type="none" w="med" len="med"/>
                    </a:lnL>
                    <a:lnR w="6350" cap="flat" cmpd="sng" algn="ctr">
                      <a:solidFill>
                        <a:srgbClr val="D3DEE4"/>
                      </a:solidFill>
                      <a:prstDash val="solid"/>
                      <a:round/>
                      <a:headEnd type="none" w="med" len="med"/>
                      <a:tailEnd type="none" w="med" len="med"/>
                    </a:lnR>
                    <a:lnT w="6350" cap="flat" cmpd="sng" algn="ctr">
                      <a:solidFill>
                        <a:srgbClr val="D3DEE4"/>
                      </a:solidFill>
                      <a:prstDash val="solid"/>
                      <a:round/>
                      <a:headEnd type="none" w="med" len="med"/>
                      <a:tailEnd type="none" w="med" len="med"/>
                    </a:lnT>
                    <a:lnB w="6350" cap="flat" cmpd="sng" algn="ctr">
                      <a:solidFill>
                        <a:srgbClr val="D3DEE4"/>
                      </a:solidFill>
                      <a:prstDash val="solid"/>
                      <a:round/>
                      <a:headEnd type="none" w="med" len="med"/>
                      <a:tailEnd type="none" w="med" len="med"/>
                    </a:lnB>
                    <a:solidFill>
                      <a:srgbClr val="FFFFFF"/>
                    </a:solidFill>
                  </a:tcPr>
                </a:tc>
                <a:tc>
                  <a:txBody>
                    <a:bodyPr/>
                    <a:lstStyle/>
                    <a:p>
                      <a:pPr indent="0" marL="0">
                        <a:buNone/>
                      </a:pPr>
                      <a:r>
                        <a:rPr lang="en-US" sz="1300" dirty="0">
                          <a:solidFill>
                            <a:srgbClr val="1A2530"/>
                          </a:solidFill>
                          <a:latin typeface="Calibri" pitchFamily="34" charset="0"/>
                          <a:ea typeface="Calibri" pitchFamily="34" charset="-122"/>
                          <a:cs typeface="Calibri" pitchFamily="34" charset="-120"/>
                        </a:rPr>
                        <a:t>Supports per-arm tuning; shared recipes are weak.</a:t>
                      </a:r>
                      <a:endParaRPr lang="en-US" sz="1300" dirty="0">
                        <a:latin typeface="Calibri" charset="0"/>
                        <a:ea typeface="Calibri" charset="0"/>
                        <a:cs typeface="Calibri" charset="0"/>
                      </a:endParaRPr>
                    </a:p>
                  </a:txBody>
                  <a:tcPr marL="91440" marR="91440" marT="36576" marB="36576" anchor="ctr">
                    <a:lnL w="6350" cap="flat" cmpd="sng" algn="ctr">
                      <a:solidFill>
                        <a:srgbClr val="D3DEE4"/>
                      </a:solidFill>
                      <a:prstDash val="solid"/>
                      <a:round/>
                      <a:headEnd type="none" w="med" len="med"/>
                      <a:tailEnd type="none" w="med" len="med"/>
                    </a:lnL>
                    <a:lnR w="6350" cap="flat" cmpd="sng" algn="ctr">
                      <a:solidFill>
                        <a:srgbClr val="D3DEE4"/>
                      </a:solidFill>
                      <a:prstDash val="solid"/>
                      <a:round/>
                      <a:headEnd type="none" w="med" len="med"/>
                      <a:tailEnd type="none" w="med" len="med"/>
                    </a:lnR>
                    <a:lnT w="6350" cap="flat" cmpd="sng" algn="ctr">
                      <a:solidFill>
                        <a:srgbClr val="D3DEE4"/>
                      </a:solidFill>
                      <a:prstDash val="solid"/>
                      <a:round/>
                      <a:headEnd type="none" w="med" len="med"/>
                      <a:tailEnd type="none" w="med" len="med"/>
                    </a:lnT>
                    <a:lnB w="6350" cap="flat" cmpd="sng" algn="ctr">
                      <a:solidFill>
                        <a:srgbClr val="D3DEE4"/>
                      </a:solidFill>
                      <a:prstDash val="solid"/>
                      <a:round/>
                      <a:headEnd type="none" w="med" len="med"/>
                      <a:tailEnd type="none" w="med" len="med"/>
                    </a:lnB>
                    <a:solidFill>
                      <a:srgbClr val="FFFFFF"/>
                    </a:solidFill>
                  </a:tcPr>
                </a:tc>
              </a:tr>
              <a:tr h="731520">
                <a:tc>
                  <a:txBody>
                    <a:bodyPr/>
                    <a:lstStyle/>
                    <a:p>
                      <a:pPr indent="0" marL="0">
                        <a:buNone/>
                      </a:pPr>
                      <a:r>
                        <a:rPr lang="en-US" sz="1300" b="1" dirty="0">
                          <a:solidFill>
                            <a:srgbClr val="0F2A3D"/>
                          </a:solidFill>
                          <a:latin typeface="Calibri" pitchFamily="34" charset="0"/>
                          <a:ea typeface="Calibri" pitchFamily="34" charset="-122"/>
                          <a:cs typeface="Calibri" pitchFamily="34" charset="-120"/>
                        </a:rPr>
                        <a:t>[21] Hochlehnert et al., A sober look at LM reasoning (COLM 2025)</a:t>
                      </a:r>
                      <a:endParaRPr lang="en-US" sz="1300" dirty="0">
                        <a:latin typeface="Calibri" charset="0"/>
                        <a:ea typeface="Calibri" charset="0"/>
                        <a:cs typeface="Calibri" charset="0"/>
                      </a:endParaRPr>
                    </a:p>
                  </a:txBody>
                  <a:tcPr marL="91440" marR="91440" marT="36576" marB="36576" anchor="ctr">
                    <a:lnL w="6350" cap="flat" cmpd="sng" algn="ctr">
                      <a:solidFill>
                        <a:srgbClr val="D3DEE4"/>
                      </a:solidFill>
                      <a:prstDash val="solid"/>
                      <a:round/>
                      <a:headEnd type="none" w="med" len="med"/>
                      <a:tailEnd type="none" w="med" len="med"/>
                    </a:lnL>
                    <a:lnR w="6350" cap="flat" cmpd="sng" algn="ctr">
                      <a:solidFill>
                        <a:srgbClr val="D3DEE4"/>
                      </a:solidFill>
                      <a:prstDash val="solid"/>
                      <a:round/>
                      <a:headEnd type="none" w="med" len="med"/>
                      <a:tailEnd type="none" w="med" len="med"/>
                    </a:lnR>
                    <a:lnT w="6350" cap="flat" cmpd="sng" algn="ctr">
                      <a:solidFill>
                        <a:srgbClr val="D3DEE4"/>
                      </a:solidFill>
                      <a:prstDash val="solid"/>
                      <a:round/>
                      <a:headEnd type="none" w="med" len="med"/>
                      <a:tailEnd type="none" w="med" len="med"/>
                    </a:lnT>
                    <a:lnB w="6350" cap="flat" cmpd="sng" algn="ctr">
                      <a:solidFill>
                        <a:srgbClr val="D3DEE4"/>
                      </a:solidFill>
                      <a:prstDash val="solid"/>
                      <a:round/>
                      <a:headEnd type="none" w="med" len="med"/>
                      <a:tailEnd type="none" w="med" len="med"/>
                    </a:lnB>
                    <a:solidFill>
                      <a:srgbClr val="EAF1F4"/>
                    </a:solidFill>
                  </a:tcPr>
                </a:tc>
                <a:tc>
                  <a:txBody>
                    <a:bodyPr/>
                    <a:lstStyle/>
                    <a:p>
                      <a:pPr indent="0" marL="0">
                        <a:buNone/>
                      </a:pPr>
                      <a:r>
                        <a:rPr lang="en-US" sz="1300" dirty="0">
                          <a:solidFill>
                            <a:srgbClr val="1A2530"/>
                          </a:solidFill>
                          <a:latin typeface="Calibri" pitchFamily="34" charset="0"/>
                          <a:ea typeface="Calibri" pitchFamily="34" charset="-122"/>
                          <a:cs typeface="Calibri" pitchFamily="34" charset="-120"/>
                        </a:rPr>
                        <a:t>Standardised, statistically grounded evaluation of reasoning.</a:t>
                      </a:r>
                      <a:endParaRPr lang="en-US" sz="1300" dirty="0">
                        <a:latin typeface="Calibri" charset="0"/>
                        <a:ea typeface="Calibri" charset="0"/>
                        <a:cs typeface="Calibri" charset="0"/>
                      </a:endParaRPr>
                    </a:p>
                  </a:txBody>
                  <a:tcPr marL="91440" marR="91440" marT="36576" marB="36576" anchor="ctr">
                    <a:lnL w="6350" cap="flat" cmpd="sng" algn="ctr">
                      <a:solidFill>
                        <a:srgbClr val="D3DEE4"/>
                      </a:solidFill>
                      <a:prstDash val="solid"/>
                      <a:round/>
                      <a:headEnd type="none" w="med" len="med"/>
                      <a:tailEnd type="none" w="med" len="med"/>
                    </a:lnL>
                    <a:lnR w="6350" cap="flat" cmpd="sng" algn="ctr">
                      <a:solidFill>
                        <a:srgbClr val="D3DEE4"/>
                      </a:solidFill>
                      <a:prstDash val="solid"/>
                      <a:round/>
                      <a:headEnd type="none" w="med" len="med"/>
                      <a:tailEnd type="none" w="med" len="med"/>
                    </a:lnR>
                    <a:lnT w="6350" cap="flat" cmpd="sng" algn="ctr">
                      <a:solidFill>
                        <a:srgbClr val="D3DEE4"/>
                      </a:solidFill>
                      <a:prstDash val="solid"/>
                      <a:round/>
                      <a:headEnd type="none" w="med" len="med"/>
                      <a:tailEnd type="none" w="med" len="med"/>
                    </a:lnT>
                    <a:lnB w="6350" cap="flat" cmpd="sng" algn="ctr">
                      <a:solidFill>
                        <a:srgbClr val="D3DEE4"/>
                      </a:solidFill>
                      <a:prstDash val="solid"/>
                      <a:round/>
                      <a:headEnd type="none" w="med" len="med"/>
                      <a:tailEnd type="none" w="med" len="med"/>
                    </a:lnB>
                    <a:solidFill>
                      <a:srgbClr val="EAF1F4"/>
                    </a:solidFill>
                  </a:tcPr>
                </a:tc>
                <a:tc>
                  <a:txBody>
                    <a:bodyPr/>
                    <a:lstStyle/>
                    <a:p>
                      <a:pPr indent="0" marL="0">
                        <a:buNone/>
                      </a:pPr>
                      <a:r>
                        <a:rPr lang="en-US" sz="1300" dirty="0">
                          <a:solidFill>
                            <a:srgbClr val="1A2530"/>
                          </a:solidFill>
                          <a:latin typeface="Calibri" pitchFamily="34" charset="0"/>
                          <a:ea typeface="Calibri" pitchFamily="34" charset="-122"/>
                          <a:cs typeface="Calibri" pitchFamily="34" charset="-120"/>
                        </a:rPr>
                        <a:t>Other domain, same lesson; supports seeds and registration.</a:t>
                      </a:r>
                      <a:endParaRPr lang="en-US" sz="1300" dirty="0">
                        <a:latin typeface="Calibri" charset="0"/>
                        <a:ea typeface="Calibri" charset="0"/>
                        <a:cs typeface="Calibri" charset="0"/>
                      </a:endParaRPr>
                    </a:p>
                  </a:txBody>
                  <a:tcPr marL="91440" marR="91440" marT="36576" marB="36576" anchor="ctr">
                    <a:lnL w="6350" cap="flat" cmpd="sng" algn="ctr">
                      <a:solidFill>
                        <a:srgbClr val="D3DEE4"/>
                      </a:solidFill>
                      <a:prstDash val="solid"/>
                      <a:round/>
                      <a:headEnd type="none" w="med" len="med"/>
                      <a:tailEnd type="none" w="med" len="med"/>
                    </a:lnL>
                    <a:lnR w="6350" cap="flat" cmpd="sng" algn="ctr">
                      <a:solidFill>
                        <a:srgbClr val="D3DEE4"/>
                      </a:solidFill>
                      <a:prstDash val="solid"/>
                      <a:round/>
                      <a:headEnd type="none" w="med" len="med"/>
                      <a:tailEnd type="none" w="med" len="med"/>
                    </a:lnR>
                    <a:lnT w="6350" cap="flat" cmpd="sng" algn="ctr">
                      <a:solidFill>
                        <a:srgbClr val="D3DEE4"/>
                      </a:solidFill>
                      <a:prstDash val="solid"/>
                      <a:round/>
                      <a:headEnd type="none" w="med" len="med"/>
                      <a:tailEnd type="none" w="med" len="med"/>
                    </a:lnT>
                    <a:lnB w="6350" cap="flat" cmpd="sng" algn="ctr">
                      <a:solidFill>
                        <a:srgbClr val="D3DEE4"/>
                      </a:solidFill>
                      <a:prstDash val="solid"/>
                      <a:round/>
                      <a:headEnd type="none" w="med" len="med"/>
                      <a:tailEnd type="none" w="med" len="med"/>
                    </a:lnB>
                    <a:solidFill>
                      <a:srgbClr val="EAF1F4"/>
                    </a:solidFill>
                  </a:tcPr>
                </a:tc>
              </a:tr>
              <a:tr h="731520">
                <a:tc>
                  <a:txBody>
                    <a:bodyPr/>
                    <a:lstStyle/>
                    <a:p>
                      <a:pPr indent="0" marL="0">
                        <a:buNone/>
                      </a:pPr>
                      <a:r>
                        <a:rPr lang="en-US" sz="1300" b="1" dirty="0">
                          <a:solidFill>
                            <a:srgbClr val="0F2A3D"/>
                          </a:solidFill>
                          <a:latin typeface="Calibri" pitchFamily="34" charset="0"/>
                          <a:ea typeface="Calibri" pitchFamily="34" charset="-122"/>
                          <a:cs typeface="Calibri" pitchFamily="34" charset="-120"/>
                        </a:rPr>
                        <a:t>[22] Hoel, Causal emergence 2.0 (arXiv 2025)</a:t>
                      </a:r>
                      <a:endParaRPr lang="en-US" sz="1300" dirty="0">
                        <a:latin typeface="Calibri" charset="0"/>
                        <a:ea typeface="Calibri" charset="0"/>
                        <a:cs typeface="Calibri" charset="0"/>
                      </a:endParaRPr>
                    </a:p>
                  </a:txBody>
                  <a:tcPr marL="91440" marR="91440" marT="36576" marB="36576" anchor="ctr">
                    <a:lnL w="6350" cap="flat" cmpd="sng" algn="ctr">
                      <a:solidFill>
                        <a:srgbClr val="D3DEE4"/>
                      </a:solidFill>
                      <a:prstDash val="solid"/>
                      <a:round/>
                      <a:headEnd type="none" w="med" len="med"/>
                      <a:tailEnd type="none" w="med" len="med"/>
                    </a:lnL>
                    <a:lnR w="6350" cap="flat" cmpd="sng" algn="ctr">
                      <a:solidFill>
                        <a:srgbClr val="D3DEE4"/>
                      </a:solidFill>
                      <a:prstDash val="solid"/>
                      <a:round/>
                      <a:headEnd type="none" w="med" len="med"/>
                      <a:tailEnd type="none" w="med" len="med"/>
                    </a:lnR>
                    <a:lnT w="6350" cap="flat" cmpd="sng" algn="ctr">
                      <a:solidFill>
                        <a:srgbClr val="D3DEE4"/>
                      </a:solidFill>
                      <a:prstDash val="solid"/>
                      <a:round/>
                      <a:headEnd type="none" w="med" len="med"/>
                      <a:tailEnd type="none" w="med" len="med"/>
                    </a:lnT>
                    <a:lnB w="6350" cap="flat" cmpd="sng" algn="ctr">
                      <a:solidFill>
                        <a:srgbClr val="D3DEE4"/>
                      </a:solidFill>
                      <a:prstDash val="solid"/>
                      <a:round/>
                      <a:headEnd type="none" w="med" len="med"/>
                      <a:tailEnd type="none" w="med" len="med"/>
                    </a:lnB>
                    <a:solidFill>
                      <a:srgbClr val="FFFFFF"/>
                    </a:solidFill>
                  </a:tcPr>
                </a:tc>
                <a:tc>
                  <a:txBody>
                    <a:bodyPr/>
                    <a:lstStyle/>
                    <a:p>
                      <a:pPr indent="0" marL="0">
                        <a:buNone/>
                      </a:pPr>
                      <a:r>
                        <a:rPr lang="en-US" sz="1300" dirty="0">
                          <a:solidFill>
                            <a:srgbClr val="1A2530"/>
                          </a:solidFill>
                          <a:latin typeface="Calibri" pitchFamily="34" charset="0"/>
                          <a:ea typeface="Calibri" pitchFamily="34" charset="-122"/>
                          <a:cs typeface="Calibri" pitchFamily="34" charset="-120"/>
                        </a:rPr>
                        <a:t>Axiomatic causal emergence for macro and micro scales.</a:t>
                      </a:r>
                      <a:endParaRPr lang="en-US" sz="1300" dirty="0">
                        <a:latin typeface="Calibri" charset="0"/>
                        <a:ea typeface="Calibri" charset="0"/>
                        <a:cs typeface="Calibri" charset="0"/>
                      </a:endParaRPr>
                    </a:p>
                  </a:txBody>
                  <a:tcPr marL="91440" marR="91440" marT="36576" marB="36576" anchor="ctr">
                    <a:lnL w="6350" cap="flat" cmpd="sng" algn="ctr">
                      <a:solidFill>
                        <a:srgbClr val="D3DEE4"/>
                      </a:solidFill>
                      <a:prstDash val="solid"/>
                      <a:round/>
                      <a:headEnd type="none" w="med" len="med"/>
                      <a:tailEnd type="none" w="med" len="med"/>
                    </a:lnL>
                    <a:lnR w="6350" cap="flat" cmpd="sng" algn="ctr">
                      <a:solidFill>
                        <a:srgbClr val="D3DEE4"/>
                      </a:solidFill>
                      <a:prstDash val="solid"/>
                      <a:round/>
                      <a:headEnd type="none" w="med" len="med"/>
                      <a:tailEnd type="none" w="med" len="med"/>
                    </a:lnR>
                    <a:lnT w="6350" cap="flat" cmpd="sng" algn="ctr">
                      <a:solidFill>
                        <a:srgbClr val="D3DEE4"/>
                      </a:solidFill>
                      <a:prstDash val="solid"/>
                      <a:round/>
                      <a:headEnd type="none" w="med" len="med"/>
                      <a:tailEnd type="none" w="med" len="med"/>
                    </a:lnT>
                    <a:lnB w="6350" cap="flat" cmpd="sng" algn="ctr">
                      <a:solidFill>
                        <a:srgbClr val="D3DEE4"/>
                      </a:solidFill>
                      <a:prstDash val="solid"/>
                      <a:round/>
                      <a:headEnd type="none" w="med" len="med"/>
                      <a:tailEnd type="none" w="med" len="med"/>
                    </a:lnB>
                    <a:solidFill>
                      <a:srgbClr val="FFFFFF"/>
                    </a:solidFill>
                  </a:tcPr>
                </a:tc>
                <a:tc>
                  <a:txBody>
                    <a:bodyPr/>
                    <a:lstStyle/>
                    <a:p>
                      <a:pPr indent="0" marL="0">
                        <a:buNone/>
                      </a:pPr>
                      <a:r>
                        <a:rPr lang="en-US" sz="1300" dirty="0">
                          <a:solidFill>
                            <a:srgbClr val="1A2530"/>
                          </a:solidFill>
                          <a:latin typeface="Calibri" pitchFamily="34" charset="0"/>
                          <a:ea typeface="Calibri" pitchFamily="34" charset="-122"/>
                          <a:cs typeface="Calibri" pitchFamily="34" charset="-120"/>
                        </a:rPr>
                        <a:t>No validated vision implementation; our framing withdrawn.</a:t>
                      </a:r>
                      <a:endParaRPr lang="en-US" sz="1300" dirty="0">
                        <a:latin typeface="Calibri" charset="0"/>
                        <a:ea typeface="Calibri" charset="0"/>
                        <a:cs typeface="Calibri" charset="0"/>
                      </a:endParaRPr>
                    </a:p>
                  </a:txBody>
                  <a:tcPr marL="91440" marR="91440" marT="36576" marB="36576" anchor="ctr">
                    <a:lnL w="6350" cap="flat" cmpd="sng" algn="ctr">
                      <a:solidFill>
                        <a:srgbClr val="D3DEE4"/>
                      </a:solidFill>
                      <a:prstDash val="solid"/>
                      <a:round/>
                      <a:headEnd type="none" w="med" len="med"/>
                      <a:tailEnd type="none" w="med" len="med"/>
                    </a:lnL>
                    <a:lnR w="6350" cap="flat" cmpd="sng" algn="ctr">
                      <a:solidFill>
                        <a:srgbClr val="D3DEE4"/>
                      </a:solidFill>
                      <a:prstDash val="solid"/>
                      <a:round/>
                      <a:headEnd type="none" w="med" len="med"/>
                      <a:tailEnd type="none" w="med" len="med"/>
                    </a:lnR>
                    <a:lnT w="6350" cap="flat" cmpd="sng" algn="ctr">
                      <a:solidFill>
                        <a:srgbClr val="D3DEE4"/>
                      </a:solidFill>
                      <a:prstDash val="solid"/>
                      <a:round/>
                      <a:headEnd type="none" w="med" len="med"/>
                      <a:tailEnd type="none" w="med" len="med"/>
                    </a:lnT>
                    <a:lnB w="6350" cap="flat" cmpd="sng" algn="ctr">
                      <a:solidFill>
                        <a:srgbClr val="D3DEE4"/>
                      </a:solidFill>
                      <a:prstDash val="solid"/>
                      <a:round/>
                      <a:headEnd type="none" w="med" len="med"/>
                      <a:tailEnd type="none" w="med" len="med"/>
                    </a:lnB>
                    <a:solidFill>
                      <a:srgbClr val="FFFFFF"/>
                    </a:solidFill>
                  </a:tcPr>
                </a:tc>
              </a:tr>
              <a:tr h="731520">
                <a:tc>
                  <a:txBody>
                    <a:bodyPr/>
                    <a:lstStyle/>
                    <a:p>
                      <a:pPr indent="0" marL="0">
                        <a:buNone/>
                      </a:pPr>
                      <a:r>
                        <a:rPr lang="en-US" sz="1300" b="1" dirty="0">
                          <a:solidFill>
                            <a:srgbClr val="0F2A3D"/>
                          </a:solidFill>
                          <a:latin typeface="Calibri" pitchFamily="34" charset="0"/>
                          <a:ea typeface="Calibri" pitchFamily="34" charset="-122"/>
                          <a:cs typeface="Calibri" pitchFamily="34" charset="-120"/>
                        </a:rPr>
                        <a:t>[23] Zhang et al., Reversibility and causal emergence via SVD (npj Complexity 2025)</a:t>
                      </a:r>
                      <a:endParaRPr lang="en-US" sz="1300" dirty="0">
                        <a:latin typeface="Calibri" charset="0"/>
                        <a:ea typeface="Calibri" charset="0"/>
                        <a:cs typeface="Calibri" charset="0"/>
                      </a:endParaRPr>
                    </a:p>
                  </a:txBody>
                  <a:tcPr marL="91440" marR="91440" marT="36576" marB="36576" anchor="ctr">
                    <a:lnL w="6350" cap="flat" cmpd="sng" algn="ctr">
                      <a:solidFill>
                        <a:srgbClr val="D3DEE4"/>
                      </a:solidFill>
                      <a:prstDash val="solid"/>
                      <a:round/>
                      <a:headEnd type="none" w="med" len="med"/>
                      <a:tailEnd type="none" w="med" len="med"/>
                    </a:lnL>
                    <a:lnR w="6350" cap="flat" cmpd="sng" algn="ctr">
                      <a:solidFill>
                        <a:srgbClr val="D3DEE4"/>
                      </a:solidFill>
                      <a:prstDash val="solid"/>
                      <a:round/>
                      <a:headEnd type="none" w="med" len="med"/>
                      <a:tailEnd type="none" w="med" len="med"/>
                    </a:lnR>
                    <a:lnT w="6350" cap="flat" cmpd="sng" algn="ctr">
                      <a:solidFill>
                        <a:srgbClr val="D3DEE4"/>
                      </a:solidFill>
                      <a:prstDash val="solid"/>
                      <a:round/>
                      <a:headEnd type="none" w="med" len="med"/>
                      <a:tailEnd type="none" w="med" len="med"/>
                    </a:lnT>
                    <a:lnB w="6350" cap="flat" cmpd="sng" algn="ctr">
                      <a:solidFill>
                        <a:srgbClr val="D3DEE4"/>
                      </a:solidFill>
                      <a:prstDash val="solid"/>
                      <a:round/>
                      <a:headEnd type="none" w="med" len="med"/>
                      <a:tailEnd type="none" w="med" len="med"/>
                    </a:lnB>
                    <a:solidFill>
                      <a:srgbClr val="EAF1F4"/>
                    </a:solidFill>
                  </a:tcPr>
                </a:tc>
                <a:tc>
                  <a:txBody>
                    <a:bodyPr/>
                    <a:lstStyle/>
                    <a:p>
                      <a:pPr indent="0" marL="0">
                        <a:buNone/>
                      </a:pPr>
                      <a:r>
                        <a:rPr lang="en-US" sz="1300" dirty="0">
                          <a:solidFill>
                            <a:srgbClr val="1A2530"/>
                          </a:solidFill>
                          <a:latin typeface="Calibri" pitchFamily="34" charset="0"/>
                          <a:ea typeface="Calibri" pitchFamily="34" charset="-122"/>
                          <a:cs typeface="Calibri" pitchFamily="34" charset="-120"/>
                        </a:rPr>
                        <a:t>Reversibility and effective information via SVD.</a:t>
                      </a:r>
                      <a:endParaRPr lang="en-US" sz="1300" dirty="0">
                        <a:latin typeface="Calibri" charset="0"/>
                        <a:ea typeface="Calibri" charset="0"/>
                        <a:cs typeface="Calibri" charset="0"/>
                      </a:endParaRPr>
                    </a:p>
                  </a:txBody>
                  <a:tcPr marL="91440" marR="91440" marT="36576" marB="36576" anchor="ctr">
                    <a:lnL w="6350" cap="flat" cmpd="sng" algn="ctr">
                      <a:solidFill>
                        <a:srgbClr val="D3DEE4"/>
                      </a:solidFill>
                      <a:prstDash val="solid"/>
                      <a:round/>
                      <a:headEnd type="none" w="med" len="med"/>
                      <a:tailEnd type="none" w="med" len="med"/>
                    </a:lnL>
                    <a:lnR w="6350" cap="flat" cmpd="sng" algn="ctr">
                      <a:solidFill>
                        <a:srgbClr val="D3DEE4"/>
                      </a:solidFill>
                      <a:prstDash val="solid"/>
                      <a:round/>
                      <a:headEnd type="none" w="med" len="med"/>
                      <a:tailEnd type="none" w="med" len="med"/>
                    </a:lnR>
                    <a:lnT w="6350" cap="flat" cmpd="sng" algn="ctr">
                      <a:solidFill>
                        <a:srgbClr val="D3DEE4"/>
                      </a:solidFill>
                      <a:prstDash val="solid"/>
                      <a:round/>
                      <a:headEnd type="none" w="med" len="med"/>
                      <a:tailEnd type="none" w="med" len="med"/>
                    </a:lnT>
                    <a:lnB w="6350" cap="flat" cmpd="sng" algn="ctr">
                      <a:solidFill>
                        <a:srgbClr val="D3DEE4"/>
                      </a:solidFill>
                      <a:prstDash val="solid"/>
                      <a:round/>
                      <a:headEnd type="none" w="med" len="med"/>
                      <a:tailEnd type="none" w="med" len="med"/>
                    </a:lnB>
                    <a:solidFill>
                      <a:srgbClr val="EAF1F4"/>
                    </a:solidFill>
                  </a:tcPr>
                </a:tc>
                <a:tc>
                  <a:txBody>
                    <a:bodyPr/>
                    <a:lstStyle/>
                    <a:p>
                      <a:pPr indent="0" marL="0">
                        <a:buNone/>
                      </a:pPr>
                      <a:r>
                        <a:rPr lang="en-US" sz="1300" dirty="0">
                          <a:solidFill>
                            <a:srgbClr val="1A2530"/>
                          </a:solidFill>
                          <a:latin typeface="Calibri" pitchFamily="34" charset="0"/>
                          <a:ea typeface="Calibri" pitchFamily="34" charset="-122"/>
                          <a:cs typeface="Calibri" pitchFamily="34" charset="-120"/>
                        </a:rPr>
                        <a:t>Our SVD regulariser did not implement it faithfully.</a:t>
                      </a:r>
                      <a:endParaRPr lang="en-US" sz="1300" dirty="0">
                        <a:latin typeface="Calibri" charset="0"/>
                        <a:ea typeface="Calibri" charset="0"/>
                        <a:cs typeface="Calibri" charset="0"/>
                      </a:endParaRPr>
                    </a:p>
                  </a:txBody>
                  <a:tcPr marL="91440" marR="91440" marT="36576" marB="36576" anchor="ctr">
                    <a:lnL w="6350" cap="flat" cmpd="sng" algn="ctr">
                      <a:solidFill>
                        <a:srgbClr val="D3DEE4"/>
                      </a:solidFill>
                      <a:prstDash val="solid"/>
                      <a:round/>
                      <a:headEnd type="none" w="med" len="med"/>
                      <a:tailEnd type="none" w="med" len="med"/>
                    </a:lnL>
                    <a:lnR w="6350" cap="flat" cmpd="sng" algn="ctr">
                      <a:solidFill>
                        <a:srgbClr val="D3DEE4"/>
                      </a:solidFill>
                      <a:prstDash val="solid"/>
                      <a:round/>
                      <a:headEnd type="none" w="med" len="med"/>
                      <a:tailEnd type="none" w="med" len="med"/>
                    </a:lnR>
                    <a:lnT w="6350" cap="flat" cmpd="sng" algn="ctr">
                      <a:solidFill>
                        <a:srgbClr val="D3DEE4"/>
                      </a:solidFill>
                      <a:prstDash val="solid"/>
                      <a:round/>
                      <a:headEnd type="none" w="med" len="med"/>
                      <a:tailEnd type="none" w="med" len="med"/>
                    </a:lnT>
                    <a:lnB w="6350" cap="flat" cmpd="sng" algn="ctr">
                      <a:solidFill>
                        <a:srgbClr val="D3DEE4"/>
                      </a:solidFill>
                      <a:prstDash val="solid"/>
                      <a:round/>
                      <a:headEnd type="none" w="med" len="med"/>
                      <a:tailEnd type="none" w="med" len="med"/>
                    </a:lnB>
                    <a:solidFill>
                      <a:srgbClr val="EAF1F4"/>
                    </a:solidFill>
                  </a:tcPr>
                </a:tc>
              </a:tr>
              <a:tr h="731520">
                <a:tc>
                  <a:txBody>
                    <a:bodyPr/>
                    <a:lstStyle/>
                    <a:p>
                      <a:pPr indent="0" marL="0">
                        <a:buNone/>
                      </a:pPr>
                      <a:r>
                        <a:rPr lang="en-US" sz="1300" b="1" dirty="0">
                          <a:solidFill>
                            <a:srgbClr val="0F2A3D"/>
                          </a:solidFill>
                          <a:latin typeface="Calibri" pitchFamily="34" charset="0"/>
                          <a:ea typeface="Calibri" pitchFamily="34" charset="-122"/>
                          <a:cs typeface="Calibri" pitchFamily="34" charset="-120"/>
                        </a:rPr>
                        <a:t>[24] Das, Sharma &amp; Eliazer M, CET-ViT (IEEE ICSL-DSGA 2026)</a:t>
                      </a:r>
                      <a:endParaRPr lang="en-US" sz="1300" dirty="0">
                        <a:latin typeface="Calibri" charset="0"/>
                        <a:ea typeface="Calibri" charset="0"/>
                        <a:cs typeface="Calibri" charset="0"/>
                      </a:endParaRPr>
                    </a:p>
                  </a:txBody>
                  <a:tcPr marL="91440" marR="91440" marT="36576" marB="36576" anchor="ctr">
                    <a:lnL w="6350" cap="flat" cmpd="sng" algn="ctr">
                      <a:solidFill>
                        <a:srgbClr val="D3DEE4"/>
                      </a:solidFill>
                      <a:prstDash val="solid"/>
                      <a:round/>
                      <a:headEnd type="none" w="med" len="med"/>
                      <a:tailEnd type="none" w="med" len="med"/>
                    </a:lnL>
                    <a:lnR w="6350" cap="flat" cmpd="sng" algn="ctr">
                      <a:solidFill>
                        <a:srgbClr val="D3DEE4"/>
                      </a:solidFill>
                      <a:prstDash val="solid"/>
                      <a:round/>
                      <a:headEnd type="none" w="med" len="med"/>
                      <a:tailEnd type="none" w="med" len="med"/>
                    </a:lnR>
                    <a:lnT w="6350" cap="flat" cmpd="sng" algn="ctr">
                      <a:solidFill>
                        <a:srgbClr val="D3DEE4"/>
                      </a:solidFill>
                      <a:prstDash val="solid"/>
                      <a:round/>
                      <a:headEnd type="none" w="med" len="med"/>
                      <a:tailEnd type="none" w="med" len="med"/>
                    </a:lnT>
                    <a:lnB w="6350" cap="flat" cmpd="sng" algn="ctr">
                      <a:solidFill>
                        <a:srgbClr val="D3DEE4"/>
                      </a:solidFill>
                      <a:prstDash val="solid"/>
                      <a:round/>
                      <a:headEnd type="none" w="med" len="med"/>
                      <a:tailEnd type="none" w="med" len="med"/>
                    </a:lnB>
                    <a:solidFill>
                      <a:srgbClr val="FFFFFF"/>
                    </a:solidFill>
                  </a:tcPr>
                </a:tc>
                <a:tc>
                  <a:txBody>
                    <a:bodyPr/>
                    <a:lstStyle/>
                    <a:p>
                      <a:pPr indent="0" marL="0">
                        <a:buNone/>
                      </a:pPr>
                      <a:r>
                        <a:rPr lang="en-US" sz="1300" dirty="0">
                          <a:solidFill>
                            <a:srgbClr val="1A2530"/>
                          </a:solidFill>
                          <a:latin typeface="Calibri" pitchFamily="34" charset="0"/>
                          <a:ea typeface="Calibri" pitchFamily="34" charset="-122"/>
                          <a:cs typeface="Calibri" pitchFamily="34" charset="-120"/>
                        </a:rPr>
                        <a:t>Our minor project: top-3 routing, 32 slots, 33.12M parameters.</a:t>
                      </a:r>
                      <a:endParaRPr lang="en-US" sz="1300" dirty="0">
                        <a:latin typeface="Calibri" charset="0"/>
                        <a:ea typeface="Calibri" charset="0"/>
                        <a:cs typeface="Calibri" charset="0"/>
                      </a:endParaRPr>
                    </a:p>
                  </a:txBody>
                  <a:tcPr marL="91440" marR="91440" marT="36576" marB="36576" anchor="ctr">
                    <a:lnL w="6350" cap="flat" cmpd="sng" algn="ctr">
                      <a:solidFill>
                        <a:srgbClr val="D3DEE4"/>
                      </a:solidFill>
                      <a:prstDash val="solid"/>
                      <a:round/>
                      <a:headEnd type="none" w="med" len="med"/>
                      <a:tailEnd type="none" w="med" len="med"/>
                    </a:lnL>
                    <a:lnR w="6350" cap="flat" cmpd="sng" algn="ctr">
                      <a:solidFill>
                        <a:srgbClr val="D3DEE4"/>
                      </a:solidFill>
                      <a:prstDash val="solid"/>
                      <a:round/>
                      <a:headEnd type="none" w="med" len="med"/>
                      <a:tailEnd type="none" w="med" len="med"/>
                    </a:lnR>
                    <a:lnT w="6350" cap="flat" cmpd="sng" algn="ctr">
                      <a:solidFill>
                        <a:srgbClr val="D3DEE4"/>
                      </a:solidFill>
                      <a:prstDash val="solid"/>
                      <a:round/>
                      <a:headEnd type="none" w="med" len="med"/>
                      <a:tailEnd type="none" w="med" len="med"/>
                    </a:lnT>
                    <a:lnB w="6350" cap="flat" cmpd="sng" algn="ctr">
                      <a:solidFill>
                        <a:srgbClr val="D3DEE4"/>
                      </a:solidFill>
                      <a:prstDash val="solid"/>
                      <a:round/>
                      <a:headEnd type="none" w="med" len="med"/>
                      <a:tailEnd type="none" w="med" len="med"/>
                    </a:lnB>
                    <a:solidFill>
                      <a:srgbClr val="FFFFFF"/>
                    </a:solidFill>
                  </a:tcPr>
                </a:tc>
                <a:tc>
                  <a:txBody>
                    <a:bodyPr/>
                    <a:lstStyle/>
                    <a:p>
                      <a:pPr indent="0" marL="0">
                        <a:buNone/>
                      </a:pPr>
                      <a:r>
                        <a:rPr lang="en-US" sz="1300" dirty="0">
                          <a:solidFill>
                            <a:srgbClr val="1A2530"/>
                          </a:solidFill>
                          <a:latin typeface="Calibri" pitchFamily="34" charset="0"/>
                          <a:ea typeface="Calibri" pitchFamily="34" charset="-122"/>
                          <a:cs typeface="Calibri" pitchFamily="34" charset="-120"/>
                        </a:rPr>
                        <a:t>Single-seed baselines; no capacity control; test-split selection.</a:t>
                      </a:r>
                      <a:endParaRPr lang="en-US" sz="1300" dirty="0">
                        <a:latin typeface="Calibri" charset="0"/>
                        <a:ea typeface="Calibri" charset="0"/>
                        <a:cs typeface="Calibri" charset="0"/>
                      </a:endParaRPr>
                    </a:p>
                  </a:txBody>
                  <a:tcPr marL="91440" marR="91440" marT="36576" marB="36576" anchor="ctr">
                    <a:lnL w="6350" cap="flat" cmpd="sng" algn="ctr">
                      <a:solidFill>
                        <a:srgbClr val="D3DEE4"/>
                      </a:solidFill>
                      <a:prstDash val="solid"/>
                      <a:round/>
                      <a:headEnd type="none" w="med" len="med"/>
                      <a:tailEnd type="none" w="med" len="med"/>
                    </a:lnL>
                    <a:lnR w="6350" cap="flat" cmpd="sng" algn="ctr">
                      <a:solidFill>
                        <a:srgbClr val="D3DEE4"/>
                      </a:solidFill>
                      <a:prstDash val="solid"/>
                      <a:round/>
                      <a:headEnd type="none" w="med" len="med"/>
                      <a:tailEnd type="none" w="med" len="med"/>
                    </a:lnR>
                    <a:lnT w="6350" cap="flat" cmpd="sng" algn="ctr">
                      <a:solidFill>
                        <a:srgbClr val="D3DEE4"/>
                      </a:solidFill>
                      <a:prstDash val="solid"/>
                      <a:round/>
                      <a:headEnd type="none" w="med" len="med"/>
                      <a:tailEnd type="none" w="med" len="med"/>
                    </a:lnT>
                    <a:lnB w="6350" cap="flat" cmpd="sng" algn="ctr">
                      <a:solidFill>
                        <a:srgbClr val="D3DEE4"/>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Limitations of existing work: six research gaps</a:t>
            </a:r>
            <a:endParaRPr lang="en-US" sz="3200" dirty="0"/>
          </a:p>
        </p:txBody>
      </p:sp>
      <p:sp>
        <p:nvSpPr>
          <p:cNvPr id="3" name="Gap card G1"/>
          <p:cNvSpPr/>
          <p:nvPr/>
        </p:nvSpPr>
        <p:spPr>
          <a:xfrm>
            <a:off x="548640" y="1280160"/>
            <a:ext cx="3566160" cy="2377440"/>
          </a:xfrm>
          <a:prstGeom prst="roundRect">
            <a:avLst>
              <a:gd name="adj" fmla="val 3077"/>
            </a:avLst>
          </a:prstGeom>
          <a:solidFill>
            <a:srgbClr val="FFFFFF"/>
          </a:solidFill>
          <a:ln w="12700">
            <a:solidFill>
              <a:srgbClr val="D3DEE4"/>
            </a:solidFill>
            <a:prstDash val="solid"/>
          </a:ln>
        </p:spPr>
      </p:sp>
      <p:sp>
        <p:nvSpPr>
          <p:cNvPr id="4" name="Gap badge G1"/>
          <p:cNvSpPr/>
          <p:nvPr/>
        </p:nvSpPr>
        <p:spPr>
          <a:xfrm>
            <a:off x="731520" y="1463040"/>
            <a:ext cx="566928" cy="566928"/>
          </a:xfrm>
          <a:prstGeom prst="ellipse">
            <a:avLst/>
          </a:prstGeom>
          <a:solidFill>
            <a:srgbClr val="1B7F8C"/>
          </a:solidFill>
          <a:ln/>
        </p:spPr>
      </p:sp>
      <p:sp>
        <p:nvSpPr>
          <p:cNvPr id="5" name="Gap badge G1 label"/>
          <p:cNvSpPr txBox="1"/>
          <p:nvPr/>
        </p:nvSpPr>
        <p:spPr>
          <a:xfrm>
            <a:off x="731520" y="1463040"/>
            <a:ext cx="566928" cy="56692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G1</a:t>
            </a:r>
            <a:endParaRPr lang="en-US" sz="1500" dirty="0"/>
          </a:p>
        </p:txBody>
      </p:sp>
      <p:sp>
        <p:nvSpPr>
          <p:cNvPr id="6" name="Text 4"/>
          <p:cNvSpPr txBox="1"/>
          <p:nvPr/>
        </p:nvSpPr>
        <p:spPr>
          <a:xfrm>
            <a:off x="1417320" y="1463040"/>
            <a:ext cx="2560320" cy="594360"/>
          </a:xfrm>
          <a:prstGeom prst="rect">
            <a:avLst/>
          </a:prstGeom>
          <a:noFill/>
          <a:ln/>
        </p:spPr>
        <p:txBody>
          <a:bodyPr wrap="square" lIns="0" tIns="0" rIns="0" bIns="0" rtlCol="0" anchor="ctr"/>
          <a:lstStyle/>
          <a:p>
            <a:pPr indent="0" marL="0">
              <a:buNone/>
            </a:pPr>
            <a:r>
              <a:rPr lang="en-US" sz="1600" b="1" dirty="0">
                <a:solidFill>
                  <a:srgbClr val="0F2A3D"/>
                </a:solidFill>
                <a:latin typeface="Calibri" pitchFamily="34" charset="0"/>
                <a:ea typeface="Calibri" pitchFamily="34" charset="-122"/>
                <a:cs typeface="Calibri" pitchFamily="34" charset="-120"/>
              </a:rPr>
              <a:t>No capacity-controlled test</a:t>
            </a:r>
            <a:endParaRPr lang="en-US" sz="1600" dirty="0"/>
          </a:p>
        </p:txBody>
      </p:sp>
      <p:sp>
        <p:nvSpPr>
          <p:cNvPr id="7" name="Text 5"/>
          <p:cNvSpPr txBox="1"/>
          <p:nvPr/>
        </p:nvSpPr>
        <p:spPr>
          <a:xfrm>
            <a:off x="777240" y="2240280"/>
            <a:ext cx="3108960" cy="914400"/>
          </a:xfrm>
          <a:prstGeom prst="rect">
            <a:avLst/>
          </a:prstGeom>
          <a:noFill/>
          <a:ln/>
        </p:spPr>
        <p:txBody>
          <a:bodyPr wrap="square" lIns="0" tIns="0" rIns="0" bIns="0" rtlCol="0" anchor="t"/>
          <a:lstStyle/>
          <a:p>
            <a:pPr indent="0" marL="0">
              <a:buNone/>
            </a:pPr>
            <a:r>
              <a:rPr lang="en-US" sz="1400" dirty="0">
                <a:solidFill>
                  <a:srgbClr val="1A2530"/>
                </a:solidFill>
                <a:latin typeface="Calibri" pitchFamily="34" charset="0"/>
                <a:ea typeface="Calibri" pitchFamily="34" charset="-122"/>
                <a:cs typeface="Calibri" pitchFamily="34" charset="-120"/>
              </a:rPr>
              <a:t>Register work [10]-[13] shows extra tokens alone change ViTs; merging and tokenizer papers [1]-[9] do not test against them.</a:t>
            </a:r>
            <a:endParaRPr lang="en-US" sz="1400" dirty="0"/>
          </a:p>
        </p:txBody>
      </p:sp>
      <p:sp>
        <p:nvSpPr>
          <p:cNvPr id="8" name="Objective tag G1"/>
          <p:cNvSpPr/>
          <p:nvPr/>
        </p:nvSpPr>
        <p:spPr>
          <a:xfrm>
            <a:off x="777240" y="3154680"/>
            <a:ext cx="2011680" cy="338328"/>
          </a:xfrm>
          <a:prstGeom prst="roundRect">
            <a:avLst>
              <a:gd name="adj" fmla="val 27027"/>
            </a:avLst>
          </a:prstGeom>
          <a:solidFill>
            <a:srgbClr val="F4A261"/>
          </a:solidFill>
          <a:ln/>
        </p:spPr>
      </p:sp>
      <p:sp>
        <p:nvSpPr>
          <p:cNvPr id="9" name="Text 7"/>
          <p:cNvSpPr txBox="1"/>
          <p:nvPr/>
        </p:nvSpPr>
        <p:spPr>
          <a:xfrm>
            <a:off x="777240" y="3154680"/>
            <a:ext cx="2011680" cy="338328"/>
          </a:xfrm>
          <a:prstGeom prst="rect">
            <a:avLst/>
          </a:prstGeom>
          <a:noFill/>
          <a:ln/>
        </p:spPr>
        <p:txBody>
          <a:bodyPr wrap="square" lIns="0" tIns="0" rIns="0" bIns="0" rtlCol="0" anchor="ctr"/>
          <a:lstStyle/>
          <a:p>
            <a:pPr algn="ctr" indent="0" marL="0">
              <a:buNone/>
            </a:pPr>
            <a:r>
              <a:rPr lang="en-US" sz="1200" b="1" dirty="0">
                <a:solidFill>
                  <a:srgbClr val="0F2A3D"/>
                </a:solidFill>
                <a:latin typeface="Calibri" pitchFamily="34" charset="0"/>
                <a:ea typeface="Calibri" pitchFamily="34" charset="-122"/>
                <a:cs typeface="Calibri" pitchFamily="34" charset="-120"/>
              </a:rPr>
              <a:t>Addressed by RO2</a:t>
            </a:r>
            <a:endParaRPr lang="en-US" sz="1200" dirty="0"/>
          </a:p>
        </p:txBody>
      </p:sp>
      <p:sp>
        <p:nvSpPr>
          <p:cNvPr id="10" name="Gap card G2"/>
          <p:cNvSpPr/>
          <p:nvPr/>
        </p:nvSpPr>
        <p:spPr>
          <a:xfrm>
            <a:off x="4297680" y="1280160"/>
            <a:ext cx="3566160" cy="2377440"/>
          </a:xfrm>
          <a:prstGeom prst="roundRect">
            <a:avLst>
              <a:gd name="adj" fmla="val 3077"/>
            </a:avLst>
          </a:prstGeom>
          <a:solidFill>
            <a:srgbClr val="FFFFFF"/>
          </a:solidFill>
          <a:ln w="12700">
            <a:solidFill>
              <a:srgbClr val="D3DEE4"/>
            </a:solidFill>
            <a:prstDash val="solid"/>
          </a:ln>
        </p:spPr>
      </p:sp>
      <p:sp>
        <p:nvSpPr>
          <p:cNvPr id="11" name="Gap badge G2"/>
          <p:cNvSpPr/>
          <p:nvPr/>
        </p:nvSpPr>
        <p:spPr>
          <a:xfrm>
            <a:off x="4480560" y="1463040"/>
            <a:ext cx="566928" cy="566928"/>
          </a:xfrm>
          <a:prstGeom prst="ellipse">
            <a:avLst/>
          </a:prstGeom>
          <a:solidFill>
            <a:srgbClr val="1B7F8C"/>
          </a:solidFill>
          <a:ln/>
        </p:spPr>
      </p:sp>
      <p:sp>
        <p:nvSpPr>
          <p:cNvPr id="12" name="Gap badge G2 label"/>
          <p:cNvSpPr txBox="1"/>
          <p:nvPr/>
        </p:nvSpPr>
        <p:spPr>
          <a:xfrm>
            <a:off x="4480560" y="1463040"/>
            <a:ext cx="566928" cy="56692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G2</a:t>
            </a:r>
            <a:endParaRPr lang="en-US" sz="1500" dirty="0"/>
          </a:p>
        </p:txBody>
      </p:sp>
      <p:sp>
        <p:nvSpPr>
          <p:cNvPr id="13" name="Text 11"/>
          <p:cNvSpPr txBox="1"/>
          <p:nvPr/>
        </p:nvSpPr>
        <p:spPr>
          <a:xfrm>
            <a:off x="5166360" y="1463040"/>
            <a:ext cx="2560320" cy="594360"/>
          </a:xfrm>
          <a:prstGeom prst="rect">
            <a:avLst/>
          </a:prstGeom>
          <a:noFill/>
          <a:ln/>
        </p:spPr>
        <p:txBody>
          <a:bodyPr wrap="square" lIns="0" tIns="0" rIns="0" bIns="0" rtlCol="0" anchor="ctr"/>
          <a:lstStyle/>
          <a:p>
            <a:pPr indent="0" marL="0">
              <a:buNone/>
            </a:pPr>
            <a:r>
              <a:rPr lang="en-US" sz="1600" b="1" dirty="0">
                <a:solidFill>
                  <a:srgbClr val="0F2A3D"/>
                </a:solidFill>
                <a:latin typeface="Calibri" pitchFamily="34" charset="0"/>
                <a:ea typeface="Calibri" pitchFamily="34" charset="-122"/>
                <a:cs typeface="Calibri" pitchFamily="34" charset="-120"/>
              </a:rPr>
              <a:t>Efficiency, not representation</a:t>
            </a:r>
            <a:endParaRPr lang="en-US" sz="1600" dirty="0"/>
          </a:p>
        </p:txBody>
      </p:sp>
      <p:sp>
        <p:nvSpPr>
          <p:cNvPr id="14" name="Text 12"/>
          <p:cNvSpPr txBox="1"/>
          <p:nvPr/>
        </p:nvSpPr>
        <p:spPr>
          <a:xfrm>
            <a:off x="4526280" y="2240280"/>
            <a:ext cx="3108960" cy="914400"/>
          </a:xfrm>
          <a:prstGeom prst="rect">
            <a:avLst/>
          </a:prstGeom>
          <a:noFill/>
          <a:ln/>
        </p:spPr>
        <p:txBody>
          <a:bodyPr wrap="square" lIns="0" tIns="0" rIns="0" bIns="0" rtlCol="0" anchor="t"/>
          <a:lstStyle/>
          <a:p>
            <a:pPr indent="0" marL="0">
              <a:buNone/>
            </a:pPr>
            <a:r>
              <a:rPr lang="en-US" sz="1400" dirty="0">
                <a:solidFill>
                  <a:srgbClr val="1A2530"/>
                </a:solidFill>
                <a:latin typeface="Calibri" pitchFamily="34" charset="0"/>
                <a:ea typeface="Calibri" pitchFamily="34" charset="-122"/>
                <a:cs typeface="Calibri" pitchFamily="34" charset="-120"/>
              </a:rPr>
              <a:t>Merging and pruning [1]-[5] act on existing ViTs at inference, not as from-scratch components.</a:t>
            </a:r>
            <a:endParaRPr lang="en-US" sz="1400" dirty="0"/>
          </a:p>
        </p:txBody>
      </p:sp>
      <p:sp>
        <p:nvSpPr>
          <p:cNvPr id="15" name="Objective tag G2"/>
          <p:cNvSpPr/>
          <p:nvPr/>
        </p:nvSpPr>
        <p:spPr>
          <a:xfrm>
            <a:off x="4526280" y="3154680"/>
            <a:ext cx="2011680" cy="338328"/>
          </a:xfrm>
          <a:prstGeom prst="roundRect">
            <a:avLst>
              <a:gd name="adj" fmla="val 27027"/>
            </a:avLst>
          </a:prstGeom>
          <a:solidFill>
            <a:srgbClr val="F4A261"/>
          </a:solidFill>
          <a:ln/>
        </p:spPr>
      </p:sp>
      <p:sp>
        <p:nvSpPr>
          <p:cNvPr id="16" name="Text 14"/>
          <p:cNvSpPr txBox="1"/>
          <p:nvPr/>
        </p:nvSpPr>
        <p:spPr>
          <a:xfrm>
            <a:off x="4526280" y="3154680"/>
            <a:ext cx="2011680" cy="338328"/>
          </a:xfrm>
          <a:prstGeom prst="rect">
            <a:avLst/>
          </a:prstGeom>
          <a:noFill/>
          <a:ln/>
        </p:spPr>
        <p:txBody>
          <a:bodyPr wrap="square" lIns="0" tIns="0" rIns="0" bIns="0" rtlCol="0" anchor="ctr"/>
          <a:lstStyle/>
          <a:p>
            <a:pPr algn="ctr" indent="0" marL="0">
              <a:buNone/>
            </a:pPr>
            <a:r>
              <a:rPr lang="en-US" sz="1200" b="1" dirty="0">
                <a:solidFill>
                  <a:srgbClr val="0F2A3D"/>
                </a:solidFill>
                <a:latin typeface="Calibri" pitchFamily="34" charset="0"/>
                <a:ea typeface="Calibri" pitchFamily="34" charset="-122"/>
                <a:cs typeface="Calibri" pitchFamily="34" charset="-120"/>
              </a:rPr>
              <a:t>Addressed by RO2, RO3</a:t>
            </a:r>
            <a:endParaRPr lang="en-US" sz="1200" dirty="0"/>
          </a:p>
        </p:txBody>
      </p:sp>
      <p:sp>
        <p:nvSpPr>
          <p:cNvPr id="17" name="Gap card G3"/>
          <p:cNvSpPr/>
          <p:nvPr/>
        </p:nvSpPr>
        <p:spPr>
          <a:xfrm>
            <a:off x="8046720" y="1280160"/>
            <a:ext cx="3566160" cy="2377440"/>
          </a:xfrm>
          <a:prstGeom prst="roundRect">
            <a:avLst>
              <a:gd name="adj" fmla="val 3077"/>
            </a:avLst>
          </a:prstGeom>
          <a:solidFill>
            <a:srgbClr val="FFFFFF"/>
          </a:solidFill>
          <a:ln w="12700">
            <a:solidFill>
              <a:srgbClr val="D3DEE4"/>
            </a:solidFill>
            <a:prstDash val="solid"/>
          </a:ln>
        </p:spPr>
      </p:sp>
      <p:sp>
        <p:nvSpPr>
          <p:cNvPr id="18" name="Gap badge G3"/>
          <p:cNvSpPr/>
          <p:nvPr/>
        </p:nvSpPr>
        <p:spPr>
          <a:xfrm>
            <a:off x="8229600" y="1463040"/>
            <a:ext cx="566928" cy="566928"/>
          </a:xfrm>
          <a:prstGeom prst="ellipse">
            <a:avLst/>
          </a:prstGeom>
          <a:solidFill>
            <a:srgbClr val="1B7F8C"/>
          </a:solidFill>
          <a:ln/>
        </p:spPr>
      </p:sp>
      <p:sp>
        <p:nvSpPr>
          <p:cNvPr id="19" name="Gap badge G3 label"/>
          <p:cNvSpPr txBox="1"/>
          <p:nvPr/>
        </p:nvSpPr>
        <p:spPr>
          <a:xfrm>
            <a:off x="8229600" y="1463040"/>
            <a:ext cx="566928" cy="56692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G3</a:t>
            </a:r>
            <a:endParaRPr lang="en-US" sz="1500" dirty="0"/>
          </a:p>
        </p:txBody>
      </p:sp>
      <p:sp>
        <p:nvSpPr>
          <p:cNvPr id="20" name="Text 18"/>
          <p:cNvSpPr txBox="1"/>
          <p:nvPr/>
        </p:nvSpPr>
        <p:spPr>
          <a:xfrm>
            <a:off x="8915400" y="1463040"/>
            <a:ext cx="2560320" cy="594360"/>
          </a:xfrm>
          <a:prstGeom prst="rect">
            <a:avLst/>
          </a:prstGeom>
          <a:noFill/>
          <a:ln/>
        </p:spPr>
        <p:txBody>
          <a:bodyPr wrap="square" lIns="0" tIns="0" rIns="0" bIns="0" rtlCol="0" anchor="ctr"/>
          <a:lstStyle/>
          <a:p>
            <a:pPr indent="0" marL="0">
              <a:buNone/>
            </a:pPr>
            <a:r>
              <a:rPr lang="en-US" sz="1600" b="1" dirty="0">
                <a:solidFill>
                  <a:srgbClr val="0F2A3D"/>
                </a:solidFill>
                <a:latin typeface="Calibri" pitchFamily="34" charset="0"/>
                <a:ea typeface="Calibri" pitchFamily="34" charset="-122"/>
                <a:cs typeface="Calibri" pitchFamily="34" charset="-120"/>
              </a:rPr>
              <a:t>Single-pass, label-only grouping</a:t>
            </a:r>
            <a:endParaRPr lang="en-US" sz="1600" dirty="0"/>
          </a:p>
        </p:txBody>
      </p:sp>
      <p:sp>
        <p:nvSpPr>
          <p:cNvPr id="21" name="Text 19"/>
          <p:cNvSpPr txBox="1"/>
          <p:nvPr/>
        </p:nvSpPr>
        <p:spPr>
          <a:xfrm>
            <a:off x="8275320" y="2240280"/>
            <a:ext cx="3108960" cy="914400"/>
          </a:xfrm>
          <a:prstGeom prst="rect">
            <a:avLst/>
          </a:prstGeom>
          <a:noFill/>
          <a:ln/>
        </p:spPr>
        <p:txBody>
          <a:bodyPr wrap="square" lIns="0" tIns="0" rIns="0" bIns="0" rtlCol="0" anchor="t"/>
          <a:lstStyle/>
          <a:p>
            <a:pPr indent="0" marL="0">
              <a:buNone/>
            </a:pPr>
            <a:r>
              <a:rPr lang="en-US" sz="1400" dirty="0">
                <a:solidFill>
                  <a:srgbClr val="1A2530"/>
                </a:solidFill>
                <a:latin typeface="Calibri" pitchFamily="34" charset="0"/>
                <a:ea typeface="Calibri" pitchFamily="34" charset="-122"/>
                <a:cs typeface="Calibri" pitchFamily="34" charset="-120"/>
              </a:rPr>
              <a:t>Slot work [14]-[16] needs reconstruction, frozen targets or diffusion decoders.</a:t>
            </a:r>
            <a:endParaRPr lang="en-US" sz="1400" dirty="0"/>
          </a:p>
        </p:txBody>
      </p:sp>
      <p:sp>
        <p:nvSpPr>
          <p:cNvPr id="22" name="Objective tag G3"/>
          <p:cNvSpPr/>
          <p:nvPr/>
        </p:nvSpPr>
        <p:spPr>
          <a:xfrm>
            <a:off x="8275320" y="3154680"/>
            <a:ext cx="2011680" cy="338328"/>
          </a:xfrm>
          <a:prstGeom prst="roundRect">
            <a:avLst>
              <a:gd name="adj" fmla="val 27027"/>
            </a:avLst>
          </a:prstGeom>
          <a:solidFill>
            <a:srgbClr val="F4A261"/>
          </a:solidFill>
          <a:ln/>
        </p:spPr>
      </p:sp>
      <p:sp>
        <p:nvSpPr>
          <p:cNvPr id="23" name="Text 21"/>
          <p:cNvSpPr txBox="1"/>
          <p:nvPr/>
        </p:nvSpPr>
        <p:spPr>
          <a:xfrm>
            <a:off x="8275320" y="3154680"/>
            <a:ext cx="2011680" cy="338328"/>
          </a:xfrm>
          <a:prstGeom prst="rect">
            <a:avLst/>
          </a:prstGeom>
          <a:noFill/>
          <a:ln/>
        </p:spPr>
        <p:txBody>
          <a:bodyPr wrap="square" lIns="0" tIns="0" rIns="0" bIns="0" rtlCol="0" anchor="ctr"/>
          <a:lstStyle/>
          <a:p>
            <a:pPr algn="ctr" indent="0" marL="0">
              <a:buNone/>
            </a:pPr>
            <a:r>
              <a:rPr lang="en-US" sz="1200" b="1" dirty="0">
                <a:solidFill>
                  <a:srgbClr val="0F2A3D"/>
                </a:solidFill>
                <a:latin typeface="Calibri" pitchFamily="34" charset="0"/>
                <a:ea typeface="Calibri" pitchFamily="34" charset="-122"/>
                <a:cs typeface="Calibri" pitchFamily="34" charset="-120"/>
              </a:rPr>
              <a:t>Addressed by RO2, RO4</a:t>
            </a:r>
            <a:endParaRPr lang="en-US" sz="1200" dirty="0"/>
          </a:p>
        </p:txBody>
      </p:sp>
      <p:sp>
        <p:nvSpPr>
          <p:cNvPr id="24" name="Gap card G4"/>
          <p:cNvSpPr/>
          <p:nvPr/>
        </p:nvSpPr>
        <p:spPr>
          <a:xfrm>
            <a:off x="548640" y="3840480"/>
            <a:ext cx="3566160" cy="2377440"/>
          </a:xfrm>
          <a:prstGeom prst="roundRect">
            <a:avLst>
              <a:gd name="adj" fmla="val 3077"/>
            </a:avLst>
          </a:prstGeom>
          <a:solidFill>
            <a:srgbClr val="FFFFFF"/>
          </a:solidFill>
          <a:ln w="12700">
            <a:solidFill>
              <a:srgbClr val="D3DEE4"/>
            </a:solidFill>
            <a:prstDash val="solid"/>
          </a:ln>
        </p:spPr>
      </p:sp>
      <p:sp>
        <p:nvSpPr>
          <p:cNvPr id="25" name="Gap badge G4"/>
          <p:cNvSpPr/>
          <p:nvPr/>
        </p:nvSpPr>
        <p:spPr>
          <a:xfrm>
            <a:off x="731520" y="4023360"/>
            <a:ext cx="566928" cy="566928"/>
          </a:xfrm>
          <a:prstGeom prst="ellipse">
            <a:avLst/>
          </a:prstGeom>
          <a:solidFill>
            <a:srgbClr val="1B7F8C"/>
          </a:solidFill>
          <a:ln/>
        </p:spPr>
      </p:sp>
      <p:sp>
        <p:nvSpPr>
          <p:cNvPr id="26" name="Gap badge G4 label"/>
          <p:cNvSpPr txBox="1"/>
          <p:nvPr/>
        </p:nvSpPr>
        <p:spPr>
          <a:xfrm>
            <a:off x="731520" y="4023360"/>
            <a:ext cx="566928" cy="56692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G4</a:t>
            </a:r>
            <a:endParaRPr lang="en-US" sz="1500" dirty="0"/>
          </a:p>
        </p:txBody>
      </p:sp>
      <p:sp>
        <p:nvSpPr>
          <p:cNvPr id="27" name="Text 25"/>
          <p:cNvSpPr txBox="1"/>
          <p:nvPr/>
        </p:nvSpPr>
        <p:spPr>
          <a:xfrm>
            <a:off x="1417320" y="4023360"/>
            <a:ext cx="2560320" cy="594360"/>
          </a:xfrm>
          <a:prstGeom prst="rect">
            <a:avLst/>
          </a:prstGeom>
          <a:noFill/>
          <a:ln/>
        </p:spPr>
        <p:txBody>
          <a:bodyPr wrap="square" lIns="0" tIns="0" rIns="0" bIns="0" rtlCol="0" anchor="ctr"/>
          <a:lstStyle/>
          <a:p>
            <a:pPr indent="0" marL="0">
              <a:buNone/>
            </a:pPr>
            <a:r>
              <a:rPr lang="en-US" sz="1600" b="1" dirty="0">
                <a:solidFill>
                  <a:srgbClr val="0F2A3D"/>
                </a:solidFill>
                <a:latin typeface="Calibri" pitchFamily="34" charset="0"/>
                <a:ea typeface="Calibri" pitchFamily="34" charset="-122"/>
                <a:cs typeface="Calibri" pitchFamily="34" charset="-120"/>
              </a:rPr>
              <a:t>Weak evaluation protocols</a:t>
            </a:r>
            <a:endParaRPr lang="en-US" sz="1600" dirty="0"/>
          </a:p>
        </p:txBody>
      </p:sp>
      <p:sp>
        <p:nvSpPr>
          <p:cNvPr id="28" name="Text 26"/>
          <p:cNvSpPr txBox="1"/>
          <p:nvPr/>
        </p:nvSpPr>
        <p:spPr>
          <a:xfrm>
            <a:off x="777240" y="4800600"/>
            <a:ext cx="3108960" cy="914400"/>
          </a:xfrm>
          <a:prstGeom prst="rect">
            <a:avLst/>
          </a:prstGeom>
          <a:noFill/>
          <a:ln/>
        </p:spPr>
        <p:txBody>
          <a:bodyPr wrap="square" lIns="0" tIns="0" rIns="0" bIns="0" rtlCol="0" anchor="t"/>
          <a:lstStyle/>
          <a:p>
            <a:pPr indent="0" marL="0">
              <a:buNone/>
            </a:pPr>
            <a:r>
              <a:rPr lang="en-US" sz="1400" dirty="0">
                <a:solidFill>
                  <a:srgbClr val="1A2530"/>
                </a:solidFill>
                <a:latin typeface="Calibri" pitchFamily="34" charset="0"/>
                <a:ea typeface="Calibri" pitchFamily="34" charset="-122"/>
                <a:cs typeface="Calibri" pitchFamily="34" charset="-120"/>
              </a:rPr>
              <a:t>[19]-[21]: under-tuned baselines inflate gains; our baselines were single-seed.</a:t>
            </a:r>
            <a:endParaRPr lang="en-US" sz="1400" dirty="0"/>
          </a:p>
        </p:txBody>
      </p:sp>
      <p:sp>
        <p:nvSpPr>
          <p:cNvPr id="29" name="Objective tag G4"/>
          <p:cNvSpPr/>
          <p:nvPr/>
        </p:nvSpPr>
        <p:spPr>
          <a:xfrm>
            <a:off x="777240" y="5715000"/>
            <a:ext cx="2011680" cy="338328"/>
          </a:xfrm>
          <a:prstGeom prst="roundRect">
            <a:avLst>
              <a:gd name="adj" fmla="val 27027"/>
            </a:avLst>
          </a:prstGeom>
          <a:solidFill>
            <a:srgbClr val="F4A261"/>
          </a:solidFill>
          <a:ln/>
        </p:spPr>
      </p:sp>
      <p:sp>
        <p:nvSpPr>
          <p:cNvPr id="30" name="Text 28"/>
          <p:cNvSpPr txBox="1"/>
          <p:nvPr/>
        </p:nvSpPr>
        <p:spPr>
          <a:xfrm>
            <a:off x="777240" y="5715000"/>
            <a:ext cx="2011680" cy="338328"/>
          </a:xfrm>
          <a:prstGeom prst="rect">
            <a:avLst/>
          </a:prstGeom>
          <a:noFill/>
          <a:ln/>
        </p:spPr>
        <p:txBody>
          <a:bodyPr wrap="square" lIns="0" tIns="0" rIns="0" bIns="0" rtlCol="0" anchor="ctr"/>
          <a:lstStyle/>
          <a:p>
            <a:pPr algn="ctr" indent="0" marL="0">
              <a:buNone/>
            </a:pPr>
            <a:r>
              <a:rPr lang="en-US" sz="1200" b="1" dirty="0">
                <a:solidFill>
                  <a:srgbClr val="0F2A3D"/>
                </a:solidFill>
                <a:latin typeface="Calibri" pitchFamily="34" charset="0"/>
                <a:ea typeface="Calibri" pitchFamily="34" charset="-122"/>
                <a:cs typeface="Calibri" pitchFamily="34" charset="-120"/>
              </a:rPr>
              <a:t>Addressed by RO1, RO5</a:t>
            </a:r>
            <a:endParaRPr lang="en-US" sz="1200" dirty="0"/>
          </a:p>
        </p:txBody>
      </p:sp>
      <p:sp>
        <p:nvSpPr>
          <p:cNvPr id="31" name="Gap card G5"/>
          <p:cNvSpPr/>
          <p:nvPr/>
        </p:nvSpPr>
        <p:spPr>
          <a:xfrm>
            <a:off x="4297680" y="3840480"/>
            <a:ext cx="3566160" cy="2377440"/>
          </a:xfrm>
          <a:prstGeom prst="roundRect">
            <a:avLst>
              <a:gd name="adj" fmla="val 3077"/>
            </a:avLst>
          </a:prstGeom>
          <a:solidFill>
            <a:srgbClr val="FFFFFF"/>
          </a:solidFill>
          <a:ln w="12700">
            <a:solidFill>
              <a:srgbClr val="D3DEE4"/>
            </a:solidFill>
            <a:prstDash val="solid"/>
          </a:ln>
        </p:spPr>
      </p:sp>
      <p:sp>
        <p:nvSpPr>
          <p:cNvPr id="32" name="Gap badge G5"/>
          <p:cNvSpPr/>
          <p:nvPr/>
        </p:nvSpPr>
        <p:spPr>
          <a:xfrm>
            <a:off x="4480560" y="4023360"/>
            <a:ext cx="566928" cy="566928"/>
          </a:xfrm>
          <a:prstGeom prst="ellipse">
            <a:avLst/>
          </a:prstGeom>
          <a:solidFill>
            <a:srgbClr val="1B7F8C"/>
          </a:solidFill>
          <a:ln/>
        </p:spPr>
      </p:sp>
      <p:sp>
        <p:nvSpPr>
          <p:cNvPr id="33" name="Gap badge G5 label"/>
          <p:cNvSpPr txBox="1"/>
          <p:nvPr/>
        </p:nvSpPr>
        <p:spPr>
          <a:xfrm>
            <a:off x="4480560" y="4023360"/>
            <a:ext cx="566928" cy="56692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G5</a:t>
            </a:r>
            <a:endParaRPr lang="en-US" sz="1500" dirty="0"/>
          </a:p>
        </p:txBody>
      </p:sp>
      <p:sp>
        <p:nvSpPr>
          <p:cNvPr id="34" name="Text 32"/>
          <p:cNvSpPr txBox="1"/>
          <p:nvPr/>
        </p:nvSpPr>
        <p:spPr>
          <a:xfrm>
            <a:off x="5166360" y="4023360"/>
            <a:ext cx="2560320" cy="594360"/>
          </a:xfrm>
          <a:prstGeom prst="rect">
            <a:avLst/>
          </a:prstGeom>
          <a:noFill/>
          <a:ln/>
        </p:spPr>
        <p:txBody>
          <a:bodyPr wrap="square" lIns="0" tIns="0" rIns="0" bIns="0" rtlCol="0" anchor="ctr"/>
          <a:lstStyle/>
          <a:p>
            <a:pPr indent="0" marL="0">
              <a:buNone/>
            </a:pPr>
            <a:r>
              <a:rPr lang="en-US" sz="1600" b="1" dirty="0">
                <a:solidFill>
                  <a:srgbClr val="0F2A3D"/>
                </a:solidFill>
                <a:latin typeface="Calibri" pitchFamily="34" charset="0"/>
                <a:ea typeface="Calibri" pitchFamily="34" charset="-122"/>
                <a:cs typeface="Calibri" pitchFamily="34" charset="-120"/>
              </a:rPr>
              <a:t>Regions are qualitative</a:t>
            </a:r>
            <a:endParaRPr lang="en-US" sz="1600" dirty="0"/>
          </a:p>
        </p:txBody>
      </p:sp>
      <p:sp>
        <p:nvSpPr>
          <p:cNvPr id="35" name="Text 33"/>
          <p:cNvSpPr txBox="1"/>
          <p:nvPr/>
        </p:nvSpPr>
        <p:spPr>
          <a:xfrm>
            <a:off x="4526280" y="4800600"/>
            <a:ext cx="3108960" cy="914400"/>
          </a:xfrm>
          <a:prstGeom prst="rect">
            <a:avLst/>
          </a:prstGeom>
          <a:noFill/>
          <a:ln/>
        </p:spPr>
        <p:txBody>
          <a:bodyPr wrap="square" lIns="0" tIns="0" rIns="0" bIns="0" rtlCol="0" anchor="t"/>
          <a:lstStyle/>
          <a:p>
            <a:pPr indent="0" marL="0">
              <a:buNone/>
            </a:pPr>
            <a:r>
              <a:rPr lang="en-US" sz="1400" dirty="0">
                <a:solidFill>
                  <a:srgbClr val="1A2530"/>
                </a:solidFill>
                <a:latin typeface="Calibri" pitchFamily="34" charset="0"/>
                <a:ea typeface="Calibri" pitchFamily="34" charset="-122"/>
                <a:cs typeface="Calibri" pitchFamily="34" charset="-120"/>
              </a:rPr>
              <a:t>[17], [18]: attention-based localisation is noisy and protocol-sensitive; ours was visual only.</a:t>
            </a:r>
            <a:endParaRPr lang="en-US" sz="1400" dirty="0"/>
          </a:p>
        </p:txBody>
      </p:sp>
      <p:sp>
        <p:nvSpPr>
          <p:cNvPr id="36" name="Objective tag G5"/>
          <p:cNvSpPr/>
          <p:nvPr/>
        </p:nvSpPr>
        <p:spPr>
          <a:xfrm>
            <a:off x="4526280" y="5715000"/>
            <a:ext cx="2011680" cy="338328"/>
          </a:xfrm>
          <a:prstGeom prst="roundRect">
            <a:avLst>
              <a:gd name="adj" fmla="val 27027"/>
            </a:avLst>
          </a:prstGeom>
          <a:solidFill>
            <a:srgbClr val="F4A261"/>
          </a:solidFill>
          <a:ln/>
        </p:spPr>
      </p:sp>
      <p:sp>
        <p:nvSpPr>
          <p:cNvPr id="37" name="Text 35"/>
          <p:cNvSpPr txBox="1"/>
          <p:nvPr/>
        </p:nvSpPr>
        <p:spPr>
          <a:xfrm>
            <a:off x="4526280" y="5715000"/>
            <a:ext cx="2011680" cy="338328"/>
          </a:xfrm>
          <a:prstGeom prst="rect">
            <a:avLst/>
          </a:prstGeom>
          <a:noFill/>
          <a:ln/>
        </p:spPr>
        <p:txBody>
          <a:bodyPr wrap="square" lIns="0" tIns="0" rIns="0" bIns="0" rtlCol="0" anchor="ctr"/>
          <a:lstStyle/>
          <a:p>
            <a:pPr algn="ctr" indent="0" marL="0">
              <a:buNone/>
            </a:pPr>
            <a:r>
              <a:rPr lang="en-US" sz="1200" b="1" dirty="0">
                <a:solidFill>
                  <a:srgbClr val="0F2A3D"/>
                </a:solidFill>
                <a:latin typeface="Calibri" pitchFamily="34" charset="0"/>
                <a:ea typeface="Calibri" pitchFamily="34" charset="-122"/>
                <a:cs typeface="Calibri" pitchFamily="34" charset="-120"/>
              </a:rPr>
              <a:t>Addressed by RO4</a:t>
            </a:r>
            <a:endParaRPr lang="en-US" sz="1200" dirty="0"/>
          </a:p>
        </p:txBody>
      </p:sp>
      <p:sp>
        <p:nvSpPr>
          <p:cNvPr id="38" name="Gap card G6"/>
          <p:cNvSpPr/>
          <p:nvPr/>
        </p:nvSpPr>
        <p:spPr>
          <a:xfrm>
            <a:off x="8046720" y="3840480"/>
            <a:ext cx="3566160" cy="2377440"/>
          </a:xfrm>
          <a:prstGeom prst="roundRect">
            <a:avLst>
              <a:gd name="adj" fmla="val 3077"/>
            </a:avLst>
          </a:prstGeom>
          <a:solidFill>
            <a:srgbClr val="FFFFFF"/>
          </a:solidFill>
          <a:ln w="12700">
            <a:solidFill>
              <a:srgbClr val="D3DEE4"/>
            </a:solidFill>
            <a:prstDash val="solid"/>
          </a:ln>
        </p:spPr>
      </p:sp>
      <p:sp>
        <p:nvSpPr>
          <p:cNvPr id="39" name="Gap badge G6"/>
          <p:cNvSpPr/>
          <p:nvPr/>
        </p:nvSpPr>
        <p:spPr>
          <a:xfrm>
            <a:off x="8229600" y="4023360"/>
            <a:ext cx="566928" cy="566928"/>
          </a:xfrm>
          <a:prstGeom prst="ellipse">
            <a:avLst/>
          </a:prstGeom>
          <a:solidFill>
            <a:srgbClr val="1B7F8C"/>
          </a:solidFill>
          <a:ln/>
        </p:spPr>
      </p:sp>
      <p:sp>
        <p:nvSpPr>
          <p:cNvPr id="40" name="Gap badge G6 label"/>
          <p:cNvSpPr txBox="1"/>
          <p:nvPr/>
        </p:nvSpPr>
        <p:spPr>
          <a:xfrm>
            <a:off x="8229600" y="4023360"/>
            <a:ext cx="566928" cy="56692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G6</a:t>
            </a:r>
            <a:endParaRPr lang="en-US" sz="1500" dirty="0"/>
          </a:p>
        </p:txBody>
      </p:sp>
      <p:sp>
        <p:nvSpPr>
          <p:cNvPr id="41" name="Text 39"/>
          <p:cNvSpPr txBox="1"/>
          <p:nvPr/>
        </p:nvSpPr>
        <p:spPr>
          <a:xfrm>
            <a:off x="8915400" y="4023360"/>
            <a:ext cx="2560320" cy="594360"/>
          </a:xfrm>
          <a:prstGeom prst="rect">
            <a:avLst/>
          </a:prstGeom>
          <a:noFill/>
          <a:ln/>
        </p:spPr>
        <p:txBody>
          <a:bodyPr wrap="square" lIns="0" tIns="0" rIns="0" bIns="0" rtlCol="0" anchor="ctr"/>
          <a:lstStyle/>
          <a:p>
            <a:pPr indent="0" marL="0">
              <a:buNone/>
            </a:pPr>
            <a:r>
              <a:rPr lang="en-US" sz="1600" b="1" dirty="0">
                <a:solidFill>
                  <a:srgbClr val="0F2A3D"/>
                </a:solidFill>
                <a:latin typeface="Calibri" pitchFamily="34" charset="0"/>
                <a:ea typeface="Calibri" pitchFamily="34" charset="-122"/>
                <a:cs typeface="Calibri" pitchFamily="34" charset="-120"/>
              </a:rPr>
              <a:t>Scale untested</a:t>
            </a:r>
            <a:endParaRPr lang="en-US" sz="1600" dirty="0"/>
          </a:p>
        </p:txBody>
      </p:sp>
      <p:sp>
        <p:nvSpPr>
          <p:cNvPr id="42" name="Text 40"/>
          <p:cNvSpPr txBox="1"/>
          <p:nvPr/>
        </p:nvSpPr>
        <p:spPr>
          <a:xfrm>
            <a:off x="8275320" y="4800600"/>
            <a:ext cx="3108960" cy="914400"/>
          </a:xfrm>
          <a:prstGeom prst="rect">
            <a:avLst/>
          </a:prstGeom>
          <a:noFill/>
          <a:ln/>
        </p:spPr>
        <p:txBody>
          <a:bodyPr wrap="square" lIns="0" tIns="0" rIns="0" bIns="0" rtlCol="0" anchor="t"/>
          <a:lstStyle/>
          <a:p>
            <a:pPr indent="0" marL="0">
              <a:buNone/>
            </a:pPr>
            <a:r>
              <a:rPr lang="en-US" sz="1400" dirty="0">
                <a:solidFill>
                  <a:srgbClr val="1A2530"/>
                </a:solidFill>
                <a:latin typeface="Calibri" pitchFamily="34" charset="0"/>
                <a:ea typeface="Calibri" pitchFamily="34" charset="-122"/>
                <a:cs typeface="Calibri" pitchFamily="34" charset="-120"/>
              </a:rPr>
              <a:t>Advantage over Swin narrowed 76% from 32x32 to 64x64; ImageNet-like scale unknown.</a:t>
            </a:r>
            <a:endParaRPr lang="en-US" sz="1400" dirty="0"/>
          </a:p>
        </p:txBody>
      </p:sp>
      <p:sp>
        <p:nvSpPr>
          <p:cNvPr id="43" name="Objective tag G6"/>
          <p:cNvSpPr/>
          <p:nvPr/>
        </p:nvSpPr>
        <p:spPr>
          <a:xfrm>
            <a:off x="8275320" y="5715000"/>
            <a:ext cx="2011680" cy="338328"/>
          </a:xfrm>
          <a:prstGeom prst="roundRect">
            <a:avLst>
              <a:gd name="adj" fmla="val 27027"/>
            </a:avLst>
          </a:prstGeom>
          <a:solidFill>
            <a:srgbClr val="F4A261"/>
          </a:solidFill>
          <a:ln/>
        </p:spPr>
      </p:sp>
      <p:sp>
        <p:nvSpPr>
          <p:cNvPr id="44" name="Text 42"/>
          <p:cNvSpPr txBox="1"/>
          <p:nvPr/>
        </p:nvSpPr>
        <p:spPr>
          <a:xfrm>
            <a:off x="8275320" y="5715000"/>
            <a:ext cx="2011680" cy="338328"/>
          </a:xfrm>
          <a:prstGeom prst="rect">
            <a:avLst/>
          </a:prstGeom>
          <a:noFill/>
          <a:ln/>
        </p:spPr>
        <p:txBody>
          <a:bodyPr wrap="square" lIns="0" tIns="0" rIns="0" bIns="0" rtlCol="0" anchor="ctr"/>
          <a:lstStyle/>
          <a:p>
            <a:pPr algn="ctr" indent="0" marL="0">
              <a:buNone/>
            </a:pPr>
            <a:r>
              <a:rPr lang="en-US" sz="1200" b="1" dirty="0">
                <a:solidFill>
                  <a:srgbClr val="0F2A3D"/>
                </a:solidFill>
                <a:latin typeface="Calibri" pitchFamily="34" charset="0"/>
                <a:ea typeface="Calibri" pitchFamily="34" charset="-122"/>
                <a:cs typeface="Calibri" pitchFamily="34" charset="-120"/>
              </a:rPr>
              <a:t>Addressed by RO3</a:t>
            </a:r>
            <a:endParaRPr lang="en-US" sz="12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Problem statement and research questions</a:t>
            </a:r>
            <a:endParaRPr lang="en-US" sz="3200" dirty="0"/>
          </a:p>
        </p:txBody>
      </p:sp>
      <p:sp>
        <p:nvSpPr>
          <p:cNvPr id="3" name="Problem panel"/>
          <p:cNvSpPr/>
          <p:nvPr/>
        </p:nvSpPr>
        <p:spPr>
          <a:xfrm>
            <a:off x="548640" y="1280160"/>
            <a:ext cx="4297680" cy="4892040"/>
          </a:xfrm>
          <a:prstGeom prst="roundRect">
            <a:avLst>
              <a:gd name="adj" fmla="val 1702"/>
            </a:avLst>
          </a:prstGeom>
          <a:solidFill>
            <a:srgbClr val="0F2A3D"/>
          </a:solidFill>
          <a:ln/>
        </p:spPr>
      </p:sp>
      <p:sp>
        <p:nvSpPr>
          <p:cNvPr id="4" name="Text 2"/>
          <p:cNvSpPr txBox="1"/>
          <p:nvPr/>
        </p:nvSpPr>
        <p:spPr>
          <a:xfrm>
            <a:off x="822960" y="1508760"/>
            <a:ext cx="3749040" cy="320040"/>
          </a:xfrm>
          <a:prstGeom prst="rect">
            <a:avLst/>
          </a:prstGeom>
          <a:noFill/>
          <a:ln/>
        </p:spPr>
        <p:txBody>
          <a:bodyPr wrap="square" lIns="0" tIns="0" rIns="0" bIns="0" rtlCol="0" anchor="t"/>
          <a:lstStyle/>
          <a:p>
            <a:pPr indent="0" marL="0">
              <a:buNone/>
            </a:pPr>
            <a:r>
              <a:rPr lang="en-US" sz="1300" b="1" spc="300" kern="0" dirty="0">
                <a:solidFill>
                  <a:srgbClr val="F4A261"/>
                </a:solidFill>
                <a:latin typeface="Calibri" pitchFamily="34" charset="0"/>
                <a:ea typeface="Calibri" pitchFamily="34" charset="-122"/>
                <a:cs typeface="Calibri" pitchFamily="34" charset="-120"/>
              </a:rPr>
              <a:t>PROBLEM</a:t>
            </a:r>
            <a:endParaRPr lang="en-US" sz="1300" dirty="0"/>
          </a:p>
        </p:txBody>
      </p:sp>
      <p:sp>
        <p:nvSpPr>
          <p:cNvPr id="5" name="Text 3"/>
          <p:cNvSpPr txBox="1"/>
          <p:nvPr/>
        </p:nvSpPr>
        <p:spPr>
          <a:xfrm>
            <a:off x="822960" y="1920240"/>
            <a:ext cx="3749040" cy="2743200"/>
          </a:xfrm>
          <a:prstGeom prst="rect">
            <a:avLst/>
          </a:prstGeom>
          <a:noFill/>
          <a:ln/>
        </p:spPr>
        <p:txBody>
          <a:bodyPr wrap="square" lIns="0" tIns="0" rIns="0" bIns="0" rtlCol="0" anchor="t"/>
          <a:lstStyle/>
          <a:p>
            <a:pPr indent="0" marL="0">
              <a:lnSpc>
                <a:spcPct val="110000"/>
              </a:lnSpc>
              <a:buNone/>
            </a:pPr>
            <a:r>
              <a:rPr lang="en-US" sz="1800" dirty="0">
                <a:solidFill>
                  <a:srgbClr val="FFFFFF"/>
                </a:solidFill>
                <a:latin typeface="Calibri" pitchFamily="34" charset="0"/>
                <a:ea typeface="Calibri" pitchFamily="34" charset="-122"/>
                <a:cs typeface="Calibri" pitchFamily="34" charset="-120"/>
              </a:rPr>
              <a:t>It is unknown whether the benefit sometimes seen for learned sparse token grouping comes from grouping itself, or from extra capacity, tuning and recipe effects, and whether its emergent regions are quantitatively meaningful.</a:t>
            </a:r>
            <a:endParaRPr lang="en-US" sz="1800" dirty="0"/>
          </a:p>
        </p:txBody>
      </p:sp>
      <p:sp>
        <p:nvSpPr>
          <p:cNvPr id="6" name="Text 4"/>
          <p:cNvSpPr txBox="1"/>
          <p:nvPr/>
        </p:nvSpPr>
        <p:spPr>
          <a:xfrm>
            <a:off x="822960" y="4800600"/>
            <a:ext cx="3749040" cy="1188720"/>
          </a:xfrm>
          <a:prstGeom prst="rect">
            <a:avLst/>
          </a:prstGeom>
          <a:noFill/>
          <a:ln/>
        </p:spPr>
        <p:txBody>
          <a:bodyPr wrap="square" lIns="0" tIns="0" rIns="0" bIns="0" rtlCol="0" anchor="t"/>
          <a:lstStyle/>
          <a:p>
            <a:pPr indent="0" marL="0">
              <a:buNone/>
            </a:pPr>
            <a:r>
              <a:rPr lang="en-US" sz="1400" i="1" dirty="0">
                <a:solidFill>
                  <a:srgbClr val="CADCE4"/>
                </a:solidFill>
                <a:latin typeface="Calibri" pitchFamily="34" charset="0"/>
                <a:ea typeface="Calibri" pitchFamily="34" charset="-122"/>
                <a:cs typeface="Calibri" pitchFamily="34" charset="-120"/>
              </a:rPr>
              <a:t>Falsifier for H1 (grouping beats controls): the interval of the difference lies within +/-0.5 points or below zero.</a:t>
            </a:r>
            <a:endParaRPr lang="en-US" sz="1400" dirty="0"/>
          </a:p>
        </p:txBody>
      </p:sp>
      <p:sp>
        <p:nvSpPr>
          <p:cNvPr id="7" name="RQ card RQ1"/>
          <p:cNvSpPr/>
          <p:nvPr/>
        </p:nvSpPr>
        <p:spPr>
          <a:xfrm>
            <a:off x="5074920" y="1280160"/>
            <a:ext cx="6583680" cy="1097280"/>
          </a:xfrm>
          <a:prstGeom prst="roundRect">
            <a:avLst>
              <a:gd name="adj" fmla="val 6667"/>
            </a:avLst>
          </a:prstGeom>
          <a:solidFill>
            <a:srgbClr val="FFFFFF"/>
          </a:solidFill>
          <a:ln w="12700">
            <a:solidFill>
              <a:srgbClr val="D3DEE4"/>
            </a:solidFill>
            <a:prstDash val="solid"/>
          </a:ln>
        </p:spPr>
      </p:sp>
      <p:sp>
        <p:nvSpPr>
          <p:cNvPr id="8" name="RQ badge RQ1"/>
          <p:cNvSpPr/>
          <p:nvPr/>
        </p:nvSpPr>
        <p:spPr>
          <a:xfrm>
            <a:off x="5257800" y="1554480"/>
            <a:ext cx="548640" cy="548640"/>
          </a:xfrm>
          <a:prstGeom prst="ellipse">
            <a:avLst/>
          </a:prstGeom>
          <a:solidFill>
            <a:srgbClr val="1B7F8C"/>
          </a:solidFill>
          <a:ln/>
        </p:spPr>
      </p:sp>
      <p:sp>
        <p:nvSpPr>
          <p:cNvPr id="9" name="RQ badge RQ1 label"/>
          <p:cNvSpPr txBox="1"/>
          <p:nvPr/>
        </p:nvSpPr>
        <p:spPr>
          <a:xfrm>
            <a:off x="5257800" y="1554480"/>
            <a:ext cx="548640" cy="54864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RQ1</a:t>
            </a:r>
            <a:endParaRPr lang="en-US" sz="1300" dirty="0"/>
          </a:p>
        </p:txBody>
      </p:sp>
      <p:sp>
        <p:nvSpPr>
          <p:cNvPr id="10" name="Text 8"/>
          <p:cNvSpPr txBox="1"/>
          <p:nvPr/>
        </p:nvSpPr>
        <p:spPr>
          <a:xfrm>
            <a:off x="5989320" y="1371600"/>
            <a:ext cx="5486400" cy="914400"/>
          </a:xfrm>
          <a:prstGeom prst="rect">
            <a:avLst/>
          </a:prstGeom>
          <a:noFill/>
          <a:ln/>
        </p:spPr>
        <p:txBody>
          <a:bodyPr wrap="square" lIns="0" tIns="0" rIns="0" bIns="0" rtlCol="0" anchor="ctr"/>
          <a:lstStyle/>
          <a:p>
            <a:pPr indent="0" marL="0">
              <a:buNone/>
            </a:pPr>
            <a:r>
              <a:rPr lang="en-US" sz="1400" dirty="0">
                <a:solidFill>
                  <a:srgbClr val="1A2530"/>
                </a:solidFill>
                <a:latin typeface="Calibri" pitchFamily="34" charset="0"/>
                <a:ea typeface="Calibri" pitchFamily="34" charset="-122"/>
                <a:cs typeface="Calibri" pitchFamily="34" charset="-120"/>
              </a:rPr>
              <a:t>Does learned top-k routing beat capacity controls (input-independent slots, frozen random routers, fixed block routing) at matched parameters and MACs, with every arm tuned?</a:t>
            </a:r>
            <a:endParaRPr lang="en-US" sz="1400" dirty="0"/>
          </a:p>
        </p:txBody>
      </p:sp>
      <p:sp>
        <p:nvSpPr>
          <p:cNvPr id="11" name="RQ card RQ2"/>
          <p:cNvSpPr/>
          <p:nvPr/>
        </p:nvSpPr>
        <p:spPr>
          <a:xfrm>
            <a:off x="5074920" y="2523744"/>
            <a:ext cx="6583680" cy="1097280"/>
          </a:xfrm>
          <a:prstGeom prst="roundRect">
            <a:avLst>
              <a:gd name="adj" fmla="val 6667"/>
            </a:avLst>
          </a:prstGeom>
          <a:solidFill>
            <a:srgbClr val="FFFFFF"/>
          </a:solidFill>
          <a:ln w="12700">
            <a:solidFill>
              <a:srgbClr val="D3DEE4"/>
            </a:solidFill>
            <a:prstDash val="solid"/>
          </a:ln>
        </p:spPr>
      </p:sp>
      <p:sp>
        <p:nvSpPr>
          <p:cNvPr id="12" name="RQ badge RQ2"/>
          <p:cNvSpPr/>
          <p:nvPr/>
        </p:nvSpPr>
        <p:spPr>
          <a:xfrm>
            <a:off x="5257800" y="2798064"/>
            <a:ext cx="548640" cy="548640"/>
          </a:xfrm>
          <a:prstGeom prst="ellipse">
            <a:avLst/>
          </a:prstGeom>
          <a:solidFill>
            <a:srgbClr val="1B7F8C"/>
          </a:solidFill>
          <a:ln/>
        </p:spPr>
      </p:sp>
      <p:sp>
        <p:nvSpPr>
          <p:cNvPr id="13" name="RQ badge RQ2 label"/>
          <p:cNvSpPr txBox="1"/>
          <p:nvPr/>
        </p:nvSpPr>
        <p:spPr>
          <a:xfrm>
            <a:off x="5257800" y="2798064"/>
            <a:ext cx="548640" cy="54864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RQ2</a:t>
            </a:r>
            <a:endParaRPr lang="en-US" sz="1300" dirty="0"/>
          </a:p>
        </p:txBody>
      </p:sp>
      <p:sp>
        <p:nvSpPr>
          <p:cNvPr id="14" name="Text 12"/>
          <p:cNvSpPr txBox="1"/>
          <p:nvPr/>
        </p:nvSpPr>
        <p:spPr>
          <a:xfrm>
            <a:off x="5989320" y="2615184"/>
            <a:ext cx="5486400" cy="914400"/>
          </a:xfrm>
          <a:prstGeom prst="rect">
            <a:avLst/>
          </a:prstGeom>
          <a:noFill/>
          <a:ln/>
        </p:spPr>
        <p:txBody>
          <a:bodyPr wrap="square" lIns="0" tIns="0" rIns="0" bIns="0" rtlCol="0" anchor="ctr"/>
          <a:lstStyle/>
          <a:p>
            <a:pPr indent="0" marL="0">
              <a:buNone/>
            </a:pPr>
            <a:r>
              <a:rPr lang="en-US" sz="1400" dirty="0">
                <a:solidFill>
                  <a:srgbClr val="1A2530"/>
                </a:solidFill>
                <a:latin typeface="Calibri" pitchFamily="34" charset="0"/>
                <a:ea typeface="Calibri" pitchFamily="34" charset="-122"/>
                <a:cs typeface="Calibri" pitchFamily="34" charset="-120"/>
              </a:rPr>
              <a:t>Does any advantage persist beyond 64x64, on ImageNet-100?</a:t>
            </a:r>
            <a:endParaRPr lang="en-US" sz="1400" dirty="0"/>
          </a:p>
        </p:txBody>
      </p:sp>
      <p:sp>
        <p:nvSpPr>
          <p:cNvPr id="15" name="RQ card RQ3"/>
          <p:cNvSpPr/>
          <p:nvPr/>
        </p:nvSpPr>
        <p:spPr>
          <a:xfrm>
            <a:off x="5074920" y="3767328"/>
            <a:ext cx="6583680" cy="1097280"/>
          </a:xfrm>
          <a:prstGeom prst="roundRect">
            <a:avLst>
              <a:gd name="adj" fmla="val 6667"/>
            </a:avLst>
          </a:prstGeom>
          <a:solidFill>
            <a:srgbClr val="FFFFFF"/>
          </a:solidFill>
          <a:ln w="12700">
            <a:solidFill>
              <a:srgbClr val="D3DEE4"/>
            </a:solidFill>
            <a:prstDash val="solid"/>
          </a:ln>
        </p:spPr>
      </p:sp>
      <p:sp>
        <p:nvSpPr>
          <p:cNvPr id="16" name="RQ badge RQ3"/>
          <p:cNvSpPr/>
          <p:nvPr/>
        </p:nvSpPr>
        <p:spPr>
          <a:xfrm>
            <a:off x="5257800" y="4041648"/>
            <a:ext cx="548640" cy="548640"/>
          </a:xfrm>
          <a:prstGeom prst="ellipse">
            <a:avLst/>
          </a:prstGeom>
          <a:solidFill>
            <a:srgbClr val="1B7F8C"/>
          </a:solidFill>
          <a:ln/>
        </p:spPr>
      </p:sp>
      <p:sp>
        <p:nvSpPr>
          <p:cNvPr id="17" name="RQ badge RQ3 label"/>
          <p:cNvSpPr txBox="1"/>
          <p:nvPr/>
        </p:nvSpPr>
        <p:spPr>
          <a:xfrm>
            <a:off x="5257800" y="4041648"/>
            <a:ext cx="548640" cy="54864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RQ3</a:t>
            </a:r>
            <a:endParaRPr lang="en-US" sz="1300" dirty="0"/>
          </a:p>
        </p:txBody>
      </p:sp>
      <p:sp>
        <p:nvSpPr>
          <p:cNvPr id="18" name="Text 16"/>
          <p:cNvSpPr txBox="1"/>
          <p:nvPr/>
        </p:nvSpPr>
        <p:spPr>
          <a:xfrm>
            <a:off x="5989320" y="3858768"/>
            <a:ext cx="5486400" cy="914400"/>
          </a:xfrm>
          <a:prstGeom prst="rect">
            <a:avLst/>
          </a:prstGeom>
          <a:noFill/>
          <a:ln/>
        </p:spPr>
        <p:txBody>
          <a:bodyPr wrap="square" lIns="0" tIns="0" rIns="0" bIns="0" rtlCol="0" anchor="ctr"/>
          <a:lstStyle/>
          <a:p>
            <a:pPr indent="0" marL="0">
              <a:buNone/>
            </a:pPr>
            <a:r>
              <a:rPr lang="en-US" sz="1400" dirty="0">
                <a:solidFill>
                  <a:srgbClr val="1A2530"/>
                </a:solidFill>
                <a:latin typeface="Calibri" pitchFamily="34" charset="0"/>
                <a:ea typeface="Calibri" pitchFamily="34" charset="-122"/>
                <a:cs typeface="Calibri" pitchFamily="34" charset="-120"/>
              </a:rPr>
              <a:t>Are macro-regions quantitatively aligned with object masks beyond what a patch grid or superpixels give?</a:t>
            </a:r>
            <a:endParaRPr lang="en-US" sz="1400" dirty="0"/>
          </a:p>
        </p:txBody>
      </p:sp>
      <p:sp>
        <p:nvSpPr>
          <p:cNvPr id="19" name="RQ card RQ4"/>
          <p:cNvSpPr/>
          <p:nvPr/>
        </p:nvSpPr>
        <p:spPr>
          <a:xfrm>
            <a:off x="5074920" y="5010912"/>
            <a:ext cx="6583680" cy="1097280"/>
          </a:xfrm>
          <a:prstGeom prst="roundRect">
            <a:avLst>
              <a:gd name="adj" fmla="val 6667"/>
            </a:avLst>
          </a:prstGeom>
          <a:solidFill>
            <a:srgbClr val="FFFFFF"/>
          </a:solidFill>
          <a:ln w="12700">
            <a:solidFill>
              <a:srgbClr val="D3DEE4"/>
            </a:solidFill>
            <a:prstDash val="solid"/>
          </a:ln>
        </p:spPr>
      </p:sp>
      <p:sp>
        <p:nvSpPr>
          <p:cNvPr id="20" name="RQ badge RQ4"/>
          <p:cNvSpPr/>
          <p:nvPr/>
        </p:nvSpPr>
        <p:spPr>
          <a:xfrm>
            <a:off x="5257800" y="5285232"/>
            <a:ext cx="548640" cy="548640"/>
          </a:xfrm>
          <a:prstGeom prst="ellipse">
            <a:avLst/>
          </a:prstGeom>
          <a:solidFill>
            <a:srgbClr val="1B7F8C"/>
          </a:solidFill>
          <a:ln/>
        </p:spPr>
      </p:sp>
      <p:sp>
        <p:nvSpPr>
          <p:cNvPr id="21" name="RQ badge RQ4 label"/>
          <p:cNvSpPr txBox="1"/>
          <p:nvPr/>
        </p:nvSpPr>
        <p:spPr>
          <a:xfrm>
            <a:off x="5257800" y="5285232"/>
            <a:ext cx="548640" cy="54864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RQ4</a:t>
            </a:r>
            <a:endParaRPr lang="en-US" sz="1300" dirty="0"/>
          </a:p>
        </p:txBody>
      </p:sp>
      <p:sp>
        <p:nvSpPr>
          <p:cNvPr id="22" name="Text 20"/>
          <p:cNvSpPr txBox="1"/>
          <p:nvPr/>
        </p:nvSpPr>
        <p:spPr>
          <a:xfrm>
            <a:off x="5989320" y="5102352"/>
            <a:ext cx="5486400" cy="914400"/>
          </a:xfrm>
          <a:prstGeom prst="rect">
            <a:avLst/>
          </a:prstGeom>
          <a:noFill/>
          <a:ln/>
        </p:spPr>
        <p:txBody>
          <a:bodyPr wrap="square" lIns="0" tIns="0" rIns="0" bIns="0" rtlCol="0" anchor="ctr"/>
          <a:lstStyle/>
          <a:p>
            <a:pPr indent="0" marL="0">
              <a:buNone/>
            </a:pPr>
            <a:r>
              <a:rPr lang="en-US" sz="1400" dirty="0">
                <a:solidFill>
                  <a:srgbClr val="1A2530"/>
                </a:solidFill>
                <a:latin typeface="Calibri" pitchFamily="34" charset="0"/>
                <a:ea typeface="Calibri" pitchFamily="34" charset="-122"/>
                <a:cs typeface="Calibri" pitchFamily="34" charset="-120"/>
              </a:rPr>
              <a:t>How many seeds and tuning budget are needed before such conclusions are stable?</a:t>
            </a:r>
            <a:endParaRPr lang="en-US" sz="14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Research objectives (epics)</a:t>
            </a:r>
            <a:endParaRPr lang="en-US" sz="3200" dirty="0"/>
          </a:p>
        </p:txBody>
      </p:sp>
      <p:sp>
        <p:nvSpPr>
          <p:cNvPr id="3" name="Objective row RO1"/>
          <p:cNvSpPr/>
          <p:nvPr/>
        </p:nvSpPr>
        <p:spPr>
          <a:xfrm>
            <a:off x="548640" y="1234440"/>
            <a:ext cx="11109960" cy="877824"/>
          </a:xfrm>
          <a:prstGeom prst="roundRect">
            <a:avLst>
              <a:gd name="adj" fmla="val 8333"/>
            </a:avLst>
          </a:prstGeom>
          <a:solidFill>
            <a:srgbClr val="EAF1F4"/>
          </a:solidFill>
          <a:ln/>
        </p:spPr>
      </p:sp>
      <p:sp>
        <p:nvSpPr>
          <p:cNvPr id="4" name="Objective badge RO1"/>
          <p:cNvSpPr/>
          <p:nvPr/>
        </p:nvSpPr>
        <p:spPr>
          <a:xfrm>
            <a:off x="731520" y="1399032"/>
            <a:ext cx="548640" cy="548640"/>
          </a:xfrm>
          <a:prstGeom prst="ellipse">
            <a:avLst/>
          </a:prstGeom>
          <a:solidFill>
            <a:srgbClr val="F4A261"/>
          </a:solidFill>
          <a:ln/>
        </p:spPr>
      </p:sp>
      <p:sp>
        <p:nvSpPr>
          <p:cNvPr id="5" name="Objective badge RO1 label"/>
          <p:cNvSpPr txBox="1"/>
          <p:nvPr/>
        </p:nvSpPr>
        <p:spPr>
          <a:xfrm>
            <a:off x="731520" y="1399032"/>
            <a:ext cx="548640" cy="548640"/>
          </a:xfrm>
          <a:prstGeom prst="rect">
            <a:avLst/>
          </a:prstGeom>
          <a:noFill/>
          <a:ln/>
        </p:spPr>
        <p:txBody>
          <a:bodyPr wrap="square" lIns="0" tIns="0" rIns="0" bIns="0" rtlCol="0" anchor="ctr"/>
          <a:lstStyle/>
          <a:p>
            <a:pPr algn="ctr" indent="0" marL="0">
              <a:buNone/>
            </a:pPr>
            <a:r>
              <a:rPr lang="en-US" sz="1300" b="1" dirty="0">
                <a:solidFill>
                  <a:srgbClr val="0F2A3D"/>
                </a:solidFill>
                <a:latin typeface="Calibri" pitchFamily="34" charset="0"/>
                <a:ea typeface="Calibri" pitchFamily="34" charset="-122"/>
                <a:cs typeface="Calibri" pitchFamily="34" charset="-120"/>
              </a:rPr>
              <a:t>RO1</a:t>
            </a:r>
            <a:endParaRPr lang="en-US" sz="1300" dirty="0"/>
          </a:p>
        </p:txBody>
      </p:sp>
      <p:sp>
        <p:nvSpPr>
          <p:cNvPr id="6" name="Text 4"/>
          <p:cNvSpPr txBox="1"/>
          <p:nvPr/>
        </p:nvSpPr>
        <p:spPr>
          <a:xfrm>
            <a:off x="1508760" y="1307592"/>
            <a:ext cx="3291840" cy="731520"/>
          </a:xfrm>
          <a:prstGeom prst="rect">
            <a:avLst/>
          </a:prstGeom>
          <a:noFill/>
          <a:ln/>
        </p:spPr>
        <p:txBody>
          <a:bodyPr wrap="square" lIns="0" tIns="0" rIns="0" bIns="0" rtlCol="0" anchor="ctr"/>
          <a:lstStyle/>
          <a:p>
            <a:pPr indent="0" marL="0">
              <a:buNone/>
            </a:pPr>
            <a:r>
              <a:rPr lang="en-US" sz="1600" b="1" dirty="0">
                <a:solidFill>
                  <a:srgbClr val="0F2A3D"/>
                </a:solidFill>
                <a:latin typeface="Calibri" pitchFamily="34" charset="0"/>
                <a:ea typeface="Calibri" pitchFamily="34" charset="-122"/>
                <a:cs typeface="Calibri" pitchFamily="34" charset="-120"/>
              </a:rPr>
              <a:t>Corrected, reproducible baseline</a:t>
            </a:r>
            <a:endParaRPr lang="en-US" sz="1600" dirty="0"/>
          </a:p>
        </p:txBody>
      </p:sp>
      <p:sp>
        <p:nvSpPr>
          <p:cNvPr id="7" name="Text 5"/>
          <p:cNvSpPr txBox="1"/>
          <p:nvPr/>
        </p:nvSpPr>
        <p:spPr>
          <a:xfrm>
            <a:off x="4846320" y="1307592"/>
            <a:ext cx="4023360" cy="731520"/>
          </a:xfrm>
          <a:prstGeom prst="rect">
            <a:avLst/>
          </a:prstGeom>
          <a:noFill/>
          <a:ln/>
        </p:spPr>
        <p:txBody>
          <a:bodyPr wrap="square" lIns="0" tIns="0" rIns="0" bIns="0" rtlCol="0" anchor="ctr"/>
          <a:lstStyle/>
          <a:p>
            <a:pPr indent="0" marL="0">
              <a:buNone/>
            </a:pPr>
            <a:r>
              <a:rPr lang="en-US" sz="1400" dirty="0">
                <a:solidFill>
                  <a:srgbClr val="1A2530"/>
                </a:solidFill>
                <a:latin typeface="Calibri" pitchFamily="34" charset="0"/>
                <a:ea typeface="Calibri" pitchFamily="34" charset="-122"/>
                <a:cs typeface="Calibri" pitchFamily="34" charset="-120"/>
              </a:rPr>
              <a:t>Erratum, model card, licence and a sanitised public repository.</a:t>
            </a:r>
            <a:endParaRPr lang="en-US" sz="1400" dirty="0"/>
          </a:p>
        </p:txBody>
      </p:sp>
      <p:sp>
        <p:nvSpPr>
          <p:cNvPr id="8" name="Text 6"/>
          <p:cNvSpPr txBox="1"/>
          <p:nvPr/>
        </p:nvSpPr>
        <p:spPr>
          <a:xfrm>
            <a:off x="9052560" y="1307592"/>
            <a:ext cx="2468880" cy="731520"/>
          </a:xfrm>
          <a:prstGeom prst="rect">
            <a:avLst/>
          </a:prstGeom>
          <a:noFill/>
          <a:ln/>
        </p:spPr>
        <p:txBody>
          <a:bodyPr wrap="square" lIns="0" tIns="0" rIns="0" bIns="0" rtlCol="0" anchor="ctr"/>
          <a:lstStyle/>
          <a:p>
            <a:pPr indent="0" marL="0">
              <a:buNone/>
            </a:pPr>
            <a:r>
              <a:rPr lang="en-US" sz="1300" i="1" dirty="0">
                <a:solidFill>
                  <a:srgbClr val="5B6B77"/>
                </a:solidFill>
                <a:latin typeface="Calibri" pitchFamily="34" charset="0"/>
                <a:ea typeface="Calibri" pitchFamily="34" charset="-122"/>
                <a:cs typeface="Calibri" pitchFamily="34" charset="-120"/>
              </a:rPr>
              <a:t>Reproduces main tables within seed variance</a:t>
            </a:r>
            <a:endParaRPr lang="en-US" sz="1300" dirty="0"/>
          </a:p>
        </p:txBody>
      </p:sp>
      <p:sp>
        <p:nvSpPr>
          <p:cNvPr id="9" name="Objective row RO2"/>
          <p:cNvSpPr/>
          <p:nvPr/>
        </p:nvSpPr>
        <p:spPr>
          <a:xfrm>
            <a:off x="548640" y="2221992"/>
            <a:ext cx="11109960" cy="877824"/>
          </a:xfrm>
          <a:prstGeom prst="roundRect">
            <a:avLst>
              <a:gd name="adj" fmla="val 8333"/>
            </a:avLst>
          </a:prstGeom>
          <a:solidFill>
            <a:srgbClr val="FFFFFF"/>
          </a:solidFill>
          <a:ln w="12700">
            <a:solidFill>
              <a:srgbClr val="D3DEE4"/>
            </a:solidFill>
            <a:prstDash val="solid"/>
          </a:ln>
        </p:spPr>
      </p:sp>
      <p:sp>
        <p:nvSpPr>
          <p:cNvPr id="10" name="Objective badge RO2"/>
          <p:cNvSpPr/>
          <p:nvPr/>
        </p:nvSpPr>
        <p:spPr>
          <a:xfrm>
            <a:off x="731520" y="2386584"/>
            <a:ext cx="548640" cy="548640"/>
          </a:xfrm>
          <a:prstGeom prst="ellipse">
            <a:avLst/>
          </a:prstGeom>
          <a:solidFill>
            <a:srgbClr val="1B7F8C"/>
          </a:solidFill>
          <a:ln/>
        </p:spPr>
      </p:sp>
      <p:sp>
        <p:nvSpPr>
          <p:cNvPr id="11" name="Objective badge RO2 label"/>
          <p:cNvSpPr txBox="1"/>
          <p:nvPr/>
        </p:nvSpPr>
        <p:spPr>
          <a:xfrm>
            <a:off x="731520" y="2386584"/>
            <a:ext cx="548640" cy="54864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RO2</a:t>
            </a:r>
            <a:endParaRPr lang="en-US" sz="1300" dirty="0"/>
          </a:p>
        </p:txBody>
      </p:sp>
      <p:sp>
        <p:nvSpPr>
          <p:cNvPr id="12" name="Text 10"/>
          <p:cNvSpPr txBox="1"/>
          <p:nvPr/>
        </p:nvSpPr>
        <p:spPr>
          <a:xfrm>
            <a:off x="1508760" y="2295144"/>
            <a:ext cx="3291840" cy="731520"/>
          </a:xfrm>
          <a:prstGeom prst="rect">
            <a:avLst/>
          </a:prstGeom>
          <a:noFill/>
          <a:ln/>
        </p:spPr>
        <p:txBody>
          <a:bodyPr wrap="square" lIns="0" tIns="0" rIns="0" bIns="0" rtlCol="0" anchor="ctr"/>
          <a:lstStyle/>
          <a:p>
            <a:pPr indent="0" marL="0">
              <a:buNone/>
            </a:pPr>
            <a:r>
              <a:rPr lang="en-US" sz="1600" b="1" dirty="0">
                <a:solidFill>
                  <a:srgbClr val="0F2A3D"/>
                </a:solidFill>
                <a:latin typeface="Calibri" pitchFamily="34" charset="0"/>
                <a:ea typeface="Calibri" pitchFamily="34" charset="-122"/>
                <a:cs typeface="Calibri" pitchFamily="34" charset="-120"/>
              </a:rPr>
              <a:t>Capacity-controlled comparison</a:t>
            </a:r>
            <a:endParaRPr lang="en-US" sz="1600" dirty="0"/>
          </a:p>
        </p:txBody>
      </p:sp>
      <p:sp>
        <p:nvSpPr>
          <p:cNvPr id="13" name="Text 11"/>
          <p:cNvSpPr txBox="1"/>
          <p:nvPr/>
        </p:nvSpPr>
        <p:spPr>
          <a:xfrm>
            <a:off x="4846320" y="2295144"/>
            <a:ext cx="4023360" cy="731520"/>
          </a:xfrm>
          <a:prstGeom prst="rect">
            <a:avLst/>
          </a:prstGeom>
          <a:noFill/>
          <a:ln/>
        </p:spPr>
        <p:txBody>
          <a:bodyPr wrap="square" lIns="0" tIns="0" rIns="0" bIns="0" rtlCol="0" anchor="ctr"/>
          <a:lstStyle/>
          <a:p>
            <a:pPr indent="0" marL="0">
              <a:buNone/>
            </a:pPr>
            <a:r>
              <a:rPr lang="en-US" sz="1400" dirty="0">
                <a:solidFill>
                  <a:srgbClr val="1A2530"/>
                </a:solidFill>
                <a:latin typeface="Calibri" pitchFamily="34" charset="0"/>
                <a:ea typeface="Calibri" pitchFamily="34" charset="-122"/>
                <a:cs typeface="Calibri" pitchFamily="34" charset="-120"/>
              </a:rPr>
              <a:t>Routing A vs registers, random, block routing, matched control and Swin.</a:t>
            </a:r>
            <a:endParaRPr lang="en-US" sz="1400" dirty="0"/>
          </a:p>
        </p:txBody>
      </p:sp>
      <p:sp>
        <p:nvSpPr>
          <p:cNvPr id="14" name="Text 12"/>
          <p:cNvSpPr txBox="1"/>
          <p:nvPr/>
        </p:nvSpPr>
        <p:spPr>
          <a:xfrm>
            <a:off x="9052560" y="2295144"/>
            <a:ext cx="2468880" cy="731520"/>
          </a:xfrm>
          <a:prstGeom prst="rect">
            <a:avLst/>
          </a:prstGeom>
          <a:noFill/>
          <a:ln/>
        </p:spPr>
        <p:txBody>
          <a:bodyPr wrap="square" lIns="0" tIns="0" rIns="0" bIns="0" rtlCol="0" anchor="ctr"/>
          <a:lstStyle/>
          <a:p>
            <a:pPr indent="0" marL="0">
              <a:buNone/>
            </a:pPr>
            <a:r>
              <a:rPr lang="en-US" sz="1300" i="1" dirty="0">
                <a:solidFill>
                  <a:srgbClr val="5B6B77"/>
                </a:solidFill>
                <a:latin typeface="Calibri" pitchFamily="34" charset="0"/>
                <a:ea typeface="Calibri" pitchFamily="34" charset="-122"/>
                <a:cs typeface="Calibri" pitchFamily="34" charset="-120"/>
              </a:rPr>
              <a:t>&gt;= 5 seeds after per-arm LR sweeps</a:t>
            </a:r>
            <a:endParaRPr lang="en-US" sz="1300" dirty="0"/>
          </a:p>
        </p:txBody>
      </p:sp>
      <p:sp>
        <p:nvSpPr>
          <p:cNvPr id="15" name="Objective row RO3"/>
          <p:cNvSpPr/>
          <p:nvPr/>
        </p:nvSpPr>
        <p:spPr>
          <a:xfrm>
            <a:off x="548640" y="3209544"/>
            <a:ext cx="11109960" cy="877824"/>
          </a:xfrm>
          <a:prstGeom prst="roundRect">
            <a:avLst>
              <a:gd name="adj" fmla="val 8333"/>
            </a:avLst>
          </a:prstGeom>
          <a:solidFill>
            <a:srgbClr val="EAF1F4"/>
          </a:solidFill>
          <a:ln/>
        </p:spPr>
      </p:sp>
      <p:sp>
        <p:nvSpPr>
          <p:cNvPr id="16" name="Objective badge RO3"/>
          <p:cNvSpPr/>
          <p:nvPr/>
        </p:nvSpPr>
        <p:spPr>
          <a:xfrm>
            <a:off x="731520" y="3374136"/>
            <a:ext cx="548640" cy="548640"/>
          </a:xfrm>
          <a:prstGeom prst="ellipse">
            <a:avLst/>
          </a:prstGeom>
          <a:solidFill>
            <a:srgbClr val="1B7F8C"/>
          </a:solidFill>
          <a:ln/>
        </p:spPr>
      </p:sp>
      <p:sp>
        <p:nvSpPr>
          <p:cNvPr id="17" name="Objective badge RO3 label"/>
          <p:cNvSpPr txBox="1"/>
          <p:nvPr/>
        </p:nvSpPr>
        <p:spPr>
          <a:xfrm>
            <a:off x="731520" y="3374136"/>
            <a:ext cx="548640" cy="54864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RO3</a:t>
            </a:r>
            <a:endParaRPr lang="en-US" sz="1300" dirty="0"/>
          </a:p>
        </p:txBody>
      </p:sp>
      <p:sp>
        <p:nvSpPr>
          <p:cNvPr id="18" name="Text 16"/>
          <p:cNvSpPr txBox="1"/>
          <p:nvPr/>
        </p:nvSpPr>
        <p:spPr>
          <a:xfrm>
            <a:off x="1508760" y="3282696"/>
            <a:ext cx="3291840" cy="731520"/>
          </a:xfrm>
          <a:prstGeom prst="rect">
            <a:avLst/>
          </a:prstGeom>
          <a:noFill/>
          <a:ln/>
        </p:spPr>
        <p:txBody>
          <a:bodyPr wrap="square" lIns="0" tIns="0" rIns="0" bIns="0" rtlCol="0" anchor="ctr"/>
          <a:lstStyle/>
          <a:p>
            <a:pPr indent="0" marL="0">
              <a:buNone/>
            </a:pPr>
            <a:r>
              <a:rPr lang="en-US" sz="1600" b="1" dirty="0">
                <a:solidFill>
                  <a:srgbClr val="0F2A3D"/>
                </a:solidFill>
                <a:latin typeface="Calibri" pitchFamily="34" charset="0"/>
                <a:ea typeface="Calibri" pitchFamily="34" charset="-122"/>
                <a:cs typeface="Calibri" pitchFamily="34" charset="-120"/>
              </a:rPr>
              <a:t>Scale and resolution</a:t>
            </a:r>
            <a:endParaRPr lang="en-US" sz="1600" dirty="0"/>
          </a:p>
        </p:txBody>
      </p:sp>
      <p:sp>
        <p:nvSpPr>
          <p:cNvPr id="19" name="Text 17"/>
          <p:cNvSpPr txBox="1"/>
          <p:nvPr/>
        </p:nvSpPr>
        <p:spPr>
          <a:xfrm>
            <a:off x="4846320" y="3282696"/>
            <a:ext cx="4023360" cy="731520"/>
          </a:xfrm>
          <a:prstGeom prst="rect">
            <a:avLst/>
          </a:prstGeom>
          <a:noFill/>
          <a:ln/>
        </p:spPr>
        <p:txBody>
          <a:bodyPr wrap="square" lIns="0" tIns="0" rIns="0" bIns="0" rtlCol="0" anchor="ctr"/>
          <a:lstStyle/>
          <a:p>
            <a:pPr indent="0" marL="0">
              <a:buNone/>
            </a:pPr>
            <a:r>
              <a:rPr lang="en-US" sz="1400" dirty="0">
                <a:solidFill>
                  <a:srgbClr val="1A2530"/>
                </a:solidFill>
                <a:latin typeface="Calibri" pitchFamily="34" charset="0"/>
                <a:ea typeface="Calibri" pitchFamily="34" charset="-122"/>
                <a:cs typeface="Calibri" pitchFamily="34" charset="-120"/>
              </a:rPr>
              <a:t>Repeat on ImageNet-100 at 112x112 or higher with the surviving arms.</a:t>
            </a:r>
            <a:endParaRPr lang="en-US" sz="1400" dirty="0"/>
          </a:p>
        </p:txBody>
      </p:sp>
      <p:sp>
        <p:nvSpPr>
          <p:cNvPr id="20" name="Text 18"/>
          <p:cNvSpPr txBox="1"/>
          <p:nvPr/>
        </p:nvSpPr>
        <p:spPr>
          <a:xfrm>
            <a:off x="9052560" y="3282696"/>
            <a:ext cx="2468880" cy="731520"/>
          </a:xfrm>
          <a:prstGeom prst="rect">
            <a:avLst/>
          </a:prstGeom>
          <a:noFill/>
          <a:ln/>
        </p:spPr>
        <p:txBody>
          <a:bodyPr wrap="square" lIns="0" tIns="0" rIns="0" bIns="0" rtlCol="0" anchor="ctr"/>
          <a:lstStyle/>
          <a:p>
            <a:pPr indent="0" marL="0">
              <a:buNone/>
            </a:pPr>
            <a:r>
              <a:rPr lang="en-US" sz="1300" i="1" dirty="0">
                <a:solidFill>
                  <a:srgbClr val="5B6B77"/>
                </a:solidFill>
                <a:latin typeface="Calibri" pitchFamily="34" charset="0"/>
                <a:ea typeface="Calibri" pitchFamily="34" charset="-122"/>
                <a:cs typeface="Calibri" pitchFamily="34" charset="-120"/>
              </a:rPr>
              <a:t>Tuned-rate contrast with intervals</a:t>
            </a:r>
            <a:endParaRPr lang="en-US" sz="1300" dirty="0"/>
          </a:p>
        </p:txBody>
      </p:sp>
      <p:sp>
        <p:nvSpPr>
          <p:cNvPr id="21" name="Objective row RO4"/>
          <p:cNvSpPr/>
          <p:nvPr/>
        </p:nvSpPr>
        <p:spPr>
          <a:xfrm>
            <a:off x="548640" y="4197096"/>
            <a:ext cx="11109960" cy="877824"/>
          </a:xfrm>
          <a:prstGeom prst="roundRect">
            <a:avLst>
              <a:gd name="adj" fmla="val 8333"/>
            </a:avLst>
          </a:prstGeom>
          <a:solidFill>
            <a:srgbClr val="FFFFFF"/>
          </a:solidFill>
          <a:ln w="12700">
            <a:solidFill>
              <a:srgbClr val="D3DEE4"/>
            </a:solidFill>
            <a:prstDash val="solid"/>
          </a:ln>
        </p:spPr>
      </p:sp>
      <p:sp>
        <p:nvSpPr>
          <p:cNvPr id="22" name="Objective badge RO4"/>
          <p:cNvSpPr/>
          <p:nvPr/>
        </p:nvSpPr>
        <p:spPr>
          <a:xfrm>
            <a:off x="731520" y="4361688"/>
            <a:ext cx="548640" cy="548640"/>
          </a:xfrm>
          <a:prstGeom prst="ellipse">
            <a:avLst/>
          </a:prstGeom>
          <a:solidFill>
            <a:srgbClr val="1B7F8C"/>
          </a:solidFill>
          <a:ln/>
        </p:spPr>
      </p:sp>
      <p:sp>
        <p:nvSpPr>
          <p:cNvPr id="23" name="Objective badge RO4 label"/>
          <p:cNvSpPr txBox="1"/>
          <p:nvPr/>
        </p:nvSpPr>
        <p:spPr>
          <a:xfrm>
            <a:off x="731520" y="4361688"/>
            <a:ext cx="548640" cy="54864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RO4</a:t>
            </a:r>
            <a:endParaRPr lang="en-US" sz="1300" dirty="0"/>
          </a:p>
        </p:txBody>
      </p:sp>
      <p:sp>
        <p:nvSpPr>
          <p:cNvPr id="24" name="Text 22"/>
          <p:cNvSpPr txBox="1"/>
          <p:nvPr/>
        </p:nvSpPr>
        <p:spPr>
          <a:xfrm>
            <a:off x="1508760" y="4270248"/>
            <a:ext cx="3291840" cy="731520"/>
          </a:xfrm>
          <a:prstGeom prst="rect">
            <a:avLst/>
          </a:prstGeom>
          <a:noFill/>
          <a:ln/>
        </p:spPr>
        <p:txBody>
          <a:bodyPr wrap="square" lIns="0" tIns="0" rIns="0" bIns="0" rtlCol="0" anchor="ctr"/>
          <a:lstStyle/>
          <a:p>
            <a:pPr indent="0" marL="0">
              <a:buNone/>
            </a:pPr>
            <a:r>
              <a:rPr lang="en-US" sz="1600" b="1" dirty="0">
                <a:solidFill>
                  <a:srgbClr val="0F2A3D"/>
                </a:solidFill>
                <a:latin typeface="Calibri" pitchFamily="34" charset="0"/>
                <a:ea typeface="Calibri" pitchFamily="34" charset="-122"/>
                <a:cs typeface="Calibri" pitchFamily="34" charset="-120"/>
              </a:rPr>
              <a:t>Quantitative region evaluation</a:t>
            </a:r>
            <a:endParaRPr lang="en-US" sz="1600" dirty="0"/>
          </a:p>
        </p:txBody>
      </p:sp>
      <p:sp>
        <p:nvSpPr>
          <p:cNvPr id="25" name="Text 23"/>
          <p:cNvSpPr txBox="1"/>
          <p:nvPr/>
        </p:nvSpPr>
        <p:spPr>
          <a:xfrm>
            <a:off x="4846320" y="4270248"/>
            <a:ext cx="4023360" cy="731520"/>
          </a:xfrm>
          <a:prstGeom prst="rect">
            <a:avLst/>
          </a:prstGeom>
          <a:noFill/>
          <a:ln/>
        </p:spPr>
        <p:txBody>
          <a:bodyPr wrap="square" lIns="0" tIns="0" rIns="0" bIns="0" rtlCol="0" anchor="ctr"/>
          <a:lstStyle/>
          <a:p>
            <a:pPr indent="0" marL="0">
              <a:buNone/>
            </a:pPr>
            <a:r>
              <a:rPr lang="en-US" sz="1400" dirty="0">
                <a:solidFill>
                  <a:srgbClr val="1A2530"/>
                </a:solidFill>
                <a:latin typeface="Calibri" pitchFamily="34" charset="0"/>
                <a:ea typeface="Calibri" pitchFamily="34" charset="-122"/>
                <a:cs typeface="Calibri" pitchFamily="34" charset="-120"/>
              </a:rPr>
              <a:t>Score macro-regions against object masks versus grid and superpixel baselines.</a:t>
            </a:r>
            <a:endParaRPr lang="en-US" sz="1400" dirty="0"/>
          </a:p>
        </p:txBody>
      </p:sp>
      <p:sp>
        <p:nvSpPr>
          <p:cNvPr id="26" name="Text 24"/>
          <p:cNvSpPr txBox="1"/>
          <p:nvPr/>
        </p:nvSpPr>
        <p:spPr>
          <a:xfrm>
            <a:off x="9052560" y="4270248"/>
            <a:ext cx="2468880" cy="731520"/>
          </a:xfrm>
          <a:prstGeom prst="rect">
            <a:avLst/>
          </a:prstGeom>
          <a:noFill/>
          <a:ln/>
        </p:spPr>
        <p:txBody>
          <a:bodyPr wrap="square" lIns="0" tIns="0" rIns="0" bIns="0" rtlCol="0" anchor="ctr"/>
          <a:lstStyle/>
          <a:p>
            <a:pPr indent="0" marL="0">
              <a:buNone/>
            </a:pPr>
            <a:r>
              <a:rPr lang="en-US" sz="1300" i="1" dirty="0">
                <a:solidFill>
                  <a:srgbClr val="5B6B77"/>
                </a:solidFill>
                <a:latin typeface="Calibri" pitchFamily="34" charset="0"/>
                <a:ea typeface="Calibri" pitchFamily="34" charset="-122"/>
                <a:cs typeface="Calibri" pitchFamily="34" charset="-120"/>
              </a:rPr>
              <a:t>mIoU and purity, null result accepted</a:t>
            </a:r>
            <a:endParaRPr lang="en-US" sz="1300" dirty="0"/>
          </a:p>
        </p:txBody>
      </p:sp>
      <p:sp>
        <p:nvSpPr>
          <p:cNvPr id="27" name="Objective row RO5"/>
          <p:cNvSpPr/>
          <p:nvPr/>
        </p:nvSpPr>
        <p:spPr>
          <a:xfrm>
            <a:off x="548640" y="5184648"/>
            <a:ext cx="11109960" cy="877824"/>
          </a:xfrm>
          <a:prstGeom prst="roundRect">
            <a:avLst>
              <a:gd name="adj" fmla="val 8333"/>
            </a:avLst>
          </a:prstGeom>
          <a:solidFill>
            <a:srgbClr val="EAF1F4"/>
          </a:solidFill>
          <a:ln/>
        </p:spPr>
      </p:sp>
      <p:sp>
        <p:nvSpPr>
          <p:cNvPr id="28" name="Objective badge RO5"/>
          <p:cNvSpPr/>
          <p:nvPr/>
        </p:nvSpPr>
        <p:spPr>
          <a:xfrm>
            <a:off x="731520" y="5349240"/>
            <a:ext cx="548640" cy="548640"/>
          </a:xfrm>
          <a:prstGeom prst="ellipse">
            <a:avLst/>
          </a:prstGeom>
          <a:solidFill>
            <a:srgbClr val="F4A261"/>
          </a:solidFill>
          <a:ln/>
        </p:spPr>
      </p:sp>
      <p:sp>
        <p:nvSpPr>
          <p:cNvPr id="29" name="Objective badge RO5 label"/>
          <p:cNvSpPr txBox="1"/>
          <p:nvPr/>
        </p:nvSpPr>
        <p:spPr>
          <a:xfrm>
            <a:off x="731520" y="5349240"/>
            <a:ext cx="548640" cy="548640"/>
          </a:xfrm>
          <a:prstGeom prst="rect">
            <a:avLst/>
          </a:prstGeom>
          <a:noFill/>
          <a:ln/>
        </p:spPr>
        <p:txBody>
          <a:bodyPr wrap="square" lIns="0" tIns="0" rIns="0" bIns="0" rtlCol="0" anchor="ctr"/>
          <a:lstStyle/>
          <a:p>
            <a:pPr algn="ctr" indent="0" marL="0">
              <a:buNone/>
            </a:pPr>
            <a:r>
              <a:rPr lang="en-US" sz="1300" b="1" dirty="0">
                <a:solidFill>
                  <a:srgbClr val="0F2A3D"/>
                </a:solidFill>
                <a:latin typeface="Calibri" pitchFamily="34" charset="0"/>
                <a:ea typeface="Calibri" pitchFamily="34" charset="-122"/>
                <a:cs typeface="Calibri" pitchFamily="34" charset="-120"/>
              </a:rPr>
              <a:t>RO5</a:t>
            </a:r>
            <a:endParaRPr lang="en-US" sz="1300" dirty="0"/>
          </a:p>
        </p:txBody>
      </p:sp>
      <p:sp>
        <p:nvSpPr>
          <p:cNvPr id="30" name="Text 28"/>
          <p:cNvSpPr txBox="1"/>
          <p:nvPr/>
        </p:nvSpPr>
        <p:spPr>
          <a:xfrm>
            <a:off x="1508760" y="5257800"/>
            <a:ext cx="3291840" cy="731520"/>
          </a:xfrm>
          <a:prstGeom prst="rect">
            <a:avLst/>
          </a:prstGeom>
          <a:noFill/>
          <a:ln/>
        </p:spPr>
        <p:txBody>
          <a:bodyPr wrap="square" lIns="0" tIns="0" rIns="0" bIns="0" rtlCol="0" anchor="ctr"/>
          <a:lstStyle/>
          <a:p>
            <a:pPr indent="0" marL="0">
              <a:buNone/>
            </a:pPr>
            <a:r>
              <a:rPr lang="en-US" sz="1600" b="1" dirty="0">
                <a:solidFill>
                  <a:srgbClr val="0F2A3D"/>
                </a:solidFill>
                <a:latin typeface="Calibri" pitchFamily="34" charset="0"/>
                <a:ea typeface="Calibri" pitchFamily="34" charset="-122"/>
                <a:cs typeface="Calibri" pitchFamily="34" charset="-120"/>
              </a:rPr>
              <a:t>Protocol and dissemination</a:t>
            </a:r>
            <a:endParaRPr lang="en-US" sz="1600" dirty="0"/>
          </a:p>
        </p:txBody>
      </p:sp>
      <p:sp>
        <p:nvSpPr>
          <p:cNvPr id="31" name="Text 29"/>
          <p:cNvSpPr txBox="1"/>
          <p:nvPr/>
        </p:nvSpPr>
        <p:spPr>
          <a:xfrm>
            <a:off x="4846320" y="5257800"/>
            <a:ext cx="4023360" cy="731520"/>
          </a:xfrm>
          <a:prstGeom prst="rect">
            <a:avLst/>
          </a:prstGeom>
          <a:noFill/>
          <a:ln/>
        </p:spPr>
        <p:txBody>
          <a:bodyPr wrap="square" lIns="0" tIns="0" rIns="0" bIns="0" rtlCol="0" anchor="ctr"/>
          <a:lstStyle/>
          <a:p>
            <a:pPr indent="0" marL="0">
              <a:buNone/>
            </a:pPr>
            <a:r>
              <a:rPr lang="en-US" sz="1400" dirty="0">
                <a:solidFill>
                  <a:srgbClr val="1A2530"/>
                </a:solidFill>
                <a:latin typeface="Calibri" pitchFamily="34" charset="0"/>
                <a:ea typeface="Calibri" pitchFamily="34" charset="-122"/>
                <a:cs typeface="Calibri" pitchFamily="34" charset="-120"/>
              </a:rPr>
              <a:t>OSF plan before final runs; validation split; public harness; two papers.</a:t>
            </a:r>
            <a:endParaRPr lang="en-US" sz="1400" dirty="0"/>
          </a:p>
        </p:txBody>
      </p:sp>
      <p:sp>
        <p:nvSpPr>
          <p:cNvPr id="32" name="Text 30"/>
          <p:cNvSpPr txBox="1"/>
          <p:nvPr/>
        </p:nvSpPr>
        <p:spPr>
          <a:xfrm>
            <a:off x="9052560" y="5257800"/>
            <a:ext cx="2468880" cy="731520"/>
          </a:xfrm>
          <a:prstGeom prst="rect">
            <a:avLst/>
          </a:prstGeom>
          <a:noFill/>
          <a:ln/>
        </p:spPr>
        <p:txBody>
          <a:bodyPr wrap="square" lIns="0" tIns="0" rIns="0" bIns="0" rtlCol="0" anchor="ctr"/>
          <a:lstStyle/>
          <a:p>
            <a:pPr indent="0" marL="0">
              <a:buNone/>
            </a:pPr>
            <a:r>
              <a:rPr lang="en-US" sz="1300" i="1" dirty="0">
                <a:solidFill>
                  <a:srgbClr val="5B6B77"/>
                </a:solidFill>
                <a:latin typeface="Calibri" pitchFamily="34" charset="0"/>
                <a:ea typeface="Calibri" pitchFamily="34" charset="-122"/>
                <a:cs typeface="Calibri" pitchFamily="34" charset="-120"/>
              </a:rPr>
              <a:t>Two submissions, audit paper first</a:t>
            </a:r>
            <a:endParaRPr lang="en-US" sz="13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Proposed methodology</a:t>
            </a:r>
            <a:endParaRPr lang="en-US" sz="3200" dirty="0"/>
          </a:p>
        </p:txBody>
      </p:sp>
      <p:sp>
        <p:nvSpPr>
          <p:cNvPr id="3" name="Text 1"/>
          <p:cNvSpPr txBox="1"/>
          <p:nvPr/>
        </p:nvSpPr>
        <p:spPr>
          <a:xfrm>
            <a:off x="548640" y="1234440"/>
            <a:ext cx="5852160" cy="320040"/>
          </a:xfrm>
          <a:prstGeom prst="rect">
            <a:avLst/>
          </a:prstGeom>
          <a:noFill/>
          <a:ln/>
        </p:spPr>
        <p:txBody>
          <a:bodyPr wrap="square" lIns="0" tIns="0" rIns="0" bIns="0" rtlCol="0" anchor="t"/>
          <a:lstStyle/>
          <a:p>
            <a:pPr indent="0" marL="0">
              <a:buNone/>
            </a:pPr>
            <a:r>
              <a:rPr lang="en-US" sz="1600" b="1" dirty="0">
                <a:solidFill>
                  <a:srgbClr val="0F2A3D"/>
                </a:solidFill>
                <a:latin typeface="Calibri" pitchFamily="34" charset="0"/>
                <a:ea typeface="Calibri" pitchFamily="34" charset="-122"/>
                <a:cs typeface="Calibri" pitchFamily="34" charset="-120"/>
              </a:rPr>
              <a:t>Experimental arms (matched parameters and MACs)</a:t>
            </a:r>
            <a:endParaRPr lang="en-US" sz="1600" dirty="0"/>
          </a:p>
        </p:txBody>
      </p:sp>
      <p:sp>
        <p:nvSpPr>
          <p:cNvPr id="4" name="Arm card A"/>
          <p:cNvSpPr/>
          <p:nvPr/>
        </p:nvSpPr>
        <p:spPr>
          <a:xfrm>
            <a:off x="548640" y="1691640"/>
            <a:ext cx="2880360" cy="1325880"/>
          </a:xfrm>
          <a:prstGeom prst="roundRect">
            <a:avLst>
              <a:gd name="adj" fmla="val 5517"/>
            </a:avLst>
          </a:prstGeom>
          <a:solidFill>
            <a:srgbClr val="1B7F8C"/>
          </a:solidFill>
          <a:ln/>
        </p:spPr>
      </p:sp>
      <p:sp>
        <p:nvSpPr>
          <p:cNvPr id="5" name="Arm badge A"/>
          <p:cNvSpPr/>
          <p:nvPr/>
        </p:nvSpPr>
        <p:spPr>
          <a:xfrm>
            <a:off x="685800" y="1828800"/>
            <a:ext cx="502920" cy="502920"/>
          </a:xfrm>
          <a:prstGeom prst="ellipse">
            <a:avLst/>
          </a:prstGeom>
          <a:solidFill>
            <a:srgbClr val="FFFFFF"/>
          </a:solidFill>
          <a:ln/>
        </p:spPr>
      </p:sp>
      <p:sp>
        <p:nvSpPr>
          <p:cNvPr id="6" name="Arm badge A label"/>
          <p:cNvSpPr txBox="1"/>
          <p:nvPr/>
        </p:nvSpPr>
        <p:spPr>
          <a:xfrm>
            <a:off x="685800" y="1828800"/>
            <a:ext cx="502920" cy="502920"/>
          </a:xfrm>
          <a:prstGeom prst="rect">
            <a:avLst/>
          </a:prstGeom>
          <a:noFill/>
          <a:ln/>
        </p:spPr>
        <p:txBody>
          <a:bodyPr wrap="square" lIns="0" tIns="0" rIns="0" bIns="0" rtlCol="0" anchor="ctr"/>
          <a:lstStyle/>
          <a:p>
            <a:pPr algn="ctr" indent="0" marL="0">
              <a:buNone/>
            </a:pPr>
            <a:r>
              <a:rPr lang="en-US" sz="1500" b="1" dirty="0">
                <a:solidFill>
                  <a:srgbClr val="1B7F8C"/>
                </a:solidFill>
                <a:latin typeface="Calibri" pitchFamily="34" charset="0"/>
                <a:ea typeface="Calibri" pitchFamily="34" charset="-122"/>
                <a:cs typeface="Calibri" pitchFamily="34" charset="-120"/>
              </a:rPr>
              <a:t>A</a:t>
            </a:r>
            <a:endParaRPr lang="en-US" sz="1500" dirty="0"/>
          </a:p>
        </p:txBody>
      </p:sp>
      <p:sp>
        <p:nvSpPr>
          <p:cNvPr id="7" name="Text 5"/>
          <p:cNvSpPr txBox="1"/>
          <p:nvPr/>
        </p:nvSpPr>
        <p:spPr>
          <a:xfrm>
            <a:off x="1325880" y="1847088"/>
            <a:ext cx="2011680" cy="45720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the minor-project branch</a:t>
            </a:r>
            <a:endParaRPr lang="en-US" sz="1400" dirty="0"/>
          </a:p>
        </p:txBody>
      </p:sp>
      <p:sp>
        <p:nvSpPr>
          <p:cNvPr id="8" name="Text 6"/>
          <p:cNvSpPr txBox="1"/>
          <p:nvPr/>
        </p:nvSpPr>
        <p:spPr>
          <a:xfrm>
            <a:off x="731520" y="2423160"/>
            <a:ext cx="2514600" cy="548640"/>
          </a:xfrm>
          <a:prstGeom prst="rect">
            <a:avLst/>
          </a:prstGeom>
          <a:noFill/>
          <a:ln/>
        </p:spPr>
        <p:txBody>
          <a:bodyPr wrap="square" lIns="0" tIns="0" rIns="0" bIns="0" rtlCol="0" anchor="t"/>
          <a:lstStyle/>
          <a:p>
            <a:pPr indent="0" marL="0">
              <a:buNone/>
            </a:pPr>
            <a:r>
              <a:rPr lang="en-US" sz="1400" dirty="0">
                <a:solidFill>
                  <a:srgbClr val="FFFFFF"/>
                </a:solidFill>
                <a:latin typeface="Calibri" pitchFamily="34" charset="0"/>
                <a:ea typeface="Calibri" pitchFamily="34" charset="-122"/>
                <a:cs typeface="Calibri" pitchFamily="34" charset="-120"/>
              </a:rPr>
              <a:t>Learned top-3 routing, auxiliary loss on</a:t>
            </a:r>
            <a:endParaRPr lang="en-US" sz="1400" dirty="0"/>
          </a:p>
        </p:txBody>
      </p:sp>
      <p:sp>
        <p:nvSpPr>
          <p:cNvPr id="9" name="Arm card R"/>
          <p:cNvSpPr/>
          <p:nvPr/>
        </p:nvSpPr>
        <p:spPr>
          <a:xfrm>
            <a:off x="3566160" y="1691640"/>
            <a:ext cx="2880360" cy="1325880"/>
          </a:xfrm>
          <a:prstGeom prst="roundRect">
            <a:avLst>
              <a:gd name="adj" fmla="val 5517"/>
            </a:avLst>
          </a:prstGeom>
          <a:solidFill>
            <a:srgbClr val="EAF1F4"/>
          </a:solidFill>
          <a:ln/>
        </p:spPr>
      </p:sp>
      <p:sp>
        <p:nvSpPr>
          <p:cNvPr id="10" name="Arm badge R"/>
          <p:cNvSpPr/>
          <p:nvPr/>
        </p:nvSpPr>
        <p:spPr>
          <a:xfrm>
            <a:off x="3703320" y="1828800"/>
            <a:ext cx="502920" cy="502920"/>
          </a:xfrm>
          <a:prstGeom prst="ellipse">
            <a:avLst/>
          </a:prstGeom>
          <a:solidFill>
            <a:srgbClr val="1B7F8C"/>
          </a:solidFill>
          <a:ln/>
        </p:spPr>
      </p:sp>
      <p:sp>
        <p:nvSpPr>
          <p:cNvPr id="11" name="Arm badge R label"/>
          <p:cNvSpPr txBox="1"/>
          <p:nvPr/>
        </p:nvSpPr>
        <p:spPr>
          <a:xfrm>
            <a:off x="3703320" y="1828800"/>
            <a:ext cx="502920" cy="50292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R</a:t>
            </a:r>
            <a:endParaRPr lang="en-US" sz="1500" dirty="0"/>
          </a:p>
        </p:txBody>
      </p:sp>
      <p:sp>
        <p:nvSpPr>
          <p:cNvPr id="12" name="Text 10"/>
          <p:cNvSpPr txBox="1"/>
          <p:nvPr/>
        </p:nvSpPr>
        <p:spPr>
          <a:xfrm>
            <a:off x="4343400" y="1847088"/>
            <a:ext cx="2011680" cy="457200"/>
          </a:xfrm>
          <a:prstGeom prst="rect">
            <a:avLst/>
          </a:prstGeom>
          <a:noFill/>
          <a:ln/>
        </p:spPr>
        <p:txBody>
          <a:bodyPr wrap="square" lIns="0" tIns="0" rIns="0" bIns="0" rtlCol="0" anchor="ctr"/>
          <a:lstStyle/>
          <a:p>
            <a:pPr indent="0" marL="0">
              <a:buNone/>
            </a:pPr>
            <a:r>
              <a:rPr lang="en-US" sz="1400" b="1" dirty="0">
                <a:solidFill>
                  <a:srgbClr val="0F2A3D"/>
                </a:solidFill>
                <a:latin typeface="Calibri" pitchFamily="34" charset="0"/>
                <a:ea typeface="Calibri" pitchFamily="34" charset="-122"/>
                <a:cs typeface="Calibri" pitchFamily="34" charset="-120"/>
              </a:rPr>
              <a:t>capacity control</a:t>
            </a:r>
            <a:endParaRPr lang="en-US" sz="1400" dirty="0"/>
          </a:p>
        </p:txBody>
      </p:sp>
      <p:sp>
        <p:nvSpPr>
          <p:cNvPr id="13" name="Text 11"/>
          <p:cNvSpPr txBox="1"/>
          <p:nvPr/>
        </p:nvSpPr>
        <p:spPr>
          <a:xfrm>
            <a:off x="3749040" y="2423160"/>
            <a:ext cx="2514600" cy="548640"/>
          </a:xfrm>
          <a:prstGeom prst="rect">
            <a:avLst/>
          </a:prstGeom>
          <a:noFill/>
          <a:ln/>
        </p:spPr>
        <p:txBody>
          <a:bodyPr wrap="square" lIns="0" tIns="0" rIns="0" bIns="0" rtlCol="0" anchor="t"/>
          <a:lstStyle/>
          <a:p>
            <a:pPr indent="0" marL="0">
              <a:buNone/>
            </a:pPr>
            <a:r>
              <a:rPr lang="en-US" sz="1400" dirty="0">
                <a:solidFill>
                  <a:srgbClr val="1A2530"/>
                </a:solidFill>
                <a:latin typeface="Calibri" pitchFamily="34" charset="0"/>
                <a:ea typeface="Calibri" pitchFamily="34" charset="-122"/>
                <a:cs typeface="Calibri" pitchFamily="34" charset="-120"/>
              </a:rPr>
              <a:t>Input-independent learned slots (registers)</a:t>
            </a:r>
            <a:endParaRPr lang="en-US" sz="1400" dirty="0"/>
          </a:p>
        </p:txBody>
      </p:sp>
      <p:sp>
        <p:nvSpPr>
          <p:cNvPr id="14" name="Arm card X"/>
          <p:cNvSpPr/>
          <p:nvPr/>
        </p:nvSpPr>
        <p:spPr>
          <a:xfrm>
            <a:off x="548640" y="3154680"/>
            <a:ext cx="2880360" cy="1325880"/>
          </a:xfrm>
          <a:prstGeom prst="roundRect">
            <a:avLst>
              <a:gd name="adj" fmla="val 5517"/>
            </a:avLst>
          </a:prstGeom>
          <a:solidFill>
            <a:srgbClr val="EAF1F4"/>
          </a:solidFill>
          <a:ln/>
        </p:spPr>
      </p:sp>
      <p:sp>
        <p:nvSpPr>
          <p:cNvPr id="15" name="Arm badge X"/>
          <p:cNvSpPr/>
          <p:nvPr/>
        </p:nvSpPr>
        <p:spPr>
          <a:xfrm>
            <a:off x="685800" y="3291840"/>
            <a:ext cx="502920" cy="502920"/>
          </a:xfrm>
          <a:prstGeom prst="ellipse">
            <a:avLst/>
          </a:prstGeom>
          <a:solidFill>
            <a:srgbClr val="1B7F8C"/>
          </a:solidFill>
          <a:ln/>
        </p:spPr>
      </p:sp>
      <p:sp>
        <p:nvSpPr>
          <p:cNvPr id="16" name="Arm badge X label"/>
          <p:cNvSpPr txBox="1"/>
          <p:nvPr/>
        </p:nvSpPr>
        <p:spPr>
          <a:xfrm>
            <a:off x="685800" y="3291840"/>
            <a:ext cx="502920" cy="50292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X</a:t>
            </a:r>
            <a:endParaRPr lang="en-US" sz="1500" dirty="0"/>
          </a:p>
        </p:txBody>
      </p:sp>
      <p:sp>
        <p:nvSpPr>
          <p:cNvPr id="17" name="Text 15"/>
          <p:cNvSpPr txBox="1"/>
          <p:nvPr/>
        </p:nvSpPr>
        <p:spPr>
          <a:xfrm>
            <a:off x="1325880" y="3310128"/>
            <a:ext cx="2011680" cy="457200"/>
          </a:xfrm>
          <a:prstGeom prst="rect">
            <a:avLst/>
          </a:prstGeom>
          <a:noFill/>
          <a:ln/>
        </p:spPr>
        <p:txBody>
          <a:bodyPr wrap="square" lIns="0" tIns="0" rIns="0" bIns="0" rtlCol="0" anchor="ctr"/>
          <a:lstStyle/>
          <a:p>
            <a:pPr indent="0" marL="0">
              <a:buNone/>
            </a:pPr>
            <a:r>
              <a:rPr lang="en-US" sz="1400" b="1" dirty="0">
                <a:solidFill>
                  <a:srgbClr val="0F2A3D"/>
                </a:solidFill>
                <a:latin typeface="Calibri" pitchFamily="34" charset="0"/>
                <a:ea typeface="Calibri" pitchFamily="34" charset="-122"/>
                <a:cs typeface="Calibri" pitchFamily="34" charset="-120"/>
              </a:rPr>
              <a:t>routing without learning</a:t>
            </a:r>
            <a:endParaRPr lang="en-US" sz="1400" dirty="0"/>
          </a:p>
        </p:txBody>
      </p:sp>
      <p:sp>
        <p:nvSpPr>
          <p:cNvPr id="18" name="Text 16"/>
          <p:cNvSpPr txBox="1"/>
          <p:nvPr/>
        </p:nvSpPr>
        <p:spPr>
          <a:xfrm>
            <a:off x="731520" y="3886200"/>
            <a:ext cx="2514600" cy="548640"/>
          </a:xfrm>
          <a:prstGeom prst="rect">
            <a:avLst/>
          </a:prstGeom>
          <a:noFill/>
          <a:ln/>
        </p:spPr>
        <p:txBody>
          <a:bodyPr wrap="square" lIns="0" tIns="0" rIns="0" bIns="0" rtlCol="0" anchor="t"/>
          <a:lstStyle/>
          <a:p>
            <a:pPr indent="0" marL="0">
              <a:buNone/>
            </a:pPr>
            <a:r>
              <a:rPr lang="en-US" sz="1400" dirty="0">
                <a:solidFill>
                  <a:srgbClr val="1A2530"/>
                </a:solidFill>
                <a:latin typeface="Calibri" pitchFamily="34" charset="0"/>
                <a:ea typeface="Calibri" pitchFamily="34" charset="-122"/>
                <a:cs typeface="Calibri" pitchFamily="34" charset="-120"/>
              </a:rPr>
              <a:t>Frozen random router, top-3</a:t>
            </a:r>
            <a:endParaRPr lang="en-US" sz="1400" dirty="0"/>
          </a:p>
        </p:txBody>
      </p:sp>
      <p:sp>
        <p:nvSpPr>
          <p:cNvPr id="19" name="Arm card B2"/>
          <p:cNvSpPr/>
          <p:nvPr/>
        </p:nvSpPr>
        <p:spPr>
          <a:xfrm>
            <a:off x="3566160" y="3154680"/>
            <a:ext cx="2880360" cy="1325880"/>
          </a:xfrm>
          <a:prstGeom prst="roundRect">
            <a:avLst>
              <a:gd name="adj" fmla="val 5517"/>
            </a:avLst>
          </a:prstGeom>
          <a:solidFill>
            <a:srgbClr val="EAF1F4"/>
          </a:solidFill>
          <a:ln/>
        </p:spPr>
      </p:sp>
      <p:sp>
        <p:nvSpPr>
          <p:cNvPr id="20" name="Arm badge B2"/>
          <p:cNvSpPr/>
          <p:nvPr/>
        </p:nvSpPr>
        <p:spPr>
          <a:xfrm>
            <a:off x="3703320" y="3291840"/>
            <a:ext cx="502920" cy="502920"/>
          </a:xfrm>
          <a:prstGeom prst="ellipse">
            <a:avLst/>
          </a:prstGeom>
          <a:solidFill>
            <a:srgbClr val="1B7F8C"/>
          </a:solidFill>
          <a:ln/>
        </p:spPr>
      </p:sp>
      <p:sp>
        <p:nvSpPr>
          <p:cNvPr id="21" name="Arm badge B2 label"/>
          <p:cNvSpPr txBox="1"/>
          <p:nvPr/>
        </p:nvSpPr>
        <p:spPr>
          <a:xfrm>
            <a:off x="3703320" y="3291840"/>
            <a:ext cx="502920" cy="50292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B2</a:t>
            </a:r>
            <a:endParaRPr lang="en-US" sz="1500" dirty="0"/>
          </a:p>
        </p:txBody>
      </p:sp>
      <p:sp>
        <p:nvSpPr>
          <p:cNvPr id="22" name="Text 20"/>
          <p:cNvSpPr txBox="1"/>
          <p:nvPr/>
        </p:nvSpPr>
        <p:spPr>
          <a:xfrm>
            <a:off x="4343400" y="3310128"/>
            <a:ext cx="2011680" cy="457200"/>
          </a:xfrm>
          <a:prstGeom prst="rect">
            <a:avLst/>
          </a:prstGeom>
          <a:noFill/>
          <a:ln/>
        </p:spPr>
        <p:txBody>
          <a:bodyPr wrap="square" lIns="0" tIns="0" rIns="0" bIns="0" rtlCol="0" anchor="ctr"/>
          <a:lstStyle/>
          <a:p>
            <a:pPr indent="0" marL="0">
              <a:buNone/>
            </a:pPr>
            <a:r>
              <a:rPr lang="en-US" sz="1400" b="1" dirty="0">
                <a:solidFill>
                  <a:srgbClr val="0F2A3D"/>
                </a:solidFill>
                <a:latin typeface="Calibri" pitchFamily="34" charset="0"/>
                <a:ea typeface="Calibri" pitchFamily="34" charset="-122"/>
                <a:cs typeface="Calibri" pitchFamily="34" charset="-120"/>
              </a:rPr>
              <a:t>spatial-prior control</a:t>
            </a:r>
            <a:endParaRPr lang="en-US" sz="1400" dirty="0"/>
          </a:p>
        </p:txBody>
      </p:sp>
      <p:sp>
        <p:nvSpPr>
          <p:cNvPr id="23" name="Text 21"/>
          <p:cNvSpPr txBox="1"/>
          <p:nvPr/>
        </p:nvSpPr>
        <p:spPr>
          <a:xfrm>
            <a:off x="3749040" y="3886200"/>
            <a:ext cx="2514600" cy="548640"/>
          </a:xfrm>
          <a:prstGeom prst="rect">
            <a:avLst/>
          </a:prstGeom>
          <a:noFill/>
          <a:ln/>
        </p:spPr>
        <p:txBody>
          <a:bodyPr wrap="square" lIns="0" tIns="0" rIns="0" bIns="0" rtlCol="0" anchor="t"/>
          <a:lstStyle/>
          <a:p>
            <a:pPr indent="0" marL="0">
              <a:buNone/>
            </a:pPr>
            <a:r>
              <a:rPr lang="en-US" sz="1400" dirty="0">
                <a:solidFill>
                  <a:srgbClr val="1A2530"/>
                </a:solidFill>
                <a:latin typeface="Calibri" pitchFamily="34" charset="0"/>
                <a:ea typeface="Calibri" pitchFamily="34" charset="-122"/>
                <a:cs typeface="Calibri" pitchFamily="34" charset="-120"/>
              </a:rPr>
              <a:t>Fixed block routing</a:t>
            </a:r>
            <a:endParaRPr lang="en-US" sz="1400" dirty="0"/>
          </a:p>
        </p:txBody>
      </p:sp>
      <p:sp>
        <p:nvSpPr>
          <p:cNvPr id="24" name="Arm card G"/>
          <p:cNvSpPr/>
          <p:nvPr/>
        </p:nvSpPr>
        <p:spPr>
          <a:xfrm>
            <a:off x="548640" y="4617720"/>
            <a:ext cx="2880360" cy="1325880"/>
          </a:xfrm>
          <a:prstGeom prst="roundRect">
            <a:avLst>
              <a:gd name="adj" fmla="val 5517"/>
            </a:avLst>
          </a:prstGeom>
          <a:solidFill>
            <a:srgbClr val="EAF1F4"/>
          </a:solidFill>
          <a:ln/>
        </p:spPr>
      </p:sp>
      <p:sp>
        <p:nvSpPr>
          <p:cNvPr id="25" name="Arm badge G"/>
          <p:cNvSpPr/>
          <p:nvPr/>
        </p:nvSpPr>
        <p:spPr>
          <a:xfrm>
            <a:off x="685800" y="4754880"/>
            <a:ext cx="502920" cy="502920"/>
          </a:xfrm>
          <a:prstGeom prst="ellipse">
            <a:avLst/>
          </a:prstGeom>
          <a:solidFill>
            <a:srgbClr val="1B7F8C"/>
          </a:solidFill>
          <a:ln/>
        </p:spPr>
      </p:sp>
      <p:sp>
        <p:nvSpPr>
          <p:cNvPr id="26" name="Arm badge G label"/>
          <p:cNvSpPr txBox="1"/>
          <p:nvPr/>
        </p:nvSpPr>
        <p:spPr>
          <a:xfrm>
            <a:off x="685800" y="4754880"/>
            <a:ext cx="502920" cy="50292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G</a:t>
            </a:r>
            <a:endParaRPr lang="en-US" sz="1500" dirty="0"/>
          </a:p>
        </p:txBody>
      </p:sp>
      <p:sp>
        <p:nvSpPr>
          <p:cNvPr id="27" name="Text 25"/>
          <p:cNvSpPr txBox="1"/>
          <p:nvPr/>
        </p:nvSpPr>
        <p:spPr>
          <a:xfrm>
            <a:off x="1325880" y="4773168"/>
            <a:ext cx="2011680" cy="457200"/>
          </a:xfrm>
          <a:prstGeom prst="rect">
            <a:avLst/>
          </a:prstGeom>
          <a:noFill/>
          <a:ln/>
        </p:spPr>
        <p:txBody>
          <a:bodyPr wrap="square" lIns="0" tIns="0" rIns="0" bIns="0" rtlCol="0" anchor="ctr"/>
          <a:lstStyle/>
          <a:p>
            <a:pPr indent="0" marL="0">
              <a:buNone/>
            </a:pPr>
            <a:r>
              <a:rPr lang="en-US" sz="1400" b="1" dirty="0">
                <a:solidFill>
                  <a:srgbClr val="0F2A3D"/>
                </a:solidFill>
                <a:latin typeface="Calibri" pitchFamily="34" charset="0"/>
                <a:ea typeface="Calibri" pitchFamily="34" charset="-122"/>
                <a:cs typeface="Calibri" pitchFamily="34" charset="-120"/>
              </a:rPr>
              <a:t>compute-matched control</a:t>
            </a:r>
            <a:endParaRPr lang="en-US" sz="1400" dirty="0"/>
          </a:p>
        </p:txBody>
      </p:sp>
      <p:sp>
        <p:nvSpPr>
          <p:cNvPr id="28" name="Text 26"/>
          <p:cNvSpPr txBox="1"/>
          <p:nvPr/>
        </p:nvSpPr>
        <p:spPr>
          <a:xfrm>
            <a:off x="731520" y="5349240"/>
            <a:ext cx="2514600" cy="548640"/>
          </a:xfrm>
          <a:prstGeom prst="rect">
            <a:avLst/>
          </a:prstGeom>
          <a:noFill/>
          <a:ln/>
        </p:spPr>
        <p:txBody>
          <a:bodyPr wrap="square" lIns="0" tIns="0" rIns="0" bIns="0" rtlCol="0" anchor="t"/>
          <a:lstStyle/>
          <a:p>
            <a:pPr indent="0" marL="0">
              <a:buNone/>
            </a:pPr>
            <a:r>
              <a:rPr lang="en-US" sz="1400" dirty="0">
                <a:solidFill>
                  <a:srgbClr val="1A2530"/>
                </a:solidFill>
                <a:latin typeface="Calibri" pitchFamily="34" charset="0"/>
                <a:ea typeface="Calibri" pitchFamily="34" charset="-122"/>
                <a:cs typeface="Calibri" pitchFamily="34" charset="-120"/>
              </a:rPr>
              <a:t>No branch, capacity spent in the backbone</a:t>
            </a:r>
            <a:endParaRPr lang="en-US" sz="1400" dirty="0"/>
          </a:p>
        </p:txBody>
      </p:sp>
      <p:sp>
        <p:nvSpPr>
          <p:cNvPr id="29" name="Arm card S"/>
          <p:cNvSpPr/>
          <p:nvPr/>
        </p:nvSpPr>
        <p:spPr>
          <a:xfrm>
            <a:off x="3566160" y="4617720"/>
            <a:ext cx="2880360" cy="1325880"/>
          </a:xfrm>
          <a:prstGeom prst="roundRect">
            <a:avLst>
              <a:gd name="adj" fmla="val 5517"/>
            </a:avLst>
          </a:prstGeom>
          <a:solidFill>
            <a:srgbClr val="EAF1F4"/>
          </a:solidFill>
          <a:ln/>
        </p:spPr>
      </p:sp>
      <p:sp>
        <p:nvSpPr>
          <p:cNvPr id="30" name="Arm badge S"/>
          <p:cNvSpPr/>
          <p:nvPr/>
        </p:nvSpPr>
        <p:spPr>
          <a:xfrm>
            <a:off x="3703320" y="4754880"/>
            <a:ext cx="502920" cy="502920"/>
          </a:xfrm>
          <a:prstGeom prst="ellipse">
            <a:avLst/>
          </a:prstGeom>
          <a:solidFill>
            <a:srgbClr val="1B7F8C"/>
          </a:solidFill>
          <a:ln/>
        </p:spPr>
      </p:sp>
      <p:sp>
        <p:nvSpPr>
          <p:cNvPr id="31" name="Arm badge S label"/>
          <p:cNvSpPr txBox="1"/>
          <p:nvPr/>
        </p:nvSpPr>
        <p:spPr>
          <a:xfrm>
            <a:off x="3703320" y="4754880"/>
            <a:ext cx="502920" cy="50292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S</a:t>
            </a:r>
            <a:endParaRPr lang="en-US" sz="1500" dirty="0"/>
          </a:p>
        </p:txBody>
      </p:sp>
      <p:sp>
        <p:nvSpPr>
          <p:cNvPr id="32" name="Text 30"/>
          <p:cNvSpPr txBox="1"/>
          <p:nvPr/>
        </p:nvSpPr>
        <p:spPr>
          <a:xfrm>
            <a:off x="4343400" y="4773168"/>
            <a:ext cx="2011680" cy="457200"/>
          </a:xfrm>
          <a:prstGeom prst="rect">
            <a:avLst/>
          </a:prstGeom>
          <a:noFill/>
          <a:ln/>
        </p:spPr>
        <p:txBody>
          <a:bodyPr wrap="square" lIns="0" tIns="0" rIns="0" bIns="0" rtlCol="0" anchor="ctr"/>
          <a:lstStyle/>
          <a:p>
            <a:pPr indent="0" marL="0">
              <a:buNone/>
            </a:pPr>
            <a:r>
              <a:rPr lang="en-US" sz="1400" b="1" dirty="0">
                <a:solidFill>
                  <a:srgbClr val="0F2A3D"/>
                </a:solidFill>
                <a:latin typeface="Calibri" pitchFamily="34" charset="0"/>
                <a:ea typeface="Calibri" pitchFamily="34" charset="-122"/>
                <a:cs typeface="Calibri" pitchFamily="34" charset="-120"/>
              </a:rPr>
              <a:t>backbone comparator</a:t>
            </a:r>
            <a:endParaRPr lang="en-US" sz="1400" dirty="0"/>
          </a:p>
        </p:txBody>
      </p:sp>
      <p:sp>
        <p:nvSpPr>
          <p:cNvPr id="33" name="Text 31"/>
          <p:cNvSpPr txBox="1"/>
          <p:nvPr/>
        </p:nvSpPr>
        <p:spPr>
          <a:xfrm>
            <a:off x="3749040" y="5349240"/>
            <a:ext cx="2514600" cy="548640"/>
          </a:xfrm>
          <a:prstGeom prst="rect">
            <a:avLst/>
          </a:prstGeom>
          <a:noFill/>
          <a:ln/>
        </p:spPr>
        <p:txBody>
          <a:bodyPr wrap="square" lIns="0" tIns="0" rIns="0" bIns="0" rtlCol="0" anchor="t"/>
          <a:lstStyle/>
          <a:p>
            <a:pPr indent="0" marL="0">
              <a:buNone/>
            </a:pPr>
            <a:r>
              <a:rPr lang="en-US" sz="1400" dirty="0">
                <a:solidFill>
                  <a:srgbClr val="1A2530"/>
                </a:solidFill>
                <a:latin typeface="Calibri" pitchFamily="34" charset="0"/>
                <a:ea typeface="Calibri" pitchFamily="34" charset="-122"/>
                <a:cs typeface="Calibri" pitchFamily="34" charset="-120"/>
              </a:rPr>
              <a:t>MAC-matched Swin</a:t>
            </a:r>
            <a:endParaRPr lang="en-US" sz="1400" dirty="0"/>
          </a:p>
        </p:txBody>
      </p:sp>
      <p:sp>
        <p:nvSpPr>
          <p:cNvPr id="34" name="Text 32"/>
          <p:cNvSpPr txBox="1"/>
          <p:nvPr/>
        </p:nvSpPr>
        <p:spPr>
          <a:xfrm>
            <a:off x="6766560" y="1234440"/>
            <a:ext cx="4846320" cy="320040"/>
          </a:xfrm>
          <a:prstGeom prst="rect">
            <a:avLst/>
          </a:prstGeom>
          <a:noFill/>
          <a:ln/>
        </p:spPr>
        <p:txBody>
          <a:bodyPr wrap="square" lIns="0" tIns="0" rIns="0" bIns="0" rtlCol="0" anchor="t"/>
          <a:lstStyle/>
          <a:p>
            <a:pPr indent="0" marL="0">
              <a:buNone/>
            </a:pPr>
            <a:r>
              <a:rPr lang="en-US" sz="1600" b="1" dirty="0">
                <a:solidFill>
                  <a:srgbClr val="0F2A3D"/>
                </a:solidFill>
                <a:latin typeface="Calibri" pitchFamily="34" charset="0"/>
                <a:ea typeface="Calibri" pitchFamily="34" charset="-122"/>
                <a:cs typeface="Calibri" pitchFamily="34" charset="-120"/>
              </a:rPr>
              <a:t>Protocol</a:t>
            </a:r>
            <a:endParaRPr lang="en-US" sz="1600" dirty="0"/>
          </a:p>
        </p:txBody>
      </p:sp>
      <p:sp>
        <p:nvSpPr>
          <p:cNvPr id="35" name="Protocol row 1"/>
          <p:cNvSpPr/>
          <p:nvPr/>
        </p:nvSpPr>
        <p:spPr>
          <a:xfrm>
            <a:off x="6766560" y="1691640"/>
            <a:ext cx="4892040" cy="804672"/>
          </a:xfrm>
          <a:prstGeom prst="roundRect">
            <a:avLst>
              <a:gd name="adj" fmla="val 9091"/>
            </a:avLst>
          </a:prstGeom>
          <a:solidFill>
            <a:srgbClr val="FFFFFF"/>
          </a:solidFill>
          <a:ln w="12700">
            <a:solidFill>
              <a:srgbClr val="D3DEE4"/>
            </a:solidFill>
            <a:prstDash val="solid"/>
          </a:ln>
        </p:spPr>
      </p:sp>
      <p:sp>
        <p:nvSpPr>
          <p:cNvPr id="36" name="Protocol badge 1"/>
          <p:cNvSpPr/>
          <p:nvPr/>
        </p:nvSpPr>
        <p:spPr>
          <a:xfrm>
            <a:off x="6903720" y="1847088"/>
            <a:ext cx="457200" cy="457200"/>
          </a:xfrm>
          <a:prstGeom prst="ellipse">
            <a:avLst/>
          </a:prstGeom>
          <a:solidFill>
            <a:srgbClr val="F4A261"/>
          </a:solidFill>
          <a:ln/>
        </p:spPr>
      </p:sp>
      <p:sp>
        <p:nvSpPr>
          <p:cNvPr id="37" name="Protocol badge 1 label"/>
          <p:cNvSpPr txBox="1"/>
          <p:nvPr/>
        </p:nvSpPr>
        <p:spPr>
          <a:xfrm>
            <a:off x="6903720" y="1847088"/>
            <a:ext cx="457200" cy="457200"/>
          </a:xfrm>
          <a:prstGeom prst="rect">
            <a:avLst/>
          </a:prstGeom>
          <a:noFill/>
          <a:ln/>
        </p:spPr>
        <p:txBody>
          <a:bodyPr wrap="square" lIns="0" tIns="0" rIns="0" bIns="0" rtlCol="0" anchor="ctr"/>
          <a:lstStyle/>
          <a:p>
            <a:pPr algn="ctr" indent="0" marL="0">
              <a:buNone/>
            </a:pPr>
            <a:r>
              <a:rPr lang="en-US" sz="1400" b="1" dirty="0">
                <a:solidFill>
                  <a:srgbClr val="0F2A3D"/>
                </a:solidFill>
                <a:latin typeface="Calibri" pitchFamily="34" charset="0"/>
                <a:ea typeface="Calibri" pitchFamily="34" charset="-122"/>
                <a:cs typeface="Calibri" pitchFamily="34" charset="-120"/>
              </a:rPr>
              <a:t>1</a:t>
            </a:r>
            <a:endParaRPr lang="en-US" sz="1400" dirty="0"/>
          </a:p>
        </p:txBody>
      </p:sp>
      <p:sp>
        <p:nvSpPr>
          <p:cNvPr id="38" name="Text 36"/>
          <p:cNvSpPr txBox="1"/>
          <p:nvPr/>
        </p:nvSpPr>
        <p:spPr>
          <a:xfrm>
            <a:off x="7543800" y="1737360"/>
            <a:ext cx="4023360" cy="713232"/>
          </a:xfrm>
          <a:prstGeom prst="rect">
            <a:avLst/>
          </a:prstGeom>
          <a:noFill/>
          <a:ln/>
        </p:spPr>
        <p:txBody>
          <a:bodyPr wrap="square" lIns="0" tIns="0" rIns="0" bIns="0" rtlCol="0" anchor="ctr"/>
          <a:lstStyle/>
          <a:p>
            <a:pPr indent="0" marL="0">
              <a:buNone/>
            </a:pPr>
            <a:r>
              <a:rPr lang="en-US" sz="1400" dirty="0">
                <a:solidFill>
                  <a:srgbClr val="1A2530"/>
                </a:solidFill>
                <a:latin typeface="Calibri" pitchFamily="34" charset="0"/>
                <a:ea typeface="Calibri" pitchFamily="34" charset="-122"/>
                <a:cs typeface="Calibri" pitchFamily="34" charset="-120"/>
              </a:rPr>
              <a:t>Per-arm LR sweep (4 to 5 rates, 3+ seeds) on a held-out validation split</a:t>
            </a:r>
            <a:endParaRPr lang="en-US" sz="1400" dirty="0"/>
          </a:p>
        </p:txBody>
      </p:sp>
      <p:sp>
        <p:nvSpPr>
          <p:cNvPr id="39" name="Protocol row 2"/>
          <p:cNvSpPr/>
          <p:nvPr/>
        </p:nvSpPr>
        <p:spPr>
          <a:xfrm>
            <a:off x="6766560" y="2587752"/>
            <a:ext cx="4892040" cy="804672"/>
          </a:xfrm>
          <a:prstGeom prst="roundRect">
            <a:avLst>
              <a:gd name="adj" fmla="val 9091"/>
            </a:avLst>
          </a:prstGeom>
          <a:solidFill>
            <a:srgbClr val="FFFFFF"/>
          </a:solidFill>
          <a:ln w="12700">
            <a:solidFill>
              <a:srgbClr val="D3DEE4"/>
            </a:solidFill>
            <a:prstDash val="solid"/>
          </a:ln>
        </p:spPr>
      </p:sp>
      <p:sp>
        <p:nvSpPr>
          <p:cNvPr id="40" name="Protocol badge 2"/>
          <p:cNvSpPr/>
          <p:nvPr/>
        </p:nvSpPr>
        <p:spPr>
          <a:xfrm>
            <a:off x="6903720" y="2743200"/>
            <a:ext cx="457200" cy="457200"/>
          </a:xfrm>
          <a:prstGeom prst="ellipse">
            <a:avLst/>
          </a:prstGeom>
          <a:solidFill>
            <a:srgbClr val="F4A261"/>
          </a:solidFill>
          <a:ln/>
        </p:spPr>
      </p:sp>
      <p:sp>
        <p:nvSpPr>
          <p:cNvPr id="41" name="Protocol badge 2 label"/>
          <p:cNvSpPr txBox="1"/>
          <p:nvPr/>
        </p:nvSpPr>
        <p:spPr>
          <a:xfrm>
            <a:off x="6903720" y="2743200"/>
            <a:ext cx="457200" cy="457200"/>
          </a:xfrm>
          <a:prstGeom prst="rect">
            <a:avLst/>
          </a:prstGeom>
          <a:noFill/>
          <a:ln/>
        </p:spPr>
        <p:txBody>
          <a:bodyPr wrap="square" lIns="0" tIns="0" rIns="0" bIns="0" rtlCol="0" anchor="ctr"/>
          <a:lstStyle/>
          <a:p>
            <a:pPr algn="ctr" indent="0" marL="0">
              <a:buNone/>
            </a:pPr>
            <a:r>
              <a:rPr lang="en-US" sz="1400" b="1" dirty="0">
                <a:solidFill>
                  <a:srgbClr val="0F2A3D"/>
                </a:solidFill>
                <a:latin typeface="Calibri" pitchFamily="34" charset="0"/>
                <a:ea typeface="Calibri" pitchFamily="34" charset="-122"/>
                <a:cs typeface="Calibri" pitchFamily="34" charset="-120"/>
              </a:rPr>
              <a:t>2</a:t>
            </a:r>
            <a:endParaRPr lang="en-US" sz="1400" dirty="0"/>
          </a:p>
        </p:txBody>
      </p:sp>
      <p:sp>
        <p:nvSpPr>
          <p:cNvPr id="42" name="Text 40"/>
          <p:cNvSpPr txBox="1"/>
          <p:nvPr/>
        </p:nvSpPr>
        <p:spPr>
          <a:xfrm>
            <a:off x="7543800" y="2633472"/>
            <a:ext cx="4023360" cy="713232"/>
          </a:xfrm>
          <a:prstGeom prst="rect">
            <a:avLst/>
          </a:prstGeom>
          <a:noFill/>
          <a:ln/>
        </p:spPr>
        <p:txBody>
          <a:bodyPr wrap="square" lIns="0" tIns="0" rIns="0" bIns="0" rtlCol="0" anchor="ctr"/>
          <a:lstStyle/>
          <a:p>
            <a:pPr indent="0" marL="0">
              <a:buNone/>
            </a:pPr>
            <a:r>
              <a:rPr lang="en-US" sz="1400" dirty="0">
                <a:solidFill>
                  <a:srgbClr val="1A2530"/>
                </a:solidFill>
                <a:latin typeface="Calibri" pitchFamily="34" charset="0"/>
                <a:ea typeface="Calibri" pitchFamily="34" charset="-122"/>
                <a:cs typeface="Calibri" pitchFamily="34" charset="-120"/>
              </a:rPr>
              <a:t>Final: 5+ seeds, last epoch, test set used once</a:t>
            </a:r>
            <a:endParaRPr lang="en-US" sz="1400" dirty="0"/>
          </a:p>
        </p:txBody>
      </p:sp>
      <p:sp>
        <p:nvSpPr>
          <p:cNvPr id="43" name="Protocol row 3"/>
          <p:cNvSpPr/>
          <p:nvPr/>
        </p:nvSpPr>
        <p:spPr>
          <a:xfrm>
            <a:off x="6766560" y="3483864"/>
            <a:ext cx="4892040" cy="804672"/>
          </a:xfrm>
          <a:prstGeom prst="roundRect">
            <a:avLst>
              <a:gd name="adj" fmla="val 9091"/>
            </a:avLst>
          </a:prstGeom>
          <a:solidFill>
            <a:srgbClr val="FFFFFF"/>
          </a:solidFill>
          <a:ln w="12700">
            <a:solidFill>
              <a:srgbClr val="D3DEE4"/>
            </a:solidFill>
            <a:prstDash val="solid"/>
          </a:ln>
        </p:spPr>
      </p:sp>
      <p:sp>
        <p:nvSpPr>
          <p:cNvPr id="44" name="Protocol badge 3"/>
          <p:cNvSpPr/>
          <p:nvPr/>
        </p:nvSpPr>
        <p:spPr>
          <a:xfrm>
            <a:off x="6903720" y="3639312"/>
            <a:ext cx="457200" cy="457200"/>
          </a:xfrm>
          <a:prstGeom prst="ellipse">
            <a:avLst/>
          </a:prstGeom>
          <a:solidFill>
            <a:srgbClr val="F4A261"/>
          </a:solidFill>
          <a:ln/>
        </p:spPr>
      </p:sp>
      <p:sp>
        <p:nvSpPr>
          <p:cNvPr id="45" name="Protocol badge 3 label"/>
          <p:cNvSpPr txBox="1"/>
          <p:nvPr/>
        </p:nvSpPr>
        <p:spPr>
          <a:xfrm>
            <a:off x="6903720" y="3639312"/>
            <a:ext cx="457200" cy="457200"/>
          </a:xfrm>
          <a:prstGeom prst="rect">
            <a:avLst/>
          </a:prstGeom>
          <a:noFill/>
          <a:ln/>
        </p:spPr>
        <p:txBody>
          <a:bodyPr wrap="square" lIns="0" tIns="0" rIns="0" bIns="0" rtlCol="0" anchor="ctr"/>
          <a:lstStyle/>
          <a:p>
            <a:pPr algn="ctr" indent="0" marL="0">
              <a:buNone/>
            </a:pPr>
            <a:r>
              <a:rPr lang="en-US" sz="1400" b="1" dirty="0">
                <a:solidFill>
                  <a:srgbClr val="0F2A3D"/>
                </a:solidFill>
                <a:latin typeface="Calibri" pitchFamily="34" charset="0"/>
                <a:ea typeface="Calibri" pitchFamily="34" charset="-122"/>
                <a:cs typeface="Calibri" pitchFamily="34" charset="-120"/>
              </a:rPr>
              <a:t>3</a:t>
            </a:r>
            <a:endParaRPr lang="en-US" sz="1400" dirty="0"/>
          </a:p>
        </p:txBody>
      </p:sp>
      <p:sp>
        <p:nvSpPr>
          <p:cNvPr id="46" name="Text 44"/>
          <p:cNvSpPr txBox="1"/>
          <p:nvPr/>
        </p:nvSpPr>
        <p:spPr>
          <a:xfrm>
            <a:off x="7543800" y="3529584"/>
            <a:ext cx="4023360" cy="713232"/>
          </a:xfrm>
          <a:prstGeom prst="rect">
            <a:avLst/>
          </a:prstGeom>
          <a:noFill/>
          <a:ln/>
        </p:spPr>
        <p:txBody>
          <a:bodyPr wrap="square" lIns="0" tIns="0" rIns="0" bIns="0" rtlCol="0" anchor="ctr"/>
          <a:lstStyle/>
          <a:p>
            <a:pPr indent="0" marL="0">
              <a:buNone/>
            </a:pPr>
            <a:r>
              <a:rPr lang="en-US" sz="1400" dirty="0">
                <a:solidFill>
                  <a:srgbClr val="1A2530"/>
                </a:solidFill>
                <a:latin typeface="Calibri" pitchFamily="34" charset="0"/>
                <a:ea typeface="Calibri" pitchFamily="34" charset="-122"/>
                <a:cs typeface="Calibri" pitchFamily="34" charset="-120"/>
              </a:rPr>
              <a:t>MACs verified with a FLOP counter; GPU-hours logged</a:t>
            </a:r>
            <a:endParaRPr lang="en-US" sz="1400" dirty="0"/>
          </a:p>
        </p:txBody>
      </p:sp>
      <p:sp>
        <p:nvSpPr>
          <p:cNvPr id="47" name="Protocol row 4"/>
          <p:cNvSpPr/>
          <p:nvPr/>
        </p:nvSpPr>
        <p:spPr>
          <a:xfrm>
            <a:off x="6766560" y="4379976"/>
            <a:ext cx="4892040" cy="804672"/>
          </a:xfrm>
          <a:prstGeom prst="roundRect">
            <a:avLst>
              <a:gd name="adj" fmla="val 9091"/>
            </a:avLst>
          </a:prstGeom>
          <a:solidFill>
            <a:srgbClr val="FFFFFF"/>
          </a:solidFill>
          <a:ln w="12700">
            <a:solidFill>
              <a:srgbClr val="D3DEE4"/>
            </a:solidFill>
            <a:prstDash val="solid"/>
          </a:ln>
        </p:spPr>
      </p:sp>
      <p:sp>
        <p:nvSpPr>
          <p:cNvPr id="48" name="Protocol badge 4"/>
          <p:cNvSpPr/>
          <p:nvPr/>
        </p:nvSpPr>
        <p:spPr>
          <a:xfrm>
            <a:off x="6903720" y="4535424"/>
            <a:ext cx="457200" cy="457200"/>
          </a:xfrm>
          <a:prstGeom prst="ellipse">
            <a:avLst/>
          </a:prstGeom>
          <a:solidFill>
            <a:srgbClr val="F4A261"/>
          </a:solidFill>
          <a:ln/>
        </p:spPr>
      </p:sp>
      <p:sp>
        <p:nvSpPr>
          <p:cNvPr id="49" name="Protocol badge 4 label"/>
          <p:cNvSpPr txBox="1"/>
          <p:nvPr/>
        </p:nvSpPr>
        <p:spPr>
          <a:xfrm>
            <a:off x="6903720" y="4535424"/>
            <a:ext cx="457200" cy="457200"/>
          </a:xfrm>
          <a:prstGeom prst="rect">
            <a:avLst/>
          </a:prstGeom>
          <a:noFill/>
          <a:ln/>
        </p:spPr>
        <p:txBody>
          <a:bodyPr wrap="square" lIns="0" tIns="0" rIns="0" bIns="0" rtlCol="0" anchor="ctr"/>
          <a:lstStyle/>
          <a:p>
            <a:pPr algn="ctr" indent="0" marL="0">
              <a:buNone/>
            </a:pPr>
            <a:r>
              <a:rPr lang="en-US" sz="1400" b="1" dirty="0">
                <a:solidFill>
                  <a:srgbClr val="0F2A3D"/>
                </a:solidFill>
                <a:latin typeface="Calibri" pitchFamily="34" charset="0"/>
                <a:ea typeface="Calibri" pitchFamily="34" charset="-122"/>
                <a:cs typeface="Calibri" pitchFamily="34" charset="-120"/>
              </a:rPr>
              <a:t>4</a:t>
            </a:r>
            <a:endParaRPr lang="en-US" sz="1400" dirty="0"/>
          </a:p>
        </p:txBody>
      </p:sp>
      <p:sp>
        <p:nvSpPr>
          <p:cNvPr id="50" name="Text 48"/>
          <p:cNvSpPr txBox="1"/>
          <p:nvPr/>
        </p:nvSpPr>
        <p:spPr>
          <a:xfrm>
            <a:off x="7543800" y="4425696"/>
            <a:ext cx="4023360" cy="713232"/>
          </a:xfrm>
          <a:prstGeom prst="rect">
            <a:avLst/>
          </a:prstGeom>
          <a:noFill/>
          <a:ln/>
        </p:spPr>
        <p:txBody>
          <a:bodyPr wrap="square" lIns="0" tIns="0" rIns="0" bIns="0" rtlCol="0" anchor="ctr"/>
          <a:lstStyle/>
          <a:p>
            <a:pPr indent="0" marL="0">
              <a:buNone/>
            </a:pPr>
            <a:r>
              <a:rPr lang="en-US" sz="1400" dirty="0">
                <a:solidFill>
                  <a:srgbClr val="1A2530"/>
                </a:solidFill>
                <a:latin typeface="Calibri" pitchFamily="34" charset="0"/>
                <a:ea typeface="Calibri" pitchFamily="34" charset="-122"/>
                <a:cs typeface="Calibri" pitchFamily="34" charset="-120"/>
              </a:rPr>
              <a:t>Welch + Holm, TOST equivalence at 0.5 points</a:t>
            </a:r>
            <a:endParaRPr lang="en-US" sz="1400" dirty="0"/>
          </a:p>
        </p:txBody>
      </p:sp>
      <p:sp>
        <p:nvSpPr>
          <p:cNvPr id="51" name="Protocol row 5"/>
          <p:cNvSpPr/>
          <p:nvPr/>
        </p:nvSpPr>
        <p:spPr>
          <a:xfrm>
            <a:off x="6766560" y="5276088"/>
            <a:ext cx="4892040" cy="804672"/>
          </a:xfrm>
          <a:prstGeom prst="roundRect">
            <a:avLst>
              <a:gd name="adj" fmla="val 9091"/>
            </a:avLst>
          </a:prstGeom>
          <a:solidFill>
            <a:srgbClr val="FFFFFF"/>
          </a:solidFill>
          <a:ln w="12700">
            <a:solidFill>
              <a:srgbClr val="D3DEE4"/>
            </a:solidFill>
            <a:prstDash val="solid"/>
          </a:ln>
        </p:spPr>
      </p:sp>
      <p:sp>
        <p:nvSpPr>
          <p:cNvPr id="52" name="Protocol badge 5"/>
          <p:cNvSpPr/>
          <p:nvPr/>
        </p:nvSpPr>
        <p:spPr>
          <a:xfrm>
            <a:off x="6903720" y="5431536"/>
            <a:ext cx="457200" cy="457200"/>
          </a:xfrm>
          <a:prstGeom prst="ellipse">
            <a:avLst/>
          </a:prstGeom>
          <a:solidFill>
            <a:srgbClr val="F4A261"/>
          </a:solidFill>
          <a:ln/>
        </p:spPr>
      </p:sp>
      <p:sp>
        <p:nvSpPr>
          <p:cNvPr id="53" name="Protocol badge 5 label"/>
          <p:cNvSpPr txBox="1"/>
          <p:nvPr/>
        </p:nvSpPr>
        <p:spPr>
          <a:xfrm>
            <a:off x="6903720" y="5431536"/>
            <a:ext cx="457200" cy="457200"/>
          </a:xfrm>
          <a:prstGeom prst="rect">
            <a:avLst/>
          </a:prstGeom>
          <a:noFill/>
          <a:ln/>
        </p:spPr>
        <p:txBody>
          <a:bodyPr wrap="square" lIns="0" tIns="0" rIns="0" bIns="0" rtlCol="0" anchor="ctr"/>
          <a:lstStyle/>
          <a:p>
            <a:pPr algn="ctr" indent="0" marL="0">
              <a:buNone/>
            </a:pPr>
            <a:r>
              <a:rPr lang="en-US" sz="1400" b="1" dirty="0">
                <a:solidFill>
                  <a:srgbClr val="0F2A3D"/>
                </a:solidFill>
                <a:latin typeface="Calibri" pitchFamily="34" charset="0"/>
                <a:ea typeface="Calibri" pitchFamily="34" charset="-122"/>
                <a:cs typeface="Calibri" pitchFamily="34" charset="-120"/>
              </a:rPr>
              <a:t>5</a:t>
            </a:r>
            <a:endParaRPr lang="en-US" sz="1400" dirty="0"/>
          </a:p>
        </p:txBody>
      </p:sp>
      <p:sp>
        <p:nvSpPr>
          <p:cNvPr id="54" name="Text 52"/>
          <p:cNvSpPr txBox="1"/>
          <p:nvPr/>
        </p:nvSpPr>
        <p:spPr>
          <a:xfrm>
            <a:off x="7543800" y="5321808"/>
            <a:ext cx="4023360" cy="713232"/>
          </a:xfrm>
          <a:prstGeom prst="rect">
            <a:avLst/>
          </a:prstGeom>
          <a:noFill/>
          <a:ln/>
        </p:spPr>
        <p:txBody>
          <a:bodyPr wrap="square" lIns="0" tIns="0" rIns="0" bIns="0" rtlCol="0" anchor="ctr"/>
          <a:lstStyle/>
          <a:p>
            <a:pPr indent="0" marL="0">
              <a:buNone/>
            </a:pPr>
            <a:r>
              <a:rPr lang="en-US" sz="1400" dirty="0">
                <a:solidFill>
                  <a:srgbClr val="1A2530"/>
                </a:solidFill>
                <a:latin typeface="Calibri" pitchFamily="34" charset="0"/>
                <a:ea typeface="Calibri" pitchFamily="34" charset="-122"/>
                <a:cs typeface="Calibri" pitchFamily="34" charset="-120"/>
              </a:rPr>
              <a:t>Plan registered on OSF before final runs</a:t>
            </a:r>
            <a:endParaRPr lang="en-US" sz="14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Sustainable Development Goals</a:t>
            </a:r>
            <a:endParaRPr lang="en-US" sz="3200" dirty="0"/>
          </a:p>
        </p:txBody>
      </p:sp>
      <p:sp>
        <p:nvSpPr>
          <p:cNvPr id="3" name="SDG card SDG 9"/>
          <p:cNvSpPr/>
          <p:nvPr/>
        </p:nvSpPr>
        <p:spPr>
          <a:xfrm>
            <a:off x="548640" y="1280160"/>
            <a:ext cx="3566160" cy="4892040"/>
          </a:xfrm>
          <a:prstGeom prst="roundRect">
            <a:avLst>
              <a:gd name="adj" fmla="val 2051"/>
            </a:avLst>
          </a:prstGeom>
          <a:solidFill>
            <a:srgbClr val="FFFFFF"/>
          </a:solidFill>
          <a:ln w="12700">
            <a:solidFill>
              <a:srgbClr val="D3DEE4"/>
            </a:solidFill>
            <a:prstDash val="solid"/>
          </a:ln>
        </p:spPr>
      </p:sp>
      <p:pic>
        <p:nvPicPr>
          <p:cNvPr id="4" name="SDG 9 tile" descr="SDG 9: Industry, Innovation and Infrastructure (primary)">    </p:cNvPr>
          <p:cNvPicPr>
            <a:picLocks noChangeAspect="1"/>
          </p:cNvPicPr>
          <p:nvPr/>
        </p:nvPicPr>
        <p:blipFill>
          <a:blip r:embed="rId1"/>
          <a:stretch>
            <a:fillRect/>
          </a:stretch>
        </p:blipFill>
        <p:spPr>
          <a:xfrm>
            <a:off x="1188720" y="1463040"/>
            <a:ext cx="2286000" cy="2220686"/>
          </a:xfrm>
          <a:prstGeom prst="rect">
            <a:avLst/>
          </a:prstGeom>
        </p:spPr>
      </p:pic>
      <p:sp>
        <p:nvSpPr>
          <p:cNvPr id="5" name="Text 2"/>
          <p:cNvSpPr txBox="1"/>
          <p:nvPr/>
        </p:nvSpPr>
        <p:spPr>
          <a:xfrm>
            <a:off x="777240" y="3840480"/>
            <a:ext cx="3108960" cy="320040"/>
          </a:xfrm>
          <a:prstGeom prst="rect">
            <a:avLst/>
          </a:prstGeom>
          <a:noFill/>
          <a:ln/>
        </p:spPr>
        <p:txBody>
          <a:bodyPr wrap="square" lIns="0" tIns="0" rIns="0" bIns="0" rtlCol="0" anchor="t"/>
          <a:lstStyle/>
          <a:p>
            <a:pPr indent="0" marL="0">
              <a:buNone/>
            </a:pPr>
            <a:r>
              <a:rPr lang="en-US" sz="1600" b="1" dirty="0">
                <a:solidFill>
                  <a:srgbClr val="0F2A3D"/>
                </a:solidFill>
                <a:latin typeface="Calibri" pitchFamily="34" charset="0"/>
                <a:ea typeface="Calibri" pitchFamily="34" charset="-122"/>
                <a:cs typeface="Calibri" pitchFamily="34" charset="-120"/>
              </a:rPr>
              <a:t>SDG 9  (primary)</a:t>
            </a:r>
            <a:endParaRPr lang="en-US" sz="1600" dirty="0"/>
          </a:p>
        </p:txBody>
      </p:sp>
      <p:sp>
        <p:nvSpPr>
          <p:cNvPr id="6" name="Text 3"/>
          <p:cNvSpPr txBox="1"/>
          <p:nvPr/>
        </p:nvSpPr>
        <p:spPr>
          <a:xfrm>
            <a:off x="777240" y="4251960"/>
            <a:ext cx="3108960" cy="1783080"/>
          </a:xfrm>
          <a:prstGeom prst="rect">
            <a:avLst/>
          </a:prstGeom>
          <a:noFill/>
          <a:ln/>
        </p:spPr>
        <p:txBody>
          <a:bodyPr wrap="square" lIns="0" tIns="0" rIns="0" bIns="0" rtlCol="0" anchor="t"/>
          <a:lstStyle/>
          <a:p>
            <a:pPr indent="0" marL="0">
              <a:buNone/>
            </a:pPr>
            <a:r>
              <a:rPr lang="en-US" sz="1600" dirty="0">
                <a:solidFill>
                  <a:srgbClr val="1A2530"/>
                </a:solidFill>
                <a:latin typeface="Calibri" pitchFamily="34" charset="0"/>
                <a:ea typeface="Calibri" pitchFamily="34" charset="-122"/>
                <a:cs typeface="Calibri" pitchFamily="34" charset="-120"/>
              </a:rPr>
              <a:t>Open, licensed, reproducible harness and a capacity-controlled benchmark protocol (Target 9.5).</a:t>
            </a:r>
            <a:endParaRPr lang="en-US" sz="1600" dirty="0"/>
          </a:p>
        </p:txBody>
      </p:sp>
      <p:sp>
        <p:nvSpPr>
          <p:cNvPr id="7" name="SDG card SDG 12"/>
          <p:cNvSpPr/>
          <p:nvPr/>
        </p:nvSpPr>
        <p:spPr>
          <a:xfrm>
            <a:off x="4297680" y="1280160"/>
            <a:ext cx="3566160" cy="4892040"/>
          </a:xfrm>
          <a:prstGeom prst="roundRect">
            <a:avLst>
              <a:gd name="adj" fmla="val 2051"/>
            </a:avLst>
          </a:prstGeom>
          <a:solidFill>
            <a:srgbClr val="FFFFFF"/>
          </a:solidFill>
          <a:ln w="12700">
            <a:solidFill>
              <a:srgbClr val="D3DEE4"/>
            </a:solidFill>
            <a:prstDash val="solid"/>
          </a:ln>
        </p:spPr>
      </p:sp>
      <p:pic>
        <p:nvPicPr>
          <p:cNvPr id="8" name="SDG 12 tile" descr="SDG 12: Responsible Consumption and Production">    </p:cNvPr>
          <p:cNvPicPr>
            <a:picLocks noChangeAspect="1"/>
          </p:cNvPicPr>
          <p:nvPr/>
        </p:nvPicPr>
        <p:blipFill>
          <a:blip r:embed="rId2"/>
          <a:stretch>
            <a:fillRect/>
          </a:stretch>
        </p:blipFill>
        <p:spPr>
          <a:xfrm>
            <a:off x="4937760" y="1463040"/>
            <a:ext cx="2286000" cy="2220686"/>
          </a:xfrm>
          <a:prstGeom prst="rect">
            <a:avLst/>
          </a:prstGeom>
        </p:spPr>
      </p:pic>
      <p:sp>
        <p:nvSpPr>
          <p:cNvPr id="9" name="Text 5"/>
          <p:cNvSpPr txBox="1"/>
          <p:nvPr/>
        </p:nvSpPr>
        <p:spPr>
          <a:xfrm>
            <a:off x="4526280" y="3840480"/>
            <a:ext cx="3108960" cy="320040"/>
          </a:xfrm>
          <a:prstGeom prst="rect">
            <a:avLst/>
          </a:prstGeom>
          <a:noFill/>
          <a:ln/>
        </p:spPr>
        <p:txBody>
          <a:bodyPr wrap="square" lIns="0" tIns="0" rIns="0" bIns="0" rtlCol="0" anchor="t"/>
          <a:lstStyle/>
          <a:p>
            <a:pPr indent="0" marL="0">
              <a:buNone/>
            </a:pPr>
            <a:r>
              <a:rPr lang="en-US" sz="1600" b="1" dirty="0">
                <a:solidFill>
                  <a:srgbClr val="0F2A3D"/>
                </a:solidFill>
                <a:latin typeface="Calibri" pitchFamily="34" charset="0"/>
                <a:ea typeface="Calibri" pitchFamily="34" charset="-122"/>
                <a:cs typeface="Calibri" pitchFamily="34" charset="-120"/>
              </a:rPr>
              <a:t>SDG 12  (supporting)</a:t>
            </a:r>
            <a:endParaRPr lang="en-US" sz="1600" dirty="0"/>
          </a:p>
        </p:txBody>
      </p:sp>
      <p:sp>
        <p:nvSpPr>
          <p:cNvPr id="10" name="Text 6"/>
          <p:cNvSpPr txBox="1"/>
          <p:nvPr/>
        </p:nvSpPr>
        <p:spPr>
          <a:xfrm>
            <a:off x="4526280" y="4251960"/>
            <a:ext cx="3108960" cy="1783080"/>
          </a:xfrm>
          <a:prstGeom prst="rect">
            <a:avLst/>
          </a:prstGeom>
          <a:noFill/>
          <a:ln/>
        </p:spPr>
        <p:txBody>
          <a:bodyPr wrap="square" lIns="0" tIns="0" rIns="0" bIns="0" rtlCol="0" anchor="t"/>
          <a:lstStyle/>
          <a:p>
            <a:pPr indent="0" marL="0">
              <a:buNone/>
            </a:pPr>
            <a:r>
              <a:rPr lang="en-US" sz="1600" dirty="0">
                <a:solidFill>
                  <a:srgbClr val="1A2530"/>
                </a:solidFill>
                <a:latin typeface="Calibri" pitchFamily="34" charset="0"/>
                <a:ea typeface="Calibri" pitchFamily="34" charset="-122"/>
                <a:cs typeface="Calibri" pitchFamily="34" charset="-120"/>
              </a:rPr>
              <a:t>Fair-comparison protocol and published null results prevent wasted GPU runs; GPU-hours and MACs reported.</a:t>
            </a:r>
            <a:endParaRPr lang="en-US" sz="1600" dirty="0"/>
          </a:p>
        </p:txBody>
      </p:sp>
      <p:sp>
        <p:nvSpPr>
          <p:cNvPr id="11" name="SDG card SDG 13"/>
          <p:cNvSpPr/>
          <p:nvPr/>
        </p:nvSpPr>
        <p:spPr>
          <a:xfrm>
            <a:off x="8046720" y="1280160"/>
            <a:ext cx="3566160" cy="4892040"/>
          </a:xfrm>
          <a:prstGeom prst="roundRect">
            <a:avLst>
              <a:gd name="adj" fmla="val 2051"/>
            </a:avLst>
          </a:prstGeom>
          <a:solidFill>
            <a:srgbClr val="FFFFFF"/>
          </a:solidFill>
          <a:ln w="12700">
            <a:solidFill>
              <a:srgbClr val="D3DEE4"/>
            </a:solidFill>
            <a:prstDash val="solid"/>
          </a:ln>
        </p:spPr>
      </p:sp>
      <p:pic>
        <p:nvPicPr>
          <p:cNvPr id="12" name="SDG 13 tile" descr="SDG 13: Climate Action">    </p:cNvPr>
          <p:cNvPicPr>
            <a:picLocks noChangeAspect="1"/>
          </p:cNvPicPr>
          <p:nvPr/>
        </p:nvPicPr>
        <p:blipFill>
          <a:blip r:embed="rId3"/>
          <a:stretch>
            <a:fillRect/>
          </a:stretch>
        </p:blipFill>
        <p:spPr>
          <a:xfrm>
            <a:off x="8686800" y="1463040"/>
            <a:ext cx="2286000" cy="2220686"/>
          </a:xfrm>
          <a:prstGeom prst="rect">
            <a:avLst/>
          </a:prstGeom>
        </p:spPr>
      </p:pic>
      <p:sp>
        <p:nvSpPr>
          <p:cNvPr id="13" name="Text 8"/>
          <p:cNvSpPr txBox="1"/>
          <p:nvPr/>
        </p:nvSpPr>
        <p:spPr>
          <a:xfrm>
            <a:off x="8275320" y="3840480"/>
            <a:ext cx="3108960" cy="320040"/>
          </a:xfrm>
          <a:prstGeom prst="rect">
            <a:avLst/>
          </a:prstGeom>
          <a:noFill/>
          <a:ln/>
        </p:spPr>
        <p:txBody>
          <a:bodyPr wrap="square" lIns="0" tIns="0" rIns="0" bIns="0" rtlCol="0" anchor="t"/>
          <a:lstStyle/>
          <a:p>
            <a:pPr indent="0" marL="0">
              <a:buNone/>
            </a:pPr>
            <a:r>
              <a:rPr lang="en-US" sz="1600" b="1" dirty="0">
                <a:solidFill>
                  <a:srgbClr val="0F2A3D"/>
                </a:solidFill>
                <a:latin typeface="Calibri" pitchFamily="34" charset="0"/>
                <a:ea typeface="Calibri" pitchFamily="34" charset="-122"/>
                <a:cs typeface="Calibri" pitchFamily="34" charset="-120"/>
              </a:rPr>
              <a:t>SDG 13  (supporting)</a:t>
            </a:r>
            <a:endParaRPr lang="en-US" sz="1600" dirty="0"/>
          </a:p>
        </p:txBody>
      </p:sp>
      <p:sp>
        <p:nvSpPr>
          <p:cNvPr id="14" name="Text 9"/>
          <p:cNvSpPr txBox="1"/>
          <p:nvPr/>
        </p:nvSpPr>
        <p:spPr>
          <a:xfrm>
            <a:off x="8275320" y="4251960"/>
            <a:ext cx="3108960" cy="1783080"/>
          </a:xfrm>
          <a:prstGeom prst="rect">
            <a:avLst/>
          </a:prstGeom>
          <a:noFill/>
          <a:ln/>
        </p:spPr>
        <p:txBody>
          <a:bodyPr wrap="square" lIns="0" tIns="0" rIns="0" bIns="0" rtlCol="0" anchor="t"/>
          <a:lstStyle/>
          <a:p>
            <a:pPr indent="0" marL="0">
              <a:buNone/>
            </a:pPr>
            <a:r>
              <a:rPr lang="en-US" sz="1600" dirty="0">
                <a:solidFill>
                  <a:srgbClr val="1A2530"/>
                </a:solidFill>
                <a:latin typeface="Calibri" pitchFamily="34" charset="0"/>
                <a:ea typeface="Calibri" pitchFamily="34" charset="-122"/>
                <a:cs typeface="Calibri" pitchFamily="34" charset="-120"/>
              </a:rPr>
              <a:t>Efficiency-aware reporting makes compute cost visible. Indirect contribution, no emissions claim.</a:t>
            </a:r>
            <a:endParaRPr lang="en-US" sz="16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Plan of action: Gantt chart</a:t>
            </a:r>
            <a:endParaRPr lang="en-US" sz="3200" dirty="0"/>
          </a:p>
        </p:txBody>
      </p:sp>
      <p:sp>
        <p:nvSpPr>
          <p:cNvPr id="3" name="Month Nov"/>
          <p:cNvSpPr/>
          <p:nvPr/>
        </p:nvSpPr>
        <p:spPr>
          <a:xfrm>
            <a:off x="3611880" y="1234440"/>
            <a:ext cx="1138687" cy="320040"/>
          </a:xfrm>
          <a:prstGeom prst="rect">
            <a:avLst/>
          </a:prstGeom>
          <a:solidFill>
            <a:srgbClr val="0F2A3D"/>
          </a:solidFill>
          <a:ln/>
        </p:spPr>
      </p:sp>
      <p:sp>
        <p:nvSpPr>
          <p:cNvPr id="4" name="Text 2"/>
          <p:cNvSpPr txBox="1"/>
          <p:nvPr/>
        </p:nvSpPr>
        <p:spPr>
          <a:xfrm>
            <a:off x="3611880" y="1234440"/>
            <a:ext cx="1138687" cy="32004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Nov</a:t>
            </a:r>
            <a:endParaRPr lang="en-US" sz="1200" dirty="0"/>
          </a:p>
        </p:txBody>
      </p:sp>
      <p:sp>
        <p:nvSpPr>
          <p:cNvPr id="5" name="Gridline Nov"/>
          <p:cNvSpPr/>
          <p:nvPr/>
        </p:nvSpPr>
        <p:spPr>
          <a:xfrm>
            <a:off x="3611880" y="2148840"/>
            <a:ext cx="0" cy="3611880"/>
          </a:xfrm>
          <a:prstGeom prst="line">
            <a:avLst/>
          </a:prstGeom>
          <a:noFill/>
          <a:ln w="6350">
            <a:solidFill>
              <a:srgbClr val="D3DEE4"/>
            </a:solidFill>
            <a:prstDash val="solid"/>
          </a:ln>
        </p:spPr>
      </p:sp>
      <p:sp>
        <p:nvSpPr>
          <p:cNvPr id="6" name="Month Dec"/>
          <p:cNvSpPr/>
          <p:nvPr/>
        </p:nvSpPr>
        <p:spPr>
          <a:xfrm>
            <a:off x="4750567" y="1234440"/>
            <a:ext cx="1176643" cy="320040"/>
          </a:xfrm>
          <a:prstGeom prst="rect">
            <a:avLst/>
          </a:prstGeom>
          <a:solidFill>
            <a:srgbClr val="2A4A5E"/>
          </a:solidFill>
          <a:ln/>
        </p:spPr>
      </p:sp>
      <p:sp>
        <p:nvSpPr>
          <p:cNvPr id="7" name="Text 5"/>
          <p:cNvSpPr txBox="1"/>
          <p:nvPr/>
        </p:nvSpPr>
        <p:spPr>
          <a:xfrm>
            <a:off x="4750567" y="1234440"/>
            <a:ext cx="1176643" cy="32004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Dec</a:t>
            </a:r>
            <a:endParaRPr lang="en-US" sz="1200" dirty="0"/>
          </a:p>
        </p:txBody>
      </p:sp>
      <p:sp>
        <p:nvSpPr>
          <p:cNvPr id="8" name="Gridline Dec"/>
          <p:cNvSpPr/>
          <p:nvPr/>
        </p:nvSpPr>
        <p:spPr>
          <a:xfrm>
            <a:off x="4750567" y="2148840"/>
            <a:ext cx="0" cy="3611880"/>
          </a:xfrm>
          <a:prstGeom prst="line">
            <a:avLst/>
          </a:prstGeom>
          <a:noFill/>
          <a:ln w="6350">
            <a:solidFill>
              <a:srgbClr val="D3DEE4"/>
            </a:solidFill>
            <a:prstDash val="solid"/>
          </a:ln>
        </p:spPr>
      </p:sp>
      <p:sp>
        <p:nvSpPr>
          <p:cNvPr id="9" name="Month Jan"/>
          <p:cNvSpPr/>
          <p:nvPr/>
        </p:nvSpPr>
        <p:spPr>
          <a:xfrm>
            <a:off x="5927210" y="1234440"/>
            <a:ext cx="1176643" cy="320040"/>
          </a:xfrm>
          <a:prstGeom prst="rect">
            <a:avLst/>
          </a:prstGeom>
          <a:solidFill>
            <a:srgbClr val="0F2A3D"/>
          </a:solidFill>
          <a:ln/>
        </p:spPr>
      </p:sp>
      <p:sp>
        <p:nvSpPr>
          <p:cNvPr id="10" name="Text 8"/>
          <p:cNvSpPr txBox="1"/>
          <p:nvPr/>
        </p:nvSpPr>
        <p:spPr>
          <a:xfrm>
            <a:off x="5927210" y="1234440"/>
            <a:ext cx="1176643" cy="32004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Jan</a:t>
            </a:r>
            <a:endParaRPr lang="en-US" sz="1200" dirty="0"/>
          </a:p>
        </p:txBody>
      </p:sp>
      <p:sp>
        <p:nvSpPr>
          <p:cNvPr id="11" name="Gridline Jan"/>
          <p:cNvSpPr/>
          <p:nvPr/>
        </p:nvSpPr>
        <p:spPr>
          <a:xfrm>
            <a:off x="5927210" y="2148840"/>
            <a:ext cx="0" cy="3611880"/>
          </a:xfrm>
          <a:prstGeom prst="line">
            <a:avLst/>
          </a:prstGeom>
          <a:noFill/>
          <a:ln w="6350">
            <a:solidFill>
              <a:srgbClr val="D3DEE4"/>
            </a:solidFill>
            <a:prstDash val="solid"/>
          </a:ln>
        </p:spPr>
      </p:sp>
      <p:sp>
        <p:nvSpPr>
          <p:cNvPr id="12" name="Month Feb"/>
          <p:cNvSpPr/>
          <p:nvPr/>
        </p:nvSpPr>
        <p:spPr>
          <a:xfrm>
            <a:off x="7103853" y="1234440"/>
            <a:ext cx="1062774" cy="320040"/>
          </a:xfrm>
          <a:prstGeom prst="rect">
            <a:avLst/>
          </a:prstGeom>
          <a:solidFill>
            <a:srgbClr val="2A4A5E"/>
          </a:solidFill>
          <a:ln/>
        </p:spPr>
      </p:sp>
      <p:sp>
        <p:nvSpPr>
          <p:cNvPr id="13" name="Text 11"/>
          <p:cNvSpPr txBox="1"/>
          <p:nvPr/>
        </p:nvSpPr>
        <p:spPr>
          <a:xfrm>
            <a:off x="7103853" y="1234440"/>
            <a:ext cx="1062774" cy="32004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Feb</a:t>
            </a:r>
            <a:endParaRPr lang="en-US" sz="1200" dirty="0"/>
          </a:p>
        </p:txBody>
      </p:sp>
      <p:sp>
        <p:nvSpPr>
          <p:cNvPr id="14" name="Gridline Feb"/>
          <p:cNvSpPr/>
          <p:nvPr/>
        </p:nvSpPr>
        <p:spPr>
          <a:xfrm>
            <a:off x="7103853" y="2148840"/>
            <a:ext cx="0" cy="3611880"/>
          </a:xfrm>
          <a:prstGeom prst="line">
            <a:avLst/>
          </a:prstGeom>
          <a:noFill/>
          <a:ln w="6350">
            <a:solidFill>
              <a:srgbClr val="D3DEE4"/>
            </a:solidFill>
            <a:prstDash val="solid"/>
          </a:ln>
        </p:spPr>
      </p:sp>
      <p:sp>
        <p:nvSpPr>
          <p:cNvPr id="15" name="Month Mar"/>
          <p:cNvSpPr/>
          <p:nvPr/>
        </p:nvSpPr>
        <p:spPr>
          <a:xfrm>
            <a:off x="8166627" y="1234440"/>
            <a:ext cx="1176643" cy="320040"/>
          </a:xfrm>
          <a:prstGeom prst="rect">
            <a:avLst/>
          </a:prstGeom>
          <a:solidFill>
            <a:srgbClr val="0F2A3D"/>
          </a:solidFill>
          <a:ln/>
        </p:spPr>
      </p:sp>
      <p:sp>
        <p:nvSpPr>
          <p:cNvPr id="16" name="Text 14"/>
          <p:cNvSpPr txBox="1"/>
          <p:nvPr/>
        </p:nvSpPr>
        <p:spPr>
          <a:xfrm>
            <a:off x="8166627" y="1234440"/>
            <a:ext cx="1176643" cy="32004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Mar</a:t>
            </a:r>
            <a:endParaRPr lang="en-US" sz="1200" dirty="0"/>
          </a:p>
        </p:txBody>
      </p:sp>
      <p:sp>
        <p:nvSpPr>
          <p:cNvPr id="17" name="Gridline Mar"/>
          <p:cNvSpPr/>
          <p:nvPr/>
        </p:nvSpPr>
        <p:spPr>
          <a:xfrm>
            <a:off x="8166627" y="2148840"/>
            <a:ext cx="0" cy="3611880"/>
          </a:xfrm>
          <a:prstGeom prst="line">
            <a:avLst/>
          </a:prstGeom>
          <a:noFill/>
          <a:ln w="6350">
            <a:solidFill>
              <a:srgbClr val="D3DEE4"/>
            </a:solidFill>
            <a:prstDash val="solid"/>
          </a:ln>
        </p:spPr>
      </p:sp>
      <p:sp>
        <p:nvSpPr>
          <p:cNvPr id="18" name="Month Apr"/>
          <p:cNvSpPr/>
          <p:nvPr/>
        </p:nvSpPr>
        <p:spPr>
          <a:xfrm>
            <a:off x="9343270" y="1234440"/>
            <a:ext cx="1138687" cy="320040"/>
          </a:xfrm>
          <a:prstGeom prst="rect">
            <a:avLst/>
          </a:prstGeom>
          <a:solidFill>
            <a:srgbClr val="2A4A5E"/>
          </a:solidFill>
          <a:ln/>
        </p:spPr>
      </p:sp>
      <p:sp>
        <p:nvSpPr>
          <p:cNvPr id="19" name="Text 17"/>
          <p:cNvSpPr txBox="1"/>
          <p:nvPr/>
        </p:nvSpPr>
        <p:spPr>
          <a:xfrm>
            <a:off x="9343270" y="1234440"/>
            <a:ext cx="1138687" cy="32004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Apr</a:t>
            </a:r>
            <a:endParaRPr lang="en-US" sz="1200" dirty="0"/>
          </a:p>
        </p:txBody>
      </p:sp>
      <p:sp>
        <p:nvSpPr>
          <p:cNvPr id="20" name="Gridline Apr"/>
          <p:cNvSpPr/>
          <p:nvPr/>
        </p:nvSpPr>
        <p:spPr>
          <a:xfrm>
            <a:off x="9343270" y="2148840"/>
            <a:ext cx="0" cy="3611880"/>
          </a:xfrm>
          <a:prstGeom prst="line">
            <a:avLst/>
          </a:prstGeom>
          <a:noFill/>
          <a:ln w="6350">
            <a:solidFill>
              <a:srgbClr val="D3DEE4"/>
            </a:solidFill>
            <a:prstDash val="solid"/>
          </a:ln>
        </p:spPr>
      </p:sp>
      <p:sp>
        <p:nvSpPr>
          <p:cNvPr id="21" name="Month May"/>
          <p:cNvSpPr/>
          <p:nvPr/>
        </p:nvSpPr>
        <p:spPr>
          <a:xfrm>
            <a:off x="10481957" y="1234440"/>
            <a:ext cx="1176643" cy="320040"/>
          </a:xfrm>
          <a:prstGeom prst="rect">
            <a:avLst/>
          </a:prstGeom>
          <a:solidFill>
            <a:srgbClr val="0F2A3D"/>
          </a:solidFill>
          <a:ln/>
        </p:spPr>
      </p:sp>
      <p:sp>
        <p:nvSpPr>
          <p:cNvPr id="22" name="Text 20"/>
          <p:cNvSpPr txBox="1"/>
          <p:nvPr/>
        </p:nvSpPr>
        <p:spPr>
          <a:xfrm>
            <a:off x="10481957" y="1234440"/>
            <a:ext cx="1176643" cy="32004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May</a:t>
            </a:r>
            <a:endParaRPr lang="en-US" sz="1200" dirty="0"/>
          </a:p>
        </p:txBody>
      </p:sp>
      <p:sp>
        <p:nvSpPr>
          <p:cNvPr id="23" name="Gridline May"/>
          <p:cNvSpPr/>
          <p:nvPr/>
        </p:nvSpPr>
        <p:spPr>
          <a:xfrm>
            <a:off x="10481957" y="2148840"/>
            <a:ext cx="0" cy="3611880"/>
          </a:xfrm>
          <a:prstGeom prst="line">
            <a:avLst/>
          </a:prstGeom>
          <a:noFill/>
          <a:ln w="6350">
            <a:solidFill>
              <a:srgbClr val="D3DEE4"/>
            </a:solidFill>
            <a:prstDash val="solid"/>
          </a:ln>
        </p:spPr>
      </p:sp>
      <p:sp>
        <p:nvSpPr>
          <p:cNvPr id="24" name="Band Review 0"/>
          <p:cNvSpPr/>
          <p:nvPr/>
        </p:nvSpPr>
        <p:spPr>
          <a:xfrm>
            <a:off x="3801661" y="2148840"/>
            <a:ext cx="151825" cy="3611880"/>
          </a:xfrm>
          <a:prstGeom prst="rect">
            <a:avLst/>
          </a:prstGeom>
          <a:solidFill>
            <a:srgbClr val="F4A261">
              <a:alpha val="30000"/>
            </a:srgbClr>
          </a:solidFill>
          <a:ln/>
        </p:spPr>
      </p:sp>
      <p:sp>
        <p:nvSpPr>
          <p:cNvPr id="25" name="Band Changes window"/>
          <p:cNvSpPr/>
          <p:nvPr/>
        </p:nvSpPr>
        <p:spPr>
          <a:xfrm>
            <a:off x="6116991" y="2148840"/>
            <a:ext cx="265694" cy="3611880"/>
          </a:xfrm>
          <a:prstGeom prst="rect">
            <a:avLst/>
          </a:prstGeom>
          <a:solidFill>
            <a:srgbClr val="F4A261">
              <a:alpha val="30000"/>
            </a:srgbClr>
          </a:solidFill>
          <a:ln/>
        </p:spPr>
      </p:sp>
      <p:sp>
        <p:nvSpPr>
          <p:cNvPr id="26" name="Band Review I"/>
          <p:cNvSpPr/>
          <p:nvPr/>
        </p:nvSpPr>
        <p:spPr>
          <a:xfrm>
            <a:off x="6762247" y="2148840"/>
            <a:ext cx="265694" cy="3611880"/>
          </a:xfrm>
          <a:prstGeom prst="rect">
            <a:avLst/>
          </a:prstGeom>
          <a:solidFill>
            <a:srgbClr val="F4A261">
              <a:alpha val="30000"/>
            </a:srgbClr>
          </a:solidFill>
          <a:ln/>
        </p:spPr>
      </p:sp>
      <p:sp>
        <p:nvSpPr>
          <p:cNvPr id="27" name="Band Review II"/>
          <p:cNvSpPr/>
          <p:nvPr/>
        </p:nvSpPr>
        <p:spPr>
          <a:xfrm>
            <a:off x="8204583" y="2148840"/>
            <a:ext cx="265694" cy="3611880"/>
          </a:xfrm>
          <a:prstGeom prst="rect">
            <a:avLst/>
          </a:prstGeom>
          <a:solidFill>
            <a:srgbClr val="F4A261">
              <a:alpha val="30000"/>
            </a:srgbClr>
          </a:solidFill>
          <a:ln/>
        </p:spPr>
      </p:sp>
      <p:sp>
        <p:nvSpPr>
          <p:cNvPr id="28" name="Band Review III"/>
          <p:cNvSpPr/>
          <p:nvPr/>
        </p:nvSpPr>
        <p:spPr>
          <a:xfrm>
            <a:off x="10064438" y="2148840"/>
            <a:ext cx="151825" cy="3611880"/>
          </a:xfrm>
          <a:prstGeom prst="rect">
            <a:avLst/>
          </a:prstGeom>
          <a:solidFill>
            <a:srgbClr val="F4A261">
              <a:alpha val="30000"/>
            </a:srgbClr>
          </a:solidFill>
          <a:ln/>
        </p:spPr>
      </p:sp>
      <p:sp>
        <p:nvSpPr>
          <p:cNvPr id="29" name="Band Report"/>
          <p:cNvSpPr/>
          <p:nvPr/>
        </p:nvSpPr>
        <p:spPr>
          <a:xfrm>
            <a:off x="10368088" y="2148840"/>
            <a:ext cx="303650" cy="3611880"/>
          </a:xfrm>
          <a:prstGeom prst="rect">
            <a:avLst/>
          </a:prstGeom>
          <a:solidFill>
            <a:srgbClr val="F4A261">
              <a:alpha val="30000"/>
            </a:srgbClr>
          </a:solidFill>
          <a:ln/>
        </p:spPr>
      </p:sp>
      <p:sp>
        <p:nvSpPr>
          <p:cNvPr id="30" name="Band Viva"/>
          <p:cNvSpPr/>
          <p:nvPr/>
        </p:nvSpPr>
        <p:spPr>
          <a:xfrm>
            <a:off x="10709694" y="2148840"/>
            <a:ext cx="303650" cy="3611880"/>
          </a:xfrm>
          <a:prstGeom prst="rect">
            <a:avLst/>
          </a:prstGeom>
          <a:solidFill>
            <a:srgbClr val="F4A261">
              <a:alpha val="30000"/>
            </a:srgbClr>
          </a:solidFill>
          <a:ln/>
        </p:spPr>
      </p:sp>
      <p:sp>
        <p:nvSpPr>
          <p:cNvPr id="31" name="Milestone Review 0"/>
          <p:cNvSpPr/>
          <p:nvPr/>
        </p:nvSpPr>
        <p:spPr>
          <a:xfrm>
            <a:off x="3639830" y="1627632"/>
            <a:ext cx="475488" cy="210312"/>
          </a:xfrm>
          <a:prstGeom prst="roundRect">
            <a:avLst>
              <a:gd name="adj" fmla="val 34783"/>
            </a:avLst>
          </a:prstGeom>
          <a:solidFill>
            <a:srgbClr val="F4A261"/>
          </a:solidFill>
          <a:ln/>
        </p:spPr>
      </p:sp>
      <p:sp>
        <p:nvSpPr>
          <p:cNvPr id="32" name="Text 30"/>
          <p:cNvSpPr txBox="1"/>
          <p:nvPr/>
        </p:nvSpPr>
        <p:spPr>
          <a:xfrm>
            <a:off x="3639830" y="1627632"/>
            <a:ext cx="475488" cy="210312"/>
          </a:xfrm>
          <a:prstGeom prst="rect">
            <a:avLst/>
          </a:prstGeom>
          <a:noFill/>
          <a:ln/>
        </p:spPr>
        <p:txBody>
          <a:bodyPr wrap="square" lIns="0" tIns="0" rIns="0" bIns="0" rtlCol="0" anchor="ctr"/>
          <a:lstStyle/>
          <a:p>
            <a:pPr algn="ctr" indent="0" marL="0">
              <a:buNone/>
            </a:pPr>
            <a:r>
              <a:rPr lang="en-US" sz="1000" b="1" dirty="0">
                <a:solidFill>
                  <a:srgbClr val="0F2A3D"/>
                </a:solidFill>
                <a:latin typeface="Calibri" pitchFamily="34" charset="0"/>
                <a:ea typeface="Calibri" pitchFamily="34" charset="-122"/>
                <a:cs typeface="Calibri" pitchFamily="34" charset="-120"/>
              </a:rPr>
              <a:t>R0</a:t>
            </a:r>
            <a:endParaRPr lang="en-US" sz="1000" dirty="0"/>
          </a:p>
        </p:txBody>
      </p:sp>
      <p:sp>
        <p:nvSpPr>
          <p:cNvPr id="33" name="Milestone Changes window"/>
          <p:cNvSpPr/>
          <p:nvPr/>
        </p:nvSpPr>
        <p:spPr>
          <a:xfrm>
            <a:off x="6012094" y="1874520"/>
            <a:ext cx="475488" cy="210312"/>
          </a:xfrm>
          <a:prstGeom prst="roundRect">
            <a:avLst>
              <a:gd name="adj" fmla="val 34783"/>
            </a:avLst>
          </a:prstGeom>
          <a:solidFill>
            <a:srgbClr val="F4A261"/>
          </a:solidFill>
          <a:ln/>
        </p:spPr>
      </p:sp>
      <p:sp>
        <p:nvSpPr>
          <p:cNvPr id="34" name="Text 32"/>
          <p:cNvSpPr txBox="1"/>
          <p:nvPr/>
        </p:nvSpPr>
        <p:spPr>
          <a:xfrm>
            <a:off x="6012094" y="1874520"/>
            <a:ext cx="475488" cy="210312"/>
          </a:xfrm>
          <a:prstGeom prst="rect">
            <a:avLst/>
          </a:prstGeom>
          <a:noFill/>
          <a:ln/>
        </p:spPr>
        <p:txBody>
          <a:bodyPr wrap="square" lIns="0" tIns="0" rIns="0" bIns="0" rtlCol="0" anchor="ctr"/>
          <a:lstStyle/>
          <a:p>
            <a:pPr algn="ctr" indent="0" marL="0">
              <a:buNone/>
            </a:pPr>
            <a:r>
              <a:rPr lang="en-US" sz="1000" b="1" dirty="0">
                <a:solidFill>
                  <a:srgbClr val="0F2A3D"/>
                </a:solidFill>
                <a:latin typeface="Calibri" pitchFamily="34" charset="0"/>
                <a:ea typeface="Calibri" pitchFamily="34" charset="-122"/>
                <a:cs typeface="Calibri" pitchFamily="34" charset="-120"/>
              </a:rPr>
              <a:t>Chg</a:t>
            </a:r>
            <a:endParaRPr lang="en-US" sz="1000" dirty="0"/>
          </a:p>
        </p:txBody>
      </p:sp>
      <p:sp>
        <p:nvSpPr>
          <p:cNvPr id="35" name="Milestone Review I"/>
          <p:cNvSpPr/>
          <p:nvPr/>
        </p:nvSpPr>
        <p:spPr>
          <a:xfrm>
            <a:off x="6657350" y="1627632"/>
            <a:ext cx="475488" cy="210312"/>
          </a:xfrm>
          <a:prstGeom prst="roundRect">
            <a:avLst>
              <a:gd name="adj" fmla="val 34783"/>
            </a:avLst>
          </a:prstGeom>
          <a:solidFill>
            <a:srgbClr val="F4A261"/>
          </a:solidFill>
          <a:ln/>
        </p:spPr>
      </p:sp>
      <p:sp>
        <p:nvSpPr>
          <p:cNvPr id="36" name="Text 34"/>
          <p:cNvSpPr txBox="1"/>
          <p:nvPr/>
        </p:nvSpPr>
        <p:spPr>
          <a:xfrm>
            <a:off x="6657350" y="1627632"/>
            <a:ext cx="475488" cy="210312"/>
          </a:xfrm>
          <a:prstGeom prst="rect">
            <a:avLst/>
          </a:prstGeom>
          <a:noFill/>
          <a:ln/>
        </p:spPr>
        <p:txBody>
          <a:bodyPr wrap="square" lIns="0" tIns="0" rIns="0" bIns="0" rtlCol="0" anchor="ctr"/>
          <a:lstStyle/>
          <a:p>
            <a:pPr algn="ctr" indent="0" marL="0">
              <a:buNone/>
            </a:pPr>
            <a:r>
              <a:rPr lang="en-US" sz="1000" b="1" dirty="0">
                <a:solidFill>
                  <a:srgbClr val="0F2A3D"/>
                </a:solidFill>
                <a:latin typeface="Calibri" pitchFamily="34" charset="0"/>
                <a:ea typeface="Calibri" pitchFamily="34" charset="-122"/>
                <a:cs typeface="Calibri" pitchFamily="34" charset="-120"/>
              </a:rPr>
              <a:t>R-I</a:t>
            </a:r>
            <a:endParaRPr lang="en-US" sz="1000" dirty="0"/>
          </a:p>
        </p:txBody>
      </p:sp>
      <p:sp>
        <p:nvSpPr>
          <p:cNvPr id="37" name="Milestone Review II"/>
          <p:cNvSpPr/>
          <p:nvPr/>
        </p:nvSpPr>
        <p:spPr>
          <a:xfrm>
            <a:off x="8099686" y="1874520"/>
            <a:ext cx="475488" cy="210312"/>
          </a:xfrm>
          <a:prstGeom prst="roundRect">
            <a:avLst>
              <a:gd name="adj" fmla="val 34783"/>
            </a:avLst>
          </a:prstGeom>
          <a:solidFill>
            <a:srgbClr val="F4A261"/>
          </a:solidFill>
          <a:ln/>
        </p:spPr>
      </p:sp>
      <p:sp>
        <p:nvSpPr>
          <p:cNvPr id="38" name="Text 36"/>
          <p:cNvSpPr txBox="1"/>
          <p:nvPr/>
        </p:nvSpPr>
        <p:spPr>
          <a:xfrm>
            <a:off x="8099686" y="1874520"/>
            <a:ext cx="475488" cy="210312"/>
          </a:xfrm>
          <a:prstGeom prst="rect">
            <a:avLst/>
          </a:prstGeom>
          <a:noFill/>
          <a:ln/>
        </p:spPr>
        <p:txBody>
          <a:bodyPr wrap="square" lIns="0" tIns="0" rIns="0" bIns="0" rtlCol="0" anchor="ctr"/>
          <a:lstStyle/>
          <a:p>
            <a:pPr algn="ctr" indent="0" marL="0">
              <a:buNone/>
            </a:pPr>
            <a:r>
              <a:rPr lang="en-US" sz="1000" b="1" dirty="0">
                <a:solidFill>
                  <a:srgbClr val="0F2A3D"/>
                </a:solidFill>
                <a:latin typeface="Calibri" pitchFamily="34" charset="0"/>
                <a:ea typeface="Calibri" pitchFamily="34" charset="-122"/>
                <a:cs typeface="Calibri" pitchFamily="34" charset="-120"/>
              </a:rPr>
              <a:t>R-II</a:t>
            </a:r>
            <a:endParaRPr lang="en-US" sz="1000" dirty="0"/>
          </a:p>
        </p:txBody>
      </p:sp>
      <p:sp>
        <p:nvSpPr>
          <p:cNvPr id="39" name="Milestone Review III"/>
          <p:cNvSpPr/>
          <p:nvPr/>
        </p:nvSpPr>
        <p:spPr>
          <a:xfrm>
            <a:off x="9902607" y="1627632"/>
            <a:ext cx="475488" cy="210312"/>
          </a:xfrm>
          <a:prstGeom prst="roundRect">
            <a:avLst>
              <a:gd name="adj" fmla="val 34783"/>
            </a:avLst>
          </a:prstGeom>
          <a:solidFill>
            <a:srgbClr val="F4A261"/>
          </a:solidFill>
          <a:ln/>
        </p:spPr>
      </p:sp>
      <p:sp>
        <p:nvSpPr>
          <p:cNvPr id="40" name="Text 38"/>
          <p:cNvSpPr txBox="1"/>
          <p:nvPr/>
        </p:nvSpPr>
        <p:spPr>
          <a:xfrm>
            <a:off x="9902607" y="1627632"/>
            <a:ext cx="475488" cy="210312"/>
          </a:xfrm>
          <a:prstGeom prst="rect">
            <a:avLst/>
          </a:prstGeom>
          <a:noFill/>
          <a:ln/>
        </p:spPr>
        <p:txBody>
          <a:bodyPr wrap="square" lIns="0" tIns="0" rIns="0" bIns="0" rtlCol="0" anchor="ctr"/>
          <a:lstStyle/>
          <a:p>
            <a:pPr algn="ctr" indent="0" marL="0">
              <a:buNone/>
            </a:pPr>
            <a:r>
              <a:rPr lang="en-US" sz="1000" b="1" dirty="0">
                <a:solidFill>
                  <a:srgbClr val="0F2A3D"/>
                </a:solidFill>
                <a:latin typeface="Calibri" pitchFamily="34" charset="0"/>
                <a:ea typeface="Calibri" pitchFamily="34" charset="-122"/>
                <a:cs typeface="Calibri" pitchFamily="34" charset="-120"/>
              </a:rPr>
              <a:t>R-III</a:t>
            </a:r>
            <a:endParaRPr lang="en-US" sz="1000" dirty="0"/>
          </a:p>
        </p:txBody>
      </p:sp>
      <p:sp>
        <p:nvSpPr>
          <p:cNvPr id="41" name="Milestone Report"/>
          <p:cNvSpPr/>
          <p:nvPr/>
        </p:nvSpPr>
        <p:spPr>
          <a:xfrm>
            <a:off x="10282169" y="1874520"/>
            <a:ext cx="475488" cy="210312"/>
          </a:xfrm>
          <a:prstGeom prst="roundRect">
            <a:avLst>
              <a:gd name="adj" fmla="val 34783"/>
            </a:avLst>
          </a:prstGeom>
          <a:solidFill>
            <a:srgbClr val="F4A261"/>
          </a:solidFill>
          <a:ln/>
        </p:spPr>
      </p:sp>
      <p:sp>
        <p:nvSpPr>
          <p:cNvPr id="42" name="Text 40"/>
          <p:cNvSpPr txBox="1"/>
          <p:nvPr/>
        </p:nvSpPr>
        <p:spPr>
          <a:xfrm>
            <a:off x="10282169" y="1874520"/>
            <a:ext cx="475488" cy="210312"/>
          </a:xfrm>
          <a:prstGeom prst="rect">
            <a:avLst/>
          </a:prstGeom>
          <a:noFill/>
          <a:ln/>
        </p:spPr>
        <p:txBody>
          <a:bodyPr wrap="square" lIns="0" tIns="0" rIns="0" bIns="0" rtlCol="0" anchor="ctr"/>
          <a:lstStyle/>
          <a:p>
            <a:pPr algn="ctr" indent="0" marL="0">
              <a:buNone/>
            </a:pPr>
            <a:r>
              <a:rPr lang="en-US" sz="1000" b="1" dirty="0">
                <a:solidFill>
                  <a:srgbClr val="0F2A3D"/>
                </a:solidFill>
                <a:latin typeface="Calibri" pitchFamily="34" charset="0"/>
                <a:ea typeface="Calibri" pitchFamily="34" charset="-122"/>
                <a:cs typeface="Calibri" pitchFamily="34" charset="-120"/>
              </a:rPr>
              <a:t>Rpt</a:t>
            </a:r>
            <a:endParaRPr lang="en-US" sz="1000" dirty="0"/>
          </a:p>
        </p:txBody>
      </p:sp>
      <p:sp>
        <p:nvSpPr>
          <p:cNvPr id="43" name="Milestone Viva"/>
          <p:cNvSpPr/>
          <p:nvPr/>
        </p:nvSpPr>
        <p:spPr>
          <a:xfrm>
            <a:off x="10623775" y="1627632"/>
            <a:ext cx="475488" cy="210312"/>
          </a:xfrm>
          <a:prstGeom prst="roundRect">
            <a:avLst>
              <a:gd name="adj" fmla="val 34783"/>
            </a:avLst>
          </a:prstGeom>
          <a:solidFill>
            <a:srgbClr val="F4A261"/>
          </a:solidFill>
          <a:ln/>
        </p:spPr>
      </p:sp>
      <p:sp>
        <p:nvSpPr>
          <p:cNvPr id="44" name="Text 42"/>
          <p:cNvSpPr txBox="1"/>
          <p:nvPr/>
        </p:nvSpPr>
        <p:spPr>
          <a:xfrm>
            <a:off x="10623775" y="1627632"/>
            <a:ext cx="475488" cy="210312"/>
          </a:xfrm>
          <a:prstGeom prst="rect">
            <a:avLst/>
          </a:prstGeom>
          <a:noFill/>
          <a:ln/>
        </p:spPr>
        <p:txBody>
          <a:bodyPr wrap="square" lIns="0" tIns="0" rIns="0" bIns="0" rtlCol="0" anchor="ctr"/>
          <a:lstStyle/>
          <a:p>
            <a:pPr algn="ctr" indent="0" marL="0">
              <a:buNone/>
            </a:pPr>
            <a:r>
              <a:rPr lang="en-US" sz="1000" b="1" dirty="0">
                <a:solidFill>
                  <a:srgbClr val="0F2A3D"/>
                </a:solidFill>
                <a:latin typeface="Calibri" pitchFamily="34" charset="0"/>
                <a:ea typeface="Calibri" pitchFamily="34" charset="-122"/>
                <a:cs typeface="Calibri" pitchFamily="34" charset="-120"/>
              </a:rPr>
              <a:t>Viva</a:t>
            </a:r>
            <a:endParaRPr lang="en-US" sz="1000" dirty="0"/>
          </a:p>
        </p:txBody>
      </p:sp>
      <p:sp>
        <p:nvSpPr>
          <p:cNvPr id="45" name="Row tint WP1"/>
          <p:cNvSpPr/>
          <p:nvPr/>
        </p:nvSpPr>
        <p:spPr>
          <a:xfrm>
            <a:off x="548640" y="2194560"/>
            <a:ext cx="11109960" cy="502920"/>
          </a:xfrm>
          <a:prstGeom prst="rect">
            <a:avLst/>
          </a:prstGeom>
          <a:solidFill>
            <a:srgbClr val="EAF1F4">
              <a:alpha val="50000"/>
            </a:srgbClr>
          </a:solidFill>
          <a:ln/>
        </p:spPr>
      </p:sp>
      <p:sp>
        <p:nvSpPr>
          <p:cNvPr id="46" name="Row tint WP3"/>
          <p:cNvSpPr/>
          <p:nvPr/>
        </p:nvSpPr>
        <p:spPr>
          <a:xfrm>
            <a:off x="548640" y="3200400"/>
            <a:ext cx="11109960" cy="502920"/>
          </a:xfrm>
          <a:prstGeom prst="rect">
            <a:avLst/>
          </a:prstGeom>
          <a:solidFill>
            <a:srgbClr val="EAF1F4">
              <a:alpha val="50000"/>
            </a:srgbClr>
          </a:solidFill>
          <a:ln/>
        </p:spPr>
      </p:sp>
      <p:sp>
        <p:nvSpPr>
          <p:cNvPr id="47" name="Row tint WP5"/>
          <p:cNvSpPr/>
          <p:nvPr/>
        </p:nvSpPr>
        <p:spPr>
          <a:xfrm>
            <a:off x="548640" y="4206240"/>
            <a:ext cx="11109960" cy="502920"/>
          </a:xfrm>
          <a:prstGeom prst="rect">
            <a:avLst/>
          </a:prstGeom>
          <a:solidFill>
            <a:srgbClr val="EAF1F4">
              <a:alpha val="50000"/>
            </a:srgbClr>
          </a:solidFill>
          <a:ln/>
        </p:spPr>
      </p:sp>
      <p:sp>
        <p:nvSpPr>
          <p:cNvPr id="48" name="Row tint WP7"/>
          <p:cNvSpPr/>
          <p:nvPr/>
        </p:nvSpPr>
        <p:spPr>
          <a:xfrm>
            <a:off x="548640" y="5212080"/>
            <a:ext cx="11109960" cy="502920"/>
          </a:xfrm>
          <a:prstGeom prst="rect">
            <a:avLst/>
          </a:prstGeom>
          <a:solidFill>
            <a:srgbClr val="EAF1F4">
              <a:alpha val="50000"/>
            </a:srgbClr>
          </a:solidFill>
          <a:ln/>
        </p:spPr>
      </p:sp>
      <p:sp>
        <p:nvSpPr>
          <p:cNvPr id="49" name="Text 47"/>
          <p:cNvSpPr txBox="1"/>
          <p:nvPr/>
        </p:nvSpPr>
        <p:spPr>
          <a:xfrm>
            <a:off x="640080" y="2194560"/>
            <a:ext cx="2880360" cy="502920"/>
          </a:xfrm>
          <a:prstGeom prst="rect">
            <a:avLst/>
          </a:prstGeom>
          <a:noFill/>
          <a:ln/>
        </p:spPr>
        <p:txBody>
          <a:bodyPr wrap="square" lIns="0" tIns="0" rIns="0" bIns="0" rtlCol="0" anchor="ctr"/>
          <a:lstStyle/>
          <a:p>
            <a:pPr indent="0" marL="0">
              <a:buNone/>
            </a:pPr>
            <a:r>
              <a:rPr lang="en-US" sz="1300" b="1" dirty="0">
                <a:solidFill>
                  <a:srgbClr val="1B7F8C"/>
                </a:solidFill>
                <a:latin typeface="Calibri" pitchFamily="34" charset="0"/>
                <a:ea typeface="Calibri" pitchFamily="34" charset="-122"/>
                <a:cs typeface="Calibri" pitchFamily="34" charset="-120"/>
              </a:rPr>
              <a:t>WP1  </a:t>
            </a:r>
            <a:pPr indent="0" marL="0">
              <a:buNone/>
            </a:pPr>
            <a:r>
              <a:rPr lang="en-US" sz="1300" dirty="0">
                <a:solidFill>
                  <a:srgbClr val="1A2530"/>
                </a:solidFill>
                <a:latin typeface="Calibri" pitchFamily="34" charset="0"/>
                <a:ea typeface="Calibri" pitchFamily="34" charset="-122"/>
                <a:cs typeface="Calibri" pitchFamily="34" charset="-120"/>
              </a:rPr>
              <a:t>Corrected release and erratum</a:t>
            </a:r>
            <a:endParaRPr lang="en-US" sz="1300" dirty="0"/>
          </a:p>
        </p:txBody>
      </p:sp>
      <p:sp>
        <p:nvSpPr>
          <p:cNvPr id="50" name="Bar WP1"/>
          <p:cNvSpPr/>
          <p:nvPr/>
        </p:nvSpPr>
        <p:spPr>
          <a:xfrm>
            <a:off x="3991442" y="2286000"/>
            <a:ext cx="1480293" cy="320040"/>
          </a:xfrm>
          <a:prstGeom prst="roundRect">
            <a:avLst>
              <a:gd name="adj" fmla="val 17143"/>
            </a:avLst>
          </a:prstGeom>
          <a:solidFill>
            <a:srgbClr val="1B7F8C"/>
          </a:solidFill>
          <a:ln/>
        </p:spPr>
      </p:sp>
      <p:sp>
        <p:nvSpPr>
          <p:cNvPr id="51" name="Text 49"/>
          <p:cNvSpPr txBox="1"/>
          <p:nvPr/>
        </p:nvSpPr>
        <p:spPr>
          <a:xfrm>
            <a:off x="3991442" y="2286000"/>
            <a:ext cx="1480293" cy="32004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RO1</a:t>
            </a:r>
            <a:endParaRPr lang="en-US" sz="1100" dirty="0"/>
          </a:p>
        </p:txBody>
      </p:sp>
      <p:sp>
        <p:nvSpPr>
          <p:cNvPr id="52" name="Text 50"/>
          <p:cNvSpPr txBox="1"/>
          <p:nvPr/>
        </p:nvSpPr>
        <p:spPr>
          <a:xfrm>
            <a:off x="640080" y="2697480"/>
            <a:ext cx="2880360" cy="502920"/>
          </a:xfrm>
          <a:prstGeom prst="rect">
            <a:avLst/>
          </a:prstGeom>
          <a:noFill/>
          <a:ln/>
        </p:spPr>
        <p:txBody>
          <a:bodyPr wrap="square" lIns="0" tIns="0" rIns="0" bIns="0" rtlCol="0" anchor="ctr"/>
          <a:lstStyle/>
          <a:p>
            <a:pPr indent="0" marL="0">
              <a:buNone/>
            </a:pPr>
            <a:r>
              <a:rPr lang="en-US" sz="1300" b="1" dirty="0">
                <a:solidFill>
                  <a:srgbClr val="1B7F8C"/>
                </a:solidFill>
                <a:latin typeface="Calibri" pitchFamily="34" charset="0"/>
                <a:ea typeface="Calibri" pitchFamily="34" charset="-122"/>
                <a:cs typeface="Calibri" pitchFamily="34" charset="-120"/>
              </a:rPr>
              <a:t>WP2  </a:t>
            </a:r>
            <a:pPr indent="0" marL="0">
              <a:buNone/>
            </a:pPr>
            <a:r>
              <a:rPr lang="en-US" sz="1300" dirty="0">
                <a:solidFill>
                  <a:srgbClr val="1A2530"/>
                </a:solidFill>
                <a:latin typeface="Calibri" pitchFamily="34" charset="0"/>
                <a:ea typeface="Calibri" pitchFamily="34" charset="-122"/>
                <a:cs typeface="Calibri" pitchFamily="34" charset="-120"/>
              </a:rPr>
              <a:t>OSF study plan and registration</a:t>
            </a:r>
            <a:endParaRPr lang="en-US" sz="1300" dirty="0"/>
          </a:p>
        </p:txBody>
      </p:sp>
      <p:sp>
        <p:nvSpPr>
          <p:cNvPr id="53" name="Bar WP2"/>
          <p:cNvSpPr/>
          <p:nvPr/>
        </p:nvSpPr>
        <p:spPr>
          <a:xfrm>
            <a:off x="3991442" y="2788920"/>
            <a:ext cx="1100731" cy="320040"/>
          </a:xfrm>
          <a:prstGeom prst="roundRect">
            <a:avLst>
              <a:gd name="adj" fmla="val 17143"/>
            </a:avLst>
          </a:prstGeom>
          <a:solidFill>
            <a:srgbClr val="F4A261"/>
          </a:solidFill>
          <a:ln/>
        </p:spPr>
      </p:sp>
      <p:sp>
        <p:nvSpPr>
          <p:cNvPr id="54" name="Text 52"/>
          <p:cNvSpPr txBox="1"/>
          <p:nvPr/>
        </p:nvSpPr>
        <p:spPr>
          <a:xfrm>
            <a:off x="3991442" y="2788920"/>
            <a:ext cx="1100731" cy="320040"/>
          </a:xfrm>
          <a:prstGeom prst="rect">
            <a:avLst/>
          </a:prstGeom>
          <a:noFill/>
          <a:ln/>
        </p:spPr>
        <p:txBody>
          <a:bodyPr wrap="square" lIns="0" tIns="0" rIns="0" bIns="0" rtlCol="0" anchor="ctr"/>
          <a:lstStyle/>
          <a:p>
            <a:pPr algn="ctr" indent="0" marL="0">
              <a:buNone/>
            </a:pPr>
            <a:r>
              <a:rPr lang="en-US" sz="1100" b="1" dirty="0">
                <a:solidFill>
                  <a:srgbClr val="0F2A3D"/>
                </a:solidFill>
                <a:latin typeface="Calibri" pitchFamily="34" charset="0"/>
                <a:ea typeface="Calibri" pitchFamily="34" charset="-122"/>
                <a:cs typeface="Calibri" pitchFamily="34" charset="-120"/>
              </a:rPr>
              <a:t>RO5</a:t>
            </a:r>
            <a:endParaRPr lang="en-US" sz="1100" dirty="0"/>
          </a:p>
        </p:txBody>
      </p:sp>
      <p:sp>
        <p:nvSpPr>
          <p:cNvPr id="55" name="Text 53"/>
          <p:cNvSpPr txBox="1"/>
          <p:nvPr/>
        </p:nvSpPr>
        <p:spPr>
          <a:xfrm>
            <a:off x="640080" y="3200400"/>
            <a:ext cx="2880360" cy="502920"/>
          </a:xfrm>
          <a:prstGeom prst="rect">
            <a:avLst/>
          </a:prstGeom>
          <a:noFill/>
          <a:ln/>
        </p:spPr>
        <p:txBody>
          <a:bodyPr wrap="square" lIns="0" tIns="0" rIns="0" bIns="0" rtlCol="0" anchor="ctr"/>
          <a:lstStyle/>
          <a:p>
            <a:pPr indent="0" marL="0">
              <a:buNone/>
            </a:pPr>
            <a:r>
              <a:rPr lang="en-US" sz="1300" b="1" dirty="0">
                <a:solidFill>
                  <a:srgbClr val="1B7F8C"/>
                </a:solidFill>
                <a:latin typeface="Calibri" pitchFamily="34" charset="0"/>
                <a:ea typeface="Calibri" pitchFamily="34" charset="-122"/>
                <a:cs typeface="Calibri" pitchFamily="34" charset="-120"/>
              </a:rPr>
              <a:t>WP3  </a:t>
            </a:r>
            <a:pPr indent="0" marL="0">
              <a:buNone/>
            </a:pPr>
            <a:r>
              <a:rPr lang="en-US" sz="1300" dirty="0">
                <a:solidFill>
                  <a:srgbClr val="1A2530"/>
                </a:solidFill>
                <a:latin typeface="Calibri" pitchFamily="34" charset="0"/>
                <a:ea typeface="Calibri" pitchFamily="34" charset="-122"/>
                <a:cs typeface="Calibri" pitchFamily="34" charset="-120"/>
              </a:rPr>
              <a:t>Capacity controls, small data sets</a:t>
            </a:r>
            <a:endParaRPr lang="en-US" sz="1300" dirty="0"/>
          </a:p>
        </p:txBody>
      </p:sp>
      <p:sp>
        <p:nvSpPr>
          <p:cNvPr id="56" name="Bar WP3"/>
          <p:cNvSpPr/>
          <p:nvPr/>
        </p:nvSpPr>
        <p:spPr>
          <a:xfrm>
            <a:off x="4750567" y="3291840"/>
            <a:ext cx="2505111" cy="320040"/>
          </a:xfrm>
          <a:prstGeom prst="roundRect">
            <a:avLst>
              <a:gd name="adj" fmla="val 17143"/>
            </a:avLst>
          </a:prstGeom>
          <a:solidFill>
            <a:srgbClr val="1B7F8C"/>
          </a:solidFill>
          <a:ln/>
        </p:spPr>
      </p:sp>
      <p:sp>
        <p:nvSpPr>
          <p:cNvPr id="57" name="Text 55"/>
          <p:cNvSpPr txBox="1"/>
          <p:nvPr/>
        </p:nvSpPr>
        <p:spPr>
          <a:xfrm>
            <a:off x="4750567" y="3291840"/>
            <a:ext cx="2505111" cy="32004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RO2</a:t>
            </a:r>
            <a:endParaRPr lang="en-US" sz="1100" dirty="0"/>
          </a:p>
        </p:txBody>
      </p:sp>
      <p:sp>
        <p:nvSpPr>
          <p:cNvPr id="58" name="Text 56"/>
          <p:cNvSpPr txBox="1"/>
          <p:nvPr/>
        </p:nvSpPr>
        <p:spPr>
          <a:xfrm>
            <a:off x="640080" y="3703320"/>
            <a:ext cx="2880360" cy="502920"/>
          </a:xfrm>
          <a:prstGeom prst="rect">
            <a:avLst/>
          </a:prstGeom>
          <a:noFill/>
          <a:ln/>
        </p:spPr>
        <p:txBody>
          <a:bodyPr wrap="square" lIns="0" tIns="0" rIns="0" bIns="0" rtlCol="0" anchor="ctr"/>
          <a:lstStyle/>
          <a:p>
            <a:pPr indent="0" marL="0">
              <a:buNone/>
            </a:pPr>
            <a:r>
              <a:rPr lang="en-US" sz="1300" b="1" dirty="0">
                <a:solidFill>
                  <a:srgbClr val="1B7F8C"/>
                </a:solidFill>
                <a:latin typeface="Calibri" pitchFamily="34" charset="0"/>
                <a:ea typeface="Calibri" pitchFamily="34" charset="-122"/>
                <a:cs typeface="Calibri" pitchFamily="34" charset="-120"/>
              </a:rPr>
              <a:t>WP4  </a:t>
            </a:r>
            <a:pPr indent="0" marL="0">
              <a:buNone/>
            </a:pPr>
            <a:r>
              <a:rPr lang="en-US" sz="1300" dirty="0">
                <a:solidFill>
                  <a:srgbClr val="1A2530"/>
                </a:solidFill>
                <a:latin typeface="Calibri" pitchFamily="34" charset="0"/>
                <a:ea typeface="Calibri" pitchFamily="34" charset="-122"/>
                <a:cs typeface="Calibri" pitchFamily="34" charset="-120"/>
              </a:rPr>
              <a:t>ImageNet-100 scale runs</a:t>
            </a:r>
            <a:endParaRPr lang="en-US" sz="1300" dirty="0"/>
          </a:p>
        </p:txBody>
      </p:sp>
      <p:sp>
        <p:nvSpPr>
          <p:cNvPr id="59" name="Bar WP4"/>
          <p:cNvSpPr/>
          <p:nvPr/>
        </p:nvSpPr>
        <p:spPr>
          <a:xfrm>
            <a:off x="6458597" y="3794760"/>
            <a:ext cx="2049636" cy="320040"/>
          </a:xfrm>
          <a:prstGeom prst="roundRect">
            <a:avLst>
              <a:gd name="adj" fmla="val 17143"/>
            </a:avLst>
          </a:prstGeom>
          <a:solidFill>
            <a:srgbClr val="1B7F8C"/>
          </a:solidFill>
          <a:ln/>
        </p:spPr>
      </p:sp>
      <p:sp>
        <p:nvSpPr>
          <p:cNvPr id="60" name="Text 58"/>
          <p:cNvSpPr txBox="1"/>
          <p:nvPr/>
        </p:nvSpPr>
        <p:spPr>
          <a:xfrm>
            <a:off x="6458597" y="3794760"/>
            <a:ext cx="2049636" cy="32004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RO3</a:t>
            </a:r>
            <a:endParaRPr lang="en-US" sz="1100" dirty="0"/>
          </a:p>
        </p:txBody>
      </p:sp>
      <p:sp>
        <p:nvSpPr>
          <p:cNvPr id="61" name="Text 59"/>
          <p:cNvSpPr txBox="1"/>
          <p:nvPr/>
        </p:nvSpPr>
        <p:spPr>
          <a:xfrm>
            <a:off x="640080" y="4206240"/>
            <a:ext cx="2880360" cy="502920"/>
          </a:xfrm>
          <a:prstGeom prst="rect">
            <a:avLst/>
          </a:prstGeom>
          <a:noFill/>
          <a:ln/>
        </p:spPr>
        <p:txBody>
          <a:bodyPr wrap="square" lIns="0" tIns="0" rIns="0" bIns="0" rtlCol="0" anchor="ctr"/>
          <a:lstStyle/>
          <a:p>
            <a:pPr indent="0" marL="0">
              <a:buNone/>
            </a:pPr>
            <a:r>
              <a:rPr lang="en-US" sz="1300" b="1" dirty="0">
                <a:solidFill>
                  <a:srgbClr val="1B7F8C"/>
                </a:solidFill>
                <a:latin typeface="Calibri" pitchFamily="34" charset="0"/>
                <a:ea typeface="Calibri" pitchFamily="34" charset="-122"/>
                <a:cs typeface="Calibri" pitchFamily="34" charset="-120"/>
              </a:rPr>
              <a:t>WP5  </a:t>
            </a:r>
            <a:pPr indent="0" marL="0">
              <a:buNone/>
            </a:pPr>
            <a:r>
              <a:rPr lang="en-US" sz="1300" dirty="0">
                <a:solidFill>
                  <a:srgbClr val="1A2530"/>
                </a:solidFill>
                <a:latin typeface="Calibri" pitchFamily="34" charset="0"/>
                <a:ea typeface="Calibri" pitchFamily="34" charset="-122"/>
                <a:cs typeface="Calibri" pitchFamily="34" charset="-120"/>
              </a:rPr>
              <a:t>Quantitative region evaluation</a:t>
            </a:r>
            <a:endParaRPr lang="en-US" sz="1300" dirty="0"/>
          </a:p>
        </p:txBody>
      </p:sp>
      <p:sp>
        <p:nvSpPr>
          <p:cNvPr id="62" name="Bar WP5"/>
          <p:cNvSpPr/>
          <p:nvPr/>
        </p:nvSpPr>
        <p:spPr>
          <a:xfrm>
            <a:off x="7103853" y="4297680"/>
            <a:ext cx="2201461" cy="320040"/>
          </a:xfrm>
          <a:prstGeom prst="roundRect">
            <a:avLst>
              <a:gd name="adj" fmla="val 17143"/>
            </a:avLst>
          </a:prstGeom>
          <a:solidFill>
            <a:srgbClr val="1B7F8C"/>
          </a:solidFill>
          <a:ln/>
        </p:spPr>
      </p:sp>
      <p:sp>
        <p:nvSpPr>
          <p:cNvPr id="63" name="Text 61"/>
          <p:cNvSpPr txBox="1"/>
          <p:nvPr/>
        </p:nvSpPr>
        <p:spPr>
          <a:xfrm>
            <a:off x="7103853" y="4297680"/>
            <a:ext cx="2201461" cy="32004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RO4</a:t>
            </a:r>
            <a:endParaRPr lang="en-US" sz="1100" dirty="0"/>
          </a:p>
        </p:txBody>
      </p:sp>
      <p:sp>
        <p:nvSpPr>
          <p:cNvPr id="64" name="Text 62"/>
          <p:cNvSpPr txBox="1"/>
          <p:nvPr/>
        </p:nvSpPr>
        <p:spPr>
          <a:xfrm>
            <a:off x="640080" y="4709160"/>
            <a:ext cx="2880360" cy="502920"/>
          </a:xfrm>
          <a:prstGeom prst="rect">
            <a:avLst/>
          </a:prstGeom>
          <a:noFill/>
          <a:ln/>
        </p:spPr>
        <p:txBody>
          <a:bodyPr wrap="square" lIns="0" tIns="0" rIns="0" bIns="0" rtlCol="0" anchor="ctr"/>
          <a:lstStyle/>
          <a:p>
            <a:pPr indent="0" marL="0">
              <a:buNone/>
            </a:pPr>
            <a:r>
              <a:rPr lang="en-US" sz="1300" b="1" dirty="0">
                <a:solidFill>
                  <a:srgbClr val="1B7F8C"/>
                </a:solidFill>
                <a:latin typeface="Calibri" pitchFamily="34" charset="0"/>
                <a:ea typeface="Calibri" pitchFamily="34" charset="-122"/>
                <a:cs typeface="Calibri" pitchFamily="34" charset="-120"/>
              </a:rPr>
              <a:t>WP6  </a:t>
            </a:r>
            <a:pPr indent="0" marL="0">
              <a:buNone/>
            </a:pPr>
            <a:r>
              <a:rPr lang="en-US" sz="1300" dirty="0">
                <a:solidFill>
                  <a:srgbClr val="1A2530"/>
                </a:solidFill>
                <a:latin typeface="Calibri" pitchFamily="34" charset="0"/>
                <a:ea typeface="Calibri" pitchFamily="34" charset="-122"/>
                <a:cs typeface="Calibri" pitchFamily="34" charset="-120"/>
              </a:rPr>
              <a:t>Analysis, writing, submissions</a:t>
            </a:r>
            <a:endParaRPr lang="en-US" sz="1300" dirty="0"/>
          </a:p>
        </p:txBody>
      </p:sp>
      <p:sp>
        <p:nvSpPr>
          <p:cNvPr id="65" name="Bar WP6"/>
          <p:cNvSpPr/>
          <p:nvPr/>
        </p:nvSpPr>
        <p:spPr>
          <a:xfrm>
            <a:off x="8166627" y="4800600"/>
            <a:ext cx="1897811" cy="320040"/>
          </a:xfrm>
          <a:prstGeom prst="roundRect">
            <a:avLst>
              <a:gd name="adj" fmla="val 17143"/>
            </a:avLst>
          </a:prstGeom>
          <a:solidFill>
            <a:srgbClr val="F4A261"/>
          </a:solidFill>
          <a:ln/>
        </p:spPr>
      </p:sp>
      <p:sp>
        <p:nvSpPr>
          <p:cNvPr id="66" name="Text 64"/>
          <p:cNvSpPr txBox="1"/>
          <p:nvPr/>
        </p:nvSpPr>
        <p:spPr>
          <a:xfrm>
            <a:off x="8166627" y="4800600"/>
            <a:ext cx="1897811" cy="320040"/>
          </a:xfrm>
          <a:prstGeom prst="rect">
            <a:avLst/>
          </a:prstGeom>
          <a:noFill/>
          <a:ln/>
        </p:spPr>
        <p:txBody>
          <a:bodyPr wrap="square" lIns="0" tIns="0" rIns="0" bIns="0" rtlCol="0" anchor="ctr"/>
          <a:lstStyle/>
          <a:p>
            <a:pPr algn="ctr" indent="0" marL="0">
              <a:buNone/>
            </a:pPr>
            <a:r>
              <a:rPr lang="en-US" sz="1100" b="1" dirty="0">
                <a:solidFill>
                  <a:srgbClr val="0F2A3D"/>
                </a:solidFill>
                <a:latin typeface="Calibri" pitchFamily="34" charset="0"/>
                <a:ea typeface="Calibri" pitchFamily="34" charset="-122"/>
                <a:cs typeface="Calibri" pitchFamily="34" charset="-120"/>
              </a:rPr>
              <a:t>RO5</a:t>
            </a:r>
            <a:endParaRPr lang="en-US" sz="1100" dirty="0"/>
          </a:p>
        </p:txBody>
      </p:sp>
      <p:sp>
        <p:nvSpPr>
          <p:cNvPr id="67" name="Text 65"/>
          <p:cNvSpPr txBox="1"/>
          <p:nvPr/>
        </p:nvSpPr>
        <p:spPr>
          <a:xfrm>
            <a:off x="640080" y="5212080"/>
            <a:ext cx="2880360" cy="502920"/>
          </a:xfrm>
          <a:prstGeom prst="rect">
            <a:avLst/>
          </a:prstGeom>
          <a:noFill/>
          <a:ln/>
        </p:spPr>
        <p:txBody>
          <a:bodyPr wrap="square" lIns="0" tIns="0" rIns="0" bIns="0" rtlCol="0" anchor="ctr"/>
          <a:lstStyle/>
          <a:p>
            <a:pPr indent="0" marL="0">
              <a:buNone/>
            </a:pPr>
            <a:r>
              <a:rPr lang="en-US" sz="1300" b="1" dirty="0">
                <a:solidFill>
                  <a:srgbClr val="1B7F8C"/>
                </a:solidFill>
                <a:latin typeface="Calibri" pitchFamily="34" charset="0"/>
                <a:ea typeface="Calibri" pitchFamily="34" charset="-122"/>
                <a:cs typeface="Calibri" pitchFamily="34" charset="-120"/>
              </a:rPr>
              <a:t>WP7  </a:t>
            </a:r>
            <a:pPr indent="0" marL="0">
              <a:buNone/>
            </a:pPr>
            <a:r>
              <a:rPr lang="en-US" sz="1300" dirty="0">
                <a:solidFill>
                  <a:srgbClr val="1A2530"/>
                </a:solidFill>
                <a:latin typeface="Calibri" pitchFamily="34" charset="0"/>
                <a:ea typeface="Calibri" pitchFamily="34" charset="-122"/>
                <a:cs typeface="Calibri" pitchFamily="34" charset="-120"/>
              </a:rPr>
              <a:t>Final report and viva preparation</a:t>
            </a:r>
            <a:endParaRPr lang="en-US" sz="1300" dirty="0"/>
          </a:p>
        </p:txBody>
      </p:sp>
      <p:sp>
        <p:nvSpPr>
          <p:cNvPr id="68" name="Bar WP7"/>
          <p:cNvSpPr/>
          <p:nvPr/>
        </p:nvSpPr>
        <p:spPr>
          <a:xfrm>
            <a:off x="10102395" y="5303520"/>
            <a:ext cx="910949" cy="320040"/>
          </a:xfrm>
          <a:prstGeom prst="roundRect">
            <a:avLst>
              <a:gd name="adj" fmla="val 17143"/>
            </a:avLst>
          </a:prstGeom>
          <a:solidFill>
            <a:srgbClr val="5B6B77"/>
          </a:solidFill>
          <a:ln/>
        </p:spPr>
      </p:sp>
      <p:sp>
        <p:nvSpPr>
          <p:cNvPr id="69" name="Text 67"/>
          <p:cNvSpPr txBox="1"/>
          <p:nvPr/>
        </p:nvSpPr>
        <p:spPr>
          <a:xfrm>
            <a:off x="10102395" y="5303520"/>
            <a:ext cx="910949" cy="32004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All</a:t>
            </a:r>
            <a:endParaRPr lang="en-US" sz="1100" dirty="0"/>
          </a:p>
        </p:txBody>
      </p:sp>
      <p:sp>
        <p:nvSpPr>
          <p:cNvPr id="70" name="Text 68"/>
          <p:cNvSpPr txBox="1"/>
          <p:nvPr/>
        </p:nvSpPr>
        <p:spPr>
          <a:xfrm>
            <a:off x="548640" y="5852160"/>
            <a:ext cx="11064240" cy="457200"/>
          </a:xfrm>
          <a:prstGeom prst="rect">
            <a:avLst/>
          </a:prstGeom>
          <a:noFill/>
          <a:ln/>
        </p:spPr>
        <p:txBody>
          <a:bodyPr wrap="square" lIns="0" tIns="0" rIns="0" bIns="0" rtlCol="0" anchor="t"/>
          <a:lstStyle/>
          <a:p>
            <a:pPr indent="0" marL="0">
              <a:buNone/>
            </a:pPr>
            <a:r>
              <a:rPr lang="en-US" sz="1200" dirty="0">
                <a:solidFill>
                  <a:srgbClr val="5B6B77"/>
                </a:solidFill>
                <a:latin typeface="Calibri" pitchFamily="34" charset="0"/>
                <a:ea typeface="Calibri" pitchFamily="34" charset="-122"/>
                <a:cs typeface="Calibri" pitchFamily="34" charset="-120"/>
              </a:rPr>
              <a:t>R0 / R-I / R-II / R-III: project reviews (shaded)   Chg: title and course change window   Rpt: report submission   Viva: viva voce   Bars show the research objective served.</a:t>
            </a:r>
            <a:endParaRPr lang="en-US" sz="1200" dirty="0"/>
          </a:p>
        </p:txBody>
      </p:sp>
      <p:sp>
        <p:nvSpPr>
          <p:cNvPr id="71" name="Text 69"/>
          <p:cNvSpPr txBox="1"/>
          <p:nvPr/>
        </p:nvSpPr>
        <p:spPr>
          <a:xfrm>
            <a:off x="548640" y="6199632"/>
            <a:ext cx="11064240" cy="274320"/>
          </a:xfrm>
          <a:prstGeom prst="rect">
            <a:avLst/>
          </a:prstGeom>
          <a:noFill/>
          <a:ln/>
        </p:spPr>
        <p:txBody>
          <a:bodyPr wrap="square" lIns="0" tIns="0" rIns="0" bIns="0" rtlCol="0" anchor="t"/>
          <a:lstStyle/>
          <a:p>
            <a:pPr indent="0" marL="0">
              <a:buNone/>
            </a:pPr>
            <a:r>
              <a:rPr lang="en-US" sz="1300" b="1" dirty="0">
                <a:solidFill>
                  <a:srgbClr val="0F2A3D"/>
                </a:solidFill>
                <a:latin typeface="Calibri" pitchFamily="34" charset="0"/>
                <a:ea typeface="Calibri" pitchFamily="34" charset="-122"/>
                <a:cs typeface="Calibri" pitchFamily="34" charset="-120"/>
              </a:rPr>
              <a:t>Publication window Dec 2026 to Apr 2027: Paper 1 (audit) submitted in Dec to Jan; Paper 2 (capacity-controlled study) submitted in Apr.</a:t>
            </a:r>
            <a:endParaRPr lang="en-US" sz="13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Deliverables, publication plan and TRL</a:t>
            </a:r>
            <a:endParaRPr lang="en-US" sz="3200" dirty="0"/>
          </a:p>
        </p:txBody>
      </p:sp>
      <p:graphicFrame>
        <p:nvGraphicFramePr>
          <p:cNvPr id="17" name="Deliverables table"/>
          <p:cNvGraphicFramePr>
            <a:graphicFrameLocks noGrp="1"/>
          </p:cNvGraphicFramePr>
          <p:nvPr>
            <p:extLst>
              <p:ext uri="{D42A27DB-BD31-4B8C-83A1-F6EECF244321}">
                <p14:modId xmlns:p14="http://schemas.microsoft.com/office/powerpoint/2010/main" val="1579011935"/>
              </p:ext>
            </p:extLst>
          </p:nvPr>
        </p:nvGraphicFramePr>
        <p:xfrm>
          <a:off x="548640" y="1280160"/>
          <a:ext cx="7040880" cy="914400"/>
        </p:xfrm>
        <a:graphic>
          <a:graphicData uri="http://schemas.openxmlformats.org/drawingml/2006/table">
            <a:tbl>
              <a:tblPr/>
              <a:tblGrid>
                <a:gridCol w="548640"/>
                <a:gridCol w="4937760"/>
                <a:gridCol w="1554480"/>
              </a:tblGrid>
              <a:tr h="365760">
                <a:tc>
                  <a:txBody>
                    <a:bodyPr/>
                    <a:lstStyle/>
                    <a:p>
                      <a:pPr indent="0" marL="0">
                        <a:buNone/>
                      </a:pPr>
                      <a:endParaRPr lang="en-US" sz="1200" dirty="0">
                        <a:latin typeface="Calibri" charset="0"/>
                        <a:ea typeface="Calibri" charset="0"/>
                        <a:cs typeface="Calibri" charset="0"/>
                      </a:endParaRPr>
                    </a:p>
                  </a:txBody>
                  <a:tcPr marL="91440" marR="91440" marT="36576" marB="36576" anchor="ctr">
                    <a:lnL w="6350" cap="flat" cmpd="sng" algn="ctr">
                      <a:solidFill>
                        <a:srgbClr val="D3DEE4"/>
                      </a:solidFill>
                      <a:prstDash val="solid"/>
                      <a:round/>
                      <a:headEnd type="none" w="med" len="med"/>
                      <a:tailEnd type="none" w="med" len="med"/>
                    </a:lnL>
                    <a:lnR w="6350" cap="flat" cmpd="sng" algn="ctr">
                      <a:solidFill>
                        <a:srgbClr val="D3DEE4"/>
                      </a:solidFill>
                      <a:prstDash val="solid"/>
                      <a:round/>
                      <a:headEnd type="none" w="med" len="med"/>
                      <a:tailEnd type="none" w="med" len="med"/>
                    </a:lnR>
                    <a:lnT w="6350" cap="flat" cmpd="sng" algn="ctr">
                      <a:solidFill>
                        <a:srgbClr val="D3DEE4"/>
                      </a:solidFill>
                      <a:prstDash val="solid"/>
                      <a:round/>
                      <a:headEnd type="none" w="med" len="med"/>
                      <a:tailEnd type="none" w="med" len="med"/>
                    </a:lnT>
                    <a:lnB w="6350" cap="flat" cmpd="sng" algn="ctr">
                      <a:solidFill>
                        <a:srgbClr val="D3DEE4"/>
                      </a:solidFill>
                      <a:prstDash val="solid"/>
                      <a:round/>
                      <a:headEnd type="none" w="med" len="med"/>
                      <a:tailEnd type="none" w="med" len="med"/>
                    </a:lnB>
                    <a:solidFill>
                      <a:srgbClr val="0F2A3D"/>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Deliverable</a:t>
                      </a:r>
                      <a:endParaRPr lang="en-US" sz="1200" dirty="0">
                        <a:latin typeface="Calibri" charset="0"/>
                        <a:ea typeface="Calibri" charset="0"/>
                        <a:cs typeface="Calibri" charset="0"/>
                      </a:endParaRPr>
                    </a:p>
                  </a:txBody>
                  <a:tcPr marL="91440" marR="91440" marT="36576" marB="36576" anchor="ctr">
                    <a:lnL w="6350" cap="flat" cmpd="sng" algn="ctr">
                      <a:solidFill>
                        <a:srgbClr val="D3DEE4"/>
                      </a:solidFill>
                      <a:prstDash val="solid"/>
                      <a:round/>
                      <a:headEnd type="none" w="med" len="med"/>
                      <a:tailEnd type="none" w="med" len="med"/>
                    </a:lnL>
                    <a:lnR w="6350" cap="flat" cmpd="sng" algn="ctr">
                      <a:solidFill>
                        <a:srgbClr val="D3DEE4"/>
                      </a:solidFill>
                      <a:prstDash val="solid"/>
                      <a:round/>
                      <a:headEnd type="none" w="med" len="med"/>
                      <a:tailEnd type="none" w="med" len="med"/>
                    </a:lnR>
                    <a:lnT w="6350" cap="flat" cmpd="sng" algn="ctr">
                      <a:solidFill>
                        <a:srgbClr val="D3DEE4"/>
                      </a:solidFill>
                      <a:prstDash val="solid"/>
                      <a:round/>
                      <a:headEnd type="none" w="med" len="med"/>
                      <a:tailEnd type="none" w="med" len="med"/>
                    </a:lnT>
                    <a:lnB w="6350" cap="flat" cmpd="sng" algn="ctr">
                      <a:solidFill>
                        <a:srgbClr val="D3DEE4"/>
                      </a:solidFill>
                      <a:prstDash val="solid"/>
                      <a:round/>
                      <a:headEnd type="none" w="med" len="med"/>
                      <a:tailEnd type="none" w="med" len="med"/>
                    </a:lnB>
                    <a:solidFill>
                      <a:srgbClr val="0F2A3D"/>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Due</a:t>
                      </a:r>
                      <a:endParaRPr lang="en-US" sz="1200" dirty="0">
                        <a:latin typeface="Calibri" charset="0"/>
                        <a:ea typeface="Calibri" charset="0"/>
                        <a:cs typeface="Calibri" charset="0"/>
                      </a:endParaRPr>
                    </a:p>
                  </a:txBody>
                  <a:tcPr marL="91440" marR="91440" marT="36576" marB="36576" anchor="ctr">
                    <a:lnL w="6350" cap="flat" cmpd="sng" algn="ctr">
                      <a:solidFill>
                        <a:srgbClr val="D3DEE4"/>
                      </a:solidFill>
                      <a:prstDash val="solid"/>
                      <a:round/>
                      <a:headEnd type="none" w="med" len="med"/>
                      <a:tailEnd type="none" w="med" len="med"/>
                    </a:lnL>
                    <a:lnR w="6350" cap="flat" cmpd="sng" algn="ctr">
                      <a:solidFill>
                        <a:srgbClr val="D3DEE4"/>
                      </a:solidFill>
                      <a:prstDash val="solid"/>
                      <a:round/>
                      <a:headEnd type="none" w="med" len="med"/>
                      <a:tailEnd type="none" w="med" len="med"/>
                    </a:lnR>
                    <a:lnT w="6350" cap="flat" cmpd="sng" algn="ctr">
                      <a:solidFill>
                        <a:srgbClr val="D3DEE4"/>
                      </a:solidFill>
                      <a:prstDash val="solid"/>
                      <a:round/>
                      <a:headEnd type="none" w="med" len="med"/>
                      <a:tailEnd type="none" w="med" len="med"/>
                    </a:lnT>
                    <a:lnB w="6350" cap="flat" cmpd="sng" algn="ctr">
                      <a:solidFill>
                        <a:srgbClr val="D3DEE4"/>
                      </a:solidFill>
                      <a:prstDash val="solid"/>
                      <a:round/>
                      <a:headEnd type="none" w="med" len="med"/>
                      <a:tailEnd type="none" w="med" len="med"/>
                    </a:lnB>
                    <a:solidFill>
                      <a:srgbClr val="0F2A3D"/>
                    </a:solidFill>
                  </a:tcPr>
                </a:tc>
              </a:tr>
              <a:tr h="585216">
                <a:tc>
                  <a:txBody>
                    <a:bodyPr/>
                    <a:lstStyle/>
                    <a:p>
                      <a:pPr indent="0" marL="0">
                        <a:buNone/>
                      </a:pPr>
                      <a:r>
                        <a:rPr lang="en-US" sz="1300" b="1" dirty="0">
                          <a:solidFill>
                            <a:srgbClr val="1B7F8C"/>
                          </a:solidFill>
                          <a:latin typeface="Calibri" pitchFamily="34" charset="0"/>
                          <a:ea typeface="Calibri" pitchFamily="34" charset="-122"/>
                          <a:cs typeface="Calibri" pitchFamily="34" charset="-120"/>
                        </a:rPr>
                        <a:t>D1</a:t>
                      </a:r>
                      <a:endParaRPr lang="en-US" sz="1300" dirty="0">
                        <a:latin typeface="Calibri" charset="0"/>
                        <a:ea typeface="Calibri" charset="0"/>
                        <a:cs typeface="Calibri" charset="0"/>
                      </a:endParaRPr>
                    </a:p>
                  </a:txBody>
                  <a:tcPr marL="91440" marR="91440" marT="36576" marB="36576" anchor="ctr">
                    <a:lnL w="6350" cap="flat" cmpd="sng" algn="ctr">
                      <a:solidFill>
                        <a:srgbClr val="D3DEE4"/>
                      </a:solidFill>
                      <a:prstDash val="solid"/>
                      <a:round/>
                      <a:headEnd type="none" w="med" len="med"/>
                      <a:tailEnd type="none" w="med" len="med"/>
                    </a:lnL>
                    <a:lnR w="6350" cap="flat" cmpd="sng" algn="ctr">
                      <a:solidFill>
                        <a:srgbClr val="D3DEE4"/>
                      </a:solidFill>
                      <a:prstDash val="solid"/>
                      <a:round/>
                      <a:headEnd type="none" w="med" len="med"/>
                      <a:tailEnd type="none" w="med" len="med"/>
                    </a:lnR>
                    <a:lnT w="6350" cap="flat" cmpd="sng" algn="ctr">
                      <a:solidFill>
                        <a:srgbClr val="D3DEE4"/>
                      </a:solidFill>
                      <a:prstDash val="solid"/>
                      <a:round/>
                      <a:headEnd type="none" w="med" len="med"/>
                      <a:tailEnd type="none" w="med" len="med"/>
                    </a:lnT>
                    <a:lnB w="6350" cap="flat" cmpd="sng" algn="ctr">
                      <a:solidFill>
                        <a:srgbClr val="D3DEE4"/>
                      </a:solidFill>
                      <a:prstDash val="solid"/>
                      <a:round/>
                      <a:headEnd type="none" w="med" len="med"/>
                      <a:tailEnd type="none" w="med" len="med"/>
                    </a:lnB>
                    <a:solidFill>
                      <a:srgbClr val="EAF1F4"/>
                    </a:solidFill>
                  </a:tcPr>
                </a:tc>
                <a:tc>
                  <a:txBody>
                    <a:bodyPr/>
                    <a:lstStyle/>
                    <a:p>
                      <a:pPr indent="0" marL="0">
                        <a:buNone/>
                      </a:pPr>
                      <a:r>
                        <a:rPr lang="en-US" sz="1300" dirty="0">
                          <a:solidFill>
                            <a:srgbClr val="1A2530"/>
                          </a:solidFill>
                          <a:latin typeface="Calibri" pitchFamily="34" charset="0"/>
                          <a:ea typeface="Calibri" pitchFamily="34" charset="-122"/>
                          <a:cs typeface="Calibri" pitchFamily="34" charset="-120"/>
                        </a:rPr>
                        <a:t>Corrected CET-ViT release: erratum, model card, licence, public repository</a:t>
                      </a:r>
                      <a:endParaRPr lang="en-US" sz="1300" dirty="0">
                        <a:latin typeface="Calibri" charset="0"/>
                        <a:ea typeface="Calibri" charset="0"/>
                        <a:cs typeface="Calibri" charset="0"/>
                      </a:endParaRPr>
                    </a:p>
                  </a:txBody>
                  <a:tcPr marL="91440" marR="91440" marT="36576" marB="36576" anchor="ctr">
                    <a:lnL w="6350" cap="flat" cmpd="sng" algn="ctr">
                      <a:solidFill>
                        <a:srgbClr val="D3DEE4"/>
                      </a:solidFill>
                      <a:prstDash val="solid"/>
                      <a:round/>
                      <a:headEnd type="none" w="med" len="med"/>
                      <a:tailEnd type="none" w="med" len="med"/>
                    </a:lnL>
                    <a:lnR w="6350" cap="flat" cmpd="sng" algn="ctr">
                      <a:solidFill>
                        <a:srgbClr val="D3DEE4"/>
                      </a:solidFill>
                      <a:prstDash val="solid"/>
                      <a:round/>
                      <a:headEnd type="none" w="med" len="med"/>
                      <a:tailEnd type="none" w="med" len="med"/>
                    </a:lnR>
                    <a:lnT w="6350" cap="flat" cmpd="sng" algn="ctr">
                      <a:solidFill>
                        <a:srgbClr val="D3DEE4"/>
                      </a:solidFill>
                      <a:prstDash val="solid"/>
                      <a:round/>
                      <a:headEnd type="none" w="med" len="med"/>
                      <a:tailEnd type="none" w="med" len="med"/>
                    </a:lnT>
                    <a:lnB w="6350" cap="flat" cmpd="sng" algn="ctr">
                      <a:solidFill>
                        <a:srgbClr val="D3DEE4"/>
                      </a:solidFill>
                      <a:prstDash val="solid"/>
                      <a:round/>
                      <a:headEnd type="none" w="med" len="med"/>
                      <a:tailEnd type="none" w="med" len="med"/>
                    </a:lnB>
                    <a:solidFill>
                      <a:srgbClr val="EAF1F4"/>
                    </a:solidFill>
                  </a:tcPr>
                </a:tc>
                <a:tc>
                  <a:txBody>
                    <a:bodyPr/>
                    <a:lstStyle/>
                    <a:p>
                      <a:pPr indent="0" marL="0">
                        <a:buNone/>
                      </a:pPr>
                      <a:r>
                        <a:rPr lang="en-US" sz="1300" dirty="0">
                          <a:solidFill>
                            <a:srgbClr val="5B6B77"/>
                          </a:solidFill>
                          <a:latin typeface="Calibri" pitchFamily="34" charset="0"/>
                          <a:ea typeface="Calibri" pitchFamily="34" charset="-122"/>
                          <a:cs typeface="Calibri" pitchFamily="34" charset="-120"/>
                        </a:rPr>
                        <a:t>Dec 2026</a:t>
                      </a:r>
                      <a:endParaRPr lang="en-US" sz="1300" dirty="0">
                        <a:latin typeface="Calibri" charset="0"/>
                        <a:ea typeface="Calibri" charset="0"/>
                        <a:cs typeface="Calibri" charset="0"/>
                      </a:endParaRPr>
                    </a:p>
                  </a:txBody>
                  <a:tcPr marL="91440" marR="91440" marT="36576" marB="36576" anchor="ctr">
                    <a:lnL w="6350" cap="flat" cmpd="sng" algn="ctr">
                      <a:solidFill>
                        <a:srgbClr val="D3DEE4"/>
                      </a:solidFill>
                      <a:prstDash val="solid"/>
                      <a:round/>
                      <a:headEnd type="none" w="med" len="med"/>
                      <a:tailEnd type="none" w="med" len="med"/>
                    </a:lnL>
                    <a:lnR w="6350" cap="flat" cmpd="sng" algn="ctr">
                      <a:solidFill>
                        <a:srgbClr val="D3DEE4"/>
                      </a:solidFill>
                      <a:prstDash val="solid"/>
                      <a:round/>
                      <a:headEnd type="none" w="med" len="med"/>
                      <a:tailEnd type="none" w="med" len="med"/>
                    </a:lnR>
                    <a:lnT w="6350" cap="flat" cmpd="sng" algn="ctr">
                      <a:solidFill>
                        <a:srgbClr val="D3DEE4"/>
                      </a:solidFill>
                      <a:prstDash val="solid"/>
                      <a:round/>
                      <a:headEnd type="none" w="med" len="med"/>
                      <a:tailEnd type="none" w="med" len="med"/>
                    </a:lnT>
                    <a:lnB w="6350" cap="flat" cmpd="sng" algn="ctr">
                      <a:solidFill>
                        <a:srgbClr val="D3DEE4"/>
                      </a:solidFill>
                      <a:prstDash val="solid"/>
                      <a:round/>
                      <a:headEnd type="none" w="med" len="med"/>
                      <a:tailEnd type="none" w="med" len="med"/>
                    </a:lnB>
                    <a:solidFill>
                      <a:srgbClr val="EAF1F4"/>
                    </a:solidFill>
                  </a:tcPr>
                </a:tc>
              </a:tr>
              <a:tr h="585216">
                <a:tc>
                  <a:txBody>
                    <a:bodyPr/>
                    <a:lstStyle/>
                    <a:p>
                      <a:pPr indent="0" marL="0">
                        <a:buNone/>
                      </a:pPr>
                      <a:r>
                        <a:rPr lang="en-US" sz="1300" b="1" dirty="0">
                          <a:solidFill>
                            <a:srgbClr val="1B7F8C"/>
                          </a:solidFill>
                          <a:latin typeface="Calibri" pitchFamily="34" charset="0"/>
                          <a:ea typeface="Calibri" pitchFamily="34" charset="-122"/>
                          <a:cs typeface="Calibri" pitchFamily="34" charset="-120"/>
                        </a:rPr>
                        <a:t>D2</a:t>
                      </a:r>
                      <a:endParaRPr lang="en-US" sz="1300" dirty="0">
                        <a:latin typeface="Calibri" charset="0"/>
                        <a:ea typeface="Calibri" charset="0"/>
                        <a:cs typeface="Calibri" charset="0"/>
                      </a:endParaRPr>
                    </a:p>
                  </a:txBody>
                  <a:tcPr marL="91440" marR="91440" marT="36576" marB="36576" anchor="ctr">
                    <a:lnL w="6350" cap="flat" cmpd="sng" algn="ctr">
                      <a:solidFill>
                        <a:srgbClr val="D3DEE4"/>
                      </a:solidFill>
                      <a:prstDash val="solid"/>
                      <a:round/>
                      <a:headEnd type="none" w="med" len="med"/>
                      <a:tailEnd type="none" w="med" len="med"/>
                    </a:lnL>
                    <a:lnR w="6350" cap="flat" cmpd="sng" algn="ctr">
                      <a:solidFill>
                        <a:srgbClr val="D3DEE4"/>
                      </a:solidFill>
                      <a:prstDash val="solid"/>
                      <a:round/>
                      <a:headEnd type="none" w="med" len="med"/>
                      <a:tailEnd type="none" w="med" len="med"/>
                    </a:lnR>
                    <a:lnT w="6350" cap="flat" cmpd="sng" algn="ctr">
                      <a:solidFill>
                        <a:srgbClr val="D3DEE4"/>
                      </a:solidFill>
                      <a:prstDash val="solid"/>
                      <a:round/>
                      <a:headEnd type="none" w="med" len="med"/>
                      <a:tailEnd type="none" w="med" len="med"/>
                    </a:lnT>
                    <a:lnB w="6350" cap="flat" cmpd="sng" algn="ctr">
                      <a:solidFill>
                        <a:srgbClr val="D3DEE4"/>
                      </a:solidFill>
                      <a:prstDash val="solid"/>
                      <a:round/>
                      <a:headEnd type="none" w="med" len="med"/>
                      <a:tailEnd type="none" w="med" len="med"/>
                    </a:lnB>
                    <a:solidFill>
                      <a:srgbClr val="FFFFFF"/>
                    </a:solidFill>
                  </a:tcPr>
                </a:tc>
                <a:tc>
                  <a:txBody>
                    <a:bodyPr/>
                    <a:lstStyle/>
                    <a:p>
                      <a:pPr indent="0" marL="0">
                        <a:buNone/>
                      </a:pPr>
                      <a:r>
                        <a:rPr lang="en-US" sz="1300" dirty="0">
                          <a:solidFill>
                            <a:srgbClr val="1A2530"/>
                          </a:solidFill>
                          <a:latin typeface="Calibri" pitchFamily="34" charset="0"/>
                          <a:ea typeface="Calibri" pitchFamily="34" charset="-122"/>
                          <a:cs typeface="Calibri" pitchFamily="34" charset="-120"/>
                        </a:rPr>
                        <a:t>Paper 1: compute-matched audit (existing draft v13), submitted after co-author review</a:t>
                      </a:r>
                      <a:endParaRPr lang="en-US" sz="1300" dirty="0">
                        <a:latin typeface="Calibri" charset="0"/>
                        <a:ea typeface="Calibri" charset="0"/>
                        <a:cs typeface="Calibri" charset="0"/>
                      </a:endParaRPr>
                    </a:p>
                  </a:txBody>
                  <a:tcPr marL="91440" marR="91440" marT="36576" marB="36576" anchor="ctr">
                    <a:lnL w="6350" cap="flat" cmpd="sng" algn="ctr">
                      <a:solidFill>
                        <a:srgbClr val="D3DEE4"/>
                      </a:solidFill>
                      <a:prstDash val="solid"/>
                      <a:round/>
                      <a:headEnd type="none" w="med" len="med"/>
                      <a:tailEnd type="none" w="med" len="med"/>
                    </a:lnL>
                    <a:lnR w="6350" cap="flat" cmpd="sng" algn="ctr">
                      <a:solidFill>
                        <a:srgbClr val="D3DEE4"/>
                      </a:solidFill>
                      <a:prstDash val="solid"/>
                      <a:round/>
                      <a:headEnd type="none" w="med" len="med"/>
                      <a:tailEnd type="none" w="med" len="med"/>
                    </a:lnR>
                    <a:lnT w="6350" cap="flat" cmpd="sng" algn="ctr">
                      <a:solidFill>
                        <a:srgbClr val="D3DEE4"/>
                      </a:solidFill>
                      <a:prstDash val="solid"/>
                      <a:round/>
                      <a:headEnd type="none" w="med" len="med"/>
                      <a:tailEnd type="none" w="med" len="med"/>
                    </a:lnT>
                    <a:lnB w="6350" cap="flat" cmpd="sng" algn="ctr">
                      <a:solidFill>
                        <a:srgbClr val="D3DEE4"/>
                      </a:solidFill>
                      <a:prstDash val="solid"/>
                      <a:round/>
                      <a:headEnd type="none" w="med" len="med"/>
                      <a:tailEnd type="none" w="med" len="med"/>
                    </a:lnB>
                    <a:solidFill>
                      <a:srgbClr val="FFFFFF"/>
                    </a:solidFill>
                  </a:tcPr>
                </a:tc>
                <a:tc>
                  <a:txBody>
                    <a:bodyPr/>
                    <a:lstStyle/>
                    <a:p>
                      <a:pPr indent="0" marL="0">
                        <a:buNone/>
                      </a:pPr>
                      <a:r>
                        <a:rPr lang="en-US" sz="1300" dirty="0">
                          <a:solidFill>
                            <a:srgbClr val="5B6B77"/>
                          </a:solidFill>
                          <a:latin typeface="Calibri" pitchFamily="34" charset="0"/>
                          <a:ea typeface="Calibri" pitchFamily="34" charset="-122"/>
                          <a:cs typeface="Calibri" pitchFamily="34" charset="-120"/>
                        </a:rPr>
                        <a:t>Dec 2026 to Jan 2027</a:t>
                      </a:r>
                      <a:endParaRPr lang="en-US" sz="1300" dirty="0">
                        <a:latin typeface="Calibri" charset="0"/>
                        <a:ea typeface="Calibri" charset="0"/>
                        <a:cs typeface="Calibri" charset="0"/>
                      </a:endParaRPr>
                    </a:p>
                  </a:txBody>
                  <a:tcPr marL="91440" marR="91440" marT="36576" marB="36576" anchor="ctr">
                    <a:lnL w="6350" cap="flat" cmpd="sng" algn="ctr">
                      <a:solidFill>
                        <a:srgbClr val="D3DEE4"/>
                      </a:solidFill>
                      <a:prstDash val="solid"/>
                      <a:round/>
                      <a:headEnd type="none" w="med" len="med"/>
                      <a:tailEnd type="none" w="med" len="med"/>
                    </a:lnL>
                    <a:lnR w="6350" cap="flat" cmpd="sng" algn="ctr">
                      <a:solidFill>
                        <a:srgbClr val="D3DEE4"/>
                      </a:solidFill>
                      <a:prstDash val="solid"/>
                      <a:round/>
                      <a:headEnd type="none" w="med" len="med"/>
                      <a:tailEnd type="none" w="med" len="med"/>
                    </a:lnR>
                    <a:lnT w="6350" cap="flat" cmpd="sng" algn="ctr">
                      <a:solidFill>
                        <a:srgbClr val="D3DEE4"/>
                      </a:solidFill>
                      <a:prstDash val="solid"/>
                      <a:round/>
                      <a:headEnd type="none" w="med" len="med"/>
                      <a:tailEnd type="none" w="med" len="med"/>
                    </a:lnT>
                    <a:lnB w="6350" cap="flat" cmpd="sng" algn="ctr">
                      <a:solidFill>
                        <a:srgbClr val="D3DEE4"/>
                      </a:solidFill>
                      <a:prstDash val="solid"/>
                      <a:round/>
                      <a:headEnd type="none" w="med" len="med"/>
                      <a:tailEnd type="none" w="med" len="med"/>
                    </a:lnB>
                    <a:solidFill>
                      <a:srgbClr val="FFFFFF"/>
                    </a:solidFill>
                  </a:tcPr>
                </a:tc>
              </a:tr>
              <a:tr h="585216">
                <a:tc>
                  <a:txBody>
                    <a:bodyPr/>
                    <a:lstStyle/>
                    <a:p>
                      <a:pPr indent="0" marL="0">
                        <a:buNone/>
                      </a:pPr>
                      <a:r>
                        <a:rPr lang="en-US" sz="1300" b="1" dirty="0">
                          <a:solidFill>
                            <a:srgbClr val="1B7F8C"/>
                          </a:solidFill>
                          <a:latin typeface="Calibri" pitchFamily="34" charset="0"/>
                          <a:ea typeface="Calibri" pitchFamily="34" charset="-122"/>
                          <a:cs typeface="Calibri" pitchFamily="34" charset="-120"/>
                        </a:rPr>
                        <a:t>D3</a:t>
                      </a:r>
                      <a:endParaRPr lang="en-US" sz="1300" dirty="0">
                        <a:latin typeface="Calibri" charset="0"/>
                        <a:ea typeface="Calibri" charset="0"/>
                        <a:cs typeface="Calibri" charset="0"/>
                      </a:endParaRPr>
                    </a:p>
                  </a:txBody>
                  <a:tcPr marL="91440" marR="91440" marT="36576" marB="36576" anchor="ctr">
                    <a:lnL w="6350" cap="flat" cmpd="sng" algn="ctr">
                      <a:solidFill>
                        <a:srgbClr val="D3DEE4"/>
                      </a:solidFill>
                      <a:prstDash val="solid"/>
                      <a:round/>
                      <a:headEnd type="none" w="med" len="med"/>
                      <a:tailEnd type="none" w="med" len="med"/>
                    </a:lnL>
                    <a:lnR w="6350" cap="flat" cmpd="sng" algn="ctr">
                      <a:solidFill>
                        <a:srgbClr val="D3DEE4"/>
                      </a:solidFill>
                      <a:prstDash val="solid"/>
                      <a:round/>
                      <a:headEnd type="none" w="med" len="med"/>
                      <a:tailEnd type="none" w="med" len="med"/>
                    </a:lnR>
                    <a:lnT w="6350" cap="flat" cmpd="sng" algn="ctr">
                      <a:solidFill>
                        <a:srgbClr val="D3DEE4"/>
                      </a:solidFill>
                      <a:prstDash val="solid"/>
                      <a:round/>
                      <a:headEnd type="none" w="med" len="med"/>
                      <a:tailEnd type="none" w="med" len="med"/>
                    </a:lnT>
                    <a:lnB w="6350" cap="flat" cmpd="sng" algn="ctr">
                      <a:solidFill>
                        <a:srgbClr val="D3DEE4"/>
                      </a:solidFill>
                      <a:prstDash val="solid"/>
                      <a:round/>
                      <a:headEnd type="none" w="med" len="med"/>
                      <a:tailEnd type="none" w="med" len="med"/>
                    </a:lnB>
                    <a:solidFill>
                      <a:srgbClr val="EAF1F4"/>
                    </a:solidFill>
                  </a:tcPr>
                </a:tc>
                <a:tc>
                  <a:txBody>
                    <a:bodyPr/>
                    <a:lstStyle/>
                    <a:p>
                      <a:pPr indent="0" marL="0">
                        <a:buNone/>
                      </a:pPr>
                      <a:r>
                        <a:rPr lang="en-US" sz="1300" dirty="0">
                          <a:solidFill>
                            <a:srgbClr val="1A2530"/>
                          </a:solidFill>
                          <a:latin typeface="Calibri" pitchFamily="34" charset="0"/>
                          <a:ea typeface="Calibri" pitchFamily="34" charset="-122"/>
                          <a:cs typeface="Calibri" pitchFamily="34" charset="-120"/>
                        </a:rPr>
                        <a:t>OSF-registered study plan for RO2 to RO4</a:t>
                      </a:r>
                      <a:endParaRPr lang="en-US" sz="1300" dirty="0">
                        <a:latin typeface="Calibri" charset="0"/>
                        <a:ea typeface="Calibri" charset="0"/>
                        <a:cs typeface="Calibri" charset="0"/>
                      </a:endParaRPr>
                    </a:p>
                  </a:txBody>
                  <a:tcPr marL="91440" marR="91440" marT="36576" marB="36576" anchor="ctr">
                    <a:lnL w="6350" cap="flat" cmpd="sng" algn="ctr">
                      <a:solidFill>
                        <a:srgbClr val="D3DEE4"/>
                      </a:solidFill>
                      <a:prstDash val="solid"/>
                      <a:round/>
                      <a:headEnd type="none" w="med" len="med"/>
                      <a:tailEnd type="none" w="med" len="med"/>
                    </a:lnL>
                    <a:lnR w="6350" cap="flat" cmpd="sng" algn="ctr">
                      <a:solidFill>
                        <a:srgbClr val="D3DEE4"/>
                      </a:solidFill>
                      <a:prstDash val="solid"/>
                      <a:round/>
                      <a:headEnd type="none" w="med" len="med"/>
                      <a:tailEnd type="none" w="med" len="med"/>
                    </a:lnR>
                    <a:lnT w="6350" cap="flat" cmpd="sng" algn="ctr">
                      <a:solidFill>
                        <a:srgbClr val="D3DEE4"/>
                      </a:solidFill>
                      <a:prstDash val="solid"/>
                      <a:round/>
                      <a:headEnd type="none" w="med" len="med"/>
                      <a:tailEnd type="none" w="med" len="med"/>
                    </a:lnT>
                    <a:lnB w="6350" cap="flat" cmpd="sng" algn="ctr">
                      <a:solidFill>
                        <a:srgbClr val="D3DEE4"/>
                      </a:solidFill>
                      <a:prstDash val="solid"/>
                      <a:round/>
                      <a:headEnd type="none" w="med" len="med"/>
                      <a:tailEnd type="none" w="med" len="med"/>
                    </a:lnB>
                    <a:solidFill>
                      <a:srgbClr val="EAF1F4"/>
                    </a:solidFill>
                  </a:tcPr>
                </a:tc>
                <a:tc>
                  <a:txBody>
                    <a:bodyPr/>
                    <a:lstStyle/>
                    <a:p>
                      <a:pPr indent="0" marL="0">
                        <a:buNone/>
                      </a:pPr>
                      <a:r>
                        <a:rPr lang="en-US" sz="1300" dirty="0">
                          <a:solidFill>
                            <a:srgbClr val="5B6B77"/>
                          </a:solidFill>
                          <a:latin typeface="Calibri" pitchFamily="34" charset="0"/>
                          <a:ea typeface="Calibri" pitchFamily="34" charset="-122"/>
                          <a:cs typeface="Calibri" pitchFamily="34" charset="-120"/>
                        </a:rPr>
                        <a:t>Dec 2026</a:t>
                      </a:r>
                      <a:endParaRPr lang="en-US" sz="1300" dirty="0">
                        <a:latin typeface="Calibri" charset="0"/>
                        <a:ea typeface="Calibri" charset="0"/>
                        <a:cs typeface="Calibri" charset="0"/>
                      </a:endParaRPr>
                    </a:p>
                  </a:txBody>
                  <a:tcPr marL="91440" marR="91440" marT="36576" marB="36576" anchor="ctr">
                    <a:lnL w="6350" cap="flat" cmpd="sng" algn="ctr">
                      <a:solidFill>
                        <a:srgbClr val="D3DEE4"/>
                      </a:solidFill>
                      <a:prstDash val="solid"/>
                      <a:round/>
                      <a:headEnd type="none" w="med" len="med"/>
                      <a:tailEnd type="none" w="med" len="med"/>
                    </a:lnL>
                    <a:lnR w="6350" cap="flat" cmpd="sng" algn="ctr">
                      <a:solidFill>
                        <a:srgbClr val="D3DEE4"/>
                      </a:solidFill>
                      <a:prstDash val="solid"/>
                      <a:round/>
                      <a:headEnd type="none" w="med" len="med"/>
                      <a:tailEnd type="none" w="med" len="med"/>
                    </a:lnR>
                    <a:lnT w="6350" cap="flat" cmpd="sng" algn="ctr">
                      <a:solidFill>
                        <a:srgbClr val="D3DEE4"/>
                      </a:solidFill>
                      <a:prstDash val="solid"/>
                      <a:round/>
                      <a:headEnd type="none" w="med" len="med"/>
                      <a:tailEnd type="none" w="med" len="med"/>
                    </a:lnT>
                    <a:lnB w="6350" cap="flat" cmpd="sng" algn="ctr">
                      <a:solidFill>
                        <a:srgbClr val="D3DEE4"/>
                      </a:solidFill>
                      <a:prstDash val="solid"/>
                      <a:round/>
                      <a:headEnd type="none" w="med" len="med"/>
                      <a:tailEnd type="none" w="med" len="med"/>
                    </a:lnB>
                    <a:solidFill>
                      <a:srgbClr val="EAF1F4"/>
                    </a:solidFill>
                  </a:tcPr>
                </a:tc>
              </a:tr>
              <a:tr h="585216">
                <a:tc>
                  <a:txBody>
                    <a:bodyPr/>
                    <a:lstStyle/>
                    <a:p>
                      <a:pPr indent="0" marL="0">
                        <a:buNone/>
                      </a:pPr>
                      <a:r>
                        <a:rPr lang="en-US" sz="1300" b="1" dirty="0">
                          <a:solidFill>
                            <a:srgbClr val="1B7F8C"/>
                          </a:solidFill>
                          <a:latin typeface="Calibri" pitchFamily="34" charset="0"/>
                          <a:ea typeface="Calibri" pitchFamily="34" charset="-122"/>
                          <a:cs typeface="Calibri" pitchFamily="34" charset="-120"/>
                        </a:rPr>
                        <a:t>D4</a:t>
                      </a:r>
                      <a:endParaRPr lang="en-US" sz="1300" dirty="0">
                        <a:latin typeface="Calibri" charset="0"/>
                        <a:ea typeface="Calibri" charset="0"/>
                        <a:cs typeface="Calibri" charset="0"/>
                      </a:endParaRPr>
                    </a:p>
                  </a:txBody>
                  <a:tcPr marL="91440" marR="91440" marT="36576" marB="36576" anchor="ctr">
                    <a:lnL w="6350" cap="flat" cmpd="sng" algn="ctr">
                      <a:solidFill>
                        <a:srgbClr val="D3DEE4"/>
                      </a:solidFill>
                      <a:prstDash val="solid"/>
                      <a:round/>
                      <a:headEnd type="none" w="med" len="med"/>
                      <a:tailEnd type="none" w="med" len="med"/>
                    </a:lnL>
                    <a:lnR w="6350" cap="flat" cmpd="sng" algn="ctr">
                      <a:solidFill>
                        <a:srgbClr val="D3DEE4"/>
                      </a:solidFill>
                      <a:prstDash val="solid"/>
                      <a:round/>
                      <a:headEnd type="none" w="med" len="med"/>
                      <a:tailEnd type="none" w="med" len="med"/>
                    </a:lnR>
                    <a:lnT w="6350" cap="flat" cmpd="sng" algn="ctr">
                      <a:solidFill>
                        <a:srgbClr val="D3DEE4"/>
                      </a:solidFill>
                      <a:prstDash val="solid"/>
                      <a:round/>
                      <a:headEnd type="none" w="med" len="med"/>
                      <a:tailEnd type="none" w="med" len="med"/>
                    </a:lnT>
                    <a:lnB w="6350" cap="flat" cmpd="sng" algn="ctr">
                      <a:solidFill>
                        <a:srgbClr val="D3DEE4"/>
                      </a:solidFill>
                      <a:prstDash val="solid"/>
                      <a:round/>
                      <a:headEnd type="none" w="med" len="med"/>
                      <a:tailEnd type="none" w="med" len="med"/>
                    </a:lnB>
                    <a:solidFill>
                      <a:srgbClr val="FFFFFF"/>
                    </a:solidFill>
                  </a:tcPr>
                </a:tc>
                <a:tc>
                  <a:txBody>
                    <a:bodyPr/>
                    <a:lstStyle/>
                    <a:p>
                      <a:pPr indent="0" marL="0">
                        <a:buNone/>
                      </a:pPr>
                      <a:r>
                        <a:rPr lang="en-US" sz="1300" dirty="0">
                          <a:solidFill>
                            <a:srgbClr val="1A2530"/>
                          </a:solidFill>
                          <a:latin typeface="Calibri" pitchFamily="34" charset="0"/>
                          <a:ea typeface="Calibri" pitchFamily="34" charset="-122"/>
                          <a:cs typeface="Calibri" pitchFamily="34" charset="-120"/>
                        </a:rPr>
                        <a:t>Capacity-control results on CIFAR-100 and Tiny-ImageNet</a:t>
                      </a:r>
                      <a:endParaRPr lang="en-US" sz="1300" dirty="0">
                        <a:latin typeface="Calibri" charset="0"/>
                        <a:ea typeface="Calibri" charset="0"/>
                        <a:cs typeface="Calibri" charset="0"/>
                      </a:endParaRPr>
                    </a:p>
                  </a:txBody>
                  <a:tcPr marL="91440" marR="91440" marT="36576" marB="36576" anchor="ctr">
                    <a:lnL w="6350" cap="flat" cmpd="sng" algn="ctr">
                      <a:solidFill>
                        <a:srgbClr val="D3DEE4"/>
                      </a:solidFill>
                      <a:prstDash val="solid"/>
                      <a:round/>
                      <a:headEnd type="none" w="med" len="med"/>
                      <a:tailEnd type="none" w="med" len="med"/>
                    </a:lnL>
                    <a:lnR w="6350" cap="flat" cmpd="sng" algn="ctr">
                      <a:solidFill>
                        <a:srgbClr val="D3DEE4"/>
                      </a:solidFill>
                      <a:prstDash val="solid"/>
                      <a:round/>
                      <a:headEnd type="none" w="med" len="med"/>
                      <a:tailEnd type="none" w="med" len="med"/>
                    </a:lnR>
                    <a:lnT w="6350" cap="flat" cmpd="sng" algn="ctr">
                      <a:solidFill>
                        <a:srgbClr val="D3DEE4"/>
                      </a:solidFill>
                      <a:prstDash val="solid"/>
                      <a:round/>
                      <a:headEnd type="none" w="med" len="med"/>
                      <a:tailEnd type="none" w="med" len="med"/>
                    </a:lnT>
                    <a:lnB w="6350" cap="flat" cmpd="sng" algn="ctr">
                      <a:solidFill>
                        <a:srgbClr val="D3DEE4"/>
                      </a:solidFill>
                      <a:prstDash val="solid"/>
                      <a:round/>
                      <a:headEnd type="none" w="med" len="med"/>
                      <a:tailEnd type="none" w="med" len="med"/>
                    </a:lnB>
                    <a:solidFill>
                      <a:srgbClr val="FFFFFF"/>
                    </a:solidFill>
                  </a:tcPr>
                </a:tc>
                <a:tc>
                  <a:txBody>
                    <a:bodyPr/>
                    <a:lstStyle/>
                    <a:p>
                      <a:pPr indent="0" marL="0">
                        <a:buNone/>
                      </a:pPr>
                      <a:r>
                        <a:rPr lang="en-US" sz="1300" dirty="0">
                          <a:solidFill>
                            <a:srgbClr val="5B6B77"/>
                          </a:solidFill>
                          <a:latin typeface="Calibri" pitchFamily="34" charset="0"/>
                          <a:ea typeface="Calibri" pitchFamily="34" charset="-122"/>
                          <a:cs typeface="Calibri" pitchFamily="34" charset="-120"/>
                        </a:rPr>
                        <a:t>Feb 2027</a:t>
                      </a:r>
                      <a:endParaRPr lang="en-US" sz="1300" dirty="0">
                        <a:latin typeface="Calibri" charset="0"/>
                        <a:ea typeface="Calibri" charset="0"/>
                        <a:cs typeface="Calibri" charset="0"/>
                      </a:endParaRPr>
                    </a:p>
                  </a:txBody>
                  <a:tcPr marL="91440" marR="91440" marT="36576" marB="36576" anchor="ctr">
                    <a:lnL w="6350" cap="flat" cmpd="sng" algn="ctr">
                      <a:solidFill>
                        <a:srgbClr val="D3DEE4"/>
                      </a:solidFill>
                      <a:prstDash val="solid"/>
                      <a:round/>
                      <a:headEnd type="none" w="med" len="med"/>
                      <a:tailEnd type="none" w="med" len="med"/>
                    </a:lnL>
                    <a:lnR w="6350" cap="flat" cmpd="sng" algn="ctr">
                      <a:solidFill>
                        <a:srgbClr val="D3DEE4"/>
                      </a:solidFill>
                      <a:prstDash val="solid"/>
                      <a:round/>
                      <a:headEnd type="none" w="med" len="med"/>
                      <a:tailEnd type="none" w="med" len="med"/>
                    </a:lnR>
                    <a:lnT w="6350" cap="flat" cmpd="sng" algn="ctr">
                      <a:solidFill>
                        <a:srgbClr val="D3DEE4"/>
                      </a:solidFill>
                      <a:prstDash val="solid"/>
                      <a:round/>
                      <a:headEnd type="none" w="med" len="med"/>
                      <a:tailEnd type="none" w="med" len="med"/>
                    </a:lnT>
                    <a:lnB w="6350" cap="flat" cmpd="sng" algn="ctr">
                      <a:solidFill>
                        <a:srgbClr val="D3DEE4"/>
                      </a:solidFill>
                      <a:prstDash val="solid"/>
                      <a:round/>
                      <a:headEnd type="none" w="med" len="med"/>
                      <a:tailEnd type="none" w="med" len="med"/>
                    </a:lnB>
                    <a:solidFill>
                      <a:srgbClr val="FFFFFF"/>
                    </a:solidFill>
                  </a:tcPr>
                </a:tc>
              </a:tr>
              <a:tr h="585216">
                <a:tc>
                  <a:txBody>
                    <a:bodyPr/>
                    <a:lstStyle/>
                    <a:p>
                      <a:pPr indent="0" marL="0">
                        <a:buNone/>
                      </a:pPr>
                      <a:r>
                        <a:rPr lang="en-US" sz="1300" b="1" dirty="0">
                          <a:solidFill>
                            <a:srgbClr val="1B7F8C"/>
                          </a:solidFill>
                          <a:latin typeface="Calibri" pitchFamily="34" charset="0"/>
                          <a:ea typeface="Calibri" pitchFamily="34" charset="-122"/>
                          <a:cs typeface="Calibri" pitchFamily="34" charset="-120"/>
                        </a:rPr>
                        <a:t>D5</a:t>
                      </a:r>
                      <a:endParaRPr lang="en-US" sz="1300" dirty="0">
                        <a:latin typeface="Calibri" charset="0"/>
                        <a:ea typeface="Calibri" charset="0"/>
                        <a:cs typeface="Calibri" charset="0"/>
                      </a:endParaRPr>
                    </a:p>
                  </a:txBody>
                  <a:tcPr marL="91440" marR="91440" marT="36576" marB="36576" anchor="ctr">
                    <a:lnL w="6350" cap="flat" cmpd="sng" algn="ctr">
                      <a:solidFill>
                        <a:srgbClr val="D3DEE4"/>
                      </a:solidFill>
                      <a:prstDash val="solid"/>
                      <a:round/>
                      <a:headEnd type="none" w="med" len="med"/>
                      <a:tailEnd type="none" w="med" len="med"/>
                    </a:lnL>
                    <a:lnR w="6350" cap="flat" cmpd="sng" algn="ctr">
                      <a:solidFill>
                        <a:srgbClr val="D3DEE4"/>
                      </a:solidFill>
                      <a:prstDash val="solid"/>
                      <a:round/>
                      <a:headEnd type="none" w="med" len="med"/>
                      <a:tailEnd type="none" w="med" len="med"/>
                    </a:lnR>
                    <a:lnT w="6350" cap="flat" cmpd="sng" algn="ctr">
                      <a:solidFill>
                        <a:srgbClr val="D3DEE4"/>
                      </a:solidFill>
                      <a:prstDash val="solid"/>
                      <a:round/>
                      <a:headEnd type="none" w="med" len="med"/>
                      <a:tailEnd type="none" w="med" len="med"/>
                    </a:lnT>
                    <a:lnB w="6350" cap="flat" cmpd="sng" algn="ctr">
                      <a:solidFill>
                        <a:srgbClr val="D3DEE4"/>
                      </a:solidFill>
                      <a:prstDash val="solid"/>
                      <a:round/>
                      <a:headEnd type="none" w="med" len="med"/>
                      <a:tailEnd type="none" w="med" len="med"/>
                    </a:lnB>
                    <a:solidFill>
                      <a:srgbClr val="EAF1F4"/>
                    </a:solidFill>
                  </a:tcPr>
                </a:tc>
                <a:tc>
                  <a:txBody>
                    <a:bodyPr/>
                    <a:lstStyle/>
                    <a:p>
                      <a:pPr indent="0" marL="0">
                        <a:buNone/>
                      </a:pPr>
                      <a:r>
                        <a:rPr lang="en-US" sz="1300" dirty="0">
                          <a:solidFill>
                            <a:srgbClr val="1A2530"/>
                          </a:solidFill>
                          <a:latin typeface="Calibri" pitchFamily="34" charset="0"/>
                          <a:ea typeface="Calibri" pitchFamily="34" charset="-122"/>
                          <a:cs typeface="Calibri" pitchFamily="34" charset="-120"/>
                        </a:rPr>
                        <a:t>ImageNet-100 and region-evaluation results</a:t>
                      </a:r>
                      <a:endParaRPr lang="en-US" sz="1300" dirty="0">
                        <a:latin typeface="Calibri" charset="0"/>
                        <a:ea typeface="Calibri" charset="0"/>
                        <a:cs typeface="Calibri" charset="0"/>
                      </a:endParaRPr>
                    </a:p>
                  </a:txBody>
                  <a:tcPr marL="91440" marR="91440" marT="36576" marB="36576" anchor="ctr">
                    <a:lnL w="6350" cap="flat" cmpd="sng" algn="ctr">
                      <a:solidFill>
                        <a:srgbClr val="D3DEE4"/>
                      </a:solidFill>
                      <a:prstDash val="solid"/>
                      <a:round/>
                      <a:headEnd type="none" w="med" len="med"/>
                      <a:tailEnd type="none" w="med" len="med"/>
                    </a:lnL>
                    <a:lnR w="6350" cap="flat" cmpd="sng" algn="ctr">
                      <a:solidFill>
                        <a:srgbClr val="D3DEE4"/>
                      </a:solidFill>
                      <a:prstDash val="solid"/>
                      <a:round/>
                      <a:headEnd type="none" w="med" len="med"/>
                      <a:tailEnd type="none" w="med" len="med"/>
                    </a:lnR>
                    <a:lnT w="6350" cap="flat" cmpd="sng" algn="ctr">
                      <a:solidFill>
                        <a:srgbClr val="D3DEE4"/>
                      </a:solidFill>
                      <a:prstDash val="solid"/>
                      <a:round/>
                      <a:headEnd type="none" w="med" len="med"/>
                      <a:tailEnd type="none" w="med" len="med"/>
                    </a:lnT>
                    <a:lnB w="6350" cap="flat" cmpd="sng" algn="ctr">
                      <a:solidFill>
                        <a:srgbClr val="D3DEE4"/>
                      </a:solidFill>
                      <a:prstDash val="solid"/>
                      <a:round/>
                      <a:headEnd type="none" w="med" len="med"/>
                      <a:tailEnd type="none" w="med" len="med"/>
                    </a:lnB>
                    <a:solidFill>
                      <a:srgbClr val="EAF1F4"/>
                    </a:solidFill>
                  </a:tcPr>
                </a:tc>
                <a:tc>
                  <a:txBody>
                    <a:bodyPr/>
                    <a:lstStyle/>
                    <a:p>
                      <a:pPr indent="0" marL="0">
                        <a:buNone/>
                      </a:pPr>
                      <a:r>
                        <a:rPr lang="en-US" sz="1300" dirty="0">
                          <a:solidFill>
                            <a:srgbClr val="5B6B77"/>
                          </a:solidFill>
                          <a:latin typeface="Calibri" pitchFamily="34" charset="0"/>
                          <a:ea typeface="Calibri" pitchFamily="34" charset="-122"/>
                          <a:cs typeface="Calibri" pitchFamily="34" charset="-120"/>
                        </a:rPr>
                        <a:t>Mar 2027</a:t>
                      </a:r>
                      <a:endParaRPr lang="en-US" sz="1300" dirty="0">
                        <a:latin typeface="Calibri" charset="0"/>
                        <a:ea typeface="Calibri" charset="0"/>
                        <a:cs typeface="Calibri" charset="0"/>
                      </a:endParaRPr>
                    </a:p>
                  </a:txBody>
                  <a:tcPr marL="91440" marR="91440" marT="36576" marB="36576" anchor="ctr">
                    <a:lnL w="6350" cap="flat" cmpd="sng" algn="ctr">
                      <a:solidFill>
                        <a:srgbClr val="D3DEE4"/>
                      </a:solidFill>
                      <a:prstDash val="solid"/>
                      <a:round/>
                      <a:headEnd type="none" w="med" len="med"/>
                      <a:tailEnd type="none" w="med" len="med"/>
                    </a:lnL>
                    <a:lnR w="6350" cap="flat" cmpd="sng" algn="ctr">
                      <a:solidFill>
                        <a:srgbClr val="D3DEE4"/>
                      </a:solidFill>
                      <a:prstDash val="solid"/>
                      <a:round/>
                      <a:headEnd type="none" w="med" len="med"/>
                      <a:tailEnd type="none" w="med" len="med"/>
                    </a:lnR>
                    <a:lnT w="6350" cap="flat" cmpd="sng" algn="ctr">
                      <a:solidFill>
                        <a:srgbClr val="D3DEE4"/>
                      </a:solidFill>
                      <a:prstDash val="solid"/>
                      <a:round/>
                      <a:headEnd type="none" w="med" len="med"/>
                      <a:tailEnd type="none" w="med" len="med"/>
                    </a:lnT>
                    <a:lnB w="6350" cap="flat" cmpd="sng" algn="ctr">
                      <a:solidFill>
                        <a:srgbClr val="D3DEE4"/>
                      </a:solidFill>
                      <a:prstDash val="solid"/>
                      <a:round/>
                      <a:headEnd type="none" w="med" len="med"/>
                      <a:tailEnd type="none" w="med" len="med"/>
                    </a:lnB>
                    <a:solidFill>
                      <a:srgbClr val="EAF1F4"/>
                    </a:solidFill>
                  </a:tcPr>
                </a:tc>
              </a:tr>
              <a:tr h="585216">
                <a:tc>
                  <a:txBody>
                    <a:bodyPr/>
                    <a:lstStyle/>
                    <a:p>
                      <a:pPr indent="0" marL="0">
                        <a:buNone/>
                      </a:pPr>
                      <a:r>
                        <a:rPr lang="en-US" sz="1300" b="1" dirty="0">
                          <a:solidFill>
                            <a:srgbClr val="1B7F8C"/>
                          </a:solidFill>
                          <a:latin typeface="Calibri" pitchFamily="34" charset="0"/>
                          <a:ea typeface="Calibri" pitchFamily="34" charset="-122"/>
                          <a:cs typeface="Calibri" pitchFamily="34" charset="-120"/>
                        </a:rPr>
                        <a:t>D6</a:t>
                      </a:r>
                      <a:endParaRPr lang="en-US" sz="1300" dirty="0">
                        <a:latin typeface="Calibri" charset="0"/>
                        <a:ea typeface="Calibri" charset="0"/>
                        <a:cs typeface="Calibri" charset="0"/>
                      </a:endParaRPr>
                    </a:p>
                  </a:txBody>
                  <a:tcPr marL="91440" marR="91440" marT="36576" marB="36576" anchor="ctr">
                    <a:lnL w="6350" cap="flat" cmpd="sng" algn="ctr">
                      <a:solidFill>
                        <a:srgbClr val="D3DEE4"/>
                      </a:solidFill>
                      <a:prstDash val="solid"/>
                      <a:round/>
                      <a:headEnd type="none" w="med" len="med"/>
                      <a:tailEnd type="none" w="med" len="med"/>
                    </a:lnL>
                    <a:lnR w="6350" cap="flat" cmpd="sng" algn="ctr">
                      <a:solidFill>
                        <a:srgbClr val="D3DEE4"/>
                      </a:solidFill>
                      <a:prstDash val="solid"/>
                      <a:round/>
                      <a:headEnd type="none" w="med" len="med"/>
                      <a:tailEnd type="none" w="med" len="med"/>
                    </a:lnR>
                    <a:lnT w="6350" cap="flat" cmpd="sng" algn="ctr">
                      <a:solidFill>
                        <a:srgbClr val="D3DEE4"/>
                      </a:solidFill>
                      <a:prstDash val="solid"/>
                      <a:round/>
                      <a:headEnd type="none" w="med" len="med"/>
                      <a:tailEnd type="none" w="med" len="med"/>
                    </a:lnT>
                    <a:lnB w="6350" cap="flat" cmpd="sng" algn="ctr">
                      <a:solidFill>
                        <a:srgbClr val="D3DEE4"/>
                      </a:solidFill>
                      <a:prstDash val="solid"/>
                      <a:round/>
                      <a:headEnd type="none" w="med" len="med"/>
                      <a:tailEnd type="none" w="med" len="med"/>
                    </a:lnB>
                    <a:solidFill>
                      <a:srgbClr val="FFFFFF"/>
                    </a:solidFill>
                  </a:tcPr>
                </a:tc>
                <a:tc>
                  <a:txBody>
                    <a:bodyPr/>
                    <a:lstStyle/>
                    <a:p>
                      <a:pPr indent="0" marL="0">
                        <a:buNone/>
                      </a:pPr>
                      <a:r>
                        <a:rPr lang="en-US" sz="1300" dirty="0">
                          <a:solidFill>
                            <a:srgbClr val="1A2530"/>
                          </a:solidFill>
                          <a:latin typeface="Calibri" pitchFamily="34" charset="0"/>
                          <a:ea typeface="Calibri" pitchFamily="34" charset="-122"/>
                          <a:cs typeface="Calibri" pitchFamily="34" charset="-120"/>
                        </a:rPr>
                        <a:t>Paper 2: capacity-controlled grouping study, submitted</a:t>
                      </a:r>
                      <a:endParaRPr lang="en-US" sz="1300" dirty="0">
                        <a:latin typeface="Calibri" charset="0"/>
                        <a:ea typeface="Calibri" charset="0"/>
                        <a:cs typeface="Calibri" charset="0"/>
                      </a:endParaRPr>
                    </a:p>
                  </a:txBody>
                  <a:tcPr marL="91440" marR="91440" marT="36576" marB="36576" anchor="ctr">
                    <a:lnL w="6350" cap="flat" cmpd="sng" algn="ctr">
                      <a:solidFill>
                        <a:srgbClr val="D3DEE4"/>
                      </a:solidFill>
                      <a:prstDash val="solid"/>
                      <a:round/>
                      <a:headEnd type="none" w="med" len="med"/>
                      <a:tailEnd type="none" w="med" len="med"/>
                    </a:lnL>
                    <a:lnR w="6350" cap="flat" cmpd="sng" algn="ctr">
                      <a:solidFill>
                        <a:srgbClr val="D3DEE4"/>
                      </a:solidFill>
                      <a:prstDash val="solid"/>
                      <a:round/>
                      <a:headEnd type="none" w="med" len="med"/>
                      <a:tailEnd type="none" w="med" len="med"/>
                    </a:lnR>
                    <a:lnT w="6350" cap="flat" cmpd="sng" algn="ctr">
                      <a:solidFill>
                        <a:srgbClr val="D3DEE4"/>
                      </a:solidFill>
                      <a:prstDash val="solid"/>
                      <a:round/>
                      <a:headEnd type="none" w="med" len="med"/>
                      <a:tailEnd type="none" w="med" len="med"/>
                    </a:lnT>
                    <a:lnB w="6350" cap="flat" cmpd="sng" algn="ctr">
                      <a:solidFill>
                        <a:srgbClr val="D3DEE4"/>
                      </a:solidFill>
                      <a:prstDash val="solid"/>
                      <a:round/>
                      <a:headEnd type="none" w="med" len="med"/>
                      <a:tailEnd type="none" w="med" len="med"/>
                    </a:lnB>
                    <a:solidFill>
                      <a:srgbClr val="FFFFFF"/>
                    </a:solidFill>
                  </a:tcPr>
                </a:tc>
                <a:tc>
                  <a:txBody>
                    <a:bodyPr/>
                    <a:lstStyle/>
                    <a:p>
                      <a:pPr indent="0" marL="0">
                        <a:buNone/>
                      </a:pPr>
                      <a:r>
                        <a:rPr lang="en-US" sz="1300" dirty="0">
                          <a:solidFill>
                            <a:srgbClr val="5B6B77"/>
                          </a:solidFill>
                          <a:latin typeface="Calibri" pitchFamily="34" charset="0"/>
                          <a:ea typeface="Calibri" pitchFamily="34" charset="-122"/>
                          <a:cs typeface="Calibri" pitchFamily="34" charset="-120"/>
                        </a:rPr>
                        <a:t>Apr 2027</a:t>
                      </a:r>
                      <a:endParaRPr lang="en-US" sz="1300" dirty="0">
                        <a:latin typeface="Calibri" charset="0"/>
                        <a:ea typeface="Calibri" charset="0"/>
                        <a:cs typeface="Calibri" charset="0"/>
                      </a:endParaRPr>
                    </a:p>
                  </a:txBody>
                  <a:tcPr marL="91440" marR="91440" marT="36576" marB="36576" anchor="ctr">
                    <a:lnL w="6350" cap="flat" cmpd="sng" algn="ctr">
                      <a:solidFill>
                        <a:srgbClr val="D3DEE4"/>
                      </a:solidFill>
                      <a:prstDash val="solid"/>
                      <a:round/>
                      <a:headEnd type="none" w="med" len="med"/>
                      <a:tailEnd type="none" w="med" len="med"/>
                    </a:lnL>
                    <a:lnR w="6350" cap="flat" cmpd="sng" algn="ctr">
                      <a:solidFill>
                        <a:srgbClr val="D3DEE4"/>
                      </a:solidFill>
                      <a:prstDash val="solid"/>
                      <a:round/>
                      <a:headEnd type="none" w="med" len="med"/>
                      <a:tailEnd type="none" w="med" len="med"/>
                    </a:lnR>
                    <a:lnT w="6350" cap="flat" cmpd="sng" algn="ctr">
                      <a:solidFill>
                        <a:srgbClr val="D3DEE4"/>
                      </a:solidFill>
                      <a:prstDash val="solid"/>
                      <a:round/>
                      <a:headEnd type="none" w="med" len="med"/>
                      <a:tailEnd type="none" w="med" len="med"/>
                    </a:lnT>
                    <a:lnB w="6350" cap="flat" cmpd="sng" algn="ctr">
                      <a:solidFill>
                        <a:srgbClr val="D3DEE4"/>
                      </a:solidFill>
                      <a:prstDash val="solid"/>
                      <a:round/>
                      <a:headEnd type="none" w="med" len="med"/>
                      <a:tailEnd type="none" w="med" len="med"/>
                    </a:lnB>
                    <a:solidFill>
                      <a:srgbClr val="FFFFFF"/>
                    </a:solidFill>
                  </a:tcPr>
                </a:tc>
              </a:tr>
              <a:tr h="585216">
                <a:tc>
                  <a:txBody>
                    <a:bodyPr/>
                    <a:lstStyle/>
                    <a:p>
                      <a:pPr indent="0" marL="0">
                        <a:buNone/>
                      </a:pPr>
                      <a:r>
                        <a:rPr lang="en-US" sz="1300" b="1" dirty="0">
                          <a:solidFill>
                            <a:srgbClr val="1B7F8C"/>
                          </a:solidFill>
                          <a:latin typeface="Calibri" pitchFamily="34" charset="0"/>
                          <a:ea typeface="Calibri" pitchFamily="34" charset="-122"/>
                          <a:cs typeface="Calibri" pitchFamily="34" charset="-120"/>
                        </a:rPr>
                        <a:t>D7</a:t>
                      </a:r>
                      <a:endParaRPr lang="en-US" sz="1300" dirty="0">
                        <a:latin typeface="Calibri" charset="0"/>
                        <a:ea typeface="Calibri" charset="0"/>
                        <a:cs typeface="Calibri" charset="0"/>
                      </a:endParaRPr>
                    </a:p>
                  </a:txBody>
                  <a:tcPr marL="91440" marR="91440" marT="36576" marB="36576" anchor="ctr">
                    <a:lnL w="6350" cap="flat" cmpd="sng" algn="ctr">
                      <a:solidFill>
                        <a:srgbClr val="D3DEE4"/>
                      </a:solidFill>
                      <a:prstDash val="solid"/>
                      <a:round/>
                      <a:headEnd type="none" w="med" len="med"/>
                      <a:tailEnd type="none" w="med" len="med"/>
                    </a:lnL>
                    <a:lnR w="6350" cap="flat" cmpd="sng" algn="ctr">
                      <a:solidFill>
                        <a:srgbClr val="D3DEE4"/>
                      </a:solidFill>
                      <a:prstDash val="solid"/>
                      <a:round/>
                      <a:headEnd type="none" w="med" len="med"/>
                      <a:tailEnd type="none" w="med" len="med"/>
                    </a:lnR>
                    <a:lnT w="6350" cap="flat" cmpd="sng" algn="ctr">
                      <a:solidFill>
                        <a:srgbClr val="D3DEE4"/>
                      </a:solidFill>
                      <a:prstDash val="solid"/>
                      <a:round/>
                      <a:headEnd type="none" w="med" len="med"/>
                      <a:tailEnd type="none" w="med" len="med"/>
                    </a:lnT>
                    <a:lnB w="6350" cap="flat" cmpd="sng" algn="ctr">
                      <a:solidFill>
                        <a:srgbClr val="D3DEE4"/>
                      </a:solidFill>
                      <a:prstDash val="solid"/>
                      <a:round/>
                      <a:headEnd type="none" w="med" len="med"/>
                      <a:tailEnd type="none" w="med" len="med"/>
                    </a:lnB>
                    <a:solidFill>
                      <a:srgbClr val="EAF1F4"/>
                    </a:solidFill>
                  </a:tcPr>
                </a:tc>
                <a:tc>
                  <a:txBody>
                    <a:bodyPr/>
                    <a:lstStyle/>
                    <a:p>
                      <a:pPr indent="0" marL="0">
                        <a:buNone/>
                      </a:pPr>
                      <a:r>
                        <a:rPr lang="en-US" sz="1300" dirty="0">
                          <a:solidFill>
                            <a:srgbClr val="1A2530"/>
                          </a:solidFill>
                          <a:latin typeface="Calibri" pitchFamily="34" charset="0"/>
                          <a:ea typeface="Calibri" pitchFamily="34" charset="-122"/>
                          <a:cs typeface="Calibri" pitchFamily="34" charset="-120"/>
                        </a:rPr>
                        <a:t>Final report and viva material</a:t>
                      </a:r>
                      <a:endParaRPr lang="en-US" sz="1300" dirty="0">
                        <a:latin typeface="Calibri" charset="0"/>
                        <a:ea typeface="Calibri" charset="0"/>
                        <a:cs typeface="Calibri" charset="0"/>
                      </a:endParaRPr>
                    </a:p>
                  </a:txBody>
                  <a:tcPr marL="91440" marR="91440" marT="36576" marB="36576" anchor="ctr">
                    <a:lnL w="6350" cap="flat" cmpd="sng" algn="ctr">
                      <a:solidFill>
                        <a:srgbClr val="D3DEE4"/>
                      </a:solidFill>
                      <a:prstDash val="solid"/>
                      <a:round/>
                      <a:headEnd type="none" w="med" len="med"/>
                      <a:tailEnd type="none" w="med" len="med"/>
                    </a:lnL>
                    <a:lnR w="6350" cap="flat" cmpd="sng" algn="ctr">
                      <a:solidFill>
                        <a:srgbClr val="D3DEE4"/>
                      </a:solidFill>
                      <a:prstDash val="solid"/>
                      <a:round/>
                      <a:headEnd type="none" w="med" len="med"/>
                      <a:tailEnd type="none" w="med" len="med"/>
                    </a:lnR>
                    <a:lnT w="6350" cap="flat" cmpd="sng" algn="ctr">
                      <a:solidFill>
                        <a:srgbClr val="D3DEE4"/>
                      </a:solidFill>
                      <a:prstDash val="solid"/>
                      <a:round/>
                      <a:headEnd type="none" w="med" len="med"/>
                      <a:tailEnd type="none" w="med" len="med"/>
                    </a:lnT>
                    <a:lnB w="6350" cap="flat" cmpd="sng" algn="ctr">
                      <a:solidFill>
                        <a:srgbClr val="D3DEE4"/>
                      </a:solidFill>
                      <a:prstDash val="solid"/>
                      <a:round/>
                      <a:headEnd type="none" w="med" len="med"/>
                      <a:tailEnd type="none" w="med" len="med"/>
                    </a:lnB>
                    <a:solidFill>
                      <a:srgbClr val="EAF1F4"/>
                    </a:solidFill>
                  </a:tcPr>
                </a:tc>
                <a:tc>
                  <a:txBody>
                    <a:bodyPr/>
                    <a:lstStyle/>
                    <a:p>
                      <a:pPr indent="0" marL="0">
                        <a:buNone/>
                      </a:pPr>
                      <a:r>
                        <a:rPr lang="en-US" sz="1300" dirty="0">
                          <a:solidFill>
                            <a:srgbClr val="5B6B77"/>
                          </a:solidFill>
                          <a:latin typeface="Calibri" pitchFamily="34" charset="0"/>
                          <a:ea typeface="Calibri" pitchFamily="34" charset="-122"/>
                          <a:cs typeface="Calibri" pitchFamily="34" charset="-120"/>
                        </a:rPr>
                        <a:t>Apr to May 2027</a:t>
                      </a:r>
                      <a:endParaRPr lang="en-US" sz="1300" dirty="0">
                        <a:latin typeface="Calibri" charset="0"/>
                        <a:ea typeface="Calibri" charset="0"/>
                        <a:cs typeface="Calibri" charset="0"/>
                      </a:endParaRPr>
                    </a:p>
                  </a:txBody>
                  <a:tcPr marL="91440" marR="91440" marT="36576" marB="36576" anchor="ctr">
                    <a:lnL w="6350" cap="flat" cmpd="sng" algn="ctr">
                      <a:solidFill>
                        <a:srgbClr val="D3DEE4"/>
                      </a:solidFill>
                      <a:prstDash val="solid"/>
                      <a:round/>
                      <a:headEnd type="none" w="med" len="med"/>
                      <a:tailEnd type="none" w="med" len="med"/>
                    </a:lnL>
                    <a:lnR w="6350" cap="flat" cmpd="sng" algn="ctr">
                      <a:solidFill>
                        <a:srgbClr val="D3DEE4"/>
                      </a:solidFill>
                      <a:prstDash val="solid"/>
                      <a:round/>
                      <a:headEnd type="none" w="med" len="med"/>
                      <a:tailEnd type="none" w="med" len="med"/>
                    </a:lnR>
                    <a:lnT w="6350" cap="flat" cmpd="sng" algn="ctr">
                      <a:solidFill>
                        <a:srgbClr val="D3DEE4"/>
                      </a:solidFill>
                      <a:prstDash val="solid"/>
                      <a:round/>
                      <a:headEnd type="none" w="med" len="med"/>
                      <a:tailEnd type="none" w="med" len="med"/>
                    </a:lnT>
                    <a:lnB w="6350" cap="flat" cmpd="sng" algn="ctr">
                      <a:solidFill>
                        <a:srgbClr val="D3DEE4"/>
                      </a:solidFill>
                      <a:prstDash val="solid"/>
                      <a:round/>
                      <a:headEnd type="none" w="med" len="med"/>
                      <a:tailEnd type="none" w="med" len="med"/>
                    </a:lnB>
                    <a:solidFill>
                      <a:srgbClr val="EAF1F4"/>
                    </a:solidFill>
                  </a:tcPr>
                </a:tc>
              </a:tr>
            </a:tbl>
          </a:graphicData>
        </a:graphic>
      </p:graphicFrame>
      <p:sp>
        <p:nvSpPr>
          <p:cNvPr id="4" name="TRL panel"/>
          <p:cNvSpPr/>
          <p:nvPr/>
        </p:nvSpPr>
        <p:spPr>
          <a:xfrm>
            <a:off x="7863840" y="1280160"/>
            <a:ext cx="3794760" cy="4892040"/>
          </a:xfrm>
          <a:prstGeom prst="roundRect">
            <a:avLst>
              <a:gd name="adj" fmla="val 1928"/>
            </a:avLst>
          </a:prstGeom>
          <a:solidFill>
            <a:srgbClr val="EAF1F4"/>
          </a:solidFill>
          <a:ln/>
        </p:spPr>
      </p:sp>
      <p:sp>
        <p:nvSpPr>
          <p:cNvPr id="5" name="Text 2"/>
          <p:cNvSpPr txBox="1"/>
          <p:nvPr/>
        </p:nvSpPr>
        <p:spPr>
          <a:xfrm>
            <a:off x="8092440" y="1463040"/>
            <a:ext cx="3383280" cy="320040"/>
          </a:xfrm>
          <a:prstGeom prst="rect">
            <a:avLst/>
          </a:prstGeom>
          <a:noFill/>
          <a:ln/>
        </p:spPr>
        <p:txBody>
          <a:bodyPr wrap="square" lIns="0" tIns="0" rIns="0" bIns="0" rtlCol="0" anchor="t"/>
          <a:lstStyle/>
          <a:p>
            <a:pPr indent="0" marL="0">
              <a:buNone/>
            </a:pPr>
            <a:r>
              <a:rPr lang="en-US" sz="1600" b="1" dirty="0">
                <a:solidFill>
                  <a:srgbClr val="0F2A3D"/>
                </a:solidFill>
                <a:latin typeface="Calibri" pitchFamily="34" charset="0"/>
                <a:ea typeface="Calibri" pitchFamily="34" charset="-122"/>
                <a:cs typeface="Calibri" pitchFamily="34" charset="-120"/>
              </a:rPr>
              <a:t>Technology Readiness Level</a:t>
            </a:r>
            <a:endParaRPr lang="en-US" sz="1600" dirty="0"/>
          </a:p>
        </p:txBody>
      </p:sp>
      <p:sp>
        <p:nvSpPr>
          <p:cNvPr id="6" name="TRL 1"/>
          <p:cNvSpPr/>
          <p:nvPr/>
        </p:nvSpPr>
        <p:spPr>
          <a:xfrm>
            <a:off x="8092440" y="1965960"/>
            <a:ext cx="310896" cy="457200"/>
          </a:xfrm>
          <a:prstGeom prst="roundRect">
            <a:avLst>
              <a:gd name="adj" fmla="val 14706"/>
            </a:avLst>
          </a:prstGeom>
          <a:solidFill>
            <a:srgbClr val="FFFFFF"/>
          </a:solidFill>
          <a:ln w="9525">
            <a:solidFill>
              <a:srgbClr val="D3DEE4"/>
            </a:solidFill>
            <a:prstDash val="solid"/>
          </a:ln>
        </p:spPr>
      </p:sp>
      <p:sp>
        <p:nvSpPr>
          <p:cNvPr id="7" name="Text 4"/>
          <p:cNvSpPr txBox="1"/>
          <p:nvPr/>
        </p:nvSpPr>
        <p:spPr>
          <a:xfrm>
            <a:off x="8092440" y="1965960"/>
            <a:ext cx="310896" cy="457200"/>
          </a:xfrm>
          <a:prstGeom prst="rect">
            <a:avLst/>
          </a:prstGeom>
          <a:noFill/>
          <a:ln/>
        </p:spPr>
        <p:txBody>
          <a:bodyPr wrap="square" lIns="0" tIns="0" rIns="0" bIns="0" rtlCol="0" anchor="ctr"/>
          <a:lstStyle/>
          <a:p>
            <a:pPr algn="ctr" indent="0" marL="0">
              <a:buNone/>
            </a:pPr>
            <a:r>
              <a:rPr lang="en-US" sz="1200" b="1" dirty="0">
                <a:solidFill>
                  <a:srgbClr val="1A2530"/>
                </a:solidFill>
                <a:latin typeface="Calibri" pitchFamily="34" charset="0"/>
                <a:ea typeface="Calibri" pitchFamily="34" charset="-122"/>
                <a:cs typeface="Calibri" pitchFamily="34" charset="-120"/>
              </a:rPr>
              <a:t>1</a:t>
            </a:r>
            <a:endParaRPr lang="en-US" sz="1200" dirty="0"/>
          </a:p>
        </p:txBody>
      </p:sp>
      <p:sp>
        <p:nvSpPr>
          <p:cNvPr id="8" name="TRL 2"/>
          <p:cNvSpPr/>
          <p:nvPr/>
        </p:nvSpPr>
        <p:spPr>
          <a:xfrm>
            <a:off x="8458200" y="1965960"/>
            <a:ext cx="310896" cy="457200"/>
          </a:xfrm>
          <a:prstGeom prst="roundRect">
            <a:avLst>
              <a:gd name="adj" fmla="val 14706"/>
            </a:avLst>
          </a:prstGeom>
          <a:solidFill>
            <a:srgbClr val="FFFFFF"/>
          </a:solidFill>
          <a:ln w="9525">
            <a:solidFill>
              <a:srgbClr val="D3DEE4"/>
            </a:solidFill>
            <a:prstDash val="solid"/>
          </a:ln>
        </p:spPr>
      </p:sp>
      <p:sp>
        <p:nvSpPr>
          <p:cNvPr id="9" name="Text 6"/>
          <p:cNvSpPr txBox="1"/>
          <p:nvPr/>
        </p:nvSpPr>
        <p:spPr>
          <a:xfrm>
            <a:off x="8458200" y="1965960"/>
            <a:ext cx="310896" cy="457200"/>
          </a:xfrm>
          <a:prstGeom prst="rect">
            <a:avLst/>
          </a:prstGeom>
          <a:noFill/>
          <a:ln/>
        </p:spPr>
        <p:txBody>
          <a:bodyPr wrap="square" lIns="0" tIns="0" rIns="0" bIns="0" rtlCol="0" anchor="ctr"/>
          <a:lstStyle/>
          <a:p>
            <a:pPr algn="ctr" indent="0" marL="0">
              <a:buNone/>
            </a:pPr>
            <a:r>
              <a:rPr lang="en-US" sz="1200" b="1" dirty="0">
                <a:solidFill>
                  <a:srgbClr val="1A2530"/>
                </a:solidFill>
                <a:latin typeface="Calibri" pitchFamily="34" charset="0"/>
                <a:ea typeface="Calibri" pitchFamily="34" charset="-122"/>
                <a:cs typeface="Calibri" pitchFamily="34" charset="-120"/>
              </a:rPr>
              <a:t>2</a:t>
            </a:r>
            <a:endParaRPr lang="en-US" sz="1200" dirty="0"/>
          </a:p>
        </p:txBody>
      </p:sp>
      <p:sp>
        <p:nvSpPr>
          <p:cNvPr id="10" name="TRL 3"/>
          <p:cNvSpPr/>
          <p:nvPr/>
        </p:nvSpPr>
        <p:spPr>
          <a:xfrm>
            <a:off x="8823960" y="1965960"/>
            <a:ext cx="310896" cy="457200"/>
          </a:xfrm>
          <a:prstGeom prst="roundRect">
            <a:avLst>
              <a:gd name="adj" fmla="val 14706"/>
            </a:avLst>
          </a:prstGeom>
          <a:solidFill>
            <a:srgbClr val="1B7F8C"/>
          </a:solidFill>
          <a:ln w="9525">
            <a:solidFill>
              <a:srgbClr val="D3DEE4"/>
            </a:solidFill>
            <a:prstDash val="solid"/>
          </a:ln>
        </p:spPr>
      </p:sp>
      <p:sp>
        <p:nvSpPr>
          <p:cNvPr id="11" name="Text 8"/>
          <p:cNvSpPr txBox="1"/>
          <p:nvPr/>
        </p:nvSpPr>
        <p:spPr>
          <a:xfrm>
            <a:off x="8823960" y="1965960"/>
            <a:ext cx="310896"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2" name="TRL 4"/>
          <p:cNvSpPr/>
          <p:nvPr/>
        </p:nvSpPr>
        <p:spPr>
          <a:xfrm>
            <a:off x="9189720" y="1965960"/>
            <a:ext cx="310896" cy="457200"/>
          </a:xfrm>
          <a:prstGeom prst="roundRect">
            <a:avLst>
              <a:gd name="adj" fmla="val 14706"/>
            </a:avLst>
          </a:prstGeom>
          <a:solidFill>
            <a:srgbClr val="F4A261"/>
          </a:solidFill>
          <a:ln w="9525">
            <a:solidFill>
              <a:srgbClr val="D3DEE4"/>
            </a:solidFill>
            <a:prstDash val="solid"/>
          </a:ln>
        </p:spPr>
      </p:sp>
      <p:sp>
        <p:nvSpPr>
          <p:cNvPr id="13" name="Text 10"/>
          <p:cNvSpPr txBox="1"/>
          <p:nvPr/>
        </p:nvSpPr>
        <p:spPr>
          <a:xfrm>
            <a:off x="9189720" y="1965960"/>
            <a:ext cx="310896" cy="457200"/>
          </a:xfrm>
          <a:prstGeom prst="rect">
            <a:avLst/>
          </a:prstGeom>
          <a:noFill/>
          <a:ln/>
        </p:spPr>
        <p:txBody>
          <a:bodyPr wrap="square" lIns="0" tIns="0" rIns="0" bIns="0" rtlCol="0" anchor="ctr"/>
          <a:lstStyle/>
          <a:p>
            <a:pPr algn="ctr" indent="0" marL="0">
              <a:buNone/>
            </a:pPr>
            <a:r>
              <a:rPr lang="en-US" sz="1200" b="1" dirty="0">
                <a:solidFill>
                  <a:srgbClr val="1A2530"/>
                </a:solidFill>
                <a:latin typeface="Calibri" pitchFamily="34" charset="0"/>
                <a:ea typeface="Calibri" pitchFamily="34" charset="-122"/>
                <a:cs typeface="Calibri" pitchFamily="34" charset="-120"/>
              </a:rPr>
              <a:t>4</a:t>
            </a:r>
            <a:endParaRPr lang="en-US" sz="1200" dirty="0"/>
          </a:p>
        </p:txBody>
      </p:sp>
      <p:sp>
        <p:nvSpPr>
          <p:cNvPr id="14" name="TRL 5"/>
          <p:cNvSpPr/>
          <p:nvPr/>
        </p:nvSpPr>
        <p:spPr>
          <a:xfrm>
            <a:off x="9555480" y="1965960"/>
            <a:ext cx="310896" cy="457200"/>
          </a:xfrm>
          <a:prstGeom prst="roundRect">
            <a:avLst>
              <a:gd name="adj" fmla="val 14706"/>
            </a:avLst>
          </a:prstGeom>
          <a:solidFill>
            <a:srgbClr val="FFFFFF"/>
          </a:solidFill>
          <a:ln w="9525">
            <a:solidFill>
              <a:srgbClr val="D3DEE4"/>
            </a:solidFill>
            <a:prstDash val="solid"/>
          </a:ln>
        </p:spPr>
      </p:sp>
      <p:sp>
        <p:nvSpPr>
          <p:cNvPr id="15" name="Text 12"/>
          <p:cNvSpPr txBox="1"/>
          <p:nvPr/>
        </p:nvSpPr>
        <p:spPr>
          <a:xfrm>
            <a:off x="9555480" y="1965960"/>
            <a:ext cx="310896" cy="457200"/>
          </a:xfrm>
          <a:prstGeom prst="rect">
            <a:avLst/>
          </a:prstGeom>
          <a:noFill/>
          <a:ln/>
        </p:spPr>
        <p:txBody>
          <a:bodyPr wrap="square" lIns="0" tIns="0" rIns="0" bIns="0" rtlCol="0" anchor="ctr"/>
          <a:lstStyle/>
          <a:p>
            <a:pPr algn="ctr" indent="0" marL="0">
              <a:buNone/>
            </a:pPr>
            <a:r>
              <a:rPr lang="en-US" sz="1200" b="1" dirty="0">
                <a:solidFill>
                  <a:srgbClr val="1A2530"/>
                </a:solidFill>
                <a:latin typeface="Calibri" pitchFamily="34" charset="0"/>
                <a:ea typeface="Calibri" pitchFamily="34" charset="-122"/>
                <a:cs typeface="Calibri" pitchFamily="34" charset="-120"/>
              </a:rPr>
              <a:t>5</a:t>
            </a:r>
            <a:endParaRPr lang="en-US" sz="1200" dirty="0"/>
          </a:p>
        </p:txBody>
      </p:sp>
      <p:sp>
        <p:nvSpPr>
          <p:cNvPr id="16" name="TRL 6"/>
          <p:cNvSpPr/>
          <p:nvPr/>
        </p:nvSpPr>
        <p:spPr>
          <a:xfrm>
            <a:off x="9921240" y="1965960"/>
            <a:ext cx="310896" cy="457200"/>
          </a:xfrm>
          <a:prstGeom prst="roundRect">
            <a:avLst>
              <a:gd name="adj" fmla="val 14706"/>
            </a:avLst>
          </a:prstGeom>
          <a:solidFill>
            <a:srgbClr val="FFFFFF"/>
          </a:solidFill>
          <a:ln w="9525">
            <a:solidFill>
              <a:srgbClr val="D3DEE4"/>
            </a:solidFill>
            <a:prstDash val="solid"/>
          </a:ln>
        </p:spPr>
      </p:sp>
      <p:sp>
        <p:nvSpPr>
          <p:cNvPr id="17" name="Text 14"/>
          <p:cNvSpPr txBox="1"/>
          <p:nvPr/>
        </p:nvSpPr>
        <p:spPr>
          <a:xfrm>
            <a:off x="9921240" y="1965960"/>
            <a:ext cx="310896" cy="457200"/>
          </a:xfrm>
          <a:prstGeom prst="rect">
            <a:avLst/>
          </a:prstGeom>
          <a:noFill/>
          <a:ln/>
        </p:spPr>
        <p:txBody>
          <a:bodyPr wrap="square" lIns="0" tIns="0" rIns="0" bIns="0" rtlCol="0" anchor="ctr"/>
          <a:lstStyle/>
          <a:p>
            <a:pPr algn="ctr" indent="0" marL="0">
              <a:buNone/>
            </a:pPr>
            <a:r>
              <a:rPr lang="en-US" sz="1200" b="1" dirty="0">
                <a:solidFill>
                  <a:srgbClr val="1A2530"/>
                </a:solidFill>
                <a:latin typeface="Calibri" pitchFamily="34" charset="0"/>
                <a:ea typeface="Calibri" pitchFamily="34" charset="-122"/>
                <a:cs typeface="Calibri" pitchFamily="34" charset="-120"/>
              </a:rPr>
              <a:t>6</a:t>
            </a:r>
            <a:endParaRPr lang="en-US" sz="1200" dirty="0"/>
          </a:p>
        </p:txBody>
      </p:sp>
      <p:sp>
        <p:nvSpPr>
          <p:cNvPr id="18" name="TRL 7"/>
          <p:cNvSpPr/>
          <p:nvPr/>
        </p:nvSpPr>
        <p:spPr>
          <a:xfrm>
            <a:off x="10287000" y="1965960"/>
            <a:ext cx="310896" cy="457200"/>
          </a:xfrm>
          <a:prstGeom prst="roundRect">
            <a:avLst>
              <a:gd name="adj" fmla="val 14706"/>
            </a:avLst>
          </a:prstGeom>
          <a:solidFill>
            <a:srgbClr val="FFFFFF"/>
          </a:solidFill>
          <a:ln w="9525">
            <a:solidFill>
              <a:srgbClr val="D3DEE4"/>
            </a:solidFill>
            <a:prstDash val="solid"/>
          </a:ln>
        </p:spPr>
      </p:sp>
      <p:sp>
        <p:nvSpPr>
          <p:cNvPr id="19" name="Text 16"/>
          <p:cNvSpPr txBox="1"/>
          <p:nvPr/>
        </p:nvSpPr>
        <p:spPr>
          <a:xfrm>
            <a:off x="10287000" y="1965960"/>
            <a:ext cx="310896" cy="457200"/>
          </a:xfrm>
          <a:prstGeom prst="rect">
            <a:avLst/>
          </a:prstGeom>
          <a:noFill/>
          <a:ln/>
        </p:spPr>
        <p:txBody>
          <a:bodyPr wrap="square" lIns="0" tIns="0" rIns="0" bIns="0" rtlCol="0" anchor="ctr"/>
          <a:lstStyle/>
          <a:p>
            <a:pPr algn="ctr" indent="0" marL="0">
              <a:buNone/>
            </a:pPr>
            <a:r>
              <a:rPr lang="en-US" sz="1200" b="1" dirty="0">
                <a:solidFill>
                  <a:srgbClr val="1A2530"/>
                </a:solidFill>
                <a:latin typeface="Calibri" pitchFamily="34" charset="0"/>
                <a:ea typeface="Calibri" pitchFamily="34" charset="-122"/>
                <a:cs typeface="Calibri" pitchFamily="34" charset="-120"/>
              </a:rPr>
              <a:t>7</a:t>
            </a:r>
            <a:endParaRPr lang="en-US" sz="1200" dirty="0"/>
          </a:p>
        </p:txBody>
      </p:sp>
      <p:sp>
        <p:nvSpPr>
          <p:cNvPr id="20" name="TRL 8"/>
          <p:cNvSpPr/>
          <p:nvPr/>
        </p:nvSpPr>
        <p:spPr>
          <a:xfrm>
            <a:off x="10652760" y="1965960"/>
            <a:ext cx="310896" cy="457200"/>
          </a:xfrm>
          <a:prstGeom prst="roundRect">
            <a:avLst>
              <a:gd name="adj" fmla="val 14706"/>
            </a:avLst>
          </a:prstGeom>
          <a:solidFill>
            <a:srgbClr val="FFFFFF"/>
          </a:solidFill>
          <a:ln w="9525">
            <a:solidFill>
              <a:srgbClr val="D3DEE4"/>
            </a:solidFill>
            <a:prstDash val="solid"/>
          </a:ln>
        </p:spPr>
      </p:sp>
      <p:sp>
        <p:nvSpPr>
          <p:cNvPr id="21" name="Text 18"/>
          <p:cNvSpPr txBox="1"/>
          <p:nvPr/>
        </p:nvSpPr>
        <p:spPr>
          <a:xfrm>
            <a:off x="10652760" y="1965960"/>
            <a:ext cx="310896" cy="457200"/>
          </a:xfrm>
          <a:prstGeom prst="rect">
            <a:avLst/>
          </a:prstGeom>
          <a:noFill/>
          <a:ln/>
        </p:spPr>
        <p:txBody>
          <a:bodyPr wrap="square" lIns="0" tIns="0" rIns="0" bIns="0" rtlCol="0" anchor="ctr"/>
          <a:lstStyle/>
          <a:p>
            <a:pPr algn="ctr" indent="0" marL="0">
              <a:buNone/>
            </a:pPr>
            <a:r>
              <a:rPr lang="en-US" sz="1200" b="1" dirty="0">
                <a:solidFill>
                  <a:srgbClr val="1A2530"/>
                </a:solidFill>
                <a:latin typeface="Calibri" pitchFamily="34" charset="0"/>
                <a:ea typeface="Calibri" pitchFamily="34" charset="-122"/>
                <a:cs typeface="Calibri" pitchFamily="34" charset="-120"/>
              </a:rPr>
              <a:t>8</a:t>
            </a:r>
            <a:endParaRPr lang="en-US" sz="1200" dirty="0"/>
          </a:p>
        </p:txBody>
      </p:sp>
      <p:sp>
        <p:nvSpPr>
          <p:cNvPr id="22" name="TRL 9"/>
          <p:cNvSpPr/>
          <p:nvPr/>
        </p:nvSpPr>
        <p:spPr>
          <a:xfrm>
            <a:off x="11018520" y="1965960"/>
            <a:ext cx="310896" cy="457200"/>
          </a:xfrm>
          <a:prstGeom prst="roundRect">
            <a:avLst>
              <a:gd name="adj" fmla="val 14706"/>
            </a:avLst>
          </a:prstGeom>
          <a:solidFill>
            <a:srgbClr val="FFFFFF"/>
          </a:solidFill>
          <a:ln w="9525">
            <a:solidFill>
              <a:srgbClr val="D3DEE4"/>
            </a:solidFill>
            <a:prstDash val="solid"/>
          </a:ln>
        </p:spPr>
      </p:sp>
      <p:sp>
        <p:nvSpPr>
          <p:cNvPr id="23" name="Text 20"/>
          <p:cNvSpPr txBox="1"/>
          <p:nvPr/>
        </p:nvSpPr>
        <p:spPr>
          <a:xfrm>
            <a:off x="11018520" y="1965960"/>
            <a:ext cx="310896" cy="457200"/>
          </a:xfrm>
          <a:prstGeom prst="rect">
            <a:avLst/>
          </a:prstGeom>
          <a:noFill/>
          <a:ln/>
        </p:spPr>
        <p:txBody>
          <a:bodyPr wrap="square" lIns="0" tIns="0" rIns="0" bIns="0" rtlCol="0" anchor="ctr"/>
          <a:lstStyle/>
          <a:p>
            <a:pPr algn="ctr" indent="0" marL="0">
              <a:buNone/>
            </a:pPr>
            <a:r>
              <a:rPr lang="en-US" sz="1200" b="1" dirty="0">
                <a:solidFill>
                  <a:srgbClr val="1A2530"/>
                </a:solidFill>
                <a:latin typeface="Calibri" pitchFamily="34" charset="0"/>
                <a:ea typeface="Calibri" pitchFamily="34" charset="-122"/>
                <a:cs typeface="Calibri" pitchFamily="34" charset="-120"/>
              </a:rPr>
              <a:t>9</a:t>
            </a:r>
            <a:endParaRPr lang="en-US" sz="1200" dirty="0"/>
          </a:p>
        </p:txBody>
      </p:sp>
      <p:sp>
        <p:nvSpPr>
          <p:cNvPr id="24" name="Text 21"/>
          <p:cNvSpPr txBox="1"/>
          <p:nvPr/>
        </p:nvSpPr>
        <p:spPr>
          <a:xfrm>
            <a:off x="8092440" y="2697480"/>
            <a:ext cx="3383280" cy="1463040"/>
          </a:xfrm>
          <a:prstGeom prst="rect">
            <a:avLst/>
          </a:prstGeom>
          <a:noFill/>
          <a:ln/>
        </p:spPr>
        <p:txBody>
          <a:bodyPr wrap="square" lIns="0" tIns="0" rIns="0" bIns="0" rtlCol="0" anchor="t"/>
          <a:lstStyle/>
          <a:p>
            <a:pPr indent="0" marL="0">
              <a:buNone/>
            </a:pPr>
            <a:r>
              <a:rPr lang="en-US" sz="1400" b="1" dirty="0">
                <a:solidFill>
                  <a:srgbClr val="1B7F8C"/>
                </a:solidFill>
                <a:latin typeface="Calibri" pitchFamily="34" charset="0"/>
                <a:ea typeface="Calibri" pitchFamily="34" charset="-122"/>
                <a:cs typeface="Calibri" pitchFamily="34" charset="-120"/>
              </a:rPr>
              <a:t>Now: TRL 3. </a:t>
            </a:r>
            <a:pPr indent="0" marL="0">
              <a:buNone/>
            </a:pPr>
            <a:r>
              <a:rPr lang="en-US" sz="1400" dirty="0">
                <a:solidFill>
                  <a:srgbClr val="1A2530"/>
                </a:solidFill>
                <a:latin typeface="Calibri" pitchFamily="34" charset="0"/>
                <a:ea typeface="Calibri" pitchFamily="34" charset="-122"/>
                <a:cs typeface="Calibri" pitchFamily="34" charset="-120"/>
              </a:rPr>
              <a:t>Proof of concept at CIFAR scale (minor project and audit).</a:t>
            </a:r>
            <a:endParaRPr lang="en-US" sz="1400" dirty="0"/>
          </a:p>
          <a:p>
            <a:pPr indent="0" marL="0">
              <a:buNone/>
            </a:pPr>
            <a:r>
              <a:rPr lang="en-US" sz="1400" b="1" dirty="0">
                <a:solidFill>
                  <a:srgbClr val="B5651D"/>
                </a:solidFill>
                <a:latin typeface="Calibri" pitchFamily="34" charset="0"/>
                <a:ea typeface="Calibri" pitchFamily="34" charset="-122"/>
                <a:cs typeface="Calibri" pitchFamily="34" charset="-120"/>
              </a:rPr>
              <a:t>Target: TRL 4. </a:t>
            </a:r>
            <a:pPr indent="0" marL="0">
              <a:buNone/>
            </a:pPr>
            <a:r>
              <a:rPr lang="en-US" sz="1400" dirty="0">
                <a:solidFill>
                  <a:srgbClr val="1A2530"/>
                </a:solidFill>
                <a:latin typeface="Calibri" pitchFamily="34" charset="0"/>
                <a:ea typeface="Calibri" pitchFamily="34" charset="-122"/>
                <a:cs typeface="Calibri" pitchFamily="34" charset="-120"/>
              </a:rPr>
              <a:t>Validated in the lab: reproducible, controlled, multi-data-set harness.</a:t>
            </a:r>
            <a:endParaRPr lang="en-US" sz="1400" dirty="0"/>
          </a:p>
        </p:txBody>
      </p:sp>
      <p:sp>
        <p:nvSpPr>
          <p:cNvPr id="25" name="Text 22"/>
          <p:cNvSpPr txBox="1"/>
          <p:nvPr/>
        </p:nvSpPr>
        <p:spPr>
          <a:xfrm>
            <a:off x="8092440" y="4251960"/>
            <a:ext cx="3383280" cy="274320"/>
          </a:xfrm>
          <a:prstGeom prst="rect">
            <a:avLst/>
          </a:prstGeom>
          <a:noFill/>
          <a:ln/>
        </p:spPr>
        <p:txBody>
          <a:bodyPr wrap="square" lIns="0" tIns="0" rIns="0" bIns="0" rtlCol="0" anchor="t"/>
          <a:lstStyle/>
          <a:p>
            <a:pPr indent="0" marL="0">
              <a:buNone/>
            </a:pPr>
            <a:r>
              <a:rPr lang="en-US" sz="1600" b="1" dirty="0">
                <a:solidFill>
                  <a:srgbClr val="0F2A3D"/>
                </a:solidFill>
                <a:latin typeface="Calibri" pitchFamily="34" charset="0"/>
                <a:ea typeface="Calibri" pitchFamily="34" charset="-122"/>
                <a:cs typeface="Calibri" pitchFamily="34" charset="-120"/>
              </a:rPr>
              <a:t>Publication</a:t>
            </a:r>
            <a:endParaRPr lang="en-US" sz="1600" dirty="0"/>
          </a:p>
        </p:txBody>
      </p:sp>
      <p:sp>
        <p:nvSpPr>
          <p:cNvPr id="26" name="Text 23"/>
          <p:cNvSpPr txBox="1"/>
          <p:nvPr/>
        </p:nvSpPr>
        <p:spPr>
          <a:xfrm>
            <a:off x="8092440" y="4572000"/>
            <a:ext cx="3383280" cy="1463040"/>
          </a:xfrm>
          <a:prstGeom prst="rect">
            <a:avLst/>
          </a:prstGeom>
          <a:noFill/>
          <a:ln/>
        </p:spPr>
        <p:txBody>
          <a:bodyPr wrap="square" lIns="0" tIns="0" rIns="0" bIns="0" rtlCol="0" anchor="t"/>
          <a:lstStyle/>
          <a:p>
            <a:pPr indent="0" marL="0">
              <a:buNone/>
            </a:pPr>
            <a:r>
              <a:rPr lang="en-US" sz="1400" dirty="0">
                <a:solidFill>
                  <a:srgbClr val="1A2530"/>
                </a:solidFill>
                <a:latin typeface="Calibri" pitchFamily="34" charset="0"/>
                <a:ea typeface="Calibri" pitchFamily="34" charset="-122"/>
                <a:cs typeface="Calibri" pitchFamily="34" charset="-120"/>
              </a:rPr>
              <a:t>Two manuscripts; venues matched to SRM's approved journal list, with a conference fallback so publication lands within the academic year.</a:t>
            </a:r>
            <a:endParaRPr lang="en-US" sz="14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Risks and mitigation</a:t>
            </a:r>
            <a:endParaRPr lang="en-US" sz="3200" dirty="0"/>
          </a:p>
        </p:txBody>
      </p:sp>
      <p:graphicFrame>
        <p:nvGraphicFramePr>
          <p:cNvPr id="18" name="Risk table"/>
          <p:cNvGraphicFramePr>
            <a:graphicFrameLocks noGrp="1"/>
          </p:cNvGraphicFramePr>
          <p:nvPr>
            <p:extLst>
              <p:ext uri="{D42A27DB-BD31-4B8C-83A1-F6EECF244321}">
                <p14:modId xmlns:p14="http://schemas.microsoft.com/office/powerpoint/2010/main" val="1579011935"/>
              </p:ext>
            </p:extLst>
          </p:nvPr>
        </p:nvGraphicFramePr>
        <p:xfrm>
          <a:off x="548640" y="1280160"/>
          <a:ext cx="11109960" cy="914400"/>
        </p:xfrm>
        <a:graphic>
          <a:graphicData uri="http://schemas.openxmlformats.org/drawingml/2006/table">
            <a:tbl>
              <a:tblPr/>
              <a:tblGrid>
                <a:gridCol w="2011680"/>
                <a:gridCol w="4572000"/>
                <a:gridCol w="4526280"/>
              </a:tblGrid>
              <a:tr h="365760">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Risk</a:t>
                      </a:r>
                      <a:endParaRPr lang="en-US" sz="1200" dirty="0">
                        <a:latin typeface="Calibri" charset="0"/>
                        <a:ea typeface="Calibri" charset="0"/>
                        <a:cs typeface="Calibri" charset="0"/>
                      </a:endParaRPr>
                    </a:p>
                  </a:txBody>
                  <a:tcPr marL="109728" marR="109728" marT="45720" marB="45720" anchor="ctr">
                    <a:lnL w="6350" cap="flat" cmpd="sng" algn="ctr">
                      <a:solidFill>
                        <a:srgbClr val="D3DEE4"/>
                      </a:solidFill>
                      <a:prstDash val="solid"/>
                      <a:round/>
                      <a:headEnd type="none" w="med" len="med"/>
                      <a:tailEnd type="none" w="med" len="med"/>
                    </a:lnL>
                    <a:lnR w="6350" cap="flat" cmpd="sng" algn="ctr">
                      <a:solidFill>
                        <a:srgbClr val="D3DEE4"/>
                      </a:solidFill>
                      <a:prstDash val="solid"/>
                      <a:round/>
                      <a:headEnd type="none" w="med" len="med"/>
                      <a:tailEnd type="none" w="med" len="med"/>
                    </a:lnR>
                    <a:lnT w="6350" cap="flat" cmpd="sng" algn="ctr">
                      <a:solidFill>
                        <a:srgbClr val="D3DEE4"/>
                      </a:solidFill>
                      <a:prstDash val="solid"/>
                      <a:round/>
                      <a:headEnd type="none" w="med" len="med"/>
                      <a:tailEnd type="none" w="med" len="med"/>
                    </a:lnT>
                    <a:lnB w="6350" cap="flat" cmpd="sng" algn="ctr">
                      <a:solidFill>
                        <a:srgbClr val="D3DEE4"/>
                      </a:solidFill>
                      <a:prstDash val="solid"/>
                      <a:round/>
                      <a:headEnd type="none" w="med" len="med"/>
                      <a:tailEnd type="none" w="med" len="med"/>
                    </a:lnB>
                    <a:solidFill>
                      <a:srgbClr val="0F2A3D"/>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What could go wrong</a:t>
                      </a:r>
                      <a:endParaRPr lang="en-US" sz="1200" dirty="0">
                        <a:latin typeface="Calibri" charset="0"/>
                        <a:ea typeface="Calibri" charset="0"/>
                        <a:cs typeface="Calibri" charset="0"/>
                      </a:endParaRPr>
                    </a:p>
                  </a:txBody>
                  <a:tcPr marL="109728" marR="109728" marT="45720" marB="45720" anchor="ctr">
                    <a:lnL w="6350" cap="flat" cmpd="sng" algn="ctr">
                      <a:solidFill>
                        <a:srgbClr val="D3DEE4"/>
                      </a:solidFill>
                      <a:prstDash val="solid"/>
                      <a:round/>
                      <a:headEnd type="none" w="med" len="med"/>
                      <a:tailEnd type="none" w="med" len="med"/>
                    </a:lnL>
                    <a:lnR w="6350" cap="flat" cmpd="sng" algn="ctr">
                      <a:solidFill>
                        <a:srgbClr val="D3DEE4"/>
                      </a:solidFill>
                      <a:prstDash val="solid"/>
                      <a:round/>
                      <a:headEnd type="none" w="med" len="med"/>
                      <a:tailEnd type="none" w="med" len="med"/>
                    </a:lnR>
                    <a:lnT w="6350" cap="flat" cmpd="sng" algn="ctr">
                      <a:solidFill>
                        <a:srgbClr val="D3DEE4"/>
                      </a:solidFill>
                      <a:prstDash val="solid"/>
                      <a:round/>
                      <a:headEnd type="none" w="med" len="med"/>
                      <a:tailEnd type="none" w="med" len="med"/>
                    </a:lnT>
                    <a:lnB w="6350" cap="flat" cmpd="sng" algn="ctr">
                      <a:solidFill>
                        <a:srgbClr val="D3DEE4"/>
                      </a:solidFill>
                      <a:prstDash val="solid"/>
                      <a:round/>
                      <a:headEnd type="none" w="med" len="med"/>
                      <a:tailEnd type="none" w="med" len="med"/>
                    </a:lnB>
                    <a:solidFill>
                      <a:srgbClr val="0F2A3D"/>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Mitigation</a:t>
                      </a:r>
                      <a:endParaRPr lang="en-US" sz="1200" dirty="0">
                        <a:latin typeface="Calibri" charset="0"/>
                        <a:ea typeface="Calibri" charset="0"/>
                        <a:cs typeface="Calibri" charset="0"/>
                      </a:endParaRPr>
                    </a:p>
                  </a:txBody>
                  <a:tcPr marL="109728" marR="109728" marT="45720" marB="45720" anchor="ctr">
                    <a:lnL w="6350" cap="flat" cmpd="sng" algn="ctr">
                      <a:solidFill>
                        <a:srgbClr val="D3DEE4"/>
                      </a:solidFill>
                      <a:prstDash val="solid"/>
                      <a:round/>
                      <a:headEnd type="none" w="med" len="med"/>
                      <a:tailEnd type="none" w="med" len="med"/>
                    </a:lnL>
                    <a:lnR w="6350" cap="flat" cmpd="sng" algn="ctr">
                      <a:solidFill>
                        <a:srgbClr val="D3DEE4"/>
                      </a:solidFill>
                      <a:prstDash val="solid"/>
                      <a:round/>
                      <a:headEnd type="none" w="med" len="med"/>
                      <a:tailEnd type="none" w="med" len="med"/>
                    </a:lnR>
                    <a:lnT w="6350" cap="flat" cmpd="sng" algn="ctr">
                      <a:solidFill>
                        <a:srgbClr val="D3DEE4"/>
                      </a:solidFill>
                      <a:prstDash val="solid"/>
                      <a:round/>
                      <a:headEnd type="none" w="med" len="med"/>
                      <a:tailEnd type="none" w="med" len="med"/>
                    </a:lnT>
                    <a:lnB w="6350" cap="flat" cmpd="sng" algn="ctr">
                      <a:solidFill>
                        <a:srgbClr val="D3DEE4"/>
                      </a:solidFill>
                      <a:prstDash val="solid"/>
                      <a:round/>
                      <a:headEnd type="none" w="med" len="med"/>
                      <a:tailEnd type="none" w="med" len="med"/>
                    </a:lnB>
                    <a:solidFill>
                      <a:srgbClr val="0F2A3D"/>
                    </a:solidFill>
                  </a:tcPr>
                </a:tc>
              </a:tr>
              <a:tr h="868680">
                <a:tc>
                  <a:txBody>
                    <a:bodyPr/>
                    <a:lstStyle/>
                    <a:p>
                      <a:pPr indent="0" marL="0">
                        <a:buNone/>
                      </a:pPr>
                      <a:r>
                        <a:rPr lang="en-US" sz="1500" b="1" dirty="0">
                          <a:solidFill>
                            <a:srgbClr val="0F2A3D"/>
                          </a:solidFill>
                          <a:latin typeface="Calibri" pitchFamily="34" charset="0"/>
                          <a:ea typeface="Calibri" pitchFamily="34" charset="-122"/>
                          <a:cs typeface="Calibri" pitchFamily="34" charset="-120"/>
                        </a:rPr>
                        <a:t>Compute</a:t>
                      </a:r>
                      <a:endParaRPr lang="en-US" sz="1500" dirty="0">
                        <a:latin typeface="Calibri" charset="0"/>
                        <a:ea typeface="Calibri" charset="0"/>
                        <a:cs typeface="Calibri" charset="0"/>
                      </a:endParaRPr>
                    </a:p>
                  </a:txBody>
                  <a:tcPr marL="109728" marR="109728" marT="45720" marB="45720" anchor="ctr">
                    <a:lnL w="6350" cap="flat" cmpd="sng" algn="ctr">
                      <a:solidFill>
                        <a:srgbClr val="D3DEE4"/>
                      </a:solidFill>
                      <a:prstDash val="solid"/>
                      <a:round/>
                      <a:headEnd type="none" w="med" len="med"/>
                      <a:tailEnd type="none" w="med" len="med"/>
                    </a:lnL>
                    <a:lnR w="6350" cap="flat" cmpd="sng" algn="ctr">
                      <a:solidFill>
                        <a:srgbClr val="D3DEE4"/>
                      </a:solidFill>
                      <a:prstDash val="solid"/>
                      <a:round/>
                      <a:headEnd type="none" w="med" len="med"/>
                      <a:tailEnd type="none" w="med" len="med"/>
                    </a:lnR>
                    <a:lnT w="6350" cap="flat" cmpd="sng" algn="ctr">
                      <a:solidFill>
                        <a:srgbClr val="D3DEE4"/>
                      </a:solidFill>
                      <a:prstDash val="solid"/>
                      <a:round/>
                      <a:headEnd type="none" w="med" len="med"/>
                      <a:tailEnd type="none" w="med" len="med"/>
                    </a:lnT>
                    <a:lnB w="6350" cap="flat" cmpd="sng" algn="ctr">
                      <a:solidFill>
                        <a:srgbClr val="D3DEE4"/>
                      </a:solidFill>
                      <a:prstDash val="solid"/>
                      <a:round/>
                      <a:headEnd type="none" w="med" len="med"/>
                      <a:tailEnd type="none" w="med" len="med"/>
                    </a:lnB>
                    <a:solidFill>
                      <a:srgbClr val="EAF1F4"/>
                    </a:solidFill>
                  </a:tcPr>
                </a:tc>
                <a:tc>
                  <a:txBody>
                    <a:bodyPr/>
                    <a:lstStyle/>
                    <a:p>
                      <a:pPr indent="0" marL="0">
                        <a:buNone/>
                      </a:pPr>
                      <a:r>
                        <a:rPr lang="en-US" sz="1400" dirty="0">
                          <a:solidFill>
                            <a:srgbClr val="1A2530"/>
                          </a:solidFill>
                          <a:latin typeface="Calibri" pitchFamily="34" charset="0"/>
                          <a:ea typeface="Calibri" pitchFamily="34" charset="-122"/>
                          <a:cs typeface="Calibri" pitchFamily="34" charset="-120"/>
                        </a:rPr>
                        <a:t>The audit averaged about 1 H100-hour per run. RO2 needs roughly 200 runs, and ImageNet-100 is extra.</a:t>
                      </a:r>
                      <a:endParaRPr lang="en-US" sz="1400" dirty="0">
                        <a:latin typeface="Calibri" charset="0"/>
                        <a:ea typeface="Calibri" charset="0"/>
                        <a:cs typeface="Calibri" charset="0"/>
                      </a:endParaRPr>
                    </a:p>
                  </a:txBody>
                  <a:tcPr marL="109728" marR="109728" marT="45720" marB="45720" anchor="ctr">
                    <a:lnL w="6350" cap="flat" cmpd="sng" algn="ctr">
                      <a:solidFill>
                        <a:srgbClr val="D3DEE4"/>
                      </a:solidFill>
                      <a:prstDash val="solid"/>
                      <a:round/>
                      <a:headEnd type="none" w="med" len="med"/>
                      <a:tailEnd type="none" w="med" len="med"/>
                    </a:lnL>
                    <a:lnR w="6350" cap="flat" cmpd="sng" algn="ctr">
                      <a:solidFill>
                        <a:srgbClr val="D3DEE4"/>
                      </a:solidFill>
                      <a:prstDash val="solid"/>
                      <a:round/>
                      <a:headEnd type="none" w="med" len="med"/>
                      <a:tailEnd type="none" w="med" len="med"/>
                    </a:lnR>
                    <a:lnT w="6350" cap="flat" cmpd="sng" algn="ctr">
                      <a:solidFill>
                        <a:srgbClr val="D3DEE4"/>
                      </a:solidFill>
                      <a:prstDash val="solid"/>
                      <a:round/>
                      <a:headEnd type="none" w="med" len="med"/>
                      <a:tailEnd type="none" w="med" len="med"/>
                    </a:lnT>
                    <a:lnB w="6350" cap="flat" cmpd="sng" algn="ctr">
                      <a:solidFill>
                        <a:srgbClr val="D3DEE4"/>
                      </a:solidFill>
                      <a:prstDash val="solid"/>
                      <a:round/>
                      <a:headEnd type="none" w="med" len="med"/>
                      <a:tailEnd type="none" w="med" len="med"/>
                    </a:lnB>
                    <a:solidFill>
                      <a:srgbClr val="EAF1F4"/>
                    </a:solidFill>
                  </a:tcPr>
                </a:tc>
                <a:tc>
                  <a:txBody>
                    <a:bodyPr/>
                    <a:lstStyle/>
                    <a:p>
                      <a:pPr indent="0" marL="0">
                        <a:buNone/>
                      </a:pPr>
                      <a:r>
                        <a:rPr lang="en-US" sz="1400" dirty="0">
                          <a:solidFill>
                            <a:srgbClr val="1A2530"/>
                          </a:solidFill>
                          <a:latin typeface="Calibri" pitchFamily="34" charset="0"/>
                          <a:ea typeface="Calibri" pitchFamily="34" charset="-122"/>
                          <a:cs typeface="Calibri" pitchFamily="34" charset="-120"/>
                        </a:rPr>
                        <a:t>Cut ImageNet-100 to arms A, best control and G; confirm available GPU budget at Review I.</a:t>
                      </a:r>
                      <a:endParaRPr lang="en-US" sz="1400" dirty="0">
                        <a:latin typeface="Calibri" charset="0"/>
                        <a:ea typeface="Calibri" charset="0"/>
                        <a:cs typeface="Calibri" charset="0"/>
                      </a:endParaRPr>
                    </a:p>
                  </a:txBody>
                  <a:tcPr marL="109728" marR="109728" marT="45720" marB="45720" anchor="ctr">
                    <a:lnL w="6350" cap="flat" cmpd="sng" algn="ctr">
                      <a:solidFill>
                        <a:srgbClr val="D3DEE4"/>
                      </a:solidFill>
                      <a:prstDash val="solid"/>
                      <a:round/>
                      <a:headEnd type="none" w="med" len="med"/>
                      <a:tailEnd type="none" w="med" len="med"/>
                    </a:lnL>
                    <a:lnR w="6350" cap="flat" cmpd="sng" algn="ctr">
                      <a:solidFill>
                        <a:srgbClr val="D3DEE4"/>
                      </a:solidFill>
                      <a:prstDash val="solid"/>
                      <a:round/>
                      <a:headEnd type="none" w="med" len="med"/>
                      <a:tailEnd type="none" w="med" len="med"/>
                    </a:lnR>
                    <a:lnT w="6350" cap="flat" cmpd="sng" algn="ctr">
                      <a:solidFill>
                        <a:srgbClr val="D3DEE4"/>
                      </a:solidFill>
                      <a:prstDash val="solid"/>
                      <a:round/>
                      <a:headEnd type="none" w="med" len="med"/>
                      <a:tailEnd type="none" w="med" len="med"/>
                    </a:lnT>
                    <a:lnB w="6350" cap="flat" cmpd="sng" algn="ctr">
                      <a:solidFill>
                        <a:srgbClr val="D3DEE4"/>
                      </a:solidFill>
                      <a:prstDash val="solid"/>
                      <a:round/>
                      <a:headEnd type="none" w="med" len="med"/>
                      <a:tailEnd type="none" w="med" len="med"/>
                    </a:lnB>
                    <a:solidFill>
                      <a:srgbClr val="EAF1F4"/>
                    </a:solidFill>
                  </a:tcPr>
                </a:tc>
              </a:tr>
              <a:tr h="868680">
                <a:tc>
                  <a:txBody>
                    <a:bodyPr/>
                    <a:lstStyle/>
                    <a:p>
                      <a:pPr indent="0" marL="0">
                        <a:buNone/>
                      </a:pPr>
                      <a:r>
                        <a:rPr lang="en-US" sz="1500" b="1" dirty="0">
                          <a:solidFill>
                            <a:srgbClr val="0F2A3D"/>
                          </a:solidFill>
                          <a:latin typeface="Calibri" pitchFamily="34" charset="0"/>
                          <a:ea typeface="Calibri" pitchFamily="34" charset="-122"/>
                          <a:cs typeface="Calibri" pitchFamily="34" charset="-120"/>
                        </a:rPr>
                        <a:t>Publication timing</a:t>
                      </a:r>
                      <a:endParaRPr lang="en-US" sz="1500" dirty="0">
                        <a:latin typeface="Calibri" charset="0"/>
                        <a:ea typeface="Calibri" charset="0"/>
                        <a:cs typeface="Calibri" charset="0"/>
                      </a:endParaRPr>
                    </a:p>
                  </a:txBody>
                  <a:tcPr marL="109728" marR="109728" marT="45720" marB="45720" anchor="ctr">
                    <a:lnL w="6350" cap="flat" cmpd="sng" algn="ctr">
                      <a:solidFill>
                        <a:srgbClr val="D3DEE4"/>
                      </a:solidFill>
                      <a:prstDash val="solid"/>
                      <a:round/>
                      <a:headEnd type="none" w="med" len="med"/>
                      <a:tailEnd type="none" w="med" len="med"/>
                    </a:lnL>
                    <a:lnR w="6350" cap="flat" cmpd="sng" algn="ctr">
                      <a:solidFill>
                        <a:srgbClr val="D3DEE4"/>
                      </a:solidFill>
                      <a:prstDash val="solid"/>
                      <a:round/>
                      <a:headEnd type="none" w="med" len="med"/>
                      <a:tailEnd type="none" w="med" len="med"/>
                    </a:lnR>
                    <a:lnT w="6350" cap="flat" cmpd="sng" algn="ctr">
                      <a:solidFill>
                        <a:srgbClr val="D3DEE4"/>
                      </a:solidFill>
                      <a:prstDash val="solid"/>
                      <a:round/>
                      <a:headEnd type="none" w="med" len="med"/>
                      <a:tailEnd type="none" w="med" len="med"/>
                    </a:lnT>
                    <a:lnB w="6350" cap="flat" cmpd="sng" algn="ctr">
                      <a:solidFill>
                        <a:srgbClr val="D3DEE4"/>
                      </a:solidFill>
                      <a:prstDash val="solid"/>
                      <a:round/>
                      <a:headEnd type="none" w="med" len="med"/>
                      <a:tailEnd type="none" w="med" len="med"/>
                    </a:lnB>
                    <a:solidFill>
                      <a:srgbClr val="FFFFFF"/>
                    </a:solidFill>
                  </a:tcPr>
                </a:tc>
                <a:tc>
                  <a:txBody>
                    <a:bodyPr/>
                    <a:lstStyle/>
                    <a:p>
                      <a:pPr indent="0" marL="0">
                        <a:buNone/>
                      </a:pPr>
                      <a:r>
                        <a:rPr lang="en-US" sz="1400" dirty="0">
                          <a:solidFill>
                            <a:srgbClr val="1A2530"/>
                          </a:solidFill>
                          <a:latin typeface="Calibri" pitchFamily="34" charset="0"/>
                          <a:ea typeface="Calibri" pitchFamily="34" charset="-122"/>
                          <a:cs typeface="Calibri" pitchFamily="34" charset="-120"/>
                        </a:rPr>
                        <a:t>Journal review can outlast the academic year, and publication is mandatory.</a:t>
                      </a:r>
                      <a:endParaRPr lang="en-US" sz="1400" dirty="0">
                        <a:latin typeface="Calibri" charset="0"/>
                        <a:ea typeface="Calibri" charset="0"/>
                        <a:cs typeface="Calibri" charset="0"/>
                      </a:endParaRPr>
                    </a:p>
                  </a:txBody>
                  <a:tcPr marL="109728" marR="109728" marT="45720" marB="45720" anchor="ctr">
                    <a:lnL w="6350" cap="flat" cmpd="sng" algn="ctr">
                      <a:solidFill>
                        <a:srgbClr val="D3DEE4"/>
                      </a:solidFill>
                      <a:prstDash val="solid"/>
                      <a:round/>
                      <a:headEnd type="none" w="med" len="med"/>
                      <a:tailEnd type="none" w="med" len="med"/>
                    </a:lnL>
                    <a:lnR w="6350" cap="flat" cmpd="sng" algn="ctr">
                      <a:solidFill>
                        <a:srgbClr val="D3DEE4"/>
                      </a:solidFill>
                      <a:prstDash val="solid"/>
                      <a:round/>
                      <a:headEnd type="none" w="med" len="med"/>
                      <a:tailEnd type="none" w="med" len="med"/>
                    </a:lnR>
                    <a:lnT w="6350" cap="flat" cmpd="sng" algn="ctr">
                      <a:solidFill>
                        <a:srgbClr val="D3DEE4"/>
                      </a:solidFill>
                      <a:prstDash val="solid"/>
                      <a:round/>
                      <a:headEnd type="none" w="med" len="med"/>
                      <a:tailEnd type="none" w="med" len="med"/>
                    </a:lnT>
                    <a:lnB w="6350" cap="flat" cmpd="sng" algn="ctr">
                      <a:solidFill>
                        <a:srgbClr val="D3DEE4"/>
                      </a:solidFill>
                      <a:prstDash val="solid"/>
                      <a:round/>
                      <a:headEnd type="none" w="med" len="med"/>
                      <a:tailEnd type="none" w="med" len="med"/>
                    </a:lnB>
                    <a:solidFill>
                      <a:srgbClr val="FFFFFF"/>
                    </a:solidFill>
                  </a:tcPr>
                </a:tc>
                <a:tc>
                  <a:txBody>
                    <a:bodyPr/>
                    <a:lstStyle/>
                    <a:p>
                      <a:pPr indent="0" marL="0">
                        <a:buNone/>
                      </a:pPr>
                      <a:r>
                        <a:rPr lang="en-US" sz="1400" dirty="0">
                          <a:solidFill>
                            <a:srgbClr val="1A2530"/>
                          </a:solidFill>
                          <a:latin typeface="Calibri" pitchFamily="34" charset="0"/>
                          <a:ea typeface="Calibri" pitchFamily="34" charset="-122"/>
                          <a:cs typeface="Calibri" pitchFamily="34" charset="-120"/>
                        </a:rPr>
                        <a:t>Submit Paper 1 in Dec 2026; keep a conference fallback; check venues against SRM's approved list.</a:t>
                      </a:r>
                      <a:endParaRPr lang="en-US" sz="1400" dirty="0">
                        <a:latin typeface="Calibri" charset="0"/>
                        <a:ea typeface="Calibri" charset="0"/>
                        <a:cs typeface="Calibri" charset="0"/>
                      </a:endParaRPr>
                    </a:p>
                  </a:txBody>
                  <a:tcPr marL="109728" marR="109728" marT="45720" marB="45720" anchor="ctr">
                    <a:lnL w="6350" cap="flat" cmpd="sng" algn="ctr">
                      <a:solidFill>
                        <a:srgbClr val="D3DEE4"/>
                      </a:solidFill>
                      <a:prstDash val="solid"/>
                      <a:round/>
                      <a:headEnd type="none" w="med" len="med"/>
                      <a:tailEnd type="none" w="med" len="med"/>
                    </a:lnL>
                    <a:lnR w="6350" cap="flat" cmpd="sng" algn="ctr">
                      <a:solidFill>
                        <a:srgbClr val="D3DEE4"/>
                      </a:solidFill>
                      <a:prstDash val="solid"/>
                      <a:round/>
                      <a:headEnd type="none" w="med" len="med"/>
                      <a:tailEnd type="none" w="med" len="med"/>
                    </a:lnR>
                    <a:lnT w="6350" cap="flat" cmpd="sng" algn="ctr">
                      <a:solidFill>
                        <a:srgbClr val="D3DEE4"/>
                      </a:solidFill>
                      <a:prstDash val="solid"/>
                      <a:round/>
                      <a:headEnd type="none" w="med" len="med"/>
                      <a:tailEnd type="none" w="med" len="med"/>
                    </a:lnT>
                    <a:lnB w="6350" cap="flat" cmpd="sng" algn="ctr">
                      <a:solidFill>
                        <a:srgbClr val="D3DEE4"/>
                      </a:solidFill>
                      <a:prstDash val="solid"/>
                      <a:round/>
                      <a:headEnd type="none" w="med" len="med"/>
                      <a:tailEnd type="none" w="med" len="med"/>
                    </a:lnB>
                    <a:solidFill>
                      <a:srgbClr val="FFFFFF"/>
                    </a:solidFill>
                  </a:tcPr>
                </a:tc>
              </a:tr>
              <a:tr h="868680">
                <a:tc>
                  <a:txBody>
                    <a:bodyPr/>
                    <a:lstStyle/>
                    <a:p>
                      <a:pPr indent="0" marL="0">
                        <a:buNone/>
                      </a:pPr>
                      <a:r>
                        <a:rPr lang="en-US" sz="1500" b="1" dirty="0">
                          <a:solidFill>
                            <a:srgbClr val="0F2A3D"/>
                          </a:solidFill>
                          <a:latin typeface="Calibri" pitchFamily="34" charset="0"/>
                          <a:ea typeface="Calibri" pitchFamily="34" charset="-122"/>
                          <a:cs typeface="Calibri" pitchFamily="34" charset="-120"/>
                        </a:rPr>
                        <a:t>Null result</a:t>
                      </a:r>
                      <a:endParaRPr lang="en-US" sz="1500" dirty="0">
                        <a:latin typeface="Calibri" charset="0"/>
                        <a:ea typeface="Calibri" charset="0"/>
                        <a:cs typeface="Calibri" charset="0"/>
                      </a:endParaRPr>
                    </a:p>
                  </a:txBody>
                  <a:tcPr marL="109728" marR="109728" marT="45720" marB="45720" anchor="ctr">
                    <a:lnL w="6350" cap="flat" cmpd="sng" algn="ctr">
                      <a:solidFill>
                        <a:srgbClr val="D3DEE4"/>
                      </a:solidFill>
                      <a:prstDash val="solid"/>
                      <a:round/>
                      <a:headEnd type="none" w="med" len="med"/>
                      <a:tailEnd type="none" w="med" len="med"/>
                    </a:lnL>
                    <a:lnR w="6350" cap="flat" cmpd="sng" algn="ctr">
                      <a:solidFill>
                        <a:srgbClr val="D3DEE4"/>
                      </a:solidFill>
                      <a:prstDash val="solid"/>
                      <a:round/>
                      <a:headEnd type="none" w="med" len="med"/>
                      <a:tailEnd type="none" w="med" len="med"/>
                    </a:lnR>
                    <a:lnT w="6350" cap="flat" cmpd="sng" algn="ctr">
                      <a:solidFill>
                        <a:srgbClr val="D3DEE4"/>
                      </a:solidFill>
                      <a:prstDash val="solid"/>
                      <a:round/>
                      <a:headEnd type="none" w="med" len="med"/>
                      <a:tailEnd type="none" w="med" len="med"/>
                    </a:lnT>
                    <a:lnB w="6350" cap="flat" cmpd="sng" algn="ctr">
                      <a:solidFill>
                        <a:srgbClr val="D3DEE4"/>
                      </a:solidFill>
                      <a:prstDash val="solid"/>
                      <a:round/>
                      <a:headEnd type="none" w="med" len="med"/>
                      <a:tailEnd type="none" w="med" len="med"/>
                    </a:lnB>
                    <a:solidFill>
                      <a:srgbClr val="EAF1F4"/>
                    </a:solidFill>
                  </a:tcPr>
                </a:tc>
                <a:tc>
                  <a:txBody>
                    <a:bodyPr/>
                    <a:lstStyle/>
                    <a:p>
                      <a:pPr indent="0" marL="0">
                        <a:buNone/>
                      </a:pPr>
                      <a:r>
                        <a:rPr lang="en-US" sz="1400" dirty="0">
                          <a:solidFill>
                            <a:srgbClr val="1A2530"/>
                          </a:solidFill>
                          <a:latin typeface="Calibri" pitchFamily="34" charset="0"/>
                          <a:ea typeface="Calibri" pitchFamily="34" charset="-122"/>
                          <a:cs typeface="Calibri" pitchFamily="34" charset="-120"/>
                        </a:rPr>
                        <a:t>Grouping may show no benefit over controls.</a:t>
                      </a:r>
                      <a:endParaRPr lang="en-US" sz="1400" dirty="0">
                        <a:latin typeface="Calibri" charset="0"/>
                        <a:ea typeface="Calibri" charset="0"/>
                        <a:cs typeface="Calibri" charset="0"/>
                      </a:endParaRPr>
                    </a:p>
                  </a:txBody>
                  <a:tcPr marL="109728" marR="109728" marT="45720" marB="45720" anchor="ctr">
                    <a:lnL w="6350" cap="flat" cmpd="sng" algn="ctr">
                      <a:solidFill>
                        <a:srgbClr val="D3DEE4"/>
                      </a:solidFill>
                      <a:prstDash val="solid"/>
                      <a:round/>
                      <a:headEnd type="none" w="med" len="med"/>
                      <a:tailEnd type="none" w="med" len="med"/>
                    </a:lnL>
                    <a:lnR w="6350" cap="flat" cmpd="sng" algn="ctr">
                      <a:solidFill>
                        <a:srgbClr val="D3DEE4"/>
                      </a:solidFill>
                      <a:prstDash val="solid"/>
                      <a:round/>
                      <a:headEnd type="none" w="med" len="med"/>
                      <a:tailEnd type="none" w="med" len="med"/>
                    </a:lnR>
                    <a:lnT w="6350" cap="flat" cmpd="sng" algn="ctr">
                      <a:solidFill>
                        <a:srgbClr val="D3DEE4"/>
                      </a:solidFill>
                      <a:prstDash val="solid"/>
                      <a:round/>
                      <a:headEnd type="none" w="med" len="med"/>
                      <a:tailEnd type="none" w="med" len="med"/>
                    </a:lnT>
                    <a:lnB w="6350" cap="flat" cmpd="sng" algn="ctr">
                      <a:solidFill>
                        <a:srgbClr val="D3DEE4"/>
                      </a:solidFill>
                      <a:prstDash val="solid"/>
                      <a:round/>
                      <a:headEnd type="none" w="med" len="med"/>
                      <a:tailEnd type="none" w="med" len="med"/>
                    </a:lnB>
                    <a:solidFill>
                      <a:srgbClr val="EAF1F4"/>
                    </a:solidFill>
                  </a:tcPr>
                </a:tc>
                <a:tc>
                  <a:txBody>
                    <a:bodyPr/>
                    <a:lstStyle/>
                    <a:p>
                      <a:pPr indent="0" marL="0">
                        <a:buNone/>
                      </a:pPr>
                      <a:r>
                        <a:rPr lang="en-US" sz="1400" dirty="0">
                          <a:solidFill>
                            <a:srgbClr val="1A2530"/>
                          </a:solidFill>
                          <a:latin typeface="Calibri" pitchFamily="34" charset="0"/>
                          <a:ea typeface="Calibri" pitchFamily="34" charset="-122"/>
                          <a:cs typeface="Calibri" pitchFamily="34" charset="-120"/>
                        </a:rPr>
                        <a:t>Registered plan makes a null or equivalence result publishable; it is the honest answer to RQ1.</a:t>
                      </a:r>
                      <a:endParaRPr lang="en-US" sz="1400" dirty="0">
                        <a:latin typeface="Calibri" charset="0"/>
                        <a:ea typeface="Calibri" charset="0"/>
                        <a:cs typeface="Calibri" charset="0"/>
                      </a:endParaRPr>
                    </a:p>
                  </a:txBody>
                  <a:tcPr marL="109728" marR="109728" marT="45720" marB="45720" anchor="ctr">
                    <a:lnL w="6350" cap="flat" cmpd="sng" algn="ctr">
                      <a:solidFill>
                        <a:srgbClr val="D3DEE4"/>
                      </a:solidFill>
                      <a:prstDash val="solid"/>
                      <a:round/>
                      <a:headEnd type="none" w="med" len="med"/>
                      <a:tailEnd type="none" w="med" len="med"/>
                    </a:lnL>
                    <a:lnR w="6350" cap="flat" cmpd="sng" algn="ctr">
                      <a:solidFill>
                        <a:srgbClr val="D3DEE4"/>
                      </a:solidFill>
                      <a:prstDash val="solid"/>
                      <a:round/>
                      <a:headEnd type="none" w="med" len="med"/>
                      <a:tailEnd type="none" w="med" len="med"/>
                    </a:lnR>
                    <a:lnT w="6350" cap="flat" cmpd="sng" algn="ctr">
                      <a:solidFill>
                        <a:srgbClr val="D3DEE4"/>
                      </a:solidFill>
                      <a:prstDash val="solid"/>
                      <a:round/>
                      <a:headEnd type="none" w="med" len="med"/>
                      <a:tailEnd type="none" w="med" len="med"/>
                    </a:lnT>
                    <a:lnB w="6350" cap="flat" cmpd="sng" algn="ctr">
                      <a:solidFill>
                        <a:srgbClr val="D3DEE4"/>
                      </a:solidFill>
                      <a:prstDash val="solid"/>
                      <a:round/>
                      <a:headEnd type="none" w="med" len="med"/>
                      <a:tailEnd type="none" w="med" len="med"/>
                    </a:lnB>
                    <a:solidFill>
                      <a:srgbClr val="EAF1F4"/>
                    </a:solidFill>
                  </a:tcPr>
                </a:tc>
              </a:tr>
              <a:tr h="868680">
                <a:tc>
                  <a:txBody>
                    <a:bodyPr/>
                    <a:lstStyle/>
                    <a:p>
                      <a:pPr indent="0" marL="0">
                        <a:buNone/>
                      </a:pPr>
                      <a:r>
                        <a:rPr lang="en-US" sz="1500" b="1" dirty="0">
                          <a:solidFill>
                            <a:srgbClr val="0F2A3D"/>
                          </a:solidFill>
                          <a:latin typeface="Calibri" pitchFamily="34" charset="0"/>
                          <a:ea typeface="Calibri" pitchFamily="34" charset="-122"/>
                          <a:cs typeface="Calibri" pitchFamily="34" charset="-120"/>
                        </a:rPr>
                        <a:t>Correction of published work</a:t>
                      </a:r>
                      <a:endParaRPr lang="en-US" sz="1500" dirty="0">
                        <a:latin typeface="Calibri" charset="0"/>
                        <a:ea typeface="Calibri" charset="0"/>
                        <a:cs typeface="Calibri" charset="0"/>
                      </a:endParaRPr>
                    </a:p>
                  </a:txBody>
                  <a:tcPr marL="109728" marR="109728" marT="45720" marB="45720" anchor="ctr">
                    <a:lnL w="6350" cap="flat" cmpd="sng" algn="ctr">
                      <a:solidFill>
                        <a:srgbClr val="D3DEE4"/>
                      </a:solidFill>
                      <a:prstDash val="solid"/>
                      <a:round/>
                      <a:headEnd type="none" w="med" len="med"/>
                      <a:tailEnd type="none" w="med" len="med"/>
                    </a:lnL>
                    <a:lnR w="6350" cap="flat" cmpd="sng" algn="ctr">
                      <a:solidFill>
                        <a:srgbClr val="D3DEE4"/>
                      </a:solidFill>
                      <a:prstDash val="solid"/>
                      <a:round/>
                      <a:headEnd type="none" w="med" len="med"/>
                      <a:tailEnd type="none" w="med" len="med"/>
                    </a:lnR>
                    <a:lnT w="6350" cap="flat" cmpd="sng" algn="ctr">
                      <a:solidFill>
                        <a:srgbClr val="D3DEE4"/>
                      </a:solidFill>
                      <a:prstDash val="solid"/>
                      <a:round/>
                      <a:headEnd type="none" w="med" len="med"/>
                      <a:tailEnd type="none" w="med" len="med"/>
                    </a:lnT>
                    <a:lnB w="6350" cap="flat" cmpd="sng" algn="ctr">
                      <a:solidFill>
                        <a:srgbClr val="D3DEE4"/>
                      </a:solidFill>
                      <a:prstDash val="solid"/>
                      <a:round/>
                      <a:headEnd type="none" w="med" len="med"/>
                      <a:tailEnd type="none" w="med" len="med"/>
                    </a:lnB>
                    <a:solidFill>
                      <a:srgbClr val="FFFFFF"/>
                    </a:solidFill>
                  </a:tcPr>
                </a:tc>
                <a:tc>
                  <a:txBody>
                    <a:bodyPr/>
                    <a:lstStyle/>
                    <a:p>
                      <a:pPr indent="0" marL="0">
                        <a:buNone/>
                      </a:pPr>
                      <a:r>
                        <a:rPr lang="en-US" sz="1400" dirty="0">
                          <a:solidFill>
                            <a:srgbClr val="1A2530"/>
                          </a:solidFill>
                          <a:latin typeface="Calibri" pitchFamily="34" charset="0"/>
                          <a:ea typeface="Calibri" pitchFamily="34" charset="-122"/>
                          <a:cs typeface="Calibri" pitchFamily="34" charset="-120"/>
                        </a:rPr>
                        <a:t>The IEEE paper needs corrections that involve co-authors and the guide.</a:t>
                      </a:r>
                      <a:endParaRPr lang="en-US" sz="1400" dirty="0">
                        <a:latin typeface="Calibri" charset="0"/>
                        <a:ea typeface="Calibri" charset="0"/>
                        <a:cs typeface="Calibri" charset="0"/>
                      </a:endParaRPr>
                    </a:p>
                  </a:txBody>
                  <a:tcPr marL="109728" marR="109728" marT="45720" marB="45720" anchor="ctr">
                    <a:lnL w="6350" cap="flat" cmpd="sng" algn="ctr">
                      <a:solidFill>
                        <a:srgbClr val="D3DEE4"/>
                      </a:solidFill>
                      <a:prstDash val="solid"/>
                      <a:round/>
                      <a:headEnd type="none" w="med" len="med"/>
                      <a:tailEnd type="none" w="med" len="med"/>
                    </a:lnL>
                    <a:lnR w="6350" cap="flat" cmpd="sng" algn="ctr">
                      <a:solidFill>
                        <a:srgbClr val="D3DEE4"/>
                      </a:solidFill>
                      <a:prstDash val="solid"/>
                      <a:round/>
                      <a:headEnd type="none" w="med" len="med"/>
                      <a:tailEnd type="none" w="med" len="med"/>
                    </a:lnR>
                    <a:lnT w="6350" cap="flat" cmpd="sng" algn="ctr">
                      <a:solidFill>
                        <a:srgbClr val="D3DEE4"/>
                      </a:solidFill>
                      <a:prstDash val="solid"/>
                      <a:round/>
                      <a:headEnd type="none" w="med" len="med"/>
                      <a:tailEnd type="none" w="med" len="med"/>
                    </a:lnT>
                    <a:lnB w="6350" cap="flat" cmpd="sng" algn="ctr">
                      <a:solidFill>
                        <a:srgbClr val="D3DEE4"/>
                      </a:solidFill>
                      <a:prstDash val="solid"/>
                      <a:round/>
                      <a:headEnd type="none" w="med" len="med"/>
                      <a:tailEnd type="none" w="med" len="med"/>
                    </a:lnB>
                    <a:solidFill>
                      <a:srgbClr val="FFFFFF"/>
                    </a:solidFill>
                  </a:tcPr>
                </a:tc>
                <a:tc>
                  <a:txBody>
                    <a:bodyPr/>
                    <a:lstStyle/>
                    <a:p>
                      <a:pPr indent="0" marL="0">
                        <a:buNone/>
                      </a:pPr>
                      <a:r>
                        <a:rPr lang="en-US" sz="1400" dirty="0">
                          <a:solidFill>
                            <a:srgbClr val="1A2530"/>
                          </a:solidFill>
                          <a:latin typeface="Calibri" pitchFamily="34" charset="0"/>
                          <a:ea typeface="Calibri" pitchFamily="34" charset="-122"/>
                          <a:cs typeface="Calibri" pitchFamily="34" charset="-120"/>
                        </a:rPr>
                        <a:t>Share the erratum draft with the guide and co-authors before Review 0.</a:t>
                      </a:r>
                      <a:endParaRPr lang="en-US" sz="1400" dirty="0">
                        <a:latin typeface="Calibri" charset="0"/>
                        <a:ea typeface="Calibri" charset="0"/>
                        <a:cs typeface="Calibri" charset="0"/>
                      </a:endParaRPr>
                    </a:p>
                  </a:txBody>
                  <a:tcPr marL="109728" marR="109728" marT="45720" marB="45720" anchor="ctr">
                    <a:lnL w="6350" cap="flat" cmpd="sng" algn="ctr">
                      <a:solidFill>
                        <a:srgbClr val="D3DEE4"/>
                      </a:solidFill>
                      <a:prstDash val="solid"/>
                      <a:round/>
                      <a:headEnd type="none" w="med" len="med"/>
                      <a:tailEnd type="none" w="med" len="med"/>
                    </a:lnL>
                    <a:lnR w="6350" cap="flat" cmpd="sng" algn="ctr">
                      <a:solidFill>
                        <a:srgbClr val="D3DEE4"/>
                      </a:solidFill>
                      <a:prstDash val="solid"/>
                      <a:round/>
                      <a:headEnd type="none" w="med" len="med"/>
                      <a:tailEnd type="none" w="med" len="med"/>
                    </a:lnR>
                    <a:lnT w="6350" cap="flat" cmpd="sng" algn="ctr">
                      <a:solidFill>
                        <a:srgbClr val="D3DEE4"/>
                      </a:solidFill>
                      <a:prstDash val="solid"/>
                      <a:round/>
                      <a:headEnd type="none" w="med" len="med"/>
                      <a:tailEnd type="none" w="med" len="med"/>
                    </a:lnT>
                    <a:lnB w="6350" cap="flat" cmpd="sng" algn="ctr">
                      <a:solidFill>
                        <a:srgbClr val="D3DEE4"/>
                      </a:solidFill>
                      <a:prstDash val="solid"/>
                      <a:round/>
                      <a:headEnd type="none" w="med" len="med"/>
                      <a:tailEnd type="none" w="med" len="med"/>
                    </a:lnB>
                    <a:solidFill>
                      <a:srgbClr val="FFFFFF"/>
                    </a:solidFill>
                  </a:tcPr>
                </a:tc>
              </a:tr>
              <a:tr h="868680">
                <a:tc>
                  <a:txBody>
                    <a:bodyPr/>
                    <a:lstStyle/>
                    <a:p>
                      <a:pPr indent="0" marL="0">
                        <a:buNone/>
                      </a:pPr>
                      <a:r>
                        <a:rPr lang="en-US" sz="1500" b="1" dirty="0">
                          <a:solidFill>
                            <a:srgbClr val="0F2A3D"/>
                          </a:solidFill>
                          <a:latin typeface="Calibri" pitchFamily="34" charset="0"/>
                          <a:ea typeface="Calibri" pitchFamily="34" charset="-122"/>
                          <a:cs typeface="Calibri" pitchFamily="34" charset="-120"/>
                        </a:rPr>
                        <a:t>Release hygiene</a:t>
                      </a:r>
                      <a:endParaRPr lang="en-US" sz="1500" dirty="0">
                        <a:latin typeface="Calibri" charset="0"/>
                        <a:ea typeface="Calibri" charset="0"/>
                        <a:cs typeface="Calibri" charset="0"/>
                      </a:endParaRPr>
                    </a:p>
                  </a:txBody>
                  <a:tcPr marL="109728" marR="109728" marT="45720" marB="45720" anchor="ctr">
                    <a:lnL w="6350" cap="flat" cmpd="sng" algn="ctr">
                      <a:solidFill>
                        <a:srgbClr val="D3DEE4"/>
                      </a:solidFill>
                      <a:prstDash val="solid"/>
                      <a:round/>
                      <a:headEnd type="none" w="med" len="med"/>
                      <a:tailEnd type="none" w="med" len="med"/>
                    </a:lnL>
                    <a:lnR w="6350" cap="flat" cmpd="sng" algn="ctr">
                      <a:solidFill>
                        <a:srgbClr val="D3DEE4"/>
                      </a:solidFill>
                      <a:prstDash val="solid"/>
                      <a:round/>
                      <a:headEnd type="none" w="med" len="med"/>
                      <a:tailEnd type="none" w="med" len="med"/>
                    </a:lnR>
                    <a:lnT w="6350" cap="flat" cmpd="sng" algn="ctr">
                      <a:solidFill>
                        <a:srgbClr val="D3DEE4"/>
                      </a:solidFill>
                      <a:prstDash val="solid"/>
                      <a:round/>
                      <a:headEnd type="none" w="med" len="med"/>
                      <a:tailEnd type="none" w="med" len="med"/>
                    </a:lnT>
                    <a:lnB w="6350" cap="flat" cmpd="sng" algn="ctr">
                      <a:solidFill>
                        <a:srgbClr val="D3DEE4"/>
                      </a:solidFill>
                      <a:prstDash val="solid"/>
                      <a:round/>
                      <a:headEnd type="none" w="med" len="med"/>
                      <a:tailEnd type="none" w="med" len="med"/>
                    </a:lnB>
                    <a:solidFill>
                      <a:srgbClr val="EAF1F4"/>
                    </a:solidFill>
                  </a:tcPr>
                </a:tc>
                <a:tc>
                  <a:txBody>
                    <a:bodyPr/>
                    <a:lstStyle/>
                    <a:p>
                      <a:pPr indent="0" marL="0">
                        <a:buNone/>
                      </a:pPr>
                      <a:r>
                        <a:rPr lang="en-US" sz="1400" dirty="0">
                          <a:solidFill>
                            <a:srgbClr val="1A2530"/>
                          </a:solidFill>
                          <a:latin typeface="Calibri" pitchFamily="34" charset="0"/>
                          <a:ea typeface="Calibri" pitchFamily="34" charset="-122"/>
                          <a:cs typeface="Calibri" pitchFamily="34" charset="-120"/>
                        </a:rPr>
                        <a:t>Private repository holds an email in git metadata and an undecided licence.</a:t>
                      </a:r>
                      <a:endParaRPr lang="en-US" sz="1400" dirty="0">
                        <a:latin typeface="Calibri" charset="0"/>
                        <a:ea typeface="Calibri" charset="0"/>
                        <a:cs typeface="Calibri" charset="0"/>
                      </a:endParaRPr>
                    </a:p>
                  </a:txBody>
                  <a:tcPr marL="109728" marR="109728" marT="45720" marB="45720" anchor="ctr">
                    <a:lnL w="6350" cap="flat" cmpd="sng" algn="ctr">
                      <a:solidFill>
                        <a:srgbClr val="D3DEE4"/>
                      </a:solidFill>
                      <a:prstDash val="solid"/>
                      <a:round/>
                      <a:headEnd type="none" w="med" len="med"/>
                      <a:tailEnd type="none" w="med" len="med"/>
                    </a:lnL>
                    <a:lnR w="6350" cap="flat" cmpd="sng" algn="ctr">
                      <a:solidFill>
                        <a:srgbClr val="D3DEE4"/>
                      </a:solidFill>
                      <a:prstDash val="solid"/>
                      <a:round/>
                      <a:headEnd type="none" w="med" len="med"/>
                      <a:tailEnd type="none" w="med" len="med"/>
                    </a:lnR>
                    <a:lnT w="6350" cap="flat" cmpd="sng" algn="ctr">
                      <a:solidFill>
                        <a:srgbClr val="D3DEE4"/>
                      </a:solidFill>
                      <a:prstDash val="solid"/>
                      <a:round/>
                      <a:headEnd type="none" w="med" len="med"/>
                      <a:tailEnd type="none" w="med" len="med"/>
                    </a:lnT>
                    <a:lnB w="6350" cap="flat" cmpd="sng" algn="ctr">
                      <a:solidFill>
                        <a:srgbClr val="D3DEE4"/>
                      </a:solidFill>
                      <a:prstDash val="solid"/>
                      <a:round/>
                      <a:headEnd type="none" w="med" len="med"/>
                      <a:tailEnd type="none" w="med" len="med"/>
                    </a:lnB>
                    <a:solidFill>
                      <a:srgbClr val="EAF1F4"/>
                    </a:solidFill>
                  </a:tcPr>
                </a:tc>
                <a:tc>
                  <a:txBody>
                    <a:bodyPr/>
                    <a:lstStyle/>
                    <a:p>
                      <a:pPr indent="0" marL="0">
                        <a:buNone/>
                      </a:pPr>
                      <a:r>
                        <a:rPr lang="en-US" sz="1400" dirty="0">
                          <a:solidFill>
                            <a:srgbClr val="1A2530"/>
                          </a:solidFill>
                          <a:latin typeface="Calibri" pitchFamily="34" charset="0"/>
                          <a:ea typeface="Calibri" pitchFamily="34" charset="-122"/>
                          <a:cs typeface="Calibri" pitchFamily="34" charset="-120"/>
                        </a:rPr>
                        <a:t>Sanitise, choose a licence and release only the cleaned pack.</a:t>
                      </a:r>
                      <a:endParaRPr lang="en-US" sz="1400" dirty="0">
                        <a:latin typeface="Calibri" charset="0"/>
                        <a:ea typeface="Calibri" charset="0"/>
                        <a:cs typeface="Calibri" charset="0"/>
                      </a:endParaRPr>
                    </a:p>
                  </a:txBody>
                  <a:tcPr marL="109728" marR="109728" marT="45720" marB="45720" anchor="ctr">
                    <a:lnL w="6350" cap="flat" cmpd="sng" algn="ctr">
                      <a:solidFill>
                        <a:srgbClr val="D3DEE4"/>
                      </a:solidFill>
                      <a:prstDash val="solid"/>
                      <a:round/>
                      <a:headEnd type="none" w="med" len="med"/>
                      <a:tailEnd type="none" w="med" len="med"/>
                    </a:lnL>
                    <a:lnR w="6350" cap="flat" cmpd="sng" algn="ctr">
                      <a:solidFill>
                        <a:srgbClr val="D3DEE4"/>
                      </a:solidFill>
                      <a:prstDash val="solid"/>
                      <a:round/>
                      <a:headEnd type="none" w="med" len="med"/>
                      <a:tailEnd type="none" w="med" len="med"/>
                    </a:lnR>
                    <a:lnT w="6350" cap="flat" cmpd="sng" algn="ctr">
                      <a:solidFill>
                        <a:srgbClr val="D3DEE4"/>
                      </a:solidFill>
                      <a:prstDash val="solid"/>
                      <a:round/>
                      <a:headEnd type="none" w="med" len="med"/>
                      <a:tailEnd type="none" w="med" len="med"/>
                    </a:lnT>
                    <a:lnB w="6350" cap="flat" cmpd="sng" algn="ctr">
                      <a:solidFill>
                        <a:srgbClr val="D3DEE4"/>
                      </a:solidFill>
                      <a:prstDash val="solid"/>
                      <a:round/>
                      <a:headEnd type="none" w="med" len="med"/>
                      <a:tailEnd type="none" w="med" len="med"/>
                    </a:lnB>
                    <a:solidFill>
                      <a:srgbClr val="EAF1F4"/>
                    </a:solidFill>
                  </a:tcPr>
                </a:tc>
              </a:tr>
            </a:tbl>
          </a:graphicData>
        </a:graphic>
      </p:graphicFrame>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Team, roles and next steps</a:t>
            </a:r>
            <a:endParaRPr lang="en-US" sz="3200" dirty="0"/>
          </a:p>
        </p:txBody>
      </p:sp>
      <p:sp>
        <p:nvSpPr>
          <p:cNvPr id="3" name="Role card Dhruv Jyoti Das"/>
          <p:cNvSpPr/>
          <p:nvPr/>
        </p:nvSpPr>
        <p:spPr>
          <a:xfrm>
            <a:off x="548640" y="1280160"/>
            <a:ext cx="3566160" cy="4892040"/>
          </a:xfrm>
          <a:prstGeom prst="roundRect">
            <a:avLst>
              <a:gd name="adj" fmla="val 2051"/>
            </a:avLst>
          </a:prstGeom>
          <a:solidFill>
            <a:srgbClr val="FFFFFF"/>
          </a:solidFill>
          <a:ln w="12700">
            <a:solidFill>
              <a:srgbClr val="D3DEE4"/>
            </a:solidFill>
            <a:prstDash val="solid"/>
          </a:ln>
        </p:spPr>
      </p:sp>
      <p:sp>
        <p:nvSpPr>
          <p:cNvPr id="4" name="Role badge Dhruv Jyoti Das"/>
          <p:cNvSpPr/>
          <p:nvPr/>
        </p:nvSpPr>
        <p:spPr>
          <a:xfrm>
            <a:off x="777240" y="1508760"/>
            <a:ext cx="685800" cy="685800"/>
          </a:xfrm>
          <a:prstGeom prst="ellipse">
            <a:avLst/>
          </a:prstGeom>
          <a:solidFill>
            <a:srgbClr val="1B7F8C"/>
          </a:solidFill>
          <a:ln/>
        </p:spPr>
      </p:sp>
      <p:sp>
        <p:nvSpPr>
          <p:cNvPr id="5" name="Role badge Dhruv Jyoti Das label"/>
          <p:cNvSpPr txBox="1"/>
          <p:nvPr/>
        </p:nvSpPr>
        <p:spPr>
          <a:xfrm>
            <a:off x="777240" y="1508760"/>
            <a:ext cx="685800" cy="68580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DJ</a:t>
            </a:r>
            <a:endParaRPr lang="en-US" sz="1800" dirty="0"/>
          </a:p>
        </p:txBody>
      </p:sp>
      <p:sp>
        <p:nvSpPr>
          <p:cNvPr id="6" name="Text 4"/>
          <p:cNvSpPr txBox="1"/>
          <p:nvPr/>
        </p:nvSpPr>
        <p:spPr>
          <a:xfrm>
            <a:off x="1645920" y="1554480"/>
            <a:ext cx="2331720" cy="594360"/>
          </a:xfrm>
          <a:prstGeom prst="rect">
            <a:avLst/>
          </a:prstGeom>
          <a:noFill/>
          <a:ln/>
        </p:spPr>
        <p:txBody>
          <a:bodyPr wrap="square" lIns="0" tIns="0" rIns="0" bIns="0" rtlCol="0" anchor="ctr"/>
          <a:lstStyle/>
          <a:p>
            <a:pPr indent="0" marL="0">
              <a:buNone/>
            </a:pPr>
            <a:r>
              <a:rPr lang="en-US" sz="1700" b="1" dirty="0">
                <a:solidFill>
                  <a:srgbClr val="0F2A3D"/>
                </a:solidFill>
                <a:latin typeface="Calibri" pitchFamily="34" charset="0"/>
                <a:ea typeface="Calibri" pitchFamily="34" charset="-122"/>
                <a:cs typeface="Calibri" pitchFamily="34" charset="-120"/>
              </a:rPr>
              <a:t>Dhruv Jyoti Das</a:t>
            </a:r>
            <a:endParaRPr lang="en-US" sz="1700" dirty="0"/>
          </a:p>
        </p:txBody>
      </p:sp>
      <p:sp>
        <p:nvSpPr>
          <p:cNvPr id="7" name="Text 5"/>
          <p:cNvSpPr txBox="1"/>
          <p:nvPr/>
        </p:nvSpPr>
        <p:spPr>
          <a:xfrm>
            <a:off x="777240" y="2514600"/>
            <a:ext cx="3108960" cy="3474720"/>
          </a:xfrm>
          <a:prstGeom prst="rect">
            <a:avLst/>
          </a:prstGeom>
          <a:noFill/>
          <a:ln/>
        </p:spPr>
        <p:txBody>
          <a:bodyPr wrap="square" lIns="0" tIns="0" rIns="0" bIns="0" rtlCol="0" anchor="t"/>
          <a:lstStyle/>
          <a:p>
            <a:pPr marL="342900" indent="-342900">
              <a:spcAft>
                <a:spcPts val="1400"/>
              </a:spcAft>
              <a:buSzPct val="100000"/>
              <a:buChar char="•"/>
            </a:pPr>
            <a:r>
              <a:rPr lang="en-US" sz="1600" dirty="0">
                <a:solidFill>
                  <a:srgbClr val="1A2530"/>
                </a:solidFill>
                <a:latin typeface="Calibri" pitchFamily="34" charset="0"/>
                <a:ea typeface="Calibri" pitchFamily="34" charset="-122"/>
                <a:cs typeface="Calibri" pitchFamily="34" charset="-120"/>
              </a:rPr>
              <a:t>Model arms and control implementations (R, X, B2, G)</a:t>
            </a:r>
            <a:endParaRPr lang="en-US" sz="1600" dirty="0"/>
          </a:p>
          <a:p>
            <a:pPr marL="342900" indent="-342900">
              <a:spcAft>
                <a:spcPts val="1400"/>
              </a:spcAft>
              <a:buSzPct val="100000"/>
              <a:buChar char="•"/>
            </a:pPr>
            <a:r>
              <a:rPr lang="en-US" sz="1600" dirty="0">
                <a:solidFill>
                  <a:srgbClr val="1A2530"/>
                </a:solidFill>
                <a:latin typeface="Calibri" pitchFamily="34" charset="0"/>
                <a:ea typeface="Calibri" pitchFamily="34" charset="-122"/>
                <a:cs typeface="Calibri" pitchFamily="34" charset="-120"/>
              </a:rPr>
              <a:t>Training harness, LR sweeps, statistics and OSF plan</a:t>
            </a:r>
            <a:endParaRPr lang="en-US" sz="1600" dirty="0"/>
          </a:p>
          <a:p>
            <a:pPr marL="342900" indent="-342900">
              <a:spcAft>
                <a:spcPts val="1400"/>
              </a:spcAft>
              <a:buSzPct val="100000"/>
              <a:buChar char="•"/>
            </a:pPr>
            <a:r>
              <a:rPr lang="en-US" sz="1600" dirty="0">
                <a:solidFill>
                  <a:srgbClr val="1A2530"/>
                </a:solidFill>
                <a:latin typeface="Calibri" pitchFamily="34" charset="0"/>
                <a:ea typeface="Calibri" pitchFamily="34" charset="-122"/>
                <a:cs typeface="Calibri" pitchFamily="34" charset="-120"/>
              </a:rPr>
              <a:t>Corrected release and Paper 1 (audit)</a:t>
            </a:r>
            <a:endParaRPr lang="en-US" sz="1600" dirty="0"/>
          </a:p>
        </p:txBody>
      </p:sp>
      <p:sp>
        <p:nvSpPr>
          <p:cNvPr id="8" name="Role card Raghav Sharma"/>
          <p:cNvSpPr/>
          <p:nvPr/>
        </p:nvSpPr>
        <p:spPr>
          <a:xfrm>
            <a:off x="4297680" y="1280160"/>
            <a:ext cx="3566160" cy="4892040"/>
          </a:xfrm>
          <a:prstGeom prst="roundRect">
            <a:avLst>
              <a:gd name="adj" fmla="val 2051"/>
            </a:avLst>
          </a:prstGeom>
          <a:solidFill>
            <a:srgbClr val="FFFFFF"/>
          </a:solidFill>
          <a:ln w="12700">
            <a:solidFill>
              <a:srgbClr val="D3DEE4"/>
            </a:solidFill>
            <a:prstDash val="solid"/>
          </a:ln>
        </p:spPr>
      </p:sp>
      <p:sp>
        <p:nvSpPr>
          <p:cNvPr id="9" name="Role badge Raghav Sharma"/>
          <p:cNvSpPr/>
          <p:nvPr/>
        </p:nvSpPr>
        <p:spPr>
          <a:xfrm>
            <a:off x="4526280" y="1508760"/>
            <a:ext cx="685800" cy="685800"/>
          </a:xfrm>
          <a:prstGeom prst="ellipse">
            <a:avLst/>
          </a:prstGeom>
          <a:solidFill>
            <a:srgbClr val="F4A261"/>
          </a:solidFill>
          <a:ln/>
        </p:spPr>
      </p:sp>
      <p:sp>
        <p:nvSpPr>
          <p:cNvPr id="10" name="Role badge Raghav Sharma label"/>
          <p:cNvSpPr txBox="1"/>
          <p:nvPr/>
        </p:nvSpPr>
        <p:spPr>
          <a:xfrm>
            <a:off x="4526280" y="1508760"/>
            <a:ext cx="685800" cy="685800"/>
          </a:xfrm>
          <a:prstGeom prst="rect">
            <a:avLst/>
          </a:prstGeom>
          <a:noFill/>
          <a:ln/>
        </p:spPr>
        <p:txBody>
          <a:bodyPr wrap="square" lIns="0" tIns="0" rIns="0" bIns="0" rtlCol="0" anchor="ctr"/>
          <a:lstStyle/>
          <a:p>
            <a:pPr algn="ctr" indent="0" marL="0">
              <a:buNone/>
            </a:pPr>
            <a:r>
              <a:rPr lang="en-US" sz="1800" b="1" dirty="0">
                <a:solidFill>
                  <a:srgbClr val="0F2A3D"/>
                </a:solidFill>
                <a:latin typeface="Calibri" pitchFamily="34" charset="0"/>
                <a:ea typeface="Calibri" pitchFamily="34" charset="-122"/>
                <a:cs typeface="Calibri" pitchFamily="34" charset="-120"/>
              </a:rPr>
              <a:t>RS</a:t>
            </a:r>
            <a:endParaRPr lang="en-US" sz="1800" dirty="0"/>
          </a:p>
        </p:txBody>
      </p:sp>
      <p:sp>
        <p:nvSpPr>
          <p:cNvPr id="11" name="Text 9"/>
          <p:cNvSpPr txBox="1"/>
          <p:nvPr/>
        </p:nvSpPr>
        <p:spPr>
          <a:xfrm>
            <a:off x="5394960" y="1554480"/>
            <a:ext cx="2331720" cy="594360"/>
          </a:xfrm>
          <a:prstGeom prst="rect">
            <a:avLst/>
          </a:prstGeom>
          <a:noFill/>
          <a:ln/>
        </p:spPr>
        <p:txBody>
          <a:bodyPr wrap="square" lIns="0" tIns="0" rIns="0" bIns="0" rtlCol="0" anchor="ctr"/>
          <a:lstStyle/>
          <a:p>
            <a:pPr indent="0" marL="0">
              <a:buNone/>
            </a:pPr>
            <a:r>
              <a:rPr lang="en-US" sz="1700" b="1" dirty="0">
                <a:solidFill>
                  <a:srgbClr val="0F2A3D"/>
                </a:solidFill>
                <a:latin typeface="Calibri" pitchFamily="34" charset="0"/>
                <a:ea typeface="Calibri" pitchFamily="34" charset="-122"/>
                <a:cs typeface="Calibri" pitchFamily="34" charset="-120"/>
              </a:rPr>
              <a:t>Raghav Sharma</a:t>
            </a:r>
            <a:endParaRPr lang="en-US" sz="1700" dirty="0"/>
          </a:p>
        </p:txBody>
      </p:sp>
      <p:sp>
        <p:nvSpPr>
          <p:cNvPr id="12" name="Text 10"/>
          <p:cNvSpPr txBox="1"/>
          <p:nvPr/>
        </p:nvSpPr>
        <p:spPr>
          <a:xfrm>
            <a:off x="4526280" y="2514600"/>
            <a:ext cx="3108960" cy="3474720"/>
          </a:xfrm>
          <a:prstGeom prst="rect">
            <a:avLst/>
          </a:prstGeom>
          <a:noFill/>
          <a:ln/>
        </p:spPr>
        <p:txBody>
          <a:bodyPr wrap="square" lIns="0" tIns="0" rIns="0" bIns="0" rtlCol="0" anchor="t"/>
          <a:lstStyle/>
          <a:p>
            <a:pPr marL="342900" indent="-342900">
              <a:spcAft>
                <a:spcPts val="1400"/>
              </a:spcAft>
              <a:buSzPct val="100000"/>
              <a:buChar char="•"/>
            </a:pPr>
            <a:r>
              <a:rPr lang="en-US" sz="1600" dirty="0">
                <a:solidFill>
                  <a:srgbClr val="1A2530"/>
                </a:solidFill>
                <a:latin typeface="Calibri" pitchFamily="34" charset="0"/>
                <a:ea typeface="Calibri" pitchFamily="34" charset="-122"/>
                <a:cs typeface="Calibri" pitchFamily="34" charset="-120"/>
              </a:rPr>
              <a:t>ImageNet-100 data pipeline and Swin/ToMe baselines</a:t>
            </a:r>
            <a:endParaRPr lang="en-US" sz="1600" dirty="0"/>
          </a:p>
          <a:p>
            <a:pPr marL="342900" indent="-342900">
              <a:spcAft>
                <a:spcPts val="1400"/>
              </a:spcAft>
              <a:buSzPct val="100000"/>
              <a:buChar char="•"/>
            </a:pPr>
            <a:r>
              <a:rPr lang="en-US" sz="1600" dirty="0">
                <a:solidFill>
                  <a:srgbClr val="1A2530"/>
                </a:solidFill>
                <a:latin typeface="Calibri" pitchFamily="34" charset="0"/>
                <a:ea typeface="Calibri" pitchFamily="34" charset="-122"/>
                <a:cs typeface="Calibri" pitchFamily="34" charset="-120"/>
              </a:rPr>
              <a:t>Region-evaluation pipeline (masks, mIoU, purity)</a:t>
            </a:r>
            <a:endParaRPr lang="en-US" sz="1600" dirty="0"/>
          </a:p>
          <a:p>
            <a:pPr marL="342900" indent="-342900">
              <a:spcAft>
                <a:spcPts val="1400"/>
              </a:spcAft>
              <a:buSzPct val="100000"/>
              <a:buChar char="•"/>
            </a:pPr>
            <a:r>
              <a:rPr lang="en-US" sz="1600" dirty="0">
                <a:solidFill>
                  <a:srgbClr val="1A2530"/>
                </a:solidFill>
                <a:latin typeface="Calibri" pitchFamily="34" charset="0"/>
                <a:ea typeface="Calibri" pitchFamily="34" charset="-122"/>
                <a:cs typeface="Calibri" pitchFamily="34" charset="-120"/>
              </a:rPr>
              <a:t>Literature table upkeep and Paper 2 sections</a:t>
            </a:r>
            <a:endParaRPr lang="en-US" sz="1600" dirty="0"/>
          </a:p>
        </p:txBody>
      </p:sp>
      <p:sp>
        <p:nvSpPr>
          <p:cNvPr id="13" name="Next steps panel"/>
          <p:cNvSpPr/>
          <p:nvPr/>
        </p:nvSpPr>
        <p:spPr>
          <a:xfrm>
            <a:off x="8046720" y="1280160"/>
            <a:ext cx="3611880" cy="4892040"/>
          </a:xfrm>
          <a:prstGeom prst="roundRect">
            <a:avLst>
              <a:gd name="adj" fmla="val 2025"/>
            </a:avLst>
          </a:prstGeom>
          <a:solidFill>
            <a:srgbClr val="0F2A3D"/>
          </a:solidFill>
          <a:ln/>
        </p:spPr>
      </p:sp>
      <p:sp>
        <p:nvSpPr>
          <p:cNvPr id="14" name="Text 12"/>
          <p:cNvSpPr txBox="1"/>
          <p:nvPr/>
        </p:nvSpPr>
        <p:spPr>
          <a:xfrm>
            <a:off x="8275320" y="1508760"/>
            <a:ext cx="3200400" cy="274320"/>
          </a:xfrm>
          <a:prstGeom prst="rect">
            <a:avLst/>
          </a:prstGeom>
          <a:noFill/>
          <a:ln/>
        </p:spPr>
        <p:txBody>
          <a:bodyPr wrap="square" lIns="0" tIns="0" rIns="0" bIns="0" rtlCol="0" anchor="t"/>
          <a:lstStyle/>
          <a:p>
            <a:pPr indent="0" marL="0">
              <a:buNone/>
            </a:pPr>
            <a:r>
              <a:rPr lang="en-US" sz="1300" b="1" spc="300" kern="0" dirty="0">
                <a:solidFill>
                  <a:srgbClr val="F4A261"/>
                </a:solidFill>
                <a:latin typeface="Calibri" pitchFamily="34" charset="0"/>
                <a:ea typeface="Calibri" pitchFamily="34" charset="-122"/>
                <a:cs typeface="Calibri" pitchFamily="34" charset="-120"/>
              </a:rPr>
              <a:t>NEXT 30 DAYS</a:t>
            </a:r>
            <a:endParaRPr lang="en-US" sz="1300" dirty="0"/>
          </a:p>
        </p:txBody>
      </p:sp>
      <p:sp>
        <p:nvSpPr>
          <p:cNvPr id="15" name="Text 13"/>
          <p:cNvSpPr txBox="1"/>
          <p:nvPr/>
        </p:nvSpPr>
        <p:spPr>
          <a:xfrm>
            <a:off x="8275320" y="1965960"/>
            <a:ext cx="3200400" cy="4023360"/>
          </a:xfrm>
          <a:prstGeom prst="rect">
            <a:avLst/>
          </a:prstGeom>
          <a:noFill/>
          <a:ln/>
        </p:spPr>
        <p:txBody>
          <a:bodyPr wrap="square" lIns="0" tIns="0" rIns="0" bIns="0" rtlCol="0" anchor="t"/>
          <a:lstStyle/>
          <a:p>
            <a:pPr marL="342900" indent="-342900">
              <a:spcAft>
                <a:spcPts val="1400"/>
              </a:spcAft>
              <a:buSzPct val="100000"/>
              <a:buChar char="•"/>
            </a:pPr>
            <a:r>
              <a:rPr lang="en-US" sz="1600" dirty="0">
                <a:solidFill>
                  <a:srgbClr val="FFFFFF"/>
                </a:solidFill>
                <a:latin typeface="Calibri" pitchFamily="34" charset="0"/>
                <a:ea typeface="Calibri" pitchFamily="34" charset="-122"/>
                <a:cs typeface="Calibri" pitchFamily="34" charset="-120"/>
              </a:rPr>
              <a:t>Share erratum draft with guide and co-authors</a:t>
            </a:r>
            <a:endParaRPr lang="en-US" sz="1600" dirty="0"/>
          </a:p>
          <a:p>
            <a:pPr marL="342900" indent="-342900">
              <a:spcAft>
                <a:spcPts val="1400"/>
              </a:spcAft>
              <a:buSzPct val="100000"/>
              <a:buChar char="•"/>
            </a:pPr>
            <a:r>
              <a:rPr lang="en-US" sz="1600" dirty="0">
                <a:solidFill>
                  <a:srgbClr val="FFFFFF"/>
                </a:solidFill>
                <a:latin typeface="Calibri" pitchFamily="34" charset="0"/>
                <a:ea typeface="Calibri" pitchFamily="34" charset="-122"/>
                <a:cs typeface="Calibri" pitchFamily="34" charset="-120"/>
              </a:rPr>
              <a:t>Sanitise repository, choose licence</a:t>
            </a:r>
            <a:endParaRPr lang="en-US" sz="1600" dirty="0"/>
          </a:p>
          <a:p>
            <a:pPr marL="342900" indent="-342900">
              <a:spcAft>
                <a:spcPts val="1400"/>
              </a:spcAft>
              <a:buSzPct val="100000"/>
              <a:buChar char="•"/>
            </a:pPr>
            <a:r>
              <a:rPr lang="en-US" sz="1600" dirty="0">
                <a:solidFill>
                  <a:srgbClr val="FFFFFF"/>
                </a:solidFill>
                <a:latin typeface="Calibri" pitchFamily="34" charset="0"/>
                <a:ea typeface="Calibri" pitchFamily="34" charset="-122"/>
                <a:cs typeface="Calibri" pitchFamily="34" charset="-120"/>
              </a:rPr>
              <a:t>Draft and register the OSF plan</a:t>
            </a:r>
            <a:endParaRPr lang="en-US" sz="1600" dirty="0"/>
          </a:p>
          <a:p>
            <a:pPr marL="342900" indent="-342900">
              <a:spcAft>
                <a:spcPts val="1400"/>
              </a:spcAft>
              <a:buSzPct val="100000"/>
              <a:buChar char="•"/>
            </a:pPr>
            <a:r>
              <a:rPr lang="en-US" sz="1600" dirty="0">
                <a:solidFill>
                  <a:srgbClr val="FFFFFF"/>
                </a:solidFill>
                <a:latin typeface="Calibri" pitchFamily="34" charset="0"/>
                <a:ea typeface="Calibri" pitchFamily="34" charset="-122"/>
                <a:cs typeface="Calibri" pitchFamily="34" charset="-120"/>
              </a:rPr>
              <a:t>Implement arms R and X; verify matched MACs</a:t>
            </a:r>
            <a:endParaRPr lang="en-US" sz="1600" dirty="0"/>
          </a:p>
          <a:p>
            <a:pPr marL="342900" indent="-342900">
              <a:spcAft>
                <a:spcPts val="1400"/>
              </a:spcAft>
              <a:buSzPct val="100000"/>
              <a:buChar char="•"/>
            </a:pPr>
            <a:r>
              <a:rPr lang="en-US" sz="1600" dirty="0">
                <a:solidFill>
                  <a:srgbClr val="FFFFFF"/>
                </a:solidFill>
                <a:latin typeface="Calibri" pitchFamily="34" charset="0"/>
                <a:ea typeface="Calibri" pitchFamily="34" charset="-122"/>
                <a:cs typeface="Calibri" pitchFamily="34" charset="-120"/>
              </a:rPr>
              <a:t>Pilot LR sweep on CIFAR-100</a:t>
            </a:r>
            <a:endParaRPr lang="en-US" sz="16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6949440" cy="1005840"/>
          </a:xfrm>
          <a:prstGeom prst="rect">
            <a:avLst/>
          </a:prstGeom>
          <a:noFill/>
          <a:ln/>
        </p:spPr>
        <p:txBody>
          <a:bodyPr wrap="square" lIns="0" tIns="0" rIns="0" bIns="0" rtlCol="0" anchor="t"/>
          <a:lstStyle/>
          <a:p>
            <a:pPr algn="l" indent="0" marL="0">
              <a:buNone/>
            </a:pPr>
            <a:r>
              <a:rPr lang="en-US" sz="5400" b="1" dirty="0">
                <a:solidFill>
                  <a:schemeClr val="bg1"/>
                </a:solidFill>
                <a:latin typeface="Cambria" pitchFamily="34" charset="0"/>
                <a:ea typeface="Cambria" pitchFamily="34" charset="-122"/>
                <a:cs typeface="Cambria" pitchFamily="34" charset="-120"/>
              </a:rPr>
              <a:t>Questions</a:t>
            </a:r>
            <a:endParaRPr lang="en-US" sz="5400" dirty="0"/>
          </a:p>
        </p:txBody>
      </p:sp>
      <p:sp>
        <p:nvSpPr>
          <p:cNvPr id="3" name="Text 0"/>
          <p:cNvSpPr/>
          <p:nvPr>
            <p:ph idx="101" type="body" hasCustomPrompt="1"/>
          </p:nvPr>
        </p:nvSpPr>
        <p:spPr>
          <a:xfrm>
            <a:off x="731520" y="3063240"/>
            <a:ext cx="6583680" cy="1188720"/>
          </a:xfrm>
          <a:prstGeom prst="rect">
            <a:avLst/>
          </a:prstGeom>
          <a:noFill/>
          <a:ln/>
        </p:spPr>
        <p:txBody>
          <a:bodyPr wrap="square" lIns="0" tIns="0" rIns="0" bIns="0" rtlCol="0" anchor="t"/>
          <a:lstStyle/>
          <a:p>
            <a:pPr algn="l" indent="0" marL="0">
              <a:buNone/>
            </a:pPr>
            <a:r>
              <a:rPr lang="en-US" sz="2400" dirty="0">
                <a:solidFill>
                  <a:schemeClr val="bg2"/>
                </a:solidFill>
                <a:latin typeface="Calibri" pitchFamily="34" charset="0"/>
                <a:ea typeface="Calibri" pitchFamily="34" charset="-122"/>
                <a:cs typeface="Calibri" pitchFamily="34" charset="-120"/>
              </a:rPr>
              <a:t>Request: approve the extension of the minor project to a research-oriented major project, with the guide's recommendation.</a:t>
            </a:r>
            <a:endParaRPr lang="en-US" sz="2400" dirty="0"/>
          </a:p>
        </p:txBody>
      </p:sp>
      <p:sp>
        <p:nvSpPr>
          <p:cNvPr id="4" name="Text 2"/>
          <p:cNvSpPr txBox="1"/>
          <p:nvPr/>
        </p:nvSpPr>
        <p:spPr>
          <a:xfrm>
            <a:off x="731520" y="4754880"/>
            <a:ext cx="6583680" cy="822960"/>
          </a:xfrm>
          <a:prstGeom prst="rect">
            <a:avLst/>
          </a:prstGeom>
          <a:noFill/>
          <a:ln/>
        </p:spPr>
        <p:txBody>
          <a:bodyPr wrap="square" lIns="0" tIns="0" rIns="0" bIns="0" rtlCol="0" anchor="t"/>
          <a:lstStyle/>
          <a:p>
            <a:pPr indent="0" marL="0">
              <a:buNone/>
            </a:pPr>
            <a:r>
              <a:rPr lang="en-US" sz="1600" dirty="0">
                <a:solidFill>
                  <a:srgbClr val="CADCE4"/>
                </a:solidFill>
                <a:latin typeface="Calibri" pitchFamily="34" charset="0"/>
                <a:ea typeface="Calibri" pitchFamily="34" charset="-122"/>
                <a:cs typeface="Calibri" pitchFamily="34" charset="-120"/>
              </a:rPr>
              <a:t>Dhruv Jyoti Das  |  dd4708@srmist.edu.in</a:t>
            </a:r>
            <a:endParaRPr lang="en-US" sz="1600" dirty="0"/>
          </a:p>
          <a:p>
            <a:pPr indent="0" marL="0">
              <a:buNone/>
            </a:pPr>
            <a:r>
              <a:rPr lang="en-US" sz="1600" dirty="0">
                <a:solidFill>
                  <a:srgbClr val="CADCE4"/>
                </a:solidFill>
                <a:latin typeface="Calibri" pitchFamily="34" charset="0"/>
                <a:ea typeface="Calibri" pitchFamily="34" charset="-122"/>
                <a:cs typeface="Calibri" pitchFamily="34" charset="-120"/>
              </a:rPr>
              <a:t>Raghav Sharma  |  rs2701@srmist.edu.in</a:t>
            </a:r>
            <a:endParaRPr lang="en-US" sz="1600" dirty="0"/>
          </a:p>
        </p:txBody>
      </p:sp>
      <p:sp>
        <p:nvSpPr>
          <p:cNvPr id="5" name="Logo disc"/>
          <p:cNvSpPr/>
          <p:nvPr/>
        </p:nvSpPr>
        <p:spPr>
          <a:xfrm>
            <a:off x="9144000" y="2286000"/>
            <a:ext cx="2194560" cy="2194560"/>
          </a:xfrm>
          <a:prstGeom prst="ellipse">
            <a:avLst/>
          </a:prstGeom>
          <a:solidFill>
            <a:srgbClr val="FFFFFF"/>
          </a:solidFill>
          <a:ln/>
        </p:spPr>
      </p:sp>
      <p:pic>
        <p:nvPicPr>
          <p:cNvPr id="6" name="SRMIST emblem" descr="SRM Institute of Science and Technology emblem">    </p:cNvPr>
          <p:cNvPicPr>
            <a:picLocks noChangeAspect="1"/>
          </p:cNvPicPr>
          <p:nvPr/>
        </p:nvPicPr>
        <p:blipFill>
          <a:blip r:embed="rId1"/>
          <a:stretch>
            <a:fillRect/>
          </a:stretch>
        </p:blipFill>
        <p:spPr>
          <a:xfrm>
            <a:off x="9281160" y="2423160"/>
            <a:ext cx="1920240" cy="1920240"/>
          </a:xfrm>
          <a:prstGeom prst="rect">
            <a:avLst/>
          </a:prstGeom>
        </p:spPr>
      </p:pic>
    </p:spTree>
  </p:cSld>
  <p:clrMapOvr>
    <a:masterClrMapping/>
  </p:clrMapOvr>
</p:sld>
</file>

<file path=ppt/theme/theme1.xml><?xml version="1.0" encoding="utf-8"?>
<a:theme xmlns:a="http://schemas.openxmlformats.org/drawingml/2006/main" name="CET Major Project">
  <a:themeElements>
    <a:clrScheme name="CET Major Project">
      <a:dk1>
        <a:srgbClr val="1A2530"/>
      </a:dk1>
      <a:lt1>
        <a:srgbClr val="FFFFFF"/>
      </a:lt1>
      <a:dk2>
        <a:srgbClr val="0F2A3D"/>
      </a:dk2>
      <a:lt2>
        <a:srgbClr val="EAF1F4"/>
      </a:lt2>
      <a:accent1>
        <a:srgbClr val="1B7F8C"/>
      </a:accent1>
      <a:accent2>
        <a:srgbClr val="F4A261"/>
      </a:accent2>
      <a:accent3>
        <a:srgbClr val="5B6B77"/>
      </a:accent3>
      <a:accent4>
        <a:srgbClr val="C8553D"/>
      </a:accent4>
      <a:accent5>
        <a:srgbClr val="3E8E5A"/>
      </a:accent5>
      <a:accent6>
        <a:srgbClr val="7A8CC2"/>
      </a:accent6>
      <a:hlink>
        <a:srgbClr val="1B7F8C"/>
      </a:hlink>
      <a:folHlink>
        <a:srgbClr val="5B6B77"/>
      </a:folHlink>
    </a:clrScheme>
    <a:fontScheme name="CET Major Project">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SRM Institute of Science and Technology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Beyond CET-ViT: A Capacity-Controlled Study of Learned Token Grouping in Vision Transformers</dc:title>
  <dc:subject>PptxGenJS Presentation</dc:subject>
  <dc:creator>Dhruv Jyoti Das, Raghav Sharma</dc:creator>
  <cp:lastModifiedBy>Dhruv Jyoti Das, Raghav Sharma</cp:lastModifiedBy>
  <cp:revision>1</cp:revision>
  <dcterms:created xsi:type="dcterms:W3CDTF">2026-10-31T02:56:35Z</dcterms:created>
  <dcterms:modified xsi:type="dcterms:W3CDTF">2026-10-31T02:56:35Z</dcterms:modified>
</cp:coreProperties>
</file>