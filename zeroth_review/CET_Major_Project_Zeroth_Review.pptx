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beaed58-5498-f5b0-1704-e9e50681c44c}">
          <p14:sldIdLst>
            <p14:sldId id="256"/>
            <p14:sldId id="257"/>
          </p14:sldIdLst>
        </p14:section>
        <p14:section name="Introduction" id="{361d82ea-6f32-744c-bed4-445c279f9048}">
          <p14:sldIdLst>
            <p14:sldId id="258"/>
            <p14:sldId id="259"/>
          </p14:sldIdLst>
        </p14:section>
        <p14:section name="Literature" id="{93b0f78a-2cd8-c071-ba5f-f3c9f721f7d6}">
          <p14:sldIdLst>
            <p14:sldId id="260"/>
            <p14:sldId id="261"/>
            <p14:sldId id="262"/>
            <p14:sldId id="263"/>
            <p14:sldId id="264"/>
            <p14:sldId id="265"/>
          </p14:sldIdLst>
        </p14:section>
        <p14:section name="Gaps" id="{ef1cdc43-5aa4-9a3c-cefc-f06a36289975}">
          <p14:sldIdLst>
            <p14:sldId id="266"/>
            <p14:sldId id="267"/>
          </p14:sldIdLst>
        </p14:section>
        <p14:section name="Objectives" id="{7e943e26-aee1-703e-0923-baa958cd620e}">
          <p14:sldIdLst>
            <p14:sldId id="268"/>
            <p14:sldId id="269"/>
          </p14:sldIdLst>
        </p14:section>
        <p14:section name="SDG" id="{ddbd2451-df7e-2f5b-343d-0c8ec9419dd4}">
          <p14:sldIdLst>
            <p14:sldId id="270"/>
          </p14:sldIdLst>
        </p14:section>
        <p14:section name="Plan" id="{0efb56c2-7c8e-05f3-ed3d-a775013bf645}">
          <p14:sldIdLst>
            <p14:sldId id="271"/>
            <p14:sldId id="272"/>
            <p14:sldId id="273"/>
          </p14:sldIdLst>
        </p14:section>
        <p14:section name="Close" id="{da991875-9ffd-bd95-4a8a-971c61eb606a}">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3D"/>
                </a:solidFill>
                <a:latin typeface="+mn-lt"/>
              </a:defRPr>
            </a:pPr>
            <a:r>
              <a:rPr sz="1300" b="0" i="0" u="none" strike="noStrike">
                <a:solidFill>
                  <a:srgbClr val="0F2A3D"/>
                </a:solidFill>
                <a:latin typeface="+mn-lt"/>
              </a:rPr>
              <a:t>Branch (A) minus matched control (G), accuracy points</a:t>
            </a:r>
          </a:p>
        </c:rich>
      </c:tx>
      <c:layout/>
      <c:overlay val="0"/>
    </c:title>
    <c:autoTitleDeleted val="0"/>
    <c:plotArea>
      <c:layout/>
      <c:barChart>
        <c:barDir val="col"/>
        <c:grouping val="clustered"/>
        <c:varyColors val="0"/>
        <c:ser>
          <c:idx val="0"/>
          <c:order val="0"/>
          <c:tx>
            <c:strRef>
              <c:f>Sheet1!$B$1</c:f>
              <c:strCache>
                <c:ptCount val="1"/>
                <c:pt idx="0">
                  <c:v>CIFAR-100</c:v>
                </c:pt>
              </c:strCache>
            </c:strRef>
          </c:tx>
          <c:spPr>
            <a:solidFill>
              <a:srgbClr val="1B7F8C"/>
            </a:solidFill>
            <a:effectLst/>
          </c:spPr>
          <c:invertIfNegative val="0"/>
          <c:dLbls>
            <c:numFmt formatCode="+0.00;-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Locked LR
5e-4</c:v>
                  </c:pt>
                  <c:pt idx="1">
                    <c:v>Selected LRs
(exploratory)</c:v>
                  </c:pt>
                  <c:pt idx="2">
                    <c:v>Common LR
2.5e-4</c:v>
                  </c:pt>
                </c:lvl>
              </c:multiLvlStrCache>
            </c:multiLvlStrRef>
          </c:cat>
          <c:val>
            <c:numRef>
              <c:f>Sheet1!$B$2:$B$4</c:f>
              <c:numCache>
                <c:formatCode>General</c:formatCode>
                <c:ptCount val="3"/>
                <c:pt idx="0">
                  <c:v>-1.16</c:v>
                </c:pt>
                <c:pt idx="1">
                  <c:v>0.39</c:v>
                </c:pt>
                <c:pt idx="2">
                  <c:v>0.76</c:v>
                </c:pt>
              </c:numCache>
            </c:numRef>
          </c:val>
        </c:ser>
        <c:ser>
          <c:idx val="1"/>
          <c:order val="1"/>
          <c:tx>
            <c:strRef>
              <c:f>Sheet1!$C$1</c:f>
              <c:strCache>
                <c:ptCount val="1"/>
                <c:pt idx="0">
                  <c:v>Tiny-ImageNet</c:v>
                </c:pt>
              </c:strCache>
            </c:strRef>
          </c:tx>
          <c:spPr>
            <a:solidFill>
              <a:srgbClr val="F4A261"/>
            </a:solidFill>
            <a:effectLst/>
          </c:spPr>
          <c:invertIfNegative val="0"/>
          <c:dLbls>
            <c:numFmt formatCode="+0.00;-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Locked LR
5e-4</c:v>
                  </c:pt>
                  <c:pt idx="1">
                    <c:v>Selected LRs
(exploratory)</c:v>
                  </c:pt>
                  <c:pt idx="2">
                    <c:v>Common LR
2.5e-4</c:v>
                  </c:pt>
                </c:lvl>
              </c:multiLvlStrCache>
            </c:multiLvlStrRef>
          </c:cat>
          <c:val>
            <c:numRef>
              <c:f>Sheet1!$C$2:$C$4</c:f>
              <c:numCache>
                <c:formatCode>General</c:formatCode>
                <c:ptCount val="3"/>
                <c:pt idx="0">
                  <c:v>-1.67</c:v>
                </c:pt>
                <c:pt idx="1">
                  <c:v>-1.04</c:v>
                </c:pt>
                <c:pt idx="2">
                  <c:v>0.14</c:v>
                </c:pt>
              </c:numCache>
            </c:numRef>
          </c:val>
        </c:ser>
        <c:dLbls>
          <c:numFmt formatCode="+0.00;-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7"/>
                </a:solidFill>
                <a:latin typeface="+mn-lt"/>
              </a:defRPr>
            </a:pPr>
            <a:endParaRPr lang="en-US"/>
          </a:p>
        </c:txPr>
        <c:crossAx val="2094734552"/>
        <c:crosses val="autoZero"/>
        <c:auto val="1"/>
        <c:lblAlgn val="ctr"/>
        <c:noMultiLvlLbl val="1"/>
      </c:catAx>
      <c:valAx>
        <c:axId val="2094734552"/>
        <c:scaling>
          <c:orientation val="minMax"/>
          <c:max val="1.5"/>
          <c:min val="-2.5"/>
        </c:scaling>
        <c:delete val="0"/>
        <c:axPos val="l"/>
        <c:majorGridlines>
          <c:spPr>
            <a:ln w="6350" cap="flat">
              <a:solidFill>
                <a:srgbClr val="D3DE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guide. This is the Zeroth Review for the Major Project 2026-27. We are proposing to extend our minor project, CET-ViT, into a research-oriented major project. It is an extension, and it is built on what we found when we audited our own minor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abstract at a high level: the minor project proposed learned token grouping; our own audit showed the headline margin does not survive a compute-matched control; so the major project asks what grouping contributes beyond extra capacity. Four contributions are listed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the highlighted V-CEO router is the only learned grouping step. The third card is the key framing: we audited ourselves, and that audit defines this major project. The causal-emergence framing of the original submission did not survive verification and is not part of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Only the locked-rate bars are confirmatory, and the locked rate is not the branch's own selected rate. At selected rates the CIFAR-100 difference is +0.39 with an interval that includes zero; at the common rate it is above zero only. Tiny-ImageNet is below the control at selected rates, and neither arm was swept there. The +3.91 over Swin in the minor paper compared against a single-seed baseline trained without Mixup; the audit attributes it to no single cause. Take-away: the sign depends on learning rate and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23 external works are from 2025 or 2026 (NeurIPS 2025, ICLR 2025 and 2026, ICML 2026, CVPR 2025 and 2026, IJCAI 2025, TMLR 2025, COLM 2025, TPAMI 2025, plus arXiv preprints); the survey also includes our own two works. Swin and PVT appear only as baseline background. Extra tokens and registers is highlighted because it supplies the control that the minor project lacked. Entries were written from abstracts and index summaries; the full texts of the papers central to RO2 and RO4 will be read before Review I. The full table is in the Literature Survey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2025-2026 token-reduction papers. The recurring gap: they target inference efficiency on existing ViTs, discard or merge tokens irreversibly, and none is tested against capacity controls. The calibrated-scaling paper documents that merging breaks down at high compression, whereas our design keeps the full micro stream. For LTM we could not obtain a stable implementation, so it remains an unverified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Content-adaptive structure and slot-based learning. The adaptive-tokenization papers act at the input; our branch groups tokens mid-network. The slot papers rely on reconstruction targets, foundation-model features or diffusion decoders, a different regime from label-only classification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arm R. Registers and extra tokens change how information is routed inside a ViT, so any benefit claimed for learned grouping must be separated from them. SlotAdapt even uses a register token next to its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dense-feature papers show that localisation depends on the extraction protocol, which is why RO4 fixes metrics and baselines in advance. The evaluation-rigour papers are from other domains but identify the same failure we found in our own minor project: unequal tuning, weak variance handling and opaque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causal-emergence papers were the original motivation; the minor project's regulariser did not implement them faithfully and that framing was withdrawn. Rows 24 and 25 are our minor project and its audit, with their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limitations identified from the survey, each mapped to a research objective. Numbers in brackets refer to the survey tables. G1 and G4 are the ones we most need to own: our minor project had no capacity-matched control and used single-seed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is deliberately narrow and falsifiable. H1 is that learned routing beats capacity controls; we state in advance what result would refute it, using the same 0.5-point margin as the audit. RQ4 is methodological: how many seeds and how much tuning before the conclusion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an epic. RO1 and RO5 are enabling objectives (corrected release, registered protocol, publication); RO2 to RO4 are the scientific core. The right column is the success criterion, stated so a panel can check it at Review I and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 A is the minor-project branch. R replaces the data-dependent assignment with learned input-independent slots, the register-style control. X keeps the routing structure but freezes a random projection. B2 uses fixed block routing. G spends the same capacity in the backbone. S is a MAC-matched Swin. The protocol follows the 2025-2026 evaluation-rigour papers [19]-[21]: equal tuning budgets, multiple seeds, test set touched once. Compute estimate: about 200 runs for RO2 at the audit's mean of roughly 1 H100-hour per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9 is the primary alignment: strengthening scientific research and open infrastructure. SDG 12 and 13 are supporting and we keep the claims modest: we do not claim to measure emissions reductions, only to report compute honestly and avoid wasted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follow the SRM schedule: Review 0 on 6 to 10 November, changes window 6 to 13 January, Review I on 23 to 30 January, Review II on 2 to 9 March, Review III on 20 to 24 April, report 28 April to 6 May, viva 7 to 15 May. WP1 and WP2 run first because the corrected release and the registered plan must exist before the final runs. ImageNet-100 (WP4) is the compute risk and will be reduced to three arms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TRL is a research-project TRL: we move from an experimental proof of concept to a validated laboratory-grade harness. Publication is mandatory at SRM, so Paper 1, which already exists as draft v13, goes out first after the guide and co-authors have reviewed the erratum.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is the main practical risk, and the null-result risk is the main scientific one. We address the second by registering the plan so a null result is still a defensible, publishable answer to RQ1.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are a proposed split so that individual contribution can be assessed at each review. The next 30 days all precede Review I, and the first item, sharing the erratum with the guide and co-authors, is the gate for everything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decision requested: approval to extend the minor project, subject to the guide's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image" Target="../media/image-1002-2.jp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image" Target="../media/image-1003-2.jp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pic>
        <p:nvPicPr>
          <p:cNvPr id="2" name="Image 0" descr="SRM Institute of Science and Technology logo">    </p:cNvPr>
          <p:cNvPicPr>
            <a:picLocks noChangeAspect="1"/>
          </p:cNvPicPr>
          <p:nvPr/>
        </p:nvPicPr>
        <p:blipFill>
          <a:blip r:embed="rId1"/>
          <a:stretch>
            <a:fillRect/>
          </a:stretch>
        </p:blipFill>
        <p:spPr>
          <a:xfrm>
            <a:off x="137160" y="246888"/>
            <a:ext cx="1463040" cy="493776"/>
          </a:xfrm>
          <a:prstGeom prst="rect">
            <a:avLst/>
          </a:prstGeom>
        </p:spPr>
      </p:pic>
      <p:pic>
        <p:nvPicPr>
          <p:cNvPr id="3" name="Image 1" descr="CTECH logo">    </p:cNvPr>
          <p:cNvPicPr>
            <a:picLocks noChangeAspect="1"/>
          </p:cNvPicPr>
          <p:nvPr/>
        </p:nvPicPr>
        <p:blipFill>
          <a:blip r:embed="rId2"/>
          <a:stretch>
            <a:fillRect/>
          </a:stretch>
        </p:blipFill>
        <p:spPr>
          <a:xfrm>
            <a:off x="7662672" y="82296"/>
            <a:ext cx="1481328" cy="694944"/>
          </a:xfrm>
          <a:prstGeom prst="rect">
            <a:avLst/>
          </a:prstGeom>
        </p:spPr>
      </p:pic>
      <p:sp>
        <p:nvSpPr>
          <p:cNvPr id="4" name="Text 0"/>
          <p:cNvSpPr/>
          <p:nvPr/>
        </p:nvSpPr>
        <p:spPr>
          <a:xfrm>
            <a:off x="1691640" y="274320"/>
            <a:ext cx="5943600" cy="1197864"/>
          </a:xfrm>
          <a:prstGeom prst="rect">
            <a:avLst/>
          </a:prstGeom>
          <a:noFill/>
          <a:ln/>
        </p:spPr>
        <p:txBody>
          <a:bodyPr wrap="square" lIns="0" tIns="0" rIns="0" bIns="0" rtlCol="0" anchor="t"/>
          <a:lstStyle/>
          <a:p>
            <a:pPr algn="ctr" indent="0" marL="0">
              <a:buNone/>
            </a:pPr>
            <a:r>
              <a:rPr lang="en-US" sz="1800" b="1" dirty="0">
                <a:solidFill>
                  <a:schemeClr val="tx1"/>
                </a:solidFill>
                <a:latin typeface="Times New Roman" pitchFamily="34" charset="0"/>
                <a:ea typeface="Times New Roman" pitchFamily="34" charset="-122"/>
                <a:cs typeface="Times New Roman" pitchFamily="34" charset="-120"/>
              </a:rPr>
              <a:t>SRM INSTITUTE OF SCIENCE AND TECHNOLOGY</a:t>
            </a:r>
            <a:endParaRPr lang="en-US" sz="1800" dirty="0"/>
          </a:p>
          <a:p>
            <a:pPr algn="ctr" indent="0" marL="0">
              <a:buNone/>
            </a:pPr>
            <a:r>
              <a:rPr lang="en-US" sz="1800" b="1" dirty="0">
                <a:solidFill>
                  <a:schemeClr val="tx1"/>
                </a:solidFill>
                <a:latin typeface="Times New Roman" pitchFamily="34" charset="0"/>
                <a:ea typeface="Times New Roman" pitchFamily="34" charset="-122"/>
                <a:cs typeface="Times New Roman" pitchFamily="34" charset="-120"/>
              </a:rPr>
              <a:t>SCHOOL OF COMPUTING</a:t>
            </a:r>
            <a:endParaRPr lang="en-US" sz="1800" dirty="0"/>
          </a:p>
          <a:p>
            <a:pPr algn="ctr" indent="0" marL="0">
              <a:buNone/>
            </a:pPr>
            <a:r>
              <a:rPr lang="en-US" sz="1800" b="1" dirty="0">
                <a:solidFill>
                  <a:schemeClr val="tx1"/>
                </a:solidFill>
                <a:latin typeface="Times New Roman" pitchFamily="34" charset="0"/>
                <a:ea typeface="Times New Roman" pitchFamily="34" charset="-122"/>
                <a:cs typeface="Times New Roman" pitchFamily="34" charset="-120"/>
              </a:rPr>
              <a:t>DEPARTMENT OF COMPUTING TECHNOLOGIES</a:t>
            </a:r>
            <a:endParaRPr lang="en-US" sz="1800" dirty="0"/>
          </a:p>
          <a:p>
            <a:pPr algn="ctr" indent="0" marL="0">
              <a:buNone/>
            </a:pPr>
            <a:r>
              <a:rPr lang="en-US" sz="1800" b="1" dirty="0">
                <a:solidFill>
                  <a:schemeClr val="tx1"/>
                </a:solidFill>
                <a:latin typeface="Times New Roman" pitchFamily="34" charset="0"/>
                <a:ea typeface="Times New Roman" pitchFamily="34" charset="-122"/>
                <a:cs typeface="Times New Roman" pitchFamily="34" charset="-120"/>
              </a:rPr>
              <a:t>21CSP401L - MAJOR PROJECT</a:t>
            </a:r>
            <a:endParaRPr lang="en-US" sz="1800" dirty="0"/>
          </a:p>
        </p:txBody>
      </p:sp>
      <p:sp>
        <p:nvSpPr>
          <p:cNvPr id="5" name="Text 1"/>
          <p:cNvSpPr/>
          <p:nvPr>
            <p:ph idx="103" type="title" hasCustomPrompt="1"/>
          </p:nvPr>
        </p:nvSpPr>
        <p:spPr>
          <a:xfrm>
            <a:off x="758952" y="1892808"/>
            <a:ext cx="7772400" cy="1600200"/>
          </a:xfrm>
          <a:prstGeom prst="rect">
            <a:avLst/>
          </a:prstGeom>
          <a:noFill/>
          <a:ln/>
        </p:spPr>
        <p:txBody>
          <a:bodyPr wrap="square" rtlCol="0"/>
          <a:lstStyle>
            <a:lvl1pPr algn="ctr" indent="0" marL="0">
              <a:buNone/>
              <a:defRPr lang="en-US" sz="2800" dirty="0">
                <a:solidFill>
                  <a:schemeClr val="tx1"/>
                </a:solidFill>
                <a:latin typeface="Times New Roman" pitchFamily="34" charset="0"/>
                <a:ea typeface="Times New Roman" pitchFamily="34" charset="-122"/>
                <a:cs typeface="Times New Roman" pitchFamily="34" charset="-120"/>
              </a:defRPr>
            </a:lvl1pPr>
          </a:lstStyle>
          <a:p>
            <a:pPr algn="ctr"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SRM Institute of Science and Technology logo">    </p:cNvPr>
          <p:cNvPicPr>
            <a:picLocks noChangeAspect="1"/>
          </p:cNvPicPr>
          <p:nvPr/>
        </p:nvPicPr>
        <p:blipFill>
          <a:blip r:embed="rId1"/>
          <a:stretch>
            <a:fillRect/>
          </a:stretch>
        </p:blipFill>
        <p:spPr>
          <a:xfrm>
            <a:off x="228600" y="521208"/>
            <a:ext cx="1828800" cy="617220"/>
          </a:xfrm>
          <a:prstGeom prst="rect">
            <a:avLst/>
          </a:prstGeom>
        </p:spPr>
      </p:pic>
      <p:pic>
        <p:nvPicPr>
          <p:cNvPr id="3" name="Image 1" descr="CTECH logo">    </p:cNvPr>
          <p:cNvPicPr>
            <a:picLocks noChangeAspect="1"/>
          </p:cNvPicPr>
          <p:nvPr/>
        </p:nvPicPr>
        <p:blipFill>
          <a:blip r:embed="rId2"/>
          <a:stretch>
            <a:fillRect/>
          </a:stretch>
        </p:blipFill>
        <p:spPr>
          <a:xfrm>
            <a:off x="7223760" y="466344"/>
            <a:ext cx="1600200" cy="758952"/>
          </a:xfrm>
          <a:prstGeom prst="rect">
            <a:avLst/>
          </a:prstGeom>
        </p:spPr>
      </p:pic>
      <p:sp>
        <p:nvSpPr>
          <p:cNvPr id="4" name="Text 0"/>
          <p:cNvSpPr/>
          <p:nvPr>
            <p:ph idx="102" type="title" hasCustomPrompt="1"/>
          </p:nvPr>
        </p:nvSpPr>
        <p:spPr>
          <a:xfrm>
            <a:off x="2194560" y="274320"/>
            <a:ext cx="4937760" cy="1143000"/>
          </a:xfrm>
          <a:prstGeom prst="rect">
            <a:avLst/>
          </a:prstGeom>
          <a:noFill/>
          <a:ln/>
        </p:spPr>
        <p:txBody>
          <a:bodyPr wrap="square" rtlCol="0"/>
          <a:lstStyle>
            <a:lvl1pPr algn="ctr" indent="0" marL="0">
              <a:buNone/>
              <a:defRPr lang="en-US" sz="3200" dirty="0">
                <a:solidFill>
                  <a:schemeClr val="tx1"/>
                </a:solidFill>
                <a:latin typeface="Calibri" pitchFamily="34" charset="0"/>
                <a:ea typeface="Calibri" pitchFamily="34" charset="-122"/>
                <a:cs typeface="Calibri" pitchFamily="34" charset="-120"/>
              </a:defRPr>
            </a:lvl1pPr>
          </a:lstStyle>
          <a:p>
            <a:pPr algn="ctr" indent="0" marL="0">
              <a:buNone/>
            </a:pPr>
            <a:endParaRPr lang="en-US" sz="3200" dirty="0"/>
          </a:p>
        </p:txBody>
      </p:sp>
      <p:sp>
        <p:nvSpPr>
          <p:cNvPr id="5" name="Text 0"/>
          <p:cNvSpPr/>
          <p:nvPr/>
        </p:nvSpPr>
        <p:spPr>
          <a:xfrm>
            <a:off x="457200" y="6355080"/>
            <a:ext cx="2194560" cy="365760"/>
          </a:xfrm>
          <a:prstGeom prst="rect">
            <a:avLst/>
          </a:prstGeom>
          <a:noFill/>
          <a:ln/>
        </p:spPr>
        <p:txBody>
          <a:bodyPr wrap="square" lIns="0" tIns="0" rIns="0" bIns="0" rtlCol="0" anchor="ctr"/>
          <a:lstStyle/>
          <a:p>
            <a:pPr algn="l" indent="0" marL="0">
              <a:buNone/>
            </a:pPr>
            <a:r>
              <a:rPr lang="en-US" sz="1200" dirty="0">
                <a:solidFill>
                  <a:srgbClr val="666666"/>
                </a:solidFill>
                <a:latin typeface="Calibri" pitchFamily="34" charset="0"/>
                <a:ea typeface="Calibri" pitchFamily="34" charset="-122"/>
                <a:cs typeface="Calibri" pitchFamily="34" charset="-120"/>
              </a:rPr>
              <a:t>November 2026</a:t>
            </a:r>
            <a:endParaRPr lang="en-US" sz="12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758952" y="1892808"/>
            <a:ext cx="7772400" cy="1600200"/>
          </a:xfrm>
          <a:prstGeom prst="rect">
            <a:avLst/>
          </a:prstGeom>
          <a:noFill/>
          <a:ln/>
        </p:spPr>
        <p:txBody>
          <a:bodyPr wrap="square" lIns="0" tIns="0" rIns="0" bIns="0" rtlCol="0" anchor="ctr"/>
          <a:lstStyle/>
          <a:p>
            <a:pPr algn="ctr" indent="0" marL="0">
              <a:buNone/>
            </a:pPr>
            <a:r>
              <a:rPr lang="en-US" sz="2800" dirty="0">
                <a:solidFill>
                  <a:schemeClr val="tx1"/>
                </a:solidFill>
                <a:latin typeface="Times New Roman" pitchFamily="34" charset="0"/>
                <a:ea typeface="Times New Roman" pitchFamily="34" charset="-122"/>
                <a:cs typeface="Times New Roman" pitchFamily="34" charset="-120"/>
              </a:rPr>
              <a:t>Beyond CET-ViT: A Capacity-Controlled Study of Learned Token Grouping in Vision Transformers</a:t>
            </a:r>
            <a:endParaRPr lang="en-US" sz="2800" dirty="0"/>
          </a:p>
        </p:txBody>
      </p:sp>
      <p:sp>
        <p:nvSpPr>
          <p:cNvPr id="3" name="Guide block"/>
          <p:cNvSpPr txBox="1"/>
          <p:nvPr/>
        </p:nvSpPr>
        <p:spPr>
          <a:xfrm>
            <a:off x="274320" y="4114800"/>
            <a:ext cx="3840480" cy="1463040"/>
          </a:xfrm>
          <a:prstGeom prst="rect">
            <a:avLst/>
          </a:prstGeom>
          <a:noFill/>
          <a:ln/>
        </p:spPr>
        <p:txBody>
          <a:bodyPr wrap="square" lIns="0" tIns="0" rIns="0" bIns="0" rtlCol="0" anchor="t"/>
          <a:lstStyle/>
          <a:p>
            <a:pPr algn="ctr" indent="0" marL="0">
              <a:spcAft>
                <a:spcPts val="1000"/>
              </a:spcAft>
              <a:buNone/>
            </a:pPr>
            <a:r>
              <a:rPr lang="en-US" sz="1400" dirty="0">
                <a:solidFill>
                  <a:srgbClr val="666666"/>
                </a:solidFill>
                <a:latin typeface="Times New Roman" pitchFamily="34" charset="0"/>
                <a:ea typeface="Times New Roman" pitchFamily="34" charset="-122"/>
                <a:cs typeface="Times New Roman" pitchFamily="34" charset="-120"/>
              </a:rPr>
              <a:t>Guide name: Dr. M. Eliazer</a:t>
            </a:r>
            <a:endParaRPr lang="en-US" sz="1400" dirty="0"/>
          </a:p>
          <a:p>
            <a:pPr algn="ctr" indent="0" marL="0">
              <a:spcAft>
                <a:spcPts val="1000"/>
              </a:spcAft>
              <a:buNone/>
            </a:pPr>
            <a:r>
              <a:rPr lang="en-US" sz="1400" dirty="0">
                <a:solidFill>
                  <a:srgbClr val="666666"/>
                </a:solidFill>
                <a:latin typeface="Times New Roman" pitchFamily="34" charset="0"/>
                <a:ea typeface="Times New Roman" pitchFamily="34" charset="-122"/>
                <a:cs typeface="Times New Roman" pitchFamily="34" charset="-120"/>
              </a:rPr>
              <a:t>Designation: Associate Professor</a:t>
            </a:r>
            <a:endParaRPr lang="en-US" sz="1400" dirty="0"/>
          </a:p>
          <a:p>
            <a:pPr algn="ctr" indent="0" marL="0">
              <a:spcAft>
                <a:spcPts val="1000"/>
              </a:spcAft>
              <a:buNone/>
            </a:pPr>
            <a:r>
              <a:rPr lang="en-US" sz="1400" dirty="0">
                <a:solidFill>
                  <a:srgbClr val="666666"/>
                </a:solidFill>
                <a:latin typeface="Times New Roman" pitchFamily="34" charset="0"/>
                <a:ea typeface="Times New Roman" pitchFamily="34" charset="-122"/>
                <a:cs typeface="Times New Roman" pitchFamily="34" charset="-120"/>
              </a:rPr>
              <a:t>Department: CTECH</a:t>
            </a:r>
            <a:endParaRPr lang="en-US" sz="1400" dirty="0"/>
          </a:p>
        </p:txBody>
      </p:sp>
      <p:sp>
        <p:nvSpPr>
          <p:cNvPr id="4" name="Student block"/>
          <p:cNvSpPr txBox="1"/>
          <p:nvPr/>
        </p:nvSpPr>
        <p:spPr>
          <a:xfrm>
            <a:off x="4389120" y="4114800"/>
            <a:ext cx="4480560" cy="2011680"/>
          </a:xfrm>
          <a:prstGeom prst="rect">
            <a:avLst/>
          </a:prstGeom>
          <a:noFill/>
          <a:ln/>
        </p:spPr>
        <p:txBody>
          <a:bodyPr wrap="square" lIns="0" tIns="0" rIns="0" bIns="0" rtlCol="0" anchor="t"/>
          <a:lstStyle/>
          <a:p>
            <a:pPr algn="ctr" indent="0" marL="0">
              <a:spcAft>
                <a:spcPts val="600"/>
              </a:spcAft>
              <a:buNone/>
            </a:pPr>
            <a:r>
              <a:rPr lang="en-US" sz="1400" dirty="0">
                <a:solidFill>
                  <a:srgbClr val="666666"/>
                </a:solidFill>
                <a:latin typeface="Times New Roman" pitchFamily="34" charset="0"/>
                <a:ea typeface="Times New Roman" pitchFamily="34" charset="-122"/>
                <a:cs typeface="Times New Roman" pitchFamily="34" charset="-120"/>
              </a:rPr>
              <a:t>Batch ID: B782</a:t>
            </a:r>
            <a:endParaRPr lang="en-US" sz="1400" dirty="0"/>
          </a:p>
          <a:p>
            <a:pPr algn="ctr" indent="0" marL="0">
              <a:spcAft>
                <a:spcPts val="600"/>
              </a:spcAft>
              <a:buNone/>
            </a:pPr>
            <a:r>
              <a:rPr lang="en-US" sz="1400" dirty="0">
                <a:solidFill>
                  <a:srgbClr val="666666"/>
                </a:solidFill>
                <a:latin typeface="Times New Roman" pitchFamily="34" charset="0"/>
                <a:ea typeface="Times New Roman" pitchFamily="34" charset="-122"/>
                <a:cs typeface="Times New Roman" pitchFamily="34" charset="-120"/>
              </a:rPr>
              <a:t>Student 1 Reg. No: RA2311003012121</a:t>
            </a:r>
            <a:endParaRPr lang="en-US" sz="1400" dirty="0"/>
          </a:p>
          <a:p>
            <a:pPr algn="ctr" indent="0" marL="0">
              <a:spcAft>
                <a:spcPts val="600"/>
              </a:spcAft>
              <a:buNone/>
            </a:pPr>
            <a:r>
              <a:rPr lang="en-US" sz="1400" dirty="0">
                <a:solidFill>
                  <a:srgbClr val="666666"/>
                </a:solidFill>
                <a:latin typeface="Times New Roman" pitchFamily="34" charset="0"/>
                <a:ea typeface="Times New Roman" pitchFamily="34" charset="-122"/>
                <a:cs typeface="Times New Roman" pitchFamily="34" charset="-120"/>
              </a:rPr>
              <a:t>Student 1 Name: Raghav Sharma</a:t>
            </a:r>
            <a:endParaRPr lang="en-US" sz="1400" dirty="0"/>
          </a:p>
          <a:p>
            <a:pPr algn="ctr" indent="0" marL="0">
              <a:spcAft>
                <a:spcPts val="600"/>
              </a:spcAft>
              <a:buNone/>
            </a:pPr>
            <a:r>
              <a:rPr lang="en-US" sz="1400" dirty="0">
                <a:solidFill>
                  <a:srgbClr val="666666"/>
                </a:solidFill>
                <a:latin typeface="Times New Roman" pitchFamily="34" charset="0"/>
                <a:ea typeface="Times New Roman" pitchFamily="34" charset="-122"/>
                <a:cs typeface="Times New Roman" pitchFamily="34" charset="-120"/>
              </a:rPr>
              <a:t>Student 2 Reg. No: RA2311003012082</a:t>
            </a:r>
            <a:endParaRPr lang="en-US" sz="1400" dirty="0"/>
          </a:p>
          <a:p>
            <a:pPr algn="ctr" indent="0" marL="0">
              <a:spcAft>
                <a:spcPts val="600"/>
              </a:spcAft>
              <a:buNone/>
            </a:pPr>
            <a:r>
              <a:rPr lang="en-US" sz="1400" dirty="0">
                <a:solidFill>
                  <a:srgbClr val="666666"/>
                </a:solidFill>
                <a:latin typeface="Times New Roman" pitchFamily="34" charset="0"/>
                <a:ea typeface="Times New Roman" pitchFamily="34" charset="-122"/>
                <a:cs typeface="Times New Roman" pitchFamily="34" charset="-120"/>
              </a:rPr>
              <a:t>Student 2 Name: Dhruv Jyoti Das</a:t>
            </a:r>
            <a:endParaRPr lang="en-US" sz="1400" dirty="0"/>
          </a:p>
        </p:txBody>
      </p:sp>
      <p:sp>
        <p:nvSpPr>
          <p:cNvPr id="5" name="Text 3"/>
          <p:cNvSpPr txBox="1"/>
          <p:nvPr/>
        </p:nvSpPr>
        <p:spPr>
          <a:xfrm>
            <a:off x="274320" y="5989320"/>
            <a:ext cx="4023360" cy="365760"/>
          </a:xfrm>
          <a:prstGeom prst="rect">
            <a:avLst/>
          </a:prstGeom>
          <a:noFill/>
          <a:ln/>
        </p:spPr>
        <p:txBody>
          <a:bodyPr wrap="square" lIns="0" tIns="0" rIns="0" bIns="0" rtlCol="0" anchor="t"/>
          <a:lstStyle/>
          <a:p>
            <a:pPr algn="ctr" indent="0" marL="0">
              <a:buNone/>
            </a:pPr>
            <a:r>
              <a:rPr lang="en-US" sz="1200" i="1" dirty="0">
                <a:solidFill>
                  <a:srgbClr val="666666"/>
                </a:solidFill>
                <a:latin typeface="Times New Roman" pitchFamily="34" charset="0"/>
                <a:ea typeface="Times New Roman" pitchFamily="34" charset="-122"/>
                <a:cs typeface="Times New Roman" pitchFamily="34" charset="-120"/>
              </a:rPr>
              <a:t>Zeroth Review  |  Extension of Minor Project (CET-ViT)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Abstract</a:t>
            </a:r>
            <a:endParaRPr lang="en-US" sz="3200" dirty="0"/>
          </a:p>
        </p:txBody>
      </p:sp>
      <p:sp>
        <p:nvSpPr>
          <p:cNvPr id="3" name="Abstract panel"/>
          <p:cNvSpPr/>
          <p:nvPr/>
        </p:nvSpPr>
        <p:spPr>
          <a:xfrm>
            <a:off x="457200" y="1371600"/>
            <a:ext cx="8229600" cy="3017520"/>
          </a:xfrm>
          <a:prstGeom prst="roundRect">
            <a:avLst>
              <a:gd name="adj" fmla="val 2121"/>
            </a:avLst>
          </a:prstGeom>
          <a:solidFill>
            <a:srgbClr val="EAF1F4"/>
          </a:solidFill>
          <a:ln/>
        </p:spPr>
      </p:sp>
      <p:sp>
        <p:nvSpPr>
          <p:cNvPr id="4" name="Text 2"/>
          <p:cNvSpPr txBox="1"/>
          <p:nvPr/>
        </p:nvSpPr>
        <p:spPr>
          <a:xfrm>
            <a:off x="640080" y="1481328"/>
            <a:ext cx="7863840" cy="2834640"/>
          </a:xfrm>
          <a:prstGeom prst="rect">
            <a:avLst/>
          </a:prstGeom>
          <a:noFill/>
          <a:ln/>
        </p:spPr>
        <p:txBody>
          <a:bodyPr wrap="square" lIns="0" tIns="0" rIns="0" bIns="0" rtlCol="0" anchor="t"/>
          <a:lstStyle/>
          <a:p>
            <a:pPr indent="0" marL="0">
              <a:lnSpc>
                <a:spcPct val="100000"/>
              </a:lnSpc>
              <a:buNone/>
            </a:pPr>
            <a:r>
              <a:rPr lang="en-US" sz="1450" dirty="0">
                <a:solidFill>
                  <a:srgbClr val="1A1A1A"/>
                </a:solidFill>
                <a:latin typeface="Times New Roman" pitchFamily="34" charset="0"/>
                <a:ea typeface="Times New Roman" pitchFamily="34" charset="-122"/>
                <a:cs typeface="Times New Roman" pitchFamily="34" charset="-120"/>
              </a:rPr>
              <a:t>Hierarchical vision transformers fix their multi-scale structure by hand (shifted windows, patch merging). Our minor project, CET-ViT, instead routes 256 patch tokens into 32 learned macro-slots with one top-3 sparse assignment (0.0069M parameters) and reported +3.91 points over a size-matched Swin on CIFAR-100. A follow-up self-audit (237 runs, 229 H100-hours) showed that this headline does not survive a compute-matched control and per-arm learning-rate tuning: at the locked learning rate the grouping branch is 1.16 points below a no-branch control on CIFAR-100 and 1.67 below on Tiny-ImageNet, and its sign at tuned rates depends on rate and data set. The open question is therefore not whether grouping works, but what it buys beyond extra capacity. This major project (i) releases a corrected, reproducible baseline; (ii) tests learned grouping against capacity controls (register-style input-independent slots, frozen random routers, fixed block routing) under per-arm tuning and at least five seeds; (iii) extends the comparison to ImageNet-100; and (iv) evaluates the 'emergent regions' claim quantitatively against object masks. Analysis plans are registered before the final runs. Outputs: a public, licensed evaluation harness and two manuscripts.</a:t>
            </a:r>
            <a:endParaRPr lang="en-US" sz="1450" dirty="0"/>
          </a:p>
        </p:txBody>
      </p:sp>
      <p:sp>
        <p:nvSpPr>
          <p:cNvPr id="5" name="Contribution card 1"/>
          <p:cNvSpPr/>
          <p:nvPr/>
        </p:nvSpPr>
        <p:spPr>
          <a:xfrm>
            <a:off x="457200" y="4526280"/>
            <a:ext cx="1920240" cy="1691640"/>
          </a:xfrm>
          <a:prstGeom prst="roundRect">
            <a:avLst>
              <a:gd name="adj" fmla="val 3784"/>
            </a:avLst>
          </a:prstGeom>
          <a:solidFill>
            <a:srgbClr val="FFFFFF"/>
          </a:solidFill>
          <a:ln w="12700">
            <a:solidFill>
              <a:srgbClr val="D3DEE4"/>
            </a:solidFill>
            <a:prstDash val="solid"/>
          </a:ln>
        </p:spPr>
      </p:sp>
      <p:sp>
        <p:nvSpPr>
          <p:cNvPr id="6" name="Contribution badge 1"/>
          <p:cNvSpPr/>
          <p:nvPr/>
        </p:nvSpPr>
        <p:spPr>
          <a:xfrm>
            <a:off x="566928" y="4636008"/>
            <a:ext cx="411480" cy="411480"/>
          </a:xfrm>
          <a:prstGeom prst="ellipse">
            <a:avLst/>
          </a:prstGeom>
          <a:solidFill>
            <a:srgbClr val="1B7F8C"/>
          </a:solidFill>
          <a:ln/>
        </p:spPr>
      </p:sp>
      <p:sp>
        <p:nvSpPr>
          <p:cNvPr id="7" name="Contribution badge 1 label"/>
          <p:cNvSpPr txBox="1"/>
          <p:nvPr/>
        </p:nvSpPr>
        <p:spPr>
          <a:xfrm>
            <a:off x="566928" y="463600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566928" y="5120640"/>
            <a:ext cx="1737360" cy="274320"/>
          </a:xfrm>
          <a:prstGeom prst="rect">
            <a:avLst/>
          </a:prstGeom>
          <a:noFill/>
          <a:ln/>
        </p:spPr>
        <p:txBody>
          <a:bodyPr wrap="square" lIns="0" tIns="0" rIns="0" bIns="0" rtlCol="0" anchor="t"/>
          <a:lstStyle/>
          <a:p>
            <a:pPr indent="0" marL="0">
              <a:buNone/>
            </a:pPr>
            <a:r>
              <a:rPr lang="en-US" sz="1400" b="1" dirty="0">
                <a:solidFill>
                  <a:srgbClr val="0F2A3D"/>
                </a:solidFill>
                <a:latin typeface="Times New Roman" pitchFamily="34" charset="0"/>
                <a:ea typeface="Times New Roman" pitchFamily="34" charset="-122"/>
                <a:cs typeface="Times New Roman" pitchFamily="34" charset="-120"/>
              </a:rPr>
              <a:t>Corrected baseline</a:t>
            </a:r>
            <a:endParaRPr lang="en-US" sz="1400" dirty="0"/>
          </a:p>
        </p:txBody>
      </p:sp>
      <p:sp>
        <p:nvSpPr>
          <p:cNvPr id="9" name="Text 7"/>
          <p:cNvSpPr txBox="1"/>
          <p:nvPr/>
        </p:nvSpPr>
        <p:spPr>
          <a:xfrm>
            <a:off x="566928" y="5413248"/>
            <a:ext cx="1719072" cy="777240"/>
          </a:xfrm>
          <a:prstGeom prst="rect">
            <a:avLst/>
          </a:prstGeom>
          <a:noFill/>
          <a:ln/>
        </p:spPr>
        <p:txBody>
          <a:bodyPr wrap="square" lIns="0" tIns="0" rIns="0" bIns="0" rtlCol="0" anchor="t"/>
          <a:lstStyle/>
          <a:p>
            <a:pPr indent="0" marL="0">
              <a:buNone/>
            </a:pPr>
            <a:r>
              <a:rPr lang="en-US" sz="1300" dirty="0">
                <a:solidFill>
                  <a:srgbClr val="5B6B77"/>
                </a:solidFill>
                <a:latin typeface="Times New Roman" pitchFamily="34" charset="0"/>
                <a:ea typeface="Times New Roman" pitchFamily="34" charset="-122"/>
                <a:cs typeface="Times New Roman" pitchFamily="34" charset="-120"/>
              </a:rPr>
              <a:t>Release a reproducible, licensed CET-ViT.</a:t>
            </a:r>
            <a:endParaRPr lang="en-US" sz="1300" dirty="0"/>
          </a:p>
        </p:txBody>
      </p:sp>
      <p:sp>
        <p:nvSpPr>
          <p:cNvPr id="10" name="Contribution card 2"/>
          <p:cNvSpPr/>
          <p:nvPr/>
        </p:nvSpPr>
        <p:spPr>
          <a:xfrm>
            <a:off x="2560320" y="4526280"/>
            <a:ext cx="1920240" cy="1691640"/>
          </a:xfrm>
          <a:prstGeom prst="roundRect">
            <a:avLst>
              <a:gd name="adj" fmla="val 3784"/>
            </a:avLst>
          </a:prstGeom>
          <a:solidFill>
            <a:srgbClr val="FFFFFF"/>
          </a:solidFill>
          <a:ln w="12700">
            <a:solidFill>
              <a:srgbClr val="D3DEE4"/>
            </a:solidFill>
            <a:prstDash val="solid"/>
          </a:ln>
        </p:spPr>
      </p:sp>
      <p:sp>
        <p:nvSpPr>
          <p:cNvPr id="11" name="Contribution badge 2"/>
          <p:cNvSpPr/>
          <p:nvPr/>
        </p:nvSpPr>
        <p:spPr>
          <a:xfrm>
            <a:off x="2670048" y="4636008"/>
            <a:ext cx="411480" cy="411480"/>
          </a:xfrm>
          <a:prstGeom prst="ellipse">
            <a:avLst/>
          </a:prstGeom>
          <a:solidFill>
            <a:srgbClr val="1B7F8C"/>
          </a:solidFill>
          <a:ln/>
        </p:spPr>
      </p:sp>
      <p:sp>
        <p:nvSpPr>
          <p:cNvPr id="12" name="Contribution badge 2 label"/>
          <p:cNvSpPr txBox="1"/>
          <p:nvPr/>
        </p:nvSpPr>
        <p:spPr>
          <a:xfrm>
            <a:off x="2670048" y="463600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2670048" y="5120640"/>
            <a:ext cx="1737360" cy="274320"/>
          </a:xfrm>
          <a:prstGeom prst="rect">
            <a:avLst/>
          </a:prstGeom>
          <a:noFill/>
          <a:ln/>
        </p:spPr>
        <p:txBody>
          <a:bodyPr wrap="square" lIns="0" tIns="0" rIns="0" bIns="0" rtlCol="0" anchor="t"/>
          <a:lstStyle/>
          <a:p>
            <a:pPr indent="0" marL="0">
              <a:buNone/>
            </a:pPr>
            <a:r>
              <a:rPr lang="en-US" sz="1400" b="1" dirty="0">
                <a:solidFill>
                  <a:srgbClr val="0F2A3D"/>
                </a:solidFill>
                <a:latin typeface="Times New Roman" pitchFamily="34" charset="0"/>
                <a:ea typeface="Times New Roman" pitchFamily="34" charset="-122"/>
                <a:cs typeface="Times New Roman" pitchFamily="34" charset="-120"/>
              </a:rPr>
              <a:t>Capacity controls</a:t>
            </a:r>
            <a:endParaRPr lang="en-US" sz="1400" dirty="0"/>
          </a:p>
        </p:txBody>
      </p:sp>
      <p:sp>
        <p:nvSpPr>
          <p:cNvPr id="14" name="Text 12"/>
          <p:cNvSpPr txBox="1"/>
          <p:nvPr/>
        </p:nvSpPr>
        <p:spPr>
          <a:xfrm>
            <a:off x="2670048" y="5413248"/>
            <a:ext cx="1719072" cy="777240"/>
          </a:xfrm>
          <a:prstGeom prst="rect">
            <a:avLst/>
          </a:prstGeom>
          <a:noFill/>
          <a:ln/>
        </p:spPr>
        <p:txBody>
          <a:bodyPr wrap="square" lIns="0" tIns="0" rIns="0" bIns="0" rtlCol="0" anchor="t"/>
          <a:lstStyle/>
          <a:p>
            <a:pPr indent="0" marL="0">
              <a:buNone/>
            </a:pPr>
            <a:r>
              <a:rPr lang="en-US" sz="1300" dirty="0">
                <a:solidFill>
                  <a:srgbClr val="5B6B77"/>
                </a:solidFill>
                <a:latin typeface="Times New Roman" pitchFamily="34" charset="0"/>
                <a:ea typeface="Times New Roman" pitchFamily="34" charset="-122"/>
                <a:cs typeface="Times New Roman" pitchFamily="34" charset="-120"/>
              </a:rPr>
              <a:t>Learned routing vs registers, random and fixed routers.</a:t>
            </a:r>
            <a:endParaRPr lang="en-US" sz="1300" dirty="0"/>
          </a:p>
        </p:txBody>
      </p:sp>
      <p:sp>
        <p:nvSpPr>
          <p:cNvPr id="15" name="Contribution card 3"/>
          <p:cNvSpPr/>
          <p:nvPr/>
        </p:nvSpPr>
        <p:spPr>
          <a:xfrm>
            <a:off x="4663440" y="4526280"/>
            <a:ext cx="1920240" cy="1691640"/>
          </a:xfrm>
          <a:prstGeom prst="roundRect">
            <a:avLst>
              <a:gd name="adj" fmla="val 3784"/>
            </a:avLst>
          </a:prstGeom>
          <a:solidFill>
            <a:srgbClr val="FFFFFF"/>
          </a:solidFill>
          <a:ln w="12700">
            <a:solidFill>
              <a:srgbClr val="D3DEE4"/>
            </a:solidFill>
            <a:prstDash val="solid"/>
          </a:ln>
        </p:spPr>
      </p:sp>
      <p:sp>
        <p:nvSpPr>
          <p:cNvPr id="16" name="Contribution badge 3"/>
          <p:cNvSpPr/>
          <p:nvPr/>
        </p:nvSpPr>
        <p:spPr>
          <a:xfrm>
            <a:off x="4773168" y="4636008"/>
            <a:ext cx="411480" cy="411480"/>
          </a:xfrm>
          <a:prstGeom prst="ellipse">
            <a:avLst/>
          </a:prstGeom>
          <a:solidFill>
            <a:srgbClr val="1B7F8C"/>
          </a:solidFill>
          <a:ln/>
        </p:spPr>
      </p:sp>
      <p:sp>
        <p:nvSpPr>
          <p:cNvPr id="17" name="Contribution badge 3 label"/>
          <p:cNvSpPr txBox="1"/>
          <p:nvPr/>
        </p:nvSpPr>
        <p:spPr>
          <a:xfrm>
            <a:off x="4773168" y="463600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4773168" y="5120640"/>
            <a:ext cx="1737360" cy="274320"/>
          </a:xfrm>
          <a:prstGeom prst="rect">
            <a:avLst/>
          </a:prstGeom>
          <a:noFill/>
          <a:ln/>
        </p:spPr>
        <p:txBody>
          <a:bodyPr wrap="square" lIns="0" tIns="0" rIns="0" bIns="0" rtlCol="0" anchor="t"/>
          <a:lstStyle/>
          <a:p>
            <a:pPr indent="0" marL="0">
              <a:buNone/>
            </a:pPr>
            <a:r>
              <a:rPr lang="en-US" sz="1400" b="1" dirty="0">
                <a:solidFill>
                  <a:srgbClr val="0F2A3D"/>
                </a:solidFill>
                <a:latin typeface="Times New Roman" pitchFamily="34" charset="0"/>
                <a:ea typeface="Times New Roman" pitchFamily="34" charset="-122"/>
                <a:cs typeface="Times New Roman" pitchFamily="34" charset="-120"/>
              </a:rPr>
              <a:t>Scale</a:t>
            </a:r>
            <a:endParaRPr lang="en-US" sz="1400" dirty="0"/>
          </a:p>
        </p:txBody>
      </p:sp>
      <p:sp>
        <p:nvSpPr>
          <p:cNvPr id="19" name="Text 17"/>
          <p:cNvSpPr txBox="1"/>
          <p:nvPr/>
        </p:nvSpPr>
        <p:spPr>
          <a:xfrm>
            <a:off x="4773168" y="5413248"/>
            <a:ext cx="1719072" cy="777240"/>
          </a:xfrm>
          <a:prstGeom prst="rect">
            <a:avLst/>
          </a:prstGeom>
          <a:noFill/>
          <a:ln/>
        </p:spPr>
        <p:txBody>
          <a:bodyPr wrap="square" lIns="0" tIns="0" rIns="0" bIns="0" rtlCol="0" anchor="t"/>
          <a:lstStyle/>
          <a:p>
            <a:pPr indent="0" marL="0">
              <a:buNone/>
            </a:pPr>
            <a:r>
              <a:rPr lang="en-US" sz="1300" dirty="0">
                <a:solidFill>
                  <a:srgbClr val="5B6B77"/>
                </a:solidFill>
                <a:latin typeface="Times New Roman" pitchFamily="34" charset="0"/>
                <a:ea typeface="Times New Roman" pitchFamily="34" charset="-122"/>
                <a:cs typeface="Times New Roman" pitchFamily="34" charset="-120"/>
              </a:rPr>
              <a:t>Extend the comparison to ImageNet-100.</a:t>
            </a:r>
            <a:endParaRPr lang="en-US" sz="1300" dirty="0"/>
          </a:p>
        </p:txBody>
      </p:sp>
      <p:sp>
        <p:nvSpPr>
          <p:cNvPr id="20" name="Contribution card 4"/>
          <p:cNvSpPr/>
          <p:nvPr/>
        </p:nvSpPr>
        <p:spPr>
          <a:xfrm>
            <a:off x="6766560" y="4526280"/>
            <a:ext cx="1920240" cy="1691640"/>
          </a:xfrm>
          <a:prstGeom prst="roundRect">
            <a:avLst>
              <a:gd name="adj" fmla="val 3784"/>
            </a:avLst>
          </a:prstGeom>
          <a:solidFill>
            <a:srgbClr val="FFFFFF"/>
          </a:solidFill>
          <a:ln w="12700">
            <a:solidFill>
              <a:srgbClr val="D3DEE4"/>
            </a:solidFill>
            <a:prstDash val="solid"/>
          </a:ln>
        </p:spPr>
      </p:sp>
      <p:sp>
        <p:nvSpPr>
          <p:cNvPr id="21" name="Contribution badge 4"/>
          <p:cNvSpPr/>
          <p:nvPr/>
        </p:nvSpPr>
        <p:spPr>
          <a:xfrm>
            <a:off x="6876288" y="4636008"/>
            <a:ext cx="411480" cy="411480"/>
          </a:xfrm>
          <a:prstGeom prst="ellipse">
            <a:avLst/>
          </a:prstGeom>
          <a:solidFill>
            <a:srgbClr val="1B7F8C"/>
          </a:solidFill>
          <a:ln/>
        </p:spPr>
      </p:sp>
      <p:sp>
        <p:nvSpPr>
          <p:cNvPr id="22" name="Contribution badge 4 label"/>
          <p:cNvSpPr txBox="1"/>
          <p:nvPr/>
        </p:nvSpPr>
        <p:spPr>
          <a:xfrm>
            <a:off x="6876288" y="463600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txBox="1"/>
          <p:nvPr/>
        </p:nvSpPr>
        <p:spPr>
          <a:xfrm>
            <a:off x="6876288" y="5120640"/>
            <a:ext cx="1737360" cy="274320"/>
          </a:xfrm>
          <a:prstGeom prst="rect">
            <a:avLst/>
          </a:prstGeom>
          <a:noFill/>
          <a:ln/>
        </p:spPr>
        <p:txBody>
          <a:bodyPr wrap="square" lIns="0" tIns="0" rIns="0" bIns="0" rtlCol="0" anchor="t"/>
          <a:lstStyle/>
          <a:p>
            <a:pPr indent="0" marL="0">
              <a:buNone/>
            </a:pPr>
            <a:r>
              <a:rPr lang="en-US" sz="1400" b="1" dirty="0">
                <a:solidFill>
                  <a:srgbClr val="0F2A3D"/>
                </a:solidFill>
                <a:latin typeface="Times New Roman" pitchFamily="34" charset="0"/>
                <a:ea typeface="Times New Roman" pitchFamily="34" charset="-122"/>
                <a:cs typeface="Times New Roman" pitchFamily="34" charset="-120"/>
              </a:rPr>
              <a:t>Regions</a:t>
            </a:r>
            <a:endParaRPr lang="en-US" sz="1400" dirty="0"/>
          </a:p>
        </p:txBody>
      </p:sp>
      <p:sp>
        <p:nvSpPr>
          <p:cNvPr id="24" name="Text 22"/>
          <p:cNvSpPr txBox="1"/>
          <p:nvPr/>
        </p:nvSpPr>
        <p:spPr>
          <a:xfrm>
            <a:off x="6876288" y="5413248"/>
            <a:ext cx="1719072" cy="777240"/>
          </a:xfrm>
          <a:prstGeom prst="rect">
            <a:avLst/>
          </a:prstGeom>
          <a:noFill/>
          <a:ln/>
        </p:spPr>
        <p:txBody>
          <a:bodyPr wrap="square" lIns="0" tIns="0" rIns="0" bIns="0" rtlCol="0" anchor="t"/>
          <a:lstStyle/>
          <a:p>
            <a:pPr indent="0" marL="0">
              <a:buNone/>
            </a:pPr>
            <a:r>
              <a:rPr lang="en-US" sz="1300" dirty="0">
                <a:solidFill>
                  <a:srgbClr val="5B6B77"/>
                </a:solidFill>
                <a:latin typeface="Times New Roman" pitchFamily="34" charset="0"/>
                <a:ea typeface="Times New Roman" pitchFamily="34" charset="-122"/>
                <a:cs typeface="Times New Roman" pitchFamily="34" charset="-120"/>
              </a:rPr>
              <a:t>Score emergent regions against object masks.</a:t>
            </a:r>
            <a:endParaRPr lang="en-US" sz="13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Introduction</a:t>
            </a:r>
            <a:endParaRPr lang="en-US" sz="3200" dirty="0"/>
          </a:p>
        </p:txBody>
      </p:sp>
      <p:sp>
        <p:nvSpPr>
          <p:cNvPr id="3" name="Pipeline step 1"/>
          <p:cNvSpPr/>
          <p:nvPr/>
        </p:nvSpPr>
        <p:spPr>
          <a:xfrm>
            <a:off x="457200" y="1371600"/>
            <a:ext cx="1261872" cy="914400"/>
          </a:xfrm>
          <a:prstGeom prst="roundRect">
            <a:avLst>
              <a:gd name="adj" fmla="val 7000"/>
            </a:avLst>
          </a:prstGeom>
          <a:solidFill>
            <a:srgbClr val="EAF1F4"/>
          </a:solidFill>
          <a:ln/>
        </p:spPr>
      </p:sp>
      <p:sp>
        <p:nvSpPr>
          <p:cNvPr id="4" name="Text 2"/>
          <p:cNvSpPr txBox="1"/>
          <p:nvPr/>
        </p:nvSpPr>
        <p:spPr>
          <a:xfrm>
            <a:off x="493776" y="1481328"/>
            <a:ext cx="1188720" cy="320040"/>
          </a:xfrm>
          <a:prstGeom prst="rect">
            <a:avLst/>
          </a:prstGeom>
          <a:noFill/>
          <a:ln/>
        </p:spPr>
        <p:txBody>
          <a:bodyPr wrap="square" lIns="0" tIns="0" rIns="0" bIns="0" rtlCol="0" anchor="t"/>
          <a:lstStyle/>
          <a:p>
            <a:pPr algn="ctr" indent="0" marL="0">
              <a:buNone/>
            </a:pPr>
            <a:r>
              <a:rPr lang="en-US" sz="1250" b="1" dirty="0">
                <a:solidFill>
                  <a:srgbClr val="0F2A3D"/>
                </a:solidFill>
                <a:latin typeface="Calibri" pitchFamily="34" charset="0"/>
                <a:ea typeface="Calibri" pitchFamily="34" charset="-122"/>
                <a:cs typeface="Calibri" pitchFamily="34" charset="-120"/>
              </a:rPr>
              <a:t>Image patches</a:t>
            </a:r>
            <a:endParaRPr lang="en-US" sz="1250" dirty="0"/>
          </a:p>
        </p:txBody>
      </p:sp>
      <p:sp>
        <p:nvSpPr>
          <p:cNvPr id="5" name="Text 3"/>
          <p:cNvSpPr txBox="1"/>
          <p:nvPr/>
        </p:nvSpPr>
        <p:spPr>
          <a:xfrm>
            <a:off x="493776" y="1828800"/>
            <a:ext cx="1188720" cy="384048"/>
          </a:xfrm>
          <a:prstGeom prst="rect">
            <a:avLst/>
          </a:prstGeom>
          <a:noFill/>
          <a:ln/>
        </p:spPr>
        <p:txBody>
          <a:bodyPr wrap="square" lIns="0" tIns="0" rIns="0" bIns="0" rtlCol="0" anchor="t"/>
          <a:lstStyle/>
          <a:p>
            <a:pPr algn="ctr" indent="0" marL="0">
              <a:buNone/>
            </a:pPr>
            <a:r>
              <a:rPr lang="en-US" sz="1150" dirty="0">
                <a:solidFill>
                  <a:srgbClr val="5B6B77"/>
                </a:solidFill>
                <a:latin typeface="Times New Roman" pitchFamily="34" charset="0"/>
                <a:ea typeface="Times New Roman" pitchFamily="34" charset="-122"/>
                <a:cs typeface="Times New Roman" pitchFamily="34" charset="-120"/>
              </a:rPr>
              <a:t>256 tokens</a:t>
            </a:r>
            <a:endParaRPr lang="en-US" sz="1150" dirty="0"/>
          </a:p>
        </p:txBody>
      </p:sp>
      <p:sp>
        <p:nvSpPr>
          <p:cNvPr id="6" name="Pipeline step 2"/>
          <p:cNvSpPr/>
          <p:nvPr/>
        </p:nvSpPr>
        <p:spPr>
          <a:xfrm>
            <a:off x="1850746" y="1371600"/>
            <a:ext cx="1261872" cy="914400"/>
          </a:xfrm>
          <a:prstGeom prst="roundRect">
            <a:avLst>
              <a:gd name="adj" fmla="val 7000"/>
            </a:avLst>
          </a:prstGeom>
          <a:solidFill>
            <a:srgbClr val="EAF1F4"/>
          </a:solidFill>
          <a:ln/>
        </p:spPr>
      </p:sp>
      <p:sp>
        <p:nvSpPr>
          <p:cNvPr id="7" name="Text 5"/>
          <p:cNvSpPr txBox="1"/>
          <p:nvPr/>
        </p:nvSpPr>
        <p:spPr>
          <a:xfrm>
            <a:off x="1887322" y="1481328"/>
            <a:ext cx="1188720" cy="320040"/>
          </a:xfrm>
          <a:prstGeom prst="rect">
            <a:avLst/>
          </a:prstGeom>
          <a:noFill/>
          <a:ln/>
        </p:spPr>
        <p:txBody>
          <a:bodyPr wrap="square" lIns="0" tIns="0" rIns="0" bIns="0" rtlCol="0" anchor="t"/>
          <a:lstStyle/>
          <a:p>
            <a:pPr algn="ctr" indent="0" marL="0">
              <a:buNone/>
            </a:pPr>
            <a:r>
              <a:rPr lang="en-US" sz="1250" b="1" dirty="0">
                <a:solidFill>
                  <a:srgbClr val="0F2A3D"/>
                </a:solidFill>
                <a:latin typeface="Calibri" pitchFamily="34" charset="0"/>
                <a:ea typeface="Calibri" pitchFamily="34" charset="-122"/>
                <a:cs typeface="Calibri" pitchFamily="34" charset="-120"/>
              </a:rPr>
              <a:t>Micro encoder</a:t>
            </a:r>
            <a:endParaRPr lang="en-US" sz="1250" dirty="0"/>
          </a:p>
        </p:txBody>
      </p:sp>
      <p:sp>
        <p:nvSpPr>
          <p:cNvPr id="8" name="Text 6"/>
          <p:cNvSpPr txBox="1"/>
          <p:nvPr/>
        </p:nvSpPr>
        <p:spPr>
          <a:xfrm>
            <a:off x="1887322" y="1828800"/>
            <a:ext cx="1188720" cy="384048"/>
          </a:xfrm>
          <a:prstGeom prst="rect">
            <a:avLst/>
          </a:prstGeom>
          <a:noFill/>
          <a:ln/>
        </p:spPr>
        <p:txBody>
          <a:bodyPr wrap="square" lIns="0" tIns="0" rIns="0" bIns="0" rtlCol="0" anchor="t"/>
          <a:lstStyle/>
          <a:p>
            <a:pPr algn="ctr" indent="0" marL="0">
              <a:buNone/>
            </a:pPr>
            <a:r>
              <a:rPr lang="en-US" sz="1150" dirty="0">
                <a:solidFill>
                  <a:srgbClr val="5B6B77"/>
                </a:solidFill>
                <a:latin typeface="Times New Roman" pitchFamily="34" charset="0"/>
                <a:ea typeface="Times New Roman" pitchFamily="34" charset="-122"/>
                <a:cs typeface="Times New Roman" pitchFamily="34" charset="-120"/>
              </a:rPr>
              <a:t>stages 1-2</a:t>
            </a:r>
            <a:endParaRPr lang="en-US" sz="1150" dirty="0"/>
          </a:p>
        </p:txBody>
      </p:sp>
      <p:sp>
        <p:nvSpPr>
          <p:cNvPr id="9" name="Pipeline step 3"/>
          <p:cNvSpPr/>
          <p:nvPr/>
        </p:nvSpPr>
        <p:spPr>
          <a:xfrm>
            <a:off x="3244291" y="1371600"/>
            <a:ext cx="1261872" cy="914400"/>
          </a:xfrm>
          <a:prstGeom prst="roundRect">
            <a:avLst>
              <a:gd name="adj" fmla="val 7000"/>
            </a:avLst>
          </a:prstGeom>
          <a:solidFill>
            <a:srgbClr val="1B7F8C"/>
          </a:solidFill>
          <a:ln/>
        </p:spPr>
      </p:sp>
      <p:sp>
        <p:nvSpPr>
          <p:cNvPr id="10" name="Text 8"/>
          <p:cNvSpPr txBox="1"/>
          <p:nvPr/>
        </p:nvSpPr>
        <p:spPr>
          <a:xfrm>
            <a:off x="3280867" y="1481328"/>
            <a:ext cx="1188720" cy="320040"/>
          </a:xfrm>
          <a:prstGeom prst="rect">
            <a:avLst/>
          </a:prstGeom>
          <a:noFill/>
          <a:ln/>
        </p:spPr>
        <p:txBody>
          <a:bodyPr wrap="square" lIns="0" tIns="0" rIns="0" bIns="0" rtlCol="0" anchor="t"/>
          <a:lstStyle/>
          <a:p>
            <a:pPr algn="ctr" indent="0" marL="0">
              <a:buNone/>
            </a:pPr>
            <a:r>
              <a:rPr lang="en-US" sz="1250" b="1" dirty="0">
                <a:solidFill>
                  <a:srgbClr val="FFFFFF"/>
                </a:solidFill>
                <a:latin typeface="Calibri" pitchFamily="34" charset="0"/>
                <a:ea typeface="Calibri" pitchFamily="34" charset="-122"/>
                <a:cs typeface="Calibri" pitchFamily="34" charset="-120"/>
              </a:rPr>
              <a:t>V-CEO router</a:t>
            </a:r>
            <a:endParaRPr lang="en-US" sz="1250" dirty="0"/>
          </a:p>
        </p:txBody>
      </p:sp>
      <p:sp>
        <p:nvSpPr>
          <p:cNvPr id="11" name="Text 9"/>
          <p:cNvSpPr txBox="1"/>
          <p:nvPr/>
        </p:nvSpPr>
        <p:spPr>
          <a:xfrm>
            <a:off x="3280867" y="1828800"/>
            <a:ext cx="1188720" cy="384048"/>
          </a:xfrm>
          <a:prstGeom prst="rect">
            <a:avLst/>
          </a:prstGeom>
          <a:noFill/>
          <a:ln/>
        </p:spPr>
        <p:txBody>
          <a:bodyPr wrap="square" lIns="0" tIns="0" rIns="0" bIns="0" rtlCol="0" anchor="t"/>
          <a:lstStyle/>
          <a:p>
            <a:pPr algn="ctr" indent="0" marL="0">
              <a:buNone/>
            </a:pPr>
            <a:r>
              <a:rPr lang="en-US" sz="1150" dirty="0">
                <a:solidFill>
                  <a:srgbClr val="FFFFFF"/>
                </a:solidFill>
                <a:latin typeface="Times New Roman" pitchFamily="34" charset="0"/>
                <a:ea typeface="Times New Roman" pitchFamily="34" charset="-122"/>
                <a:cs typeface="Times New Roman" pitchFamily="34" charset="-120"/>
              </a:rPr>
              <a:t>top-3 of 32 slots</a:t>
            </a:r>
            <a:endParaRPr lang="en-US" sz="1150" dirty="0"/>
          </a:p>
        </p:txBody>
      </p:sp>
      <p:sp>
        <p:nvSpPr>
          <p:cNvPr id="12" name="Pipeline step 4"/>
          <p:cNvSpPr/>
          <p:nvPr/>
        </p:nvSpPr>
        <p:spPr>
          <a:xfrm>
            <a:off x="4637837" y="1371600"/>
            <a:ext cx="1261872" cy="914400"/>
          </a:xfrm>
          <a:prstGeom prst="roundRect">
            <a:avLst>
              <a:gd name="adj" fmla="val 7000"/>
            </a:avLst>
          </a:prstGeom>
          <a:solidFill>
            <a:srgbClr val="EAF1F4"/>
          </a:solidFill>
          <a:ln/>
        </p:spPr>
      </p:sp>
      <p:sp>
        <p:nvSpPr>
          <p:cNvPr id="13" name="Text 11"/>
          <p:cNvSpPr txBox="1"/>
          <p:nvPr/>
        </p:nvSpPr>
        <p:spPr>
          <a:xfrm>
            <a:off x="4674413" y="1481328"/>
            <a:ext cx="1188720" cy="320040"/>
          </a:xfrm>
          <a:prstGeom prst="rect">
            <a:avLst/>
          </a:prstGeom>
          <a:noFill/>
          <a:ln/>
        </p:spPr>
        <p:txBody>
          <a:bodyPr wrap="square" lIns="0" tIns="0" rIns="0" bIns="0" rtlCol="0" anchor="t"/>
          <a:lstStyle/>
          <a:p>
            <a:pPr algn="ctr" indent="0" marL="0">
              <a:buNone/>
            </a:pPr>
            <a:r>
              <a:rPr lang="en-US" sz="1250" b="1" dirty="0">
                <a:solidFill>
                  <a:srgbClr val="0F2A3D"/>
                </a:solidFill>
                <a:latin typeface="Calibri" pitchFamily="34" charset="0"/>
                <a:ea typeface="Calibri" pitchFamily="34" charset="-122"/>
                <a:cs typeface="Calibri" pitchFamily="34" charset="-120"/>
              </a:rPr>
              <a:t>Macro encoder</a:t>
            </a:r>
            <a:endParaRPr lang="en-US" sz="1250" dirty="0"/>
          </a:p>
        </p:txBody>
      </p:sp>
      <p:sp>
        <p:nvSpPr>
          <p:cNvPr id="14" name="Text 12"/>
          <p:cNvSpPr txBox="1"/>
          <p:nvPr/>
        </p:nvSpPr>
        <p:spPr>
          <a:xfrm>
            <a:off x="4674413" y="1828800"/>
            <a:ext cx="1188720" cy="384048"/>
          </a:xfrm>
          <a:prstGeom prst="rect">
            <a:avLst/>
          </a:prstGeom>
          <a:noFill/>
          <a:ln/>
        </p:spPr>
        <p:txBody>
          <a:bodyPr wrap="square" lIns="0" tIns="0" rIns="0" bIns="0" rtlCol="0" anchor="t"/>
          <a:lstStyle/>
          <a:p>
            <a:pPr algn="ctr" indent="0" marL="0">
              <a:buNone/>
            </a:pPr>
            <a:r>
              <a:rPr lang="en-US" sz="1150" dirty="0">
                <a:solidFill>
                  <a:srgbClr val="5B6B77"/>
                </a:solidFill>
                <a:latin typeface="Times New Roman" pitchFamily="34" charset="0"/>
                <a:ea typeface="Times New Roman" pitchFamily="34" charset="-122"/>
                <a:cs typeface="Times New Roman" pitchFamily="34" charset="-120"/>
              </a:rPr>
              <a:t>+ cross-scale attention</a:t>
            </a:r>
            <a:endParaRPr lang="en-US" sz="1150" dirty="0"/>
          </a:p>
        </p:txBody>
      </p:sp>
      <p:sp>
        <p:nvSpPr>
          <p:cNvPr id="15" name="Pipeline step 5"/>
          <p:cNvSpPr/>
          <p:nvPr/>
        </p:nvSpPr>
        <p:spPr>
          <a:xfrm>
            <a:off x="6031382" y="1371600"/>
            <a:ext cx="1261872" cy="914400"/>
          </a:xfrm>
          <a:prstGeom prst="roundRect">
            <a:avLst>
              <a:gd name="adj" fmla="val 7000"/>
            </a:avLst>
          </a:prstGeom>
          <a:solidFill>
            <a:srgbClr val="EAF1F4"/>
          </a:solidFill>
          <a:ln/>
        </p:spPr>
      </p:sp>
      <p:sp>
        <p:nvSpPr>
          <p:cNvPr id="16" name="Text 14"/>
          <p:cNvSpPr txBox="1"/>
          <p:nvPr/>
        </p:nvSpPr>
        <p:spPr>
          <a:xfrm>
            <a:off x="6067958" y="1481328"/>
            <a:ext cx="1188720" cy="320040"/>
          </a:xfrm>
          <a:prstGeom prst="rect">
            <a:avLst/>
          </a:prstGeom>
          <a:noFill/>
          <a:ln/>
        </p:spPr>
        <p:txBody>
          <a:bodyPr wrap="square" lIns="0" tIns="0" rIns="0" bIns="0" rtlCol="0" anchor="t"/>
          <a:lstStyle/>
          <a:p>
            <a:pPr algn="ctr" indent="0" marL="0">
              <a:buNone/>
            </a:pPr>
            <a:r>
              <a:rPr lang="en-US" sz="1250" b="1" dirty="0">
                <a:solidFill>
                  <a:srgbClr val="0F2A3D"/>
                </a:solidFill>
                <a:latin typeface="Calibri" pitchFamily="34" charset="0"/>
                <a:ea typeface="Calibri" pitchFamily="34" charset="-122"/>
                <a:cs typeface="Calibri" pitchFamily="34" charset="-120"/>
              </a:rPr>
              <a:t>Deep encoder</a:t>
            </a:r>
            <a:endParaRPr lang="en-US" sz="1250" dirty="0"/>
          </a:p>
        </p:txBody>
      </p:sp>
      <p:sp>
        <p:nvSpPr>
          <p:cNvPr id="17" name="Text 15"/>
          <p:cNvSpPr txBox="1"/>
          <p:nvPr/>
        </p:nvSpPr>
        <p:spPr>
          <a:xfrm>
            <a:off x="6067958" y="1828800"/>
            <a:ext cx="1188720" cy="384048"/>
          </a:xfrm>
          <a:prstGeom prst="rect">
            <a:avLst/>
          </a:prstGeom>
          <a:noFill/>
          <a:ln/>
        </p:spPr>
        <p:txBody>
          <a:bodyPr wrap="square" lIns="0" tIns="0" rIns="0" bIns="0" rtlCol="0" anchor="t"/>
          <a:lstStyle/>
          <a:p>
            <a:pPr algn="ctr" indent="0" marL="0">
              <a:buNone/>
            </a:pPr>
            <a:r>
              <a:rPr lang="en-US" sz="1150" dirty="0">
                <a:solidFill>
                  <a:srgbClr val="5B6B77"/>
                </a:solidFill>
                <a:latin typeface="Times New Roman" pitchFamily="34" charset="0"/>
                <a:ea typeface="Times New Roman" pitchFamily="34" charset="-122"/>
                <a:cs typeface="Times New Roman" pitchFamily="34" charset="-120"/>
              </a:rPr>
              <a:t>fused with macro</a:t>
            </a:r>
            <a:endParaRPr lang="en-US" sz="1150" dirty="0"/>
          </a:p>
        </p:txBody>
      </p:sp>
      <p:sp>
        <p:nvSpPr>
          <p:cNvPr id="18" name="Pipeline step 6"/>
          <p:cNvSpPr/>
          <p:nvPr/>
        </p:nvSpPr>
        <p:spPr>
          <a:xfrm>
            <a:off x="7424928" y="1371600"/>
            <a:ext cx="1261872" cy="914400"/>
          </a:xfrm>
          <a:prstGeom prst="roundRect">
            <a:avLst>
              <a:gd name="adj" fmla="val 7000"/>
            </a:avLst>
          </a:prstGeom>
          <a:solidFill>
            <a:srgbClr val="EAF1F4"/>
          </a:solidFill>
          <a:ln/>
        </p:spPr>
      </p:sp>
      <p:sp>
        <p:nvSpPr>
          <p:cNvPr id="19" name="Text 17"/>
          <p:cNvSpPr txBox="1"/>
          <p:nvPr/>
        </p:nvSpPr>
        <p:spPr>
          <a:xfrm>
            <a:off x="7461504" y="1481328"/>
            <a:ext cx="1188720" cy="320040"/>
          </a:xfrm>
          <a:prstGeom prst="rect">
            <a:avLst/>
          </a:prstGeom>
          <a:noFill/>
          <a:ln/>
        </p:spPr>
        <p:txBody>
          <a:bodyPr wrap="square" lIns="0" tIns="0" rIns="0" bIns="0" rtlCol="0" anchor="t"/>
          <a:lstStyle/>
          <a:p>
            <a:pPr algn="ctr" indent="0" marL="0">
              <a:buNone/>
            </a:pPr>
            <a:r>
              <a:rPr lang="en-US" sz="1250" b="1" dirty="0">
                <a:solidFill>
                  <a:srgbClr val="0F2A3D"/>
                </a:solidFill>
                <a:latin typeface="Calibri" pitchFamily="34" charset="0"/>
                <a:ea typeface="Calibri" pitchFamily="34" charset="-122"/>
                <a:cs typeface="Calibri" pitchFamily="34" charset="-120"/>
              </a:rPr>
              <a:t>Classifier</a:t>
            </a:r>
            <a:endParaRPr lang="en-US" sz="1250" dirty="0"/>
          </a:p>
        </p:txBody>
      </p:sp>
      <p:sp>
        <p:nvSpPr>
          <p:cNvPr id="20" name="Text 18"/>
          <p:cNvSpPr txBox="1"/>
          <p:nvPr/>
        </p:nvSpPr>
        <p:spPr>
          <a:xfrm>
            <a:off x="7461504" y="1828800"/>
            <a:ext cx="1188720" cy="384048"/>
          </a:xfrm>
          <a:prstGeom prst="rect">
            <a:avLst/>
          </a:prstGeom>
          <a:noFill/>
          <a:ln/>
        </p:spPr>
        <p:txBody>
          <a:bodyPr wrap="square" lIns="0" tIns="0" rIns="0" bIns="0" rtlCol="0" anchor="t"/>
          <a:lstStyle/>
          <a:p>
            <a:pPr algn="ctr" indent="0" marL="0">
              <a:buNone/>
            </a:pPr>
            <a:r>
              <a:rPr lang="en-US" sz="1150" dirty="0">
                <a:solidFill>
                  <a:srgbClr val="5B6B77"/>
                </a:solidFill>
                <a:latin typeface="Times New Roman" pitchFamily="34" charset="0"/>
                <a:ea typeface="Times New Roman" pitchFamily="34" charset="-122"/>
                <a:cs typeface="Times New Roman" pitchFamily="34" charset="-120"/>
              </a:rPr>
              <a:t>100 classes</a:t>
            </a:r>
            <a:endParaRPr lang="en-US" sz="1150" dirty="0"/>
          </a:p>
        </p:txBody>
      </p:sp>
      <p:sp>
        <p:nvSpPr>
          <p:cNvPr id="21" name="Intro card 1"/>
          <p:cNvSpPr/>
          <p:nvPr/>
        </p:nvSpPr>
        <p:spPr>
          <a:xfrm>
            <a:off x="457200" y="2514600"/>
            <a:ext cx="2651760" cy="3703320"/>
          </a:xfrm>
          <a:prstGeom prst="roundRect">
            <a:avLst>
              <a:gd name="adj" fmla="val 2414"/>
            </a:avLst>
          </a:prstGeom>
          <a:solidFill>
            <a:srgbClr val="FFFFFF"/>
          </a:solidFill>
          <a:ln w="12700">
            <a:solidFill>
              <a:srgbClr val="D3DEE4"/>
            </a:solidFill>
            <a:prstDash val="solid"/>
          </a:ln>
        </p:spPr>
      </p:sp>
      <p:sp>
        <p:nvSpPr>
          <p:cNvPr id="22" name="Intro badge 1"/>
          <p:cNvSpPr/>
          <p:nvPr/>
        </p:nvSpPr>
        <p:spPr>
          <a:xfrm>
            <a:off x="621792" y="2679192"/>
            <a:ext cx="411480" cy="411480"/>
          </a:xfrm>
          <a:prstGeom prst="ellipse">
            <a:avLst/>
          </a:prstGeom>
          <a:solidFill>
            <a:srgbClr val="1B7F8C"/>
          </a:solidFill>
          <a:ln/>
        </p:spPr>
      </p:sp>
      <p:sp>
        <p:nvSpPr>
          <p:cNvPr id="23" name="Intro badge 1 label"/>
          <p:cNvSpPr txBox="1"/>
          <p:nvPr/>
        </p:nvSpPr>
        <p:spPr>
          <a:xfrm>
            <a:off x="621792" y="26791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4" name="Text 22"/>
          <p:cNvSpPr txBox="1"/>
          <p:nvPr/>
        </p:nvSpPr>
        <p:spPr>
          <a:xfrm>
            <a:off x="1170432" y="2724912"/>
            <a:ext cx="1828800" cy="347472"/>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Context</a:t>
            </a:r>
            <a:endParaRPr lang="en-US" sz="1700" dirty="0"/>
          </a:p>
        </p:txBody>
      </p:sp>
      <p:sp>
        <p:nvSpPr>
          <p:cNvPr id="25" name="Text 23"/>
          <p:cNvSpPr txBox="1"/>
          <p:nvPr/>
        </p:nvSpPr>
        <p:spPr>
          <a:xfrm>
            <a:off x="621792" y="3291840"/>
            <a:ext cx="2359152" cy="2834640"/>
          </a:xfrm>
          <a:prstGeom prst="rect">
            <a:avLst/>
          </a:prstGeom>
          <a:noFill/>
          <a:ln/>
        </p:spPr>
        <p:txBody>
          <a:bodyPr wrap="square" lIns="0" tIns="0" rIns="0" bIns="0" rtlCol="0" anchor="t"/>
          <a:lstStyle/>
          <a:p>
            <a:pPr indent="0" marL="0">
              <a:lnSpc>
                <a:spcPct val="102000"/>
              </a:lnSpc>
              <a:buNone/>
            </a:pPr>
            <a:r>
              <a:rPr lang="en-US" sz="1600" dirty="0">
                <a:solidFill>
                  <a:srgbClr val="1A1A1A"/>
                </a:solidFill>
                <a:latin typeface="Times New Roman" pitchFamily="34" charset="0"/>
                <a:ea typeface="Times New Roman" pitchFamily="34" charset="-122"/>
                <a:cs typeface="Times New Roman" pitchFamily="34" charset="-120"/>
              </a:rPr>
              <a:t>Swin and PVT fix their multi-scale structure by hand. 2025-26 work learns merging, adaptive tokens, registers and slots instead.</a:t>
            </a:r>
            <a:endParaRPr lang="en-US" sz="1600" dirty="0"/>
          </a:p>
        </p:txBody>
      </p:sp>
      <p:sp>
        <p:nvSpPr>
          <p:cNvPr id="26" name="Intro card 2"/>
          <p:cNvSpPr/>
          <p:nvPr/>
        </p:nvSpPr>
        <p:spPr>
          <a:xfrm>
            <a:off x="3246120" y="2514600"/>
            <a:ext cx="2651760" cy="3703320"/>
          </a:xfrm>
          <a:prstGeom prst="roundRect">
            <a:avLst>
              <a:gd name="adj" fmla="val 2414"/>
            </a:avLst>
          </a:prstGeom>
          <a:solidFill>
            <a:srgbClr val="FFFFFF"/>
          </a:solidFill>
          <a:ln w="12700">
            <a:solidFill>
              <a:srgbClr val="D3DEE4"/>
            </a:solidFill>
            <a:prstDash val="solid"/>
          </a:ln>
        </p:spPr>
      </p:sp>
      <p:sp>
        <p:nvSpPr>
          <p:cNvPr id="27" name="Intro badge 2"/>
          <p:cNvSpPr/>
          <p:nvPr/>
        </p:nvSpPr>
        <p:spPr>
          <a:xfrm>
            <a:off x="3410712" y="2679192"/>
            <a:ext cx="411480" cy="411480"/>
          </a:xfrm>
          <a:prstGeom prst="ellipse">
            <a:avLst/>
          </a:prstGeom>
          <a:solidFill>
            <a:srgbClr val="1B7F8C"/>
          </a:solidFill>
          <a:ln/>
        </p:spPr>
      </p:sp>
      <p:sp>
        <p:nvSpPr>
          <p:cNvPr id="28" name="Intro badge 2 label"/>
          <p:cNvSpPr txBox="1"/>
          <p:nvPr/>
        </p:nvSpPr>
        <p:spPr>
          <a:xfrm>
            <a:off x="3410712" y="26791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9" name="Text 27"/>
          <p:cNvSpPr txBox="1"/>
          <p:nvPr/>
        </p:nvSpPr>
        <p:spPr>
          <a:xfrm>
            <a:off x="3959352" y="2724912"/>
            <a:ext cx="1828800" cy="347472"/>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Minor project</a:t>
            </a:r>
            <a:endParaRPr lang="en-US" sz="1700" dirty="0"/>
          </a:p>
        </p:txBody>
      </p:sp>
      <p:sp>
        <p:nvSpPr>
          <p:cNvPr id="30" name="Text 28"/>
          <p:cNvSpPr txBox="1"/>
          <p:nvPr/>
        </p:nvSpPr>
        <p:spPr>
          <a:xfrm>
            <a:off x="3410712" y="3291840"/>
            <a:ext cx="2359152" cy="2834640"/>
          </a:xfrm>
          <a:prstGeom prst="rect">
            <a:avLst/>
          </a:prstGeom>
          <a:noFill/>
          <a:ln/>
        </p:spPr>
        <p:txBody>
          <a:bodyPr wrap="square" lIns="0" tIns="0" rIns="0" bIns="0" rtlCol="0" anchor="t"/>
          <a:lstStyle/>
          <a:p>
            <a:pPr indent="0" marL="0">
              <a:lnSpc>
                <a:spcPct val="102000"/>
              </a:lnSpc>
              <a:buNone/>
            </a:pPr>
            <a:r>
              <a:rPr lang="en-US" sz="1600" dirty="0">
                <a:solidFill>
                  <a:srgbClr val="1A1A1A"/>
                </a:solidFill>
                <a:latin typeface="Times New Roman" pitchFamily="34" charset="0"/>
                <a:ea typeface="Times New Roman" pitchFamily="34" charset="-122"/>
                <a:cs typeface="Times New Roman" pitchFamily="34" charset="-120"/>
              </a:rPr>
              <a:t>CET-ViT routes tokens into 32 slots with one top-3 sparse softmax (0.0069M parameters), trained from scratch on CIFAR-100 and Tiny-ImageNet. The causal-emergence framing was withdrawn.</a:t>
            </a:r>
            <a:endParaRPr lang="en-US" sz="1600" dirty="0"/>
          </a:p>
        </p:txBody>
      </p:sp>
      <p:sp>
        <p:nvSpPr>
          <p:cNvPr id="31" name="Intro card 3"/>
          <p:cNvSpPr/>
          <p:nvPr/>
        </p:nvSpPr>
        <p:spPr>
          <a:xfrm>
            <a:off x="6035040" y="2514600"/>
            <a:ext cx="2651760" cy="3703320"/>
          </a:xfrm>
          <a:prstGeom prst="roundRect">
            <a:avLst>
              <a:gd name="adj" fmla="val 2414"/>
            </a:avLst>
          </a:prstGeom>
          <a:solidFill>
            <a:srgbClr val="FFFFFF"/>
          </a:solidFill>
          <a:ln w="12700">
            <a:solidFill>
              <a:srgbClr val="D3DEE4"/>
            </a:solidFill>
            <a:prstDash val="solid"/>
          </a:ln>
        </p:spPr>
      </p:sp>
      <p:sp>
        <p:nvSpPr>
          <p:cNvPr id="32" name="Intro badge 3"/>
          <p:cNvSpPr/>
          <p:nvPr/>
        </p:nvSpPr>
        <p:spPr>
          <a:xfrm>
            <a:off x="6199632" y="2679192"/>
            <a:ext cx="411480" cy="411480"/>
          </a:xfrm>
          <a:prstGeom prst="ellipse">
            <a:avLst/>
          </a:prstGeom>
          <a:solidFill>
            <a:srgbClr val="F4A261"/>
          </a:solidFill>
          <a:ln/>
        </p:spPr>
      </p:sp>
      <p:sp>
        <p:nvSpPr>
          <p:cNvPr id="33" name="Intro badge 3 label"/>
          <p:cNvSpPr txBox="1"/>
          <p:nvPr/>
        </p:nvSpPr>
        <p:spPr>
          <a:xfrm>
            <a:off x="6199632" y="2679192"/>
            <a:ext cx="411480" cy="411480"/>
          </a:xfrm>
          <a:prstGeom prst="rect">
            <a:avLst/>
          </a:prstGeom>
          <a:noFill/>
          <a:ln/>
        </p:spPr>
        <p:txBody>
          <a:bodyPr wrap="square" lIns="0" tIns="0" rIns="0" bIns="0" rtlCol="0" anchor="ctr"/>
          <a:lstStyle/>
          <a:p>
            <a:pPr algn="ctr" indent="0" marL="0">
              <a:buNone/>
            </a:pPr>
            <a:r>
              <a:rPr lang="en-US" sz="1400" b="1" dirty="0">
                <a:solidFill>
                  <a:srgbClr val="0F2A3D"/>
                </a:solidFill>
                <a:latin typeface="Calibri" pitchFamily="34" charset="0"/>
                <a:ea typeface="Calibri" pitchFamily="34" charset="-122"/>
                <a:cs typeface="Calibri" pitchFamily="34" charset="-120"/>
              </a:rPr>
              <a:t>3</a:t>
            </a:r>
            <a:endParaRPr lang="en-US" sz="1400" dirty="0"/>
          </a:p>
        </p:txBody>
      </p:sp>
      <p:sp>
        <p:nvSpPr>
          <p:cNvPr id="34" name="Text 32"/>
          <p:cNvSpPr txBox="1"/>
          <p:nvPr/>
        </p:nvSpPr>
        <p:spPr>
          <a:xfrm>
            <a:off x="6748272" y="2724912"/>
            <a:ext cx="1828800" cy="347472"/>
          </a:xfrm>
          <a:prstGeom prst="rect">
            <a:avLst/>
          </a:prstGeom>
          <a:noFill/>
          <a:ln/>
        </p:spPr>
        <p:txBody>
          <a:bodyPr wrap="square" lIns="0" tIns="0" rIns="0" bIns="0" rtlCol="0" anchor="t"/>
          <a:lstStyle/>
          <a:p>
            <a:pPr indent="0" marL="0">
              <a:buNone/>
            </a:pPr>
            <a:r>
              <a:rPr lang="en-US" sz="1700" b="1" dirty="0">
                <a:solidFill>
                  <a:srgbClr val="0F2A3D"/>
                </a:solidFill>
                <a:latin typeface="Calibri" pitchFamily="34" charset="0"/>
                <a:ea typeface="Calibri" pitchFamily="34" charset="-122"/>
                <a:cs typeface="Calibri" pitchFamily="34" charset="-120"/>
              </a:rPr>
              <a:t>Self-audit</a:t>
            </a:r>
            <a:endParaRPr lang="en-US" sz="1700" dirty="0"/>
          </a:p>
        </p:txBody>
      </p:sp>
      <p:sp>
        <p:nvSpPr>
          <p:cNvPr id="35" name="Text 33"/>
          <p:cNvSpPr txBox="1"/>
          <p:nvPr/>
        </p:nvSpPr>
        <p:spPr>
          <a:xfrm>
            <a:off x="6199632" y="3291840"/>
            <a:ext cx="2359152" cy="2834640"/>
          </a:xfrm>
          <a:prstGeom prst="rect">
            <a:avLst/>
          </a:prstGeom>
          <a:noFill/>
          <a:ln/>
        </p:spPr>
        <p:txBody>
          <a:bodyPr wrap="square" lIns="0" tIns="0" rIns="0" bIns="0" rtlCol="0" anchor="t"/>
          <a:lstStyle/>
          <a:p>
            <a:pPr indent="0" marL="0">
              <a:lnSpc>
                <a:spcPct val="102000"/>
              </a:lnSpc>
              <a:buNone/>
            </a:pPr>
            <a:r>
              <a:rPr lang="en-US" sz="1600" dirty="0">
                <a:solidFill>
                  <a:srgbClr val="1A1A1A"/>
                </a:solidFill>
                <a:latin typeface="Times New Roman" pitchFamily="34" charset="0"/>
                <a:ea typeface="Times New Roman" pitchFamily="34" charset="-122"/>
                <a:cs typeface="Times New Roman" pitchFamily="34" charset="-120"/>
              </a:rPr>
              <a:t>A compute-matched control, MAC-matched Swins and per-arm tuning (237 runs) showed the headline margin does not hold up. The open question is what grouping adds beyond capacity.</a:t>
            </a:r>
            <a:endParaRPr lang="en-US" sz="16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What Our Audit Found</a:t>
            </a:r>
            <a:endParaRPr lang="en-US" sz="3200" dirty="0"/>
          </a:p>
        </p:txBody>
      </p:sp>
      <p:graphicFrame>
        <p:nvGraphicFramePr>
          <p:cNvPr id="3" name="Branch minus control chart" descr=""/>
          <p:cNvGraphicFramePr/>
          <p:nvPr/>
        </p:nvGraphicFramePr>
        <p:xfrm>
          <a:off x="457200" y="1371600"/>
          <a:ext cx="5120640" cy="4846320"/>
        </p:xfrm>
        <a:graphic xmlns:a="http://schemas.openxmlformats.org/drawingml/2006/main">
          <a:graphicData uri="http://schemas.openxmlformats.org/drawingml/2006/chart">
            <c:chart xmlns:c="http://schemas.openxmlformats.org/drawingml/2006/chart" r:id="rId1"/>
          </a:graphicData>
        </a:graphic>
      </p:graphicFrame>
      <p:sp>
        <p:nvSpPr>
          <p:cNvPr id="4" name="Stat card 1"/>
          <p:cNvSpPr/>
          <p:nvPr/>
        </p:nvSpPr>
        <p:spPr>
          <a:xfrm>
            <a:off x="5760720" y="1371600"/>
            <a:ext cx="2926080" cy="1554480"/>
          </a:xfrm>
          <a:prstGeom prst="roundRect">
            <a:avLst>
              <a:gd name="adj" fmla="val 4118"/>
            </a:avLst>
          </a:prstGeom>
          <a:solidFill>
            <a:srgbClr val="EAF1F4"/>
          </a:solidFill>
          <a:ln/>
        </p:spPr>
      </p:sp>
      <p:sp>
        <p:nvSpPr>
          <p:cNvPr id="5" name="Text 2"/>
          <p:cNvSpPr txBox="1"/>
          <p:nvPr/>
        </p:nvSpPr>
        <p:spPr>
          <a:xfrm>
            <a:off x="5943600" y="1463040"/>
            <a:ext cx="2560320" cy="640080"/>
          </a:xfrm>
          <a:prstGeom prst="rect">
            <a:avLst/>
          </a:prstGeom>
          <a:noFill/>
          <a:ln/>
        </p:spPr>
        <p:txBody>
          <a:bodyPr wrap="square" lIns="0" tIns="0" rIns="0" bIns="0" rtlCol="0" anchor="t"/>
          <a:lstStyle/>
          <a:p>
            <a:pPr indent="0" marL="0">
              <a:buNone/>
            </a:pPr>
            <a:r>
              <a:rPr lang="en-US" sz="3400" b="1" dirty="0">
                <a:solidFill>
                  <a:srgbClr val="1B7F8C"/>
                </a:solidFill>
                <a:latin typeface="Calibri" pitchFamily="34" charset="0"/>
                <a:ea typeface="Calibri" pitchFamily="34" charset="-122"/>
                <a:cs typeface="Calibri" pitchFamily="34" charset="-120"/>
              </a:rPr>
              <a:t>237</a:t>
            </a:r>
            <a:endParaRPr lang="en-US" sz="3400" dirty="0"/>
          </a:p>
        </p:txBody>
      </p:sp>
      <p:sp>
        <p:nvSpPr>
          <p:cNvPr id="6" name="Text 3"/>
          <p:cNvSpPr txBox="1"/>
          <p:nvPr/>
        </p:nvSpPr>
        <p:spPr>
          <a:xfrm>
            <a:off x="5943600" y="2148840"/>
            <a:ext cx="2606040" cy="73152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runs, 229.29 H100-hours</a:t>
            </a:r>
            <a:endParaRPr lang="en-US" sz="1350" dirty="0"/>
          </a:p>
        </p:txBody>
      </p:sp>
      <p:sp>
        <p:nvSpPr>
          <p:cNvPr id="7" name="Stat card 2"/>
          <p:cNvSpPr/>
          <p:nvPr/>
        </p:nvSpPr>
        <p:spPr>
          <a:xfrm>
            <a:off x="5760720" y="3017520"/>
            <a:ext cx="2926080" cy="1554480"/>
          </a:xfrm>
          <a:prstGeom prst="roundRect">
            <a:avLst>
              <a:gd name="adj" fmla="val 4118"/>
            </a:avLst>
          </a:prstGeom>
          <a:solidFill>
            <a:srgbClr val="EAF1F4"/>
          </a:solidFill>
          <a:ln/>
        </p:spPr>
      </p:sp>
      <p:sp>
        <p:nvSpPr>
          <p:cNvPr id="8" name="Text 5"/>
          <p:cNvSpPr txBox="1"/>
          <p:nvPr/>
        </p:nvSpPr>
        <p:spPr>
          <a:xfrm>
            <a:off x="5943600" y="3108960"/>
            <a:ext cx="2560320" cy="640080"/>
          </a:xfrm>
          <a:prstGeom prst="rect">
            <a:avLst/>
          </a:prstGeom>
          <a:noFill/>
          <a:ln/>
        </p:spPr>
        <p:txBody>
          <a:bodyPr wrap="square" lIns="0" tIns="0" rIns="0" bIns="0" rtlCol="0" anchor="t"/>
          <a:lstStyle/>
          <a:p>
            <a:pPr indent="0" marL="0">
              <a:buNone/>
            </a:pPr>
            <a:r>
              <a:rPr lang="en-US" sz="3400" b="1" dirty="0">
                <a:solidFill>
                  <a:srgbClr val="1B7F8C"/>
                </a:solidFill>
                <a:latin typeface="Calibri" pitchFamily="34" charset="0"/>
                <a:ea typeface="Calibri" pitchFamily="34" charset="-122"/>
                <a:cs typeface="Calibri" pitchFamily="34" charset="-120"/>
              </a:rPr>
              <a:t>75.20</a:t>
            </a:r>
            <a:endParaRPr lang="en-US" sz="3400" dirty="0"/>
          </a:p>
        </p:txBody>
      </p:sp>
      <p:sp>
        <p:nvSpPr>
          <p:cNvPr id="9" name="Text 6"/>
          <p:cNvSpPr txBox="1"/>
          <p:nvPr/>
        </p:nvSpPr>
        <p:spPr>
          <a:xfrm>
            <a:off x="5943600" y="3794760"/>
            <a:ext cx="2606040" cy="73152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released no-aux checkpoint, not the logged 74.15</a:t>
            </a:r>
            <a:endParaRPr lang="en-US" sz="1350" dirty="0"/>
          </a:p>
        </p:txBody>
      </p:sp>
      <p:sp>
        <p:nvSpPr>
          <p:cNvPr id="10" name="Stat card 3"/>
          <p:cNvSpPr/>
          <p:nvPr/>
        </p:nvSpPr>
        <p:spPr>
          <a:xfrm>
            <a:off x="5760720" y="4663440"/>
            <a:ext cx="2926080" cy="1554480"/>
          </a:xfrm>
          <a:prstGeom prst="roundRect">
            <a:avLst>
              <a:gd name="adj" fmla="val 4118"/>
            </a:avLst>
          </a:prstGeom>
          <a:solidFill>
            <a:srgbClr val="EAF1F4"/>
          </a:solidFill>
          <a:ln/>
        </p:spPr>
      </p:sp>
      <p:sp>
        <p:nvSpPr>
          <p:cNvPr id="11" name="Text 8"/>
          <p:cNvSpPr txBox="1"/>
          <p:nvPr/>
        </p:nvSpPr>
        <p:spPr>
          <a:xfrm>
            <a:off x="5943600" y="4754880"/>
            <a:ext cx="2560320" cy="640080"/>
          </a:xfrm>
          <a:prstGeom prst="rect">
            <a:avLst/>
          </a:prstGeom>
          <a:noFill/>
          <a:ln/>
        </p:spPr>
        <p:txBody>
          <a:bodyPr wrap="square" lIns="0" tIns="0" rIns="0" bIns="0" rtlCol="0" anchor="t"/>
          <a:lstStyle/>
          <a:p>
            <a:pPr indent="0" marL="0">
              <a:buNone/>
            </a:pPr>
            <a:r>
              <a:rPr lang="en-US" sz="3400" b="1" dirty="0">
                <a:solidFill>
                  <a:srgbClr val="C8553D"/>
                </a:solidFill>
                <a:latin typeface="Calibri" pitchFamily="34" charset="0"/>
                <a:ea typeface="Calibri" pitchFamily="34" charset="-122"/>
                <a:cs typeface="Calibri" pitchFamily="34" charset="-120"/>
              </a:rPr>
              <a:t>+3.91</a:t>
            </a:r>
            <a:endParaRPr lang="en-US" sz="3400" dirty="0"/>
          </a:p>
        </p:txBody>
      </p:sp>
      <p:sp>
        <p:nvSpPr>
          <p:cNvPr id="12" name="Text 9"/>
          <p:cNvSpPr txBox="1"/>
          <p:nvPr/>
        </p:nvSpPr>
        <p:spPr>
          <a:xfrm>
            <a:off x="5943600" y="5440680"/>
            <a:ext cx="2606040" cy="731520"/>
          </a:xfrm>
          <a:prstGeom prst="rect">
            <a:avLst/>
          </a:prstGeom>
          <a:noFill/>
          <a:ln/>
        </p:spPr>
        <p:txBody>
          <a:bodyPr wrap="square" lIns="0" tIns="0" rIns="0" bIns="0" rtlCol="0" anchor="t"/>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minor-project margin over Swin: one-seed baseline, test-split selection</a:t>
            </a:r>
            <a:endParaRPr lang="en-US" sz="135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Literature Review</a:t>
            </a:r>
            <a:endParaRPr lang="en-US" sz="3200" dirty="0"/>
          </a:p>
        </p:txBody>
      </p:sp>
      <p:sp>
        <p:nvSpPr>
          <p:cNvPr id="3" name="Theme card Token merging and pruning"/>
          <p:cNvSpPr/>
          <p:nvPr/>
        </p:nvSpPr>
        <p:spPr>
          <a:xfrm>
            <a:off x="457200" y="1371600"/>
            <a:ext cx="4023360" cy="1097280"/>
          </a:xfrm>
          <a:prstGeom prst="roundRect">
            <a:avLst>
              <a:gd name="adj" fmla="val 5833"/>
            </a:avLst>
          </a:prstGeom>
          <a:solidFill>
            <a:srgbClr val="EAF1F4"/>
          </a:solidFill>
          <a:ln/>
        </p:spPr>
      </p:sp>
      <p:sp>
        <p:nvSpPr>
          <p:cNvPr id="4" name="Text 2"/>
          <p:cNvSpPr txBox="1"/>
          <p:nvPr/>
        </p:nvSpPr>
        <p:spPr>
          <a:xfrm>
            <a:off x="566928" y="1536192"/>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5</a:t>
            </a:r>
            <a:endParaRPr lang="en-US" sz="3800" dirty="0"/>
          </a:p>
        </p:txBody>
      </p:sp>
      <p:sp>
        <p:nvSpPr>
          <p:cNvPr id="5" name="Text 3"/>
          <p:cNvSpPr txBox="1"/>
          <p:nvPr/>
        </p:nvSpPr>
        <p:spPr>
          <a:xfrm>
            <a:off x="1371600" y="1444752"/>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Token merging and pruning</a:t>
            </a:r>
            <a:endParaRPr lang="en-US" sz="1500" dirty="0"/>
          </a:p>
        </p:txBody>
      </p:sp>
      <p:sp>
        <p:nvSpPr>
          <p:cNvPr id="6" name="Text 4"/>
          <p:cNvSpPr txBox="1"/>
          <p:nvPr/>
        </p:nvSpPr>
        <p:spPr>
          <a:xfrm>
            <a:off x="1371600" y="1737360"/>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Frequency-aware, saliency-driven, calibrated merging; SPOT; LTM</a:t>
            </a:r>
            <a:endParaRPr lang="en-US" sz="1200" dirty="0"/>
          </a:p>
        </p:txBody>
      </p:sp>
      <p:sp>
        <p:nvSpPr>
          <p:cNvPr id="7" name="Text 5"/>
          <p:cNvSpPr txBox="1"/>
          <p:nvPr/>
        </p:nvSpPr>
        <p:spPr>
          <a:xfrm>
            <a:off x="1371600" y="2194560"/>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Efficiency framing, inference time</a:t>
            </a:r>
            <a:endParaRPr lang="en-US" sz="1200" dirty="0"/>
          </a:p>
        </p:txBody>
      </p:sp>
      <p:sp>
        <p:nvSpPr>
          <p:cNvPr id="8" name="Theme card Adaptive and hierarchical tokens"/>
          <p:cNvSpPr/>
          <p:nvPr/>
        </p:nvSpPr>
        <p:spPr>
          <a:xfrm>
            <a:off x="4663440" y="1371600"/>
            <a:ext cx="4023360" cy="1097280"/>
          </a:xfrm>
          <a:prstGeom prst="roundRect">
            <a:avLst>
              <a:gd name="adj" fmla="val 5833"/>
            </a:avLst>
          </a:prstGeom>
          <a:solidFill>
            <a:srgbClr val="EAF1F4"/>
          </a:solidFill>
          <a:ln/>
        </p:spPr>
      </p:sp>
      <p:sp>
        <p:nvSpPr>
          <p:cNvPr id="9" name="Text 7"/>
          <p:cNvSpPr txBox="1"/>
          <p:nvPr/>
        </p:nvSpPr>
        <p:spPr>
          <a:xfrm>
            <a:off x="4773168" y="1536192"/>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4</a:t>
            </a:r>
            <a:endParaRPr lang="en-US" sz="3800" dirty="0"/>
          </a:p>
        </p:txBody>
      </p:sp>
      <p:sp>
        <p:nvSpPr>
          <p:cNvPr id="10" name="Text 8"/>
          <p:cNvSpPr txBox="1"/>
          <p:nvPr/>
        </p:nvSpPr>
        <p:spPr>
          <a:xfrm>
            <a:off x="5577840" y="1444752"/>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Adaptive and hierarchical tokens</a:t>
            </a:r>
            <a:endParaRPr lang="en-US" sz="1500" dirty="0"/>
          </a:p>
        </p:txBody>
      </p:sp>
      <p:sp>
        <p:nvSpPr>
          <p:cNvPr id="11" name="Text 9"/>
          <p:cNvSpPr txBox="1"/>
          <p:nvPr/>
        </p:nvSpPr>
        <p:spPr>
          <a:xfrm>
            <a:off x="5577840" y="1737360"/>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Stepwise patch merging, DART, adaptive-length tokens, CoSwin</a:t>
            </a:r>
            <a:endParaRPr lang="en-US" sz="1200" dirty="0"/>
          </a:p>
        </p:txBody>
      </p:sp>
      <p:sp>
        <p:nvSpPr>
          <p:cNvPr id="12" name="Text 10"/>
          <p:cNvSpPr txBox="1"/>
          <p:nvPr/>
        </p:nvSpPr>
        <p:spPr>
          <a:xfrm>
            <a:off x="5577840" y="2194560"/>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Content-adaptive structure; small data</a:t>
            </a:r>
            <a:endParaRPr lang="en-US" sz="1200" dirty="0"/>
          </a:p>
        </p:txBody>
      </p:sp>
      <p:sp>
        <p:nvSpPr>
          <p:cNvPr id="13" name="Theme card Extra tokens and registers"/>
          <p:cNvSpPr/>
          <p:nvPr/>
        </p:nvSpPr>
        <p:spPr>
          <a:xfrm>
            <a:off x="457200" y="2587752"/>
            <a:ext cx="4023360" cy="1097280"/>
          </a:xfrm>
          <a:prstGeom prst="roundRect">
            <a:avLst>
              <a:gd name="adj" fmla="val 5833"/>
            </a:avLst>
          </a:prstGeom>
          <a:solidFill>
            <a:srgbClr val="1B7F8C"/>
          </a:solidFill>
          <a:ln/>
        </p:spPr>
      </p:sp>
      <p:sp>
        <p:nvSpPr>
          <p:cNvPr id="14" name="Text 12"/>
          <p:cNvSpPr txBox="1"/>
          <p:nvPr/>
        </p:nvSpPr>
        <p:spPr>
          <a:xfrm>
            <a:off x="566928" y="2752344"/>
            <a:ext cx="731520" cy="731520"/>
          </a:xfrm>
          <a:prstGeom prst="rect">
            <a:avLst/>
          </a:prstGeom>
          <a:noFill/>
          <a:ln/>
        </p:spPr>
        <p:txBody>
          <a:bodyPr wrap="square" lIns="0" tIns="0" rIns="0" bIns="0" rtlCol="0" anchor="t"/>
          <a:lstStyle/>
          <a:p>
            <a:pPr algn="ctr" indent="0" marL="0">
              <a:buNone/>
            </a:pPr>
            <a:r>
              <a:rPr lang="en-US" sz="3800" b="1" dirty="0">
                <a:solidFill>
                  <a:srgbClr val="FFFFFF"/>
                </a:solidFill>
                <a:latin typeface="Calibri" pitchFamily="34" charset="0"/>
                <a:ea typeface="Calibri" pitchFamily="34" charset="-122"/>
                <a:cs typeface="Calibri" pitchFamily="34" charset="-120"/>
              </a:rPr>
              <a:t>4</a:t>
            </a:r>
            <a:endParaRPr lang="en-US" sz="3800" dirty="0"/>
          </a:p>
        </p:txBody>
      </p:sp>
      <p:sp>
        <p:nvSpPr>
          <p:cNvPr id="15" name="Text 13"/>
          <p:cNvSpPr txBox="1"/>
          <p:nvPr/>
        </p:nvSpPr>
        <p:spPr>
          <a:xfrm>
            <a:off x="1371600" y="2660904"/>
            <a:ext cx="301752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Extra tokens and registers</a:t>
            </a:r>
            <a:endParaRPr lang="en-US" sz="1500" dirty="0"/>
          </a:p>
        </p:txBody>
      </p:sp>
      <p:sp>
        <p:nvSpPr>
          <p:cNvPr id="16" name="Text 14"/>
          <p:cNvSpPr txBox="1"/>
          <p:nvPr/>
        </p:nvSpPr>
        <p:spPr>
          <a:xfrm>
            <a:off x="1371600" y="2953512"/>
            <a:ext cx="3017520" cy="457200"/>
          </a:xfrm>
          <a:prstGeom prst="rect">
            <a:avLst/>
          </a:prstGeom>
          <a:noFill/>
          <a:ln/>
        </p:spPr>
        <p:txBody>
          <a:bodyPr wrap="square" lIns="0" tIns="0" rIns="0" bIns="0" rtlCol="0" anchor="t"/>
          <a:lstStyle/>
          <a:p>
            <a:pPr indent="0" marL="0">
              <a:buNone/>
            </a:pPr>
            <a:r>
              <a:rPr lang="en-US" sz="1200" dirty="0">
                <a:solidFill>
                  <a:srgbClr val="FFFFFF"/>
                </a:solidFill>
                <a:latin typeface="Times New Roman" pitchFamily="34" charset="0"/>
                <a:ea typeface="Times New Roman" pitchFamily="34" charset="-122"/>
                <a:cs typeface="Times New Roman" pitchFamily="34" charset="-120"/>
              </a:rPr>
              <a:t>Training-free and self-distilled registers, [CLS] decoupling, extra tokens</a:t>
            </a:r>
            <a:endParaRPr lang="en-US" sz="1200" dirty="0"/>
          </a:p>
        </p:txBody>
      </p:sp>
      <p:sp>
        <p:nvSpPr>
          <p:cNvPr id="17" name="Text 15"/>
          <p:cNvSpPr txBox="1"/>
          <p:nvPr/>
        </p:nvSpPr>
        <p:spPr>
          <a:xfrm>
            <a:off x="1371600" y="3410712"/>
            <a:ext cx="3017520" cy="228600"/>
          </a:xfrm>
          <a:prstGeom prst="rect">
            <a:avLst/>
          </a:prstGeom>
          <a:noFill/>
          <a:ln/>
        </p:spPr>
        <p:txBody>
          <a:bodyPr wrap="square" lIns="0" tIns="0" rIns="0" bIns="0" rtlCol="0" anchor="t"/>
          <a:lstStyle/>
          <a:p>
            <a:pPr indent="0" marL="0">
              <a:buNone/>
            </a:pPr>
            <a:r>
              <a:rPr lang="en-US" sz="1200" i="1" dirty="0">
                <a:solidFill>
                  <a:srgbClr val="FFFFFF"/>
                </a:solidFill>
                <a:latin typeface="Times New Roman" pitchFamily="34" charset="0"/>
                <a:ea typeface="Times New Roman" pitchFamily="34" charset="-122"/>
                <a:cs typeface="Times New Roman" pitchFamily="34" charset="-120"/>
              </a:rPr>
              <a:t>The control missing from the minor project</a:t>
            </a:r>
            <a:endParaRPr lang="en-US" sz="1200" dirty="0"/>
          </a:p>
        </p:txBody>
      </p:sp>
      <p:sp>
        <p:nvSpPr>
          <p:cNvPr id="18" name="Theme card Object-centric and slots"/>
          <p:cNvSpPr/>
          <p:nvPr/>
        </p:nvSpPr>
        <p:spPr>
          <a:xfrm>
            <a:off x="4663440" y="2587752"/>
            <a:ext cx="4023360" cy="1097280"/>
          </a:xfrm>
          <a:prstGeom prst="roundRect">
            <a:avLst>
              <a:gd name="adj" fmla="val 5833"/>
            </a:avLst>
          </a:prstGeom>
          <a:solidFill>
            <a:srgbClr val="EAF1F4"/>
          </a:solidFill>
          <a:ln/>
        </p:spPr>
      </p:sp>
      <p:sp>
        <p:nvSpPr>
          <p:cNvPr id="19" name="Text 17"/>
          <p:cNvSpPr txBox="1"/>
          <p:nvPr/>
        </p:nvSpPr>
        <p:spPr>
          <a:xfrm>
            <a:off x="4773168" y="2752344"/>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3</a:t>
            </a:r>
            <a:endParaRPr lang="en-US" sz="3800" dirty="0"/>
          </a:p>
        </p:txBody>
      </p:sp>
      <p:sp>
        <p:nvSpPr>
          <p:cNvPr id="20" name="Text 18"/>
          <p:cNvSpPr txBox="1"/>
          <p:nvPr/>
        </p:nvSpPr>
        <p:spPr>
          <a:xfrm>
            <a:off x="5577840" y="2660904"/>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Object-centric and slots</a:t>
            </a:r>
            <a:endParaRPr lang="en-US" sz="1500" dirty="0"/>
          </a:p>
        </p:txBody>
      </p:sp>
      <p:sp>
        <p:nvSpPr>
          <p:cNvPr id="21" name="Text 19"/>
          <p:cNvSpPr txBox="1"/>
          <p:nvPr/>
        </p:nvSpPr>
        <p:spPr>
          <a:xfrm>
            <a:off x="5577840" y="2953512"/>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Target-encoder bootstrapping, GLASS, SlotAdapt</a:t>
            </a:r>
            <a:endParaRPr lang="en-US" sz="1200" dirty="0"/>
          </a:p>
        </p:txBody>
      </p:sp>
      <p:sp>
        <p:nvSpPr>
          <p:cNvPr id="22" name="Text 20"/>
          <p:cNvSpPr txBox="1"/>
          <p:nvPr/>
        </p:nvSpPr>
        <p:spPr>
          <a:xfrm>
            <a:off x="5577840" y="3410712"/>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Reconstruction-based, not label-only</a:t>
            </a:r>
            <a:endParaRPr lang="en-US" sz="1200" dirty="0"/>
          </a:p>
        </p:txBody>
      </p:sp>
      <p:sp>
        <p:nvSpPr>
          <p:cNvPr id="23" name="Theme card Dense features and regions"/>
          <p:cNvSpPr/>
          <p:nvPr/>
        </p:nvSpPr>
        <p:spPr>
          <a:xfrm>
            <a:off x="457200" y="3803904"/>
            <a:ext cx="4023360" cy="1097280"/>
          </a:xfrm>
          <a:prstGeom prst="roundRect">
            <a:avLst>
              <a:gd name="adj" fmla="val 5833"/>
            </a:avLst>
          </a:prstGeom>
          <a:solidFill>
            <a:srgbClr val="EAF1F4"/>
          </a:solidFill>
          <a:ln/>
        </p:spPr>
      </p:sp>
      <p:sp>
        <p:nvSpPr>
          <p:cNvPr id="24" name="Text 22"/>
          <p:cNvSpPr txBox="1"/>
          <p:nvPr/>
        </p:nvSpPr>
        <p:spPr>
          <a:xfrm>
            <a:off x="566928" y="3968496"/>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2</a:t>
            </a:r>
            <a:endParaRPr lang="en-US" sz="3800" dirty="0"/>
          </a:p>
        </p:txBody>
      </p:sp>
      <p:sp>
        <p:nvSpPr>
          <p:cNvPr id="25" name="Text 23"/>
          <p:cNvSpPr txBox="1"/>
          <p:nvPr/>
        </p:nvSpPr>
        <p:spPr>
          <a:xfrm>
            <a:off x="1371600" y="3877056"/>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Dense features and regions</a:t>
            </a:r>
            <a:endParaRPr lang="en-US" sz="1500" dirty="0"/>
          </a:p>
        </p:txBody>
      </p:sp>
      <p:sp>
        <p:nvSpPr>
          <p:cNvPr id="26" name="Text 24"/>
          <p:cNvSpPr txBox="1"/>
          <p:nvPr/>
        </p:nvSpPr>
        <p:spPr>
          <a:xfrm>
            <a:off x="1371600" y="4169664"/>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DINOv3, Object DINO</a:t>
            </a:r>
            <a:endParaRPr lang="en-US" sz="1200" dirty="0"/>
          </a:p>
        </p:txBody>
      </p:sp>
      <p:sp>
        <p:nvSpPr>
          <p:cNvPr id="27" name="Text 25"/>
          <p:cNvSpPr txBox="1"/>
          <p:nvPr/>
        </p:nvSpPr>
        <p:spPr>
          <a:xfrm>
            <a:off x="1371600" y="4626864"/>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Region quality is protocol-sensitive</a:t>
            </a:r>
            <a:endParaRPr lang="en-US" sz="1200" dirty="0"/>
          </a:p>
        </p:txBody>
      </p:sp>
      <p:sp>
        <p:nvSpPr>
          <p:cNvPr id="28" name="Theme card Evaluation rigour"/>
          <p:cNvSpPr/>
          <p:nvPr/>
        </p:nvSpPr>
        <p:spPr>
          <a:xfrm>
            <a:off x="4663440" y="3803904"/>
            <a:ext cx="4023360" cy="1097280"/>
          </a:xfrm>
          <a:prstGeom prst="roundRect">
            <a:avLst>
              <a:gd name="adj" fmla="val 5833"/>
            </a:avLst>
          </a:prstGeom>
          <a:solidFill>
            <a:srgbClr val="EAF1F4"/>
          </a:solidFill>
          <a:ln/>
        </p:spPr>
      </p:sp>
      <p:sp>
        <p:nvSpPr>
          <p:cNvPr id="29" name="Text 27"/>
          <p:cNvSpPr txBox="1"/>
          <p:nvPr/>
        </p:nvSpPr>
        <p:spPr>
          <a:xfrm>
            <a:off x="4773168" y="3968496"/>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3</a:t>
            </a:r>
            <a:endParaRPr lang="en-US" sz="3800" dirty="0"/>
          </a:p>
        </p:txBody>
      </p:sp>
      <p:sp>
        <p:nvSpPr>
          <p:cNvPr id="30" name="Text 28"/>
          <p:cNvSpPr txBox="1"/>
          <p:nvPr/>
        </p:nvSpPr>
        <p:spPr>
          <a:xfrm>
            <a:off x="5577840" y="3877056"/>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Evaluation rigour</a:t>
            </a:r>
            <a:endParaRPr lang="en-US" sz="1500" dirty="0"/>
          </a:p>
        </p:txBody>
      </p:sp>
      <p:sp>
        <p:nvSpPr>
          <p:cNvPr id="31" name="Text 29"/>
          <p:cNvSpPr txBox="1"/>
          <p:nvPr/>
        </p:nvSpPr>
        <p:spPr>
          <a:xfrm>
            <a:off x="5577840" y="4169664"/>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Matched-tuning optimizer study, hyper-parameter-free learning, LM reasoning audit</a:t>
            </a:r>
            <a:endParaRPr lang="en-US" sz="1200" dirty="0"/>
          </a:p>
        </p:txBody>
      </p:sp>
      <p:sp>
        <p:nvSpPr>
          <p:cNvPr id="32" name="Text 30"/>
          <p:cNvSpPr txBox="1"/>
          <p:nvPr/>
        </p:nvSpPr>
        <p:spPr>
          <a:xfrm>
            <a:off x="5577840" y="4626864"/>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Tuning, variance, transparency</a:t>
            </a:r>
            <a:endParaRPr lang="en-US" sz="1200" dirty="0"/>
          </a:p>
        </p:txBody>
      </p:sp>
      <p:sp>
        <p:nvSpPr>
          <p:cNvPr id="33" name="Theme card Causal emergence"/>
          <p:cNvSpPr/>
          <p:nvPr/>
        </p:nvSpPr>
        <p:spPr>
          <a:xfrm>
            <a:off x="457200" y="5020056"/>
            <a:ext cx="4023360" cy="1097280"/>
          </a:xfrm>
          <a:prstGeom prst="roundRect">
            <a:avLst>
              <a:gd name="adj" fmla="val 5833"/>
            </a:avLst>
          </a:prstGeom>
          <a:solidFill>
            <a:srgbClr val="EAF1F4"/>
          </a:solidFill>
          <a:ln/>
        </p:spPr>
      </p:sp>
      <p:sp>
        <p:nvSpPr>
          <p:cNvPr id="34" name="Text 32"/>
          <p:cNvSpPr txBox="1"/>
          <p:nvPr/>
        </p:nvSpPr>
        <p:spPr>
          <a:xfrm>
            <a:off x="566928" y="5184648"/>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2</a:t>
            </a:r>
            <a:endParaRPr lang="en-US" sz="3800" dirty="0"/>
          </a:p>
        </p:txBody>
      </p:sp>
      <p:sp>
        <p:nvSpPr>
          <p:cNvPr id="35" name="Text 33"/>
          <p:cNvSpPr txBox="1"/>
          <p:nvPr/>
        </p:nvSpPr>
        <p:spPr>
          <a:xfrm>
            <a:off x="1371600" y="5093208"/>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Causal emergence</a:t>
            </a:r>
            <a:endParaRPr lang="en-US" sz="1500" dirty="0"/>
          </a:p>
        </p:txBody>
      </p:sp>
      <p:sp>
        <p:nvSpPr>
          <p:cNvPr id="36" name="Text 34"/>
          <p:cNvSpPr txBox="1"/>
          <p:nvPr/>
        </p:nvSpPr>
        <p:spPr>
          <a:xfrm>
            <a:off x="1371600" y="5385816"/>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Causal emergence 2.0, SVD reversibility</a:t>
            </a:r>
            <a:endParaRPr lang="en-US" sz="1200" dirty="0"/>
          </a:p>
        </p:txBody>
      </p:sp>
      <p:sp>
        <p:nvSpPr>
          <p:cNvPr id="37" name="Text 35"/>
          <p:cNvSpPr txBox="1"/>
          <p:nvPr/>
        </p:nvSpPr>
        <p:spPr>
          <a:xfrm>
            <a:off x="1371600" y="5843016"/>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Original motivation, not operationalised</a:t>
            </a:r>
            <a:endParaRPr lang="en-US" sz="1200" dirty="0"/>
          </a:p>
        </p:txBody>
      </p:sp>
      <p:sp>
        <p:nvSpPr>
          <p:cNvPr id="38" name="Theme card Own prior work"/>
          <p:cNvSpPr/>
          <p:nvPr/>
        </p:nvSpPr>
        <p:spPr>
          <a:xfrm>
            <a:off x="4663440" y="5020056"/>
            <a:ext cx="4023360" cy="1097280"/>
          </a:xfrm>
          <a:prstGeom prst="roundRect">
            <a:avLst>
              <a:gd name="adj" fmla="val 5833"/>
            </a:avLst>
          </a:prstGeom>
          <a:solidFill>
            <a:srgbClr val="EAF1F4"/>
          </a:solidFill>
          <a:ln/>
        </p:spPr>
      </p:sp>
      <p:sp>
        <p:nvSpPr>
          <p:cNvPr id="39" name="Text 37"/>
          <p:cNvSpPr txBox="1"/>
          <p:nvPr/>
        </p:nvSpPr>
        <p:spPr>
          <a:xfrm>
            <a:off x="4773168" y="5184648"/>
            <a:ext cx="731520" cy="731520"/>
          </a:xfrm>
          <a:prstGeom prst="rect">
            <a:avLst/>
          </a:prstGeom>
          <a:noFill/>
          <a:ln/>
        </p:spPr>
        <p:txBody>
          <a:bodyPr wrap="square" lIns="0" tIns="0" rIns="0" bIns="0" rtlCol="0" anchor="t"/>
          <a:lstStyle/>
          <a:p>
            <a:pPr algn="ctr" indent="0" marL="0">
              <a:buNone/>
            </a:pPr>
            <a:r>
              <a:rPr lang="en-US" sz="3800" b="1" dirty="0">
                <a:solidFill>
                  <a:srgbClr val="1B7F8C"/>
                </a:solidFill>
                <a:latin typeface="Calibri" pitchFamily="34" charset="0"/>
                <a:ea typeface="Calibri" pitchFamily="34" charset="-122"/>
                <a:cs typeface="Calibri" pitchFamily="34" charset="-120"/>
              </a:rPr>
              <a:t>2</a:t>
            </a:r>
            <a:endParaRPr lang="en-US" sz="3800" dirty="0"/>
          </a:p>
        </p:txBody>
      </p:sp>
      <p:sp>
        <p:nvSpPr>
          <p:cNvPr id="40" name="Text 38"/>
          <p:cNvSpPr txBox="1"/>
          <p:nvPr/>
        </p:nvSpPr>
        <p:spPr>
          <a:xfrm>
            <a:off x="5577840" y="5093208"/>
            <a:ext cx="3017520" cy="274320"/>
          </a:xfrm>
          <a:prstGeom prst="rect">
            <a:avLst/>
          </a:prstGeom>
          <a:noFill/>
          <a:ln/>
        </p:spPr>
        <p:txBody>
          <a:bodyPr wrap="square" lIns="0" tIns="0" rIns="0" bIns="0" rtlCol="0" anchor="t"/>
          <a:lstStyle/>
          <a:p>
            <a:pPr indent="0" marL="0">
              <a:buNone/>
            </a:pPr>
            <a:r>
              <a:rPr lang="en-US" sz="1500" b="1" dirty="0">
                <a:solidFill>
                  <a:srgbClr val="0F2A3D"/>
                </a:solidFill>
                <a:latin typeface="Calibri" pitchFamily="34" charset="0"/>
                <a:ea typeface="Calibri" pitchFamily="34" charset="-122"/>
                <a:cs typeface="Calibri" pitchFamily="34" charset="-120"/>
              </a:rPr>
              <a:t>Own prior work</a:t>
            </a:r>
            <a:endParaRPr lang="en-US" sz="1500" dirty="0"/>
          </a:p>
        </p:txBody>
      </p:sp>
      <p:sp>
        <p:nvSpPr>
          <p:cNvPr id="41" name="Text 39"/>
          <p:cNvSpPr txBox="1"/>
          <p:nvPr/>
        </p:nvSpPr>
        <p:spPr>
          <a:xfrm>
            <a:off x="5577840" y="5385816"/>
            <a:ext cx="3017520" cy="457200"/>
          </a:xfrm>
          <a:prstGeom prst="rect">
            <a:avLst/>
          </a:prstGeom>
          <a:noFill/>
          <a:ln/>
        </p:spPr>
        <p:txBody>
          <a:bodyPr wrap="square" lIns="0" tIns="0" rIns="0" bIns="0" rtlCol="0" anchor="t"/>
          <a:lstStyle/>
          <a:p>
            <a:pPr indent="0" marL="0">
              <a:buNone/>
            </a:pPr>
            <a:r>
              <a:rPr lang="en-US" sz="1200" dirty="0">
                <a:solidFill>
                  <a:srgbClr val="5B6B77"/>
                </a:solidFill>
                <a:latin typeface="Times New Roman" pitchFamily="34" charset="0"/>
                <a:ea typeface="Times New Roman" pitchFamily="34" charset="-122"/>
                <a:cs typeface="Times New Roman" pitchFamily="34" charset="-120"/>
              </a:rPr>
              <a:t>CET-ViT paper, compute-matched audit</a:t>
            </a:r>
            <a:endParaRPr lang="en-US" sz="1200" dirty="0"/>
          </a:p>
        </p:txBody>
      </p:sp>
      <p:sp>
        <p:nvSpPr>
          <p:cNvPr id="42" name="Text 40"/>
          <p:cNvSpPr txBox="1"/>
          <p:nvPr/>
        </p:nvSpPr>
        <p:spPr>
          <a:xfrm>
            <a:off x="5577840" y="5843016"/>
            <a:ext cx="3017520" cy="228600"/>
          </a:xfrm>
          <a:prstGeom prst="rect">
            <a:avLst/>
          </a:prstGeom>
          <a:noFill/>
          <a:ln/>
        </p:spPr>
        <p:txBody>
          <a:bodyPr wrap="square" lIns="0" tIns="0" rIns="0" bIns="0" rtlCol="0" anchor="t"/>
          <a:lstStyle/>
          <a:p>
            <a:pPr indent="0" marL="0">
              <a:buNone/>
            </a:pPr>
            <a:r>
              <a:rPr lang="en-US" sz="1200" i="1" dirty="0">
                <a:solidFill>
                  <a:srgbClr val="1A1A1A"/>
                </a:solidFill>
                <a:latin typeface="Times New Roman" pitchFamily="34" charset="0"/>
                <a:ea typeface="Times New Roman" pitchFamily="34" charset="-122"/>
                <a:cs typeface="Times New Roman" pitchFamily="34" charset="-120"/>
              </a:rPr>
              <a:t>Starting point and its limits</a:t>
            </a:r>
            <a:endParaRPr lang="en-US" sz="12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Survey I: Token Merging and Pruning</a:t>
            </a:r>
            <a:endParaRPr lang="en-US" sz="3200" dirty="0"/>
          </a:p>
        </p:txBody>
      </p:sp>
      <p:graphicFrame>
        <p:nvGraphicFramePr>
          <p:cNvPr id="7" name="Literature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651760"/>
                <a:gridCol w="283464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Work (venue, year)</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 gap for this project</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 Lee et al., Frequency-aware token reduction (NeurIPS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Frequency-aware pruning and merging of ViT tokens.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Efficiency-only; no capacity control; not from-scratch small images.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 Xie et al., Saliency-driven token merging (CVPR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Training-free merging guided by attention plus saliency.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Inference-time and training-free; no learned grouping.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[3] Zhou et al., Calibrated scaling for token merging (ICML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Corrects distribution shift caused by token merging.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Merging fails at high compression; our design keeps all tokens.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[4] Schlesinger et al., SPOT (CVPR 2026 Findings)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Early attention-guided token pruning.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Irreversible pruning; efficiency, not representation.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[5] Wang &amp; Yang, LTM-Transformer (IEEE TPAMI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Learned token merging with an information-bottleneck loss.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No usable public code; our two re-implementations diverged.</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Survey II: Adaptive Tokenization and Slots</a:t>
            </a:r>
            <a:endParaRPr lang="en-US" sz="3200" dirty="0"/>
          </a:p>
        </p:txBody>
      </p:sp>
      <p:graphicFrame>
        <p:nvGraphicFramePr>
          <p:cNvPr id="8" name="Literature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651760"/>
                <a:gridCol w="283464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Work (venue, year)</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 gap for this project</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[6] Yu et al., Stepwise patch merging (IJCAI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Improved patch merging for hierarchical ViTs.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Designed schedule, not content-driven grouping.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[7] Yin et al., DART (arXiv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Differentiable content-adaptive region tokenizer.</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Acts at the input; no capacity-matched comparison.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[8] Duggal et al., Adaptive-length tokenization (ICLR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Variable-length image tokens via recurrent allocation.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Tokenizer setting; our dynamic-K claim did not verify.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[9] Khadka et al., CoSwin (arXiv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Convolution-enhanced hierarchical Swin for small data.</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Same regime; hand-designed prior; baseline candidate.</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[14] Dukic et al., Target-encoder bootstrapping (ICLR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Bootstraps targets for slot-attention pretraining.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Reconstruction-based; not label-only classification training.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70408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[15] Singh et al., GLASS (CVPR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Guided latent slot diffusion for real images.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Heavy generative decoder; different goal.</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Survey III: Extra Tokens and Registers</a:t>
            </a:r>
            <a:endParaRPr lang="en-US" sz="3200" dirty="0"/>
          </a:p>
        </p:txBody>
      </p:sp>
      <p:graphicFrame>
        <p:nvGraphicFramePr>
          <p:cNvPr id="9" name="Literature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651760"/>
                <a:gridCol w="283464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Work (venue, year)</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 gap for this project</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[10] Jiang et al., ViTs don't need trained registers (NeurIPS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Training-free removal of high-norm outlier tokens.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Register effects need a mechanistic reading for arm R.</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[11] Yan et al., Self-distilled registers (NeurIPS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Adds register tokens to pretrained ViTs by self-distillation.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Large pretrained ViTs, not from-scratch hierarchies.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[12] Lappe &amp; Giese, Register and [CLS] tokens (NeurIPS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Registers and [CLS] decouple local and global features.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Extra tokens alter routing; not separated from learned routing.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[13] Tang &amp; Qi, The extra tokens matter (ICML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Turns extra tokens into disentangled part-like factor tokens.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Parts from extra tokens, not routed grouping; no matched comparison.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[16] Akan, Slots in real-world scenarios (arXiv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Slot adapters plus a register token for diffusion models.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Register token beside slots; supports our register control.</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Survey IV: Regions and Evaluation Rigour</a:t>
            </a:r>
            <a:endParaRPr lang="en-US" sz="32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651760"/>
                <a:gridCol w="283464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Work (venue, year)</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 gap for this project</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[17] Simeoni et al., DINOv3 (arXiv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Scaled self-supervised model with Gram-anchored dense features.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Scale beyond us; frozen reference only.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[18] Rawlekar et al., Object DINO (CVPR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Cleaner object maps from self-supervised ViTs.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Localisation is protocol-sensitive; RO4 fixes the protocol.</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[19] Wen et al., Fantastic pretraining optimizers (ICLR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Matched-tuning benchmark of eleven optimizers.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Same failure as our audit; none for token grouping.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[20] Kasimbeg et al., Hyperparameter-free learning (TMLR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Can training avoid per-workload tuning?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Supports per-arm tuning; shared recipes are weak.</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[21] Hochlehnert et al., A sober look at LM reasoning (COLM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Standardised, statistically grounded evaluation of reasoning.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Other domain, same lesson; supports seeds and registration.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Survey V: Theory and Our Own Work</a:t>
            </a:r>
            <a:endParaRPr lang="en-US" sz="3200" dirty="0"/>
          </a:p>
        </p:txBody>
      </p:sp>
      <p:graphicFrame>
        <p:nvGraphicFramePr>
          <p:cNvPr id="11" name="Literature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2651760"/>
                <a:gridCol w="283464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Work (venue, year)</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 gap for this project</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960120">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[22] Hoel, Causal emergence 2.0 (arXiv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Axiomatic causal emergence for macro and micro scales.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No validated vision implementation; our framing withdrawn.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960120">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[23] Zhang et al., Reversibility and causal emergence via SVD (npj Complexity 2025)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Reversibility and effective information via SVD.</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Our SVD regulariser did not implement it faithfully.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960120">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[24] Das, Sharma &amp; Eliazer M, CET-ViT (IEEE ICSL-DSGA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Our minor project: top-3 routing, 32 slots, 33.12M parameters.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Single-seed baselines; no capacity control; test-split selection.</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960120">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[25] Das, Compute-matched audit (private draft v13,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Compute-matched audit of the minor project (237 runs).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One-seed sweep; one control; small images only.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Research Gaps</a:t>
            </a:r>
            <a:endParaRPr lang="en-US" sz="3200" dirty="0"/>
          </a:p>
        </p:txBody>
      </p:sp>
      <p:sp>
        <p:nvSpPr>
          <p:cNvPr id="3" name="Gap card G1"/>
          <p:cNvSpPr/>
          <p:nvPr/>
        </p:nvSpPr>
        <p:spPr>
          <a:xfrm>
            <a:off x="457200" y="1371600"/>
            <a:ext cx="4023360" cy="1554480"/>
          </a:xfrm>
          <a:prstGeom prst="roundRect">
            <a:avLst>
              <a:gd name="adj" fmla="val 4118"/>
            </a:avLst>
          </a:prstGeom>
          <a:solidFill>
            <a:srgbClr val="FFFFFF"/>
          </a:solidFill>
          <a:ln w="12700">
            <a:solidFill>
              <a:srgbClr val="D3DEE4"/>
            </a:solidFill>
            <a:prstDash val="solid"/>
          </a:ln>
        </p:spPr>
      </p:sp>
      <p:sp>
        <p:nvSpPr>
          <p:cNvPr id="4" name="Gap badge G1"/>
          <p:cNvSpPr/>
          <p:nvPr/>
        </p:nvSpPr>
        <p:spPr>
          <a:xfrm>
            <a:off x="594360" y="1481328"/>
            <a:ext cx="457200" cy="457200"/>
          </a:xfrm>
          <a:prstGeom prst="ellipse">
            <a:avLst/>
          </a:prstGeom>
          <a:solidFill>
            <a:srgbClr val="1B7F8C"/>
          </a:solidFill>
          <a:ln/>
        </p:spPr>
      </p:sp>
      <p:sp>
        <p:nvSpPr>
          <p:cNvPr id="5" name="Gap badge G1 label"/>
          <p:cNvSpPr txBox="1"/>
          <p:nvPr/>
        </p:nvSpPr>
        <p:spPr>
          <a:xfrm>
            <a:off x="594360" y="14813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G1</a:t>
            </a:r>
            <a:endParaRPr lang="en-US" sz="1300" dirty="0"/>
          </a:p>
        </p:txBody>
      </p:sp>
      <p:sp>
        <p:nvSpPr>
          <p:cNvPr id="6" name="Text 4"/>
          <p:cNvSpPr txBox="1"/>
          <p:nvPr/>
        </p:nvSpPr>
        <p:spPr>
          <a:xfrm>
            <a:off x="1188720" y="148132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No capacity-controlled test</a:t>
            </a:r>
            <a:endParaRPr lang="en-US" sz="1500" dirty="0"/>
          </a:p>
        </p:txBody>
      </p:sp>
      <p:sp>
        <p:nvSpPr>
          <p:cNvPr id="7" name="Text 5"/>
          <p:cNvSpPr txBox="1"/>
          <p:nvPr/>
        </p:nvSpPr>
        <p:spPr>
          <a:xfrm>
            <a:off x="621792" y="199339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Register work [10]-[13] shows extra tokens alone change ViTs; papers [1]-[9] do not test against them.</a:t>
            </a:r>
            <a:endParaRPr lang="en-US" sz="1300" dirty="0"/>
          </a:p>
        </p:txBody>
      </p:sp>
      <p:sp>
        <p:nvSpPr>
          <p:cNvPr id="8" name="Objective tag G1"/>
          <p:cNvSpPr/>
          <p:nvPr/>
        </p:nvSpPr>
        <p:spPr>
          <a:xfrm>
            <a:off x="621792" y="2651760"/>
            <a:ext cx="1783080" cy="237744"/>
          </a:xfrm>
          <a:prstGeom prst="roundRect">
            <a:avLst>
              <a:gd name="adj" fmla="val 30769"/>
            </a:avLst>
          </a:prstGeom>
          <a:solidFill>
            <a:srgbClr val="F4A261"/>
          </a:solidFill>
          <a:ln/>
        </p:spPr>
      </p:sp>
      <p:sp>
        <p:nvSpPr>
          <p:cNvPr id="9" name="Text 7"/>
          <p:cNvSpPr txBox="1"/>
          <p:nvPr/>
        </p:nvSpPr>
        <p:spPr>
          <a:xfrm>
            <a:off x="621792" y="265176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RO2</a:t>
            </a:r>
            <a:endParaRPr lang="en-US" sz="1150" dirty="0"/>
          </a:p>
        </p:txBody>
      </p:sp>
      <p:sp>
        <p:nvSpPr>
          <p:cNvPr id="10" name="Gap card G2"/>
          <p:cNvSpPr/>
          <p:nvPr/>
        </p:nvSpPr>
        <p:spPr>
          <a:xfrm>
            <a:off x="4663440" y="1371600"/>
            <a:ext cx="4023360" cy="1554480"/>
          </a:xfrm>
          <a:prstGeom prst="roundRect">
            <a:avLst>
              <a:gd name="adj" fmla="val 4118"/>
            </a:avLst>
          </a:prstGeom>
          <a:solidFill>
            <a:srgbClr val="FFFFFF"/>
          </a:solidFill>
          <a:ln w="12700">
            <a:solidFill>
              <a:srgbClr val="D3DEE4"/>
            </a:solidFill>
            <a:prstDash val="solid"/>
          </a:ln>
        </p:spPr>
      </p:sp>
      <p:sp>
        <p:nvSpPr>
          <p:cNvPr id="11" name="Gap badge G2"/>
          <p:cNvSpPr/>
          <p:nvPr/>
        </p:nvSpPr>
        <p:spPr>
          <a:xfrm>
            <a:off x="4800600" y="1481328"/>
            <a:ext cx="457200" cy="457200"/>
          </a:xfrm>
          <a:prstGeom prst="ellipse">
            <a:avLst/>
          </a:prstGeom>
          <a:solidFill>
            <a:srgbClr val="1B7F8C"/>
          </a:solidFill>
          <a:ln/>
        </p:spPr>
      </p:sp>
      <p:sp>
        <p:nvSpPr>
          <p:cNvPr id="12" name="Gap badge G2 label"/>
          <p:cNvSpPr txBox="1"/>
          <p:nvPr/>
        </p:nvSpPr>
        <p:spPr>
          <a:xfrm>
            <a:off x="4800600" y="14813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G2</a:t>
            </a:r>
            <a:endParaRPr lang="en-US" sz="1300" dirty="0"/>
          </a:p>
        </p:txBody>
      </p:sp>
      <p:sp>
        <p:nvSpPr>
          <p:cNvPr id="13" name="Text 11"/>
          <p:cNvSpPr txBox="1"/>
          <p:nvPr/>
        </p:nvSpPr>
        <p:spPr>
          <a:xfrm>
            <a:off x="5394960" y="148132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Efficiency, not representation</a:t>
            </a:r>
            <a:endParaRPr lang="en-US" sz="1500" dirty="0"/>
          </a:p>
        </p:txBody>
      </p:sp>
      <p:sp>
        <p:nvSpPr>
          <p:cNvPr id="14" name="Text 12"/>
          <p:cNvSpPr txBox="1"/>
          <p:nvPr/>
        </p:nvSpPr>
        <p:spPr>
          <a:xfrm>
            <a:off x="4828032" y="199339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Merging and pruning [1]-[5] act on existing ViTs at inference, not as from-scratch components.</a:t>
            </a:r>
            <a:endParaRPr lang="en-US" sz="1300" dirty="0"/>
          </a:p>
        </p:txBody>
      </p:sp>
      <p:sp>
        <p:nvSpPr>
          <p:cNvPr id="15" name="Objective tag G2"/>
          <p:cNvSpPr/>
          <p:nvPr/>
        </p:nvSpPr>
        <p:spPr>
          <a:xfrm>
            <a:off x="4828032" y="2651760"/>
            <a:ext cx="1783080" cy="237744"/>
          </a:xfrm>
          <a:prstGeom prst="roundRect">
            <a:avLst>
              <a:gd name="adj" fmla="val 30769"/>
            </a:avLst>
          </a:prstGeom>
          <a:solidFill>
            <a:srgbClr val="F4A261"/>
          </a:solidFill>
          <a:ln/>
        </p:spPr>
      </p:sp>
      <p:sp>
        <p:nvSpPr>
          <p:cNvPr id="16" name="Text 14"/>
          <p:cNvSpPr txBox="1"/>
          <p:nvPr/>
        </p:nvSpPr>
        <p:spPr>
          <a:xfrm>
            <a:off x="4828032" y="265176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RO2, RO3</a:t>
            </a:r>
            <a:endParaRPr lang="en-US" sz="1150" dirty="0"/>
          </a:p>
        </p:txBody>
      </p:sp>
      <p:sp>
        <p:nvSpPr>
          <p:cNvPr id="17" name="Gap card G3"/>
          <p:cNvSpPr/>
          <p:nvPr/>
        </p:nvSpPr>
        <p:spPr>
          <a:xfrm>
            <a:off x="457200" y="3017520"/>
            <a:ext cx="4023360" cy="1554480"/>
          </a:xfrm>
          <a:prstGeom prst="roundRect">
            <a:avLst>
              <a:gd name="adj" fmla="val 4118"/>
            </a:avLst>
          </a:prstGeom>
          <a:solidFill>
            <a:srgbClr val="FFFFFF"/>
          </a:solidFill>
          <a:ln w="12700">
            <a:solidFill>
              <a:srgbClr val="D3DEE4"/>
            </a:solidFill>
            <a:prstDash val="solid"/>
          </a:ln>
        </p:spPr>
      </p:sp>
      <p:sp>
        <p:nvSpPr>
          <p:cNvPr id="18" name="Gap badge G3"/>
          <p:cNvSpPr/>
          <p:nvPr/>
        </p:nvSpPr>
        <p:spPr>
          <a:xfrm>
            <a:off x="594360" y="3127248"/>
            <a:ext cx="457200" cy="457200"/>
          </a:xfrm>
          <a:prstGeom prst="ellipse">
            <a:avLst/>
          </a:prstGeom>
          <a:solidFill>
            <a:srgbClr val="1B7F8C"/>
          </a:solidFill>
          <a:ln/>
        </p:spPr>
      </p:sp>
      <p:sp>
        <p:nvSpPr>
          <p:cNvPr id="19" name="Gap badge G3 label"/>
          <p:cNvSpPr txBox="1"/>
          <p:nvPr/>
        </p:nvSpPr>
        <p:spPr>
          <a:xfrm>
            <a:off x="594360" y="31272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G3</a:t>
            </a:r>
            <a:endParaRPr lang="en-US" sz="1300" dirty="0"/>
          </a:p>
        </p:txBody>
      </p:sp>
      <p:sp>
        <p:nvSpPr>
          <p:cNvPr id="20" name="Text 18"/>
          <p:cNvSpPr txBox="1"/>
          <p:nvPr/>
        </p:nvSpPr>
        <p:spPr>
          <a:xfrm>
            <a:off x="1188720" y="312724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Single-pass, label-only grouping</a:t>
            </a:r>
            <a:endParaRPr lang="en-US" sz="1500" dirty="0"/>
          </a:p>
        </p:txBody>
      </p:sp>
      <p:sp>
        <p:nvSpPr>
          <p:cNvPr id="21" name="Text 19"/>
          <p:cNvSpPr txBox="1"/>
          <p:nvPr/>
        </p:nvSpPr>
        <p:spPr>
          <a:xfrm>
            <a:off x="621792" y="363931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Slot work [14]-[16] needs reconstruction, frozen targets or diffusion decoders.</a:t>
            </a:r>
            <a:endParaRPr lang="en-US" sz="1300" dirty="0"/>
          </a:p>
        </p:txBody>
      </p:sp>
      <p:sp>
        <p:nvSpPr>
          <p:cNvPr id="22" name="Objective tag G3"/>
          <p:cNvSpPr/>
          <p:nvPr/>
        </p:nvSpPr>
        <p:spPr>
          <a:xfrm>
            <a:off x="621792" y="4297680"/>
            <a:ext cx="1783080" cy="237744"/>
          </a:xfrm>
          <a:prstGeom prst="roundRect">
            <a:avLst>
              <a:gd name="adj" fmla="val 30769"/>
            </a:avLst>
          </a:prstGeom>
          <a:solidFill>
            <a:srgbClr val="F4A261"/>
          </a:solidFill>
          <a:ln/>
        </p:spPr>
      </p:sp>
      <p:sp>
        <p:nvSpPr>
          <p:cNvPr id="23" name="Text 21"/>
          <p:cNvSpPr txBox="1"/>
          <p:nvPr/>
        </p:nvSpPr>
        <p:spPr>
          <a:xfrm>
            <a:off x="621792" y="429768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RO2, RO4</a:t>
            </a:r>
            <a:endParaRPr lang="en-US" sz="1150" dirty="0"/>
          </a:p>
        </p:txBody>
      </p:sp>
      <p:sp>
        <p:nvSpPr>
          <p:cNvPr id="24" name="Gap card G4"/>
          <p:cNvSpPr/>
          <p:nvPr/>
        </p:nvSpPr>
        <p:spPr>
          <a:xfrm>
            <a:off x="4663440" y="3017520"/>
            <a:ext cx="4023360" cy="1554480"/>
          </a:xfrm>
          <a:prstGeom prst="roundRect">
            <a:avLst>
              <a:gd name="adj" fmla="val 4118"/>
            </a:avLst>
          </a:prstGeom>
          <a:solidFill>
            <a:srgbClr val="FFFFFF"/>
          </a:solidFill>
          <a:ln w="12700">
            <a:solidFill>
              <a:srgbClr val="D3DEE4"/>
            </a:solidFill>
            <a:prstDash val="solid"/>
          </a:ln>
        </p:spPr>
      </p:sp>
      <p:sp>
        <p:nvSpPr>
          <p:cNvPr id="25" name="Gap badge G4"/>
          <p:cNvSpPr/>
          <p:nvPr/>
        </p:nvSpPr>
        <p:spPr>
          <a:xfrm>
            <a:off x="4800600" y="3127248"/>
            <a:ext cx="457200" cy="457200"/>
          </a:xfrm>
          <a:prstGeom prst="ellipse">
            <a:avLst/>
          </a:prstGeom>
          <a:solidFill>
            <a:srgbClr val="1B7F8C"/>
          </a:solidFill>
          <a:ln/>
        </p:spPr>
      </p:sp>
      <p:sp>
        <p:nvSpPr>
          <p:cNvPr id="26" name="Gap badge G4 label"/>
          <p:cNvSpPr txBox="1"/>
          <p:nvPr/>
        </p:nvSpPr>
        <p:spPr>
          <a:xfrm>
            <a:off x="4800600" y="31272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G4</a:t>
            </a:r>
            <a:endParaRPr lang="en-US" sz="1300" dirty="0"/>
          </a:p>
        </p:txBody>
      </p:sp>
      <p:sp>
        <p:nvSpPr>
          <p:cNvPr id="27" name="Text 25"/>
          <p:cNvSpPr txBox="1"/>
          <p:nvPr/>
        </p:nvSpPr>
        <p:spPr>
          <a:xfrm>
            <a:off x="5394960" y="312724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Weak evaluation protocols</a:t>
            </a:r>
            <a:endParaRPr lang="en-US" sz="1500" dirty="0"/>
          </a:p>
        </p:txBody>
      </p:sp>
      <p:sp>
        <p:nvSpPr>
          <p:cNvPr id="28" name="Text 26"/>
          <p:cNvSpPr txBox="1"/>
          <p:nvPr/>
        </p:nvSpPr>
        <p:spPr>
          <a:xfrm>
            <a:off x="4828032" y="363931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[19]-[21]: under-tuned baselines inflate gains; our own baselines were single-seed.</a:t>
            </a:r>
            <a:endParaRPr lang="en-US" sz="1300" dirty="0"/>
          </a:p>
        </p:txBody>
      </p:sp>
      <p:sp>
        <p:nvSpPr>
          <p:cNvPr id="29" name="Objective tag G4"/>
          <p:cNvSpPr/>
          <p:nvPr/>
        </p:nvSpPr>
        <p:spPr>
          <a:xfrm>
            <a:off x="4828032" y="4297680"/>
            <a:ext cx="1783080" cy="237744"/>
          </a:xfrm>
          <a:prstGeom prst="roundRect">
            <a:avLst>
              <a:gd name="adj" fmla="val 30769"/>
            </a:avLst>
          </a:prstGeom>
          <a:solidFill>
            <a:srgbClr val="F4A261"/>
          </a:solidFill>
          <a:ln/>
        </p:spPr>
      </p:sp>
      <p:sp>
        <p:nvSpPr>
          <p:cNvPr id="30" name="Text 28"/>
          <p:cNvSpPr txBox="1"/>
          <p:nvPr/>
        </p:nvSpPr>
        <p:spPr>
          <a:xfrm>
            <a:off x="4828032" y="429768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RO1, RO5</a:t>
            </a:r>
            <a:endParaRPr lang="en-US" sz="1150" dirty="0"/>
          </a:p>
        </p:txBody>
      </p:sp>
      <p:sp>
        <p:nvSpPr>
          <p:cNvPr id="31" name="Gap card G5"/>
          <p:cNvSpPr/>
          <p:nvPr/>
        </p:nvSpPr>
        <p:spPr>
          <a:xfrm>
            <a:off x="457200" y="4663440"/>
            <a:ext cx="4023360" cy="1554480"/>
          </a:xfrm>
          <a:prstGeom prst="roundRect">
            <a:avLst>
              <a:gd name="adj" fmla="val 4118"/>
            </a:avLst>
          </a:prstGeom>
          <a:solidFill>
            <a:srgbClr val="FFFFFF"/>
          </a:solidFill>
          <a:ln w="12700">
            <a:solidFill>
              <a:srgbClr val="D3DEE4"/>
            </a:solidFill>
            <a:prstDash val="solid"/>
          </a:ln>
        </p:spPr>
      </p:sp>
      <p:sp>
        <p:nvSpPr>
          <p:cNvPr id="32" name="Gap badge G5"/>
          <p:cNvSpPr/>
          <p:nvPr/>
        </p:nvSpPr>
        <p:spPr>
          <a:xfrm>
            <a:off x="594360" y="4773168"/>
            <a:ext cx="457200" cy="457200"/>
          </a:xfrm>
          <a:prstGeom prst="ellipse">
            <a:avLst/>
          </a:prstGeom>
          <a:solidFill>
            <a:srgbClr val="1B7F8C"/>
          </a:solidFill>
          <a:ln/>
        </p:spPr>
      </p:sp>
      <p:sp>
        <p:nvSpPr>
          <p:cNvPr id="33" name="Gap badge G5 label"/>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G5</a:t>
            </a:r>
            <a:endParaRPr lang="en-US" sz="1300" dirty="0"/>
          </a:p>
        </p:txBody>
      </p:sp>
      <p:sp>
        <p:nvSpPr>
          <p:cNvPr id="34" name="Text 32"/>
          <p:cNvSpPr txBox="1"/>
          <p:nvPr/>
        </p:nvSpPr>
        <p:spPr>
          <a:xfrm>
            <a:off x="1188720" y="477316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Regions are qualitative</a:t>
            </a:r>
            <a:endParaRPr lang="en-US" sz="1500" dirty="0"/>
          </a:p>
        </p:txBody>
      </p:sp>
      <p:sp>
        <p:nvSpPr>
          <p:cNvPr id="35" name="Text 33"/>
          <p:cNvSpPr txBox="1"/>
          <p:nvPr/>
        </p:nvSpPr>
        <p:spPr>
          <a:xfrm>
            <a:off x="621792" y="528523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[17], [18]: attention-based localisation is noisy and protocol-sensitive; ours was visual only.</a:t>
            </a:r>
            <a:endParaRPr lang="en-US" sz="1300" dirty="0"/>
          </a:p>
        </p:txBody>
      </p:sp>
      <p:sp>
        <p:nvSpPr>
          <p:cNvPr id="36" name="Objective tag G5"/>
          <p:cNvSpPr/>
          <p:nvPr/>
        </p:nvSpPr>
        <p:spPr>
          <a:xfrm>
            <a:off x="621792" y="5943600"/>
            <a:ext cx="1783080" cy="237744"/>
          </a:xfrm>
          <a:prstGeom prst="roundRect">
            <a:avLst>
              <a:gd name="adj" fmla="val 30769"/>
            </a:avLst>
          </a:prstGeom>
          <a:solidFill>
            <a:srgbClr val="F4A261"/>
          </a:solidFill>
          <a:ln/>
        </p:spPr>
      </p:sp>
      <p:sp>
        <p:nvSpPr>
          <p:cNvPr id="37" name="Text 35"/>
          <p:cNvSpPr txBox="1"/>
          <p:nvPr/>
        </p:nvSpPr>
        <p:spPr>
          <a:xfrm>
            <a:off x="621792" y="594360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RO4</a:t>
            </a:r>
            <a:endParaRPr lang="en-US" sz="1150" dirty="0"/>
          </a:p>
        </p:txBody>
      </p:sp>
      <p:sp>
        <p:nvSpPr>
          <p:cNvPr id="38" name="Gap card G6"/>
          <p:cNvSpPr/>
          <p:nvPr/>
        </p:nvSpPr>
        <p:spPr>
          <a:xfrm>
            <a:off x="4663440" y="4663440"/>
            <a:ext cx="4023360" cy="1554480"/>
          </a:xfrm>
          <a:prstGeom prst="roundRect">
            <a:avLst>
              <a:gd name="adj" fmla="val 4118"/>
            </a:avLst>
          </a:prstGeom>
          <a:solidFill>
            <a:srgbClr val="FFFFFF"/>
          </a:solidFill>
          <a:ln w="12700">
            <a:solidFill>
              <a:srgbClr val="D3DEE4"/>
            </a:solidFill>
            <a:prstDash val="solid"/>
          </a:ln>
        </p:spPr>
      </p:sp>
      <p:sp>
        <p:nvSpPr>
          <p:cNvPr id="39" name="Gap badge G6"/>
          <p:cNvSpPr/>
          <p:nvPr/>
        </p:nvSpPr>
        <p:spPr>
          <a:xfrm>
            <a:off x="4800600" y="4773168"/>
            <a:ext cx="457200" cy="457200"/>
          </a:xfrm>
          <a:prstGeom prst="ellipse">
            <a:avLst/>
          </a:prstGeom>
          <a:solidFill>
            <a:srgbClr val="1B7F8C"/>
          </a:solidFill>
          <a:ln/>
        </p:spPr>
      </p:sp>
      <p:sp>
        <p:nvSpPr>
          <p:cNvPr id="40" name="Gap badge G6 label"/>
          <p:cNvSpPr txBox="1"/>
          <p:nvPr/>
        </p:nvSpPr>
        <p:spPr>
          <a:xfrm>
            <a:off x="4800600" y="47731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G6</a:t>
            </a:r>
            <a:endParaRPr lang="en-US" sz="1300" dirty="0"/>
          </a:p>
        </p:txBody>
      </p:sp>
      <p:sp>
        <p:nvSpPr>
          <p:cNvPr id="41" name="Text 39"/>
          <p:cNvSpPr txBox="1"/>
          <p:nvPr/>
        </p:nvSpPr>
        <p:spPr>
          <a:xfrm>
            <a:off x="5394960" y="4773168"/>
            <a:ext cx="3154680" cy="45720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Scale untested</a:t>
            </a:r>
            <a:endParaRPr lang="en-US" sz="1500" dirty="0"/>
          </a:p>
        </p:txBody>
      </p:sp>
      <p:sp>
        <p:nvSpPr>
          <p:cNvPr id="42" name="Text 40"/>
          <p:cNvSpPr txBox="1"/>
          <p:nvPr/>
        </p:nvSpPr>
        <p:spPr>
          <a:xfrm>
            <a:off x="4828032" y="5285232"/>
            <a:ext cx="3694176" cy="658368"/>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Advantage over Swin narrowed 76% from 32x32 to 64x64; ImageNet-like scale unknown.</a:t>
            </a:r>
            <a:endParaRPr lang="en-US" sz="1300" dirty="0"/>
          </a:p>
        </p:txBody>
      </p:sp>
      <p:sp>
        <p:nvSpPr>
          <p:cNvPr id="43" name="Objective tag G6"/>
          <p:cNvSpPr/>
          <p:nvPr/>
        </p:nvSpPr>
        <p:spPr>
          <a:xfrm>
            <a:off x="4828032" y="5943600"/>
            <a:ext cx="1783080" cy="237744"/>
          </a:xfrm>
          <a:prstGeom prst="roundRect">
            <a:avLst>
              <a:gd name="adj" fmla="val 30769"/>
            </a:avLst>
          </a:prstGeom>
          <a:solidFill>
            <a:srgbClr val="F4A261"/>
          </a:solidFill>
          <a:ln/>
        </p:spPr>
      </p:sp>
      <p:sp>
        <p:nvSpPr>
          <p:cNvPr id="44" name="Text 42"/>
          <p:cNvSpPr txBox="1"/>
          <p:nvPr/>
        </p:nvSpPr>
        <p:spPr>
          <a:xfrm>
            <a:off x="4828032" y="5943600"/>
            <a:ext cx="1783080" cy="237744"/>
          </a:xfrm>
          <a:prstGeom prst="rect">
            <a:avLst/>
          </a:prstGeom>
          <a:noFill/>
          <a:ln/>
        </p:spPr>
        <p:txBody>
          <a:bodyPr wrap="square" lIns="0" tIns="0" rIns="0" bIns="0" rtlCol="0" anchor="ctr"/>
          <a:lstStyle/>
          <a:p>
            <a:pPr algn="ctr" indent="0" marL="0">
              <a:buNone/>
            </a:pPr>
            <a:r>
              <a:rPr lang="en-US" sz="1150" b="1" dirty="0">
                <a:solidFill>
                  <a:srgbClr val="0F2A3D"/>
                </a:solidFill>
                <a:latin typeface="Calibri" pitchFamily="34" charset="0"/>
                <a:ea typeface="Calibri" pitchFamily="34" charset="-122"/>
                <a:cs typeface="Calibri" pitchFamily="34" charset="-120"/>
              </a:rPr>
              <a:t>Addressed by RO3</a:t>
            </a:r>
            <a:endParaRPr lang="en-US" sz="115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Problem Statement</a:t>
            </a:r>
            <a:endParaRPr lang="en-US" sz="3200" dirty="0"/>
          </a:p>
        </p:txBody>
      </p:sp>
      <p:sp>
        <p:nvSpPr>
          <p:cNvPr id="3" name="Problem panel"/>
          <p:cNvSpPr/>
          <p:nvPr/>
        </p:nvSpPr>
        <p:spPr>
          <a:xfrm>
            <a:off x="457200" y="1371600"/>
            <a:ext cx="3017520" cy="4846320"/>
          </a:xfrm>
          <a:prstGeom prst="roundRect">
            <a:avLst>
              <a:gd name="adj" fmla="val 2121"/>
            </a:avLst>
          </a:prstGeom>
          <a:solidFill>
            <a:srgbClr val="0F2A3D"/>
          </a:solidFill>
          <a:ln/>
        </p:spPr>
      </p:sp>
      <p:sp>
        <p:nvSpPr>
          <p:cNvPr id="4" name="Text 2"/>
          <p:cNvSpPr txBox="1"/>
          <p:nvPr/>
        </p:nvSpPr>
        <p:spPr>
          <a:xfrm>
            <a:off x="658368" y="1554480"/>
            <a:ext cx="2651760" cy="274320"/>
          </a:xfrm>
          <a:prstGeom prst="rect">
            <a:avLst/>
          </a:prstGeom>
          <a:noFill/>
          <a:ln/>
        </p:spPr>
        <p:txBody>
          <a:bodyPr wrap="square" lIns="0" tIns="0" rIns="0" bIns="0" rtlCol="0" anchor="t"/>
          <a:lstStyle/>
          <a:p>
            <a:pPr indent="0" marL="0">
              <a:buNone/>
            </a:pPr>
            <a:r>
              <a:rPr lang="en-US" sz="1200" b="1" spc="300" kern="0" dirty="0">
                <a:solidFill>
                  <a:srgbClr val="F4A261"/>
                </a:solidFill>
                <a:latin typeface="Calibri" pitchFamily="34" charset="0"/>
                <a:ea typeface="Calibri" pitchFamily="34" charset="-122"/>
                <a:cs typeface="Calibri" pitchFamily="34" charset="-120"/>
              </a:rPr>
              <a:t>PROBLEM</a:t>
            </a:r>
            <a:endParaRPr lang="en-US" sz="1200" dirty="0"/>
          </a:p>
        </p:txBody>
      </p:sp>
      <p:sp>
        <p:nvSpPr>
          <p:cNvPr id="5" name="Text 3"/>
          <p:cNvSpPr txBox="1"/>
          <p:nvPr/>
        </p:nvSpPr>
        <p:spPr>
          <a:xfrm>
            <a:off x="658368" y="1920240"/>
            <a:ext cx="2633472" cy="2743200"/>
          </a:xfrm>
          <a:prstGeom prst="rect">
            <a:avLst/>
          </a:prstGeom>
          <a:noFill/>
          <a:ln/>
        </p:spPr>
        <p:txBody>
          <a:bodyPr wrap="square" lIns="0" tIns="0" rIns="0" bIns="0" rtlCol="0" anchor="t"/>
          <a:lstStyle/>
          <a:p>
            <a:pPr indent="0" marL="0">
              <a:lnSpc>
                <a:spcPct val="105000"/>
              </a:lnSpc>
              <a:buNone/>
            </a:pPr>
            <a:r>
              <a:rPr lang="en-US" sz="1600" dirty="0">
                <a:solidFill>
                  <a:srgbClr val="FFFFFF"/>
                </a:solidFill>
                <a:latin typeface="Times New Roman" pitchFamily="34" charset="0"/>
                <a:ea typeface="Times New Roman" pitchFamily="34" charset="-122"/>
                <a:cs typeface="Times New Roman" pitchFamily="34" charset="-120"/>
              </a:rPr>
              <a:t>It is unknown whether the benefit sometimes seen for learned sparse token grouping comes from grouping itself, or from extra capacity, tuning and recipe effects, and whether its emergent regions are quantitatively meaningful.</a:t>
            </a:r>
            <a:endParaRPr lang="en-US" sz="1600" dirty="0"/>
          </a:p>
        </p:txBody>
      </p:sp>
      <p:sp>
        <p:nvSpPr>
          <p:cNvPr id="6" name="Text 4"/>
          <p:cNvSpPr txBox="1"/>
          <p:nvPr/>
        </p:nvSpPr>
        <p:spPr>
          <a:xfrm>
            <a:off x="658368" y="4846320"/>
            <a:ext cx="2633472" cy="1280160"/>
          </a:xfrm>
          <a:prstGeom prst="rect">
            <a:avLst/>
          </a:prstGeom>
          <a:noFill/>
          <a:ln/>
        </p:spPr>
        <p:txBody>
          <a:bodyPr wrap="square" lIns="0" tIns="0" rIns="0" bIns="0" rtlCol="0" anchor="t"/>
          <a:lstStyle/>
          <a:p>
            <a:pPr indent="0" marL="0">
              <a:buNone/>
            </a:pPr>
            <a:r>
              <a:rPr lang="en-US" sz="1300" i="1" dirty="0">
                <a:solidFill>
                  <a:srgbClr val="CADCE4"/>
                </a:solidFill>
                <a:latin typeface="Times New Roman" pitchFamily="34" charset="0"/>
                <a:ea typeface="Times New Roman" pitchFamily="34" charset="-122"/>
                <a:cs typeface="Times New Roman" pitchFamily="34" charset="-120"/>
              </a:rPr>
              <a:t>Falsifier for H1 (grouping beats controls): the interval of the difference lies within +/-0.5 points or below zero.</a:t>
            </a:r>
            <a:endParaRPr lang="en-US" sz="1300" dirty="0"/>
          </a:p>
        </p:txBody>
      </p:sp>
      <p:sp>
        <p:nvSpPr>
          <p:cNvPr id="7" name="RQ card RQ1"/>
          <p:cNvSpPr/>
          <p:nvPr/>
        </p:nvSpPr>
        <p:spPr>
          <a:xfrm>
            <a:off x="3657600" y="1371600"/>
            <a:ext cx="5029200" cy="1115568"/>
          </a:xfrm>
          <a:prstGeom prst="roundRect">
            <a:avLst>
              <a:gd name="adj" fmla="val 5738"/>
            </a:avLst>
          </a:prstGeom>
          <a:solidFill>
            <a:srgbClr val="FFFFFF"/>
          </a:solidFill>
          <a:ln w="12700">
            <a:solidFill>
              <a:srgbClr val="D3DEE4"/>
            </a:solidFill>
            <a:prstDash val="solid"/>
          </a:ln>
        </p:spPr>
      </p:sp>
      <p:sp>
        <p:nvSpPr>
          <p:cNvPr id="8" name="RQ badge RQ1"/>
          <p:cNvSpPr/>
          <p:nvPr/>
        </p:nvSpPr>
        <p:spPr>
          <a:xfrm>
            <a:off x="3794760" y="1673352"/>
            <a:ext cx="502920" cy="502920"/>
          </a:xfrm>
          <a:prstGeom prst="ellipse">
            <a:avLst/>
          </a:prstGeom>
          <a:solidFill>
            <a:srgbClr val="1B7F8C"/>
          </a:solidFill>
          <a:ln/>
        </p:spPr>
      </p:sp>
      <p:sp>
        <p:nvSpPr>
          <p:cNvPr id="9" name="RQ badge RQ1 label"/>
          <p:cNvSpPr txBox="1"/>
          <p:nvPr/>
        </p:nvSpPr>
        <p:spPr>
          <a:xfrm>
            <a:off x="3794760" y="1673352"/>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RQ1</a:t>
            </a:r>
            <a:endParaRPr lang="en-US" sz="1200" dirty="0"/>
          </a:p>
        </p:txBody>
      </p:sp>
      <p:sp>
        <p:nvSpPr>
          <p:cNvPr id="10" name="Text 8"/>
          <p:cNvSpPr txBox="1"/>
          <p:nvPr/>
        </p:nvSpPr>
        <p:spPr>
          <a:xfrm>
            <a:off x="4434840" y="1435608"/>
            <a:ext cx="4160520" cy="987552"/>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Does learned top-k routing beat capacity controls (input-independent slots, frozen random routers, fixed block routing) at matched parameters and MACs, with every arm tuned?</a:t>
            </a:r>
            <a:endParaRPr lang="en-US" sz="1400" dirty="0"/>
          </a:p>
        </p:txBody>
      </p:sp>
      <p:sp>
        <p:nvSpPr>
          <p:cNvPr id="11" name="RQ card RQ2"/>
          <p:cNvSpPr/>
          <p:nvPr/>
        </p:nvSpPr>
        <p:spPr>
          <a:xfrm>
            <a:off x="3657600" y="2596896"/>
            <a:ext cx="5029200" cy="1115568"/>
          </a:xfrm>
          <a:prstGeom prst="roundRect">
            <a:avLst>
              <a:gd name="adj" fmla="val 5738"/>
            </a:avLst>
          </a:prstGeom>
          <a:solidFill>
            <a:srgbClr val="FFFFFF"/>
          </a:solidFill>
          <a:ln w="12700">
            <a:solidFill>
              <a:srgbClr val="D3DEE4"/>
            </a:solidFill>
            <a:prstDash val="solid"/>
          </a:ln>
        </p:spPr>
      </p:sp>
      <p:sp>
        <p:nvSpPr>
          <p:cNvPr id="12" name="RQ badge RQ2"/>
          <p:cNvSpPr/>
          <p:nvPr/>
        </p:nvSpPr>
        <p:spPr>
          <a:xfrm>
            <a:off x="3794760" y="2898648"/>
            <a:ext cx="502920" cy="502920"/>
          </a:xfrm>
          <a:prstGeom prst="ellipse">
            <a:avLst/>
          </a:prstGeom>
          <a:solidFill>
            <a:srgbClr val="1B7F8C"/>
          </a:solidFill>
          <a:ln/>
        </p:spPr>
      </p:sp>
      <p:sp>
        <p:nvSpPr>
          <p:cNvPr id="13" name="RQ badge RQ2 label"/>
          <p:cNvSpPr txBox="1"/>
          <p:nvPr/>
        </p:nvSpPr>
        <p:spPr>
          <a:xfrm>
            <a:off x="3794760" y="289864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RQ2</a:t>
            </a:r>
            <a:endParaRPr lang="en-US" sz="1200" dirty="0"/>
          </a:p>
        </p:txBody>
      </p:sp>
      <p:sp>
        <p:nvSpPr>
          <p:cNvPr id="14" name="Text 12"/>
          <p:cNvSpPr txBox="1"/>
          <p:nvPr/>
        </p:nvSpPr>
        <p:spPr>
          <a:xfrm>
            <a:off x="4434840" y="2660904"/>
            <a:ext cx="4160520" cy="987552"/>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Does any advantage persist beyond 64x64, on ImageNet-100?</a:t>
            </a:r>
            <a:endParaRPr lang="en-US" sz="1400" dirty="0"/>
          </a:p>
        </p:txBody>
      </p:sp>
      <p:sp>
        <p:nvSpPr>
          <p:cNvPr id="15" name="RQ card RQ3"/>
          <p:cNvSpPr/>
          <p:nvPr/>
        </p:nvSpPr>
        <p:spPr>
          <a:xfrm>
            <a:off x="3657600" y="3822192"/>
            <a:ext cx="5029200" cy="1115568"/>
          </a:xfrm>
          <a:prstGeom prst="roundRect">
            <a:avLst>
              <a:gd name="adj" fmla="val 5738"/>
            </a:avLst>
          </a:prstGeom>
          <a:solidFill>
            <a:srgbClr val="FFFFFF"/>
          </a:solidFill>
          <a:ln w="12700">
            <a:solidFill>
              <a:srgbClr val="D3DEE4"/>
            </a:solidFill>
            <a:prstDash val="solid"/>
          </a:ln>
        </p:spPr>
      </p:sp>
      <p:sp>
        <p:nvSpPr>
          <p:cNvPr id="16" name="RQ badge RQ3"/>
          <p:cNvSpPr/>
          <p:nvPr/>
        </p:nvSpPr>
        <p:spPr>
          <a:xfrm>
            <a:off x="3794760" y="4123944"/>
            <a:ext cx="502920" cy="502920"/>
          </a:xfrm>
          <a:prstGeom prst="ellipse">
            <a:avLst/>
          </a:prstGeom>
          <a:solidFill>
            <a:srgbClr val="1B7F8C"/>
          </a:solidFill>
          <a:ln/>
        </p:spPr>
      </p:sp>
      <p:sp>
        <p:nvSpPr>
          <p:cNvPr id="17" name="RQ badge RQ3 label"/>
          <p:cNvSpPr txBox="1"/>
          <p:nvPr/>
        </p:nvSpPr>
        <p:spPr>
          <a:xfrm>
            <a:off x="3794760" y="4123944"/>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RQ3</a:t>
            </a:r>
            <a:endParaRPr lang="en-US" sz="1200" dirty="0"/>
          </a:p>
        </p:txBody>
      </p:sp>
      <p:sp>
        <p:nvSpPr>
          <p:cNvPr id="18" name="Text 16"/>
          <p:cNvSpPr txBox="1"/>
          <p:nvPr/>
        </p:nvSpPr>
        <p:spPr>
          <a:xfrm>
            <a:off x="4434840" y="3886200"/>
            <a:ext cx="4160520" cy="987552"/>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Are macro-regions quantitatively aligned with object masks beyond what a patch grid or superpixels give?</a:t>
            </a:r>
            <a:endParaRPr lang="en-US" sz="1400" dirty="0"/>
          </a:p>
        </p:txBody>
      </p:sp>
      <p:sp>
        <p:nvSpPr>
          <p:cNvPr id="19" name="RQ card RQ4"/>
          <p:cNvSpPr/>
          <p:nvPr/>
        </p:nvSpPr>
        <p:spPr>
          <a:xfrm>
            <a:off x="3657600" y="5047488"/>
            <a:ext cx="5029200" cy="1115568"/>
          </a:xfrm>
          <a:prstGeom prst="roundRect">
            <a:avLst>
              <a:gd name="adj" fmla="val 5738"/>
            </a:avLst>
          </a:prstGeom>
          <a:solidFill>
            <a:srgbClr val="FFFFFF"/>
          </a:solidFill>
          <a:ln w="12700">
            <a:solidFill>
              <a:srgbClr val="D3DEE4"/>
            </a:solidFill>
            <a:prstDash val="solid"/>
          </a:ln>
        </p:spPr>
      </p:sp>
      <p:sp>
        <p:nvSpPr>
          <p:cNvPr id="20" name="RQ badge RQ4"/>
          <p:cNvSpPr/>
          <p:nvPr/>
        </p:nvSpPr>
        <p:spPr>
          <a:xfrm>
            <a:off x="3794760" y="5349240"/>
            <a:ext cx="502920" cy="502920"/>
          </a:xfrm>
          <a:prstGeom prst="ellipse">
            <a:avLst/>
          </a:prstGeom>
          <a:solidFill>
            <a:srgbClr val="1B7F8C"/>
          </a:solidFill>
          <a:ln/>
        </p:spPr>
      </p:sp>
      <p:sp>
        <p:nvSpPr>
          <p:cNvPr id="21" name="RQ badge RQ4 label"/>
          <p:cNvSpPr txBox="1"/>
          <p:nvPr/>
        </p:nvSpPr>
        <p:spPr>
          <a:xfrm>
            <a:off x="3794760" y="534924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RQ4</a:t>
            </a:r>
            <a:endParaRPr lang="en-US" sz="1200" dirty="0"/>
          </a:p>
        </p:txBody>
      </p:sp>
      <p:sp>
        <p:nvSpPr>
          <p:cNvPr id="22" name="Text 20"/>
          <p:cNvSpPr txBox="1"/>
          <p:nvPr/>
        </p:nvSpPr>
        <p:spPr>
          <a:xfrm>
            <a:off x="4434840" y="5111496"/>
            <a:ext cx="4160520" cy="987552"/>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How many seeds and tuning budget are needed before such conclusions are stable?</a:t>
            </a:r>
            <a:endParaRPr lang="en-US" sz="14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Objectives</a:t>
            </a:r>
            <a:endParaRPr lang="en-US" sz="3200" dirty="0"/>
          </a:p>
        </p:txBody>
      </p:sp>
      <p:sp>
        <p:nvSpPr>
          <p:cNvPr id="3" name="Objective row RO1"/>
          <p:cNvSpPr/>
          <p:nvPr/>
        </p:nvSpPr>
        <p:spPr>
          <a:xfrm>
            <a:off x="457200" y="1371600"/>
            <a:ext cx="8229600" cy="896112"/>
          </a:xfrm>
          <a:prstGeom prst="roundRect">
            <a:avLst>
              <a:gd name="adj" fmla="val 7143"/>
            </a:avLst>
          </a:prstGeom>
          <a:solidFill>
            <a:srgbClr val="EAF1F4"/>
          </a:solidFill>
          <a:ln/>
        </p:spPr>
      </p:sp>
      <p:sp>
        <p:nvSpPr>
          <p:cNvPr id="4" name="Objective badge RO1"/>
          <p:cNvSpPr/>
          <p:nvPr/>
        </p:nvSpPr>
        <p:spPr>
          <a:xfrm>
            <a:off x="566928" y="1572768"/>
            <a:ext cx="502920" cy="502920"/>
          </a:xfrm>
          <a:prstGeom prst="ellipse">
            <a:avLst/>
          </a:prstGeom>
          <a:solidFill>
            <a:srgbClr val="F4A261"/>
          </a:solidFill>
          <a:ln/>
        </p:spPr>
      </p:sp>
      <p:sp>
        <p:nvSpPr>
          <p:cNvPr id="5" name="Objective badge RO1 label"/>
          <p:cNvSpPr txBox="1"/>
          <p:nvPr/>
        </p:nvSpPr>
        <p:spPr>
          <a:xfrm>
            <a:off x="566928" y="1572768"/>
            <a:ext cx="502920" cy="502920"/>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RO1</a:t>
            </a:r>
            <a:endParaRPr lang="en-US" sz="1200" dirty="0"/>
          </a:p>
        </p:txBody>
      </p:sp>
      <p:sp>
        <p:nvSpPr>
          <p:cNvPr id="6" name="Text 4"/>
          <p:cNvSpPr txBox="1"/>
          <p:nvPr/>
        </p:nvSpPr>
        <p:spPr>
          <a:xfrm>
            <a:off x="1188720" y="1426464"/>
            <a:ext cx="2011680" cy="786384"/>
          </a:xfrm>
          <a:prstGeom prst="rect">
            <a:avLst/>
          </a:prstGeom>
          <a:noFill/>
          <a:ln/>
        </p:spPr>
        <p:txBody>
          <a:bodyPr wrap="square" lIns="0" tIns="0" rIns="0" bIns="0" rtlCol="0" anchor="ctr"/>
          <a:lstStyle/>
          <a:p>
            <a:pPr indent="0" marL="0">
              <a:buNone/>
            </a:pPr>
            <a:r>
              <a:rPr lang="en-US" sz="1450" b="1" dirty="0">
                <a:solidFill>
                  <a:srgbClr val="0F2A3D"/>
                </a:solidFill>
                <a:latin typeface="Calibri" pitchFamily="34" charset="0"/>
                <a:ea typeface="Calibri" pitchFamily="34" charset="-122"/>
                <a:cs typeface="Calibri" pitchFamily="34" charset="-120"/>
              </a:rPr>
              <a:t>Corrected, reproducible baseline</a:t>
            </a:r>
            <a:endParaRPr lang="en-US" sz="1450" dirty="0"/>
          </a:p>
        </p:txBody>
      </p:sp>
      <p:sp>
        <p:nvSpPr>
          <p:cNvPr id="7" name="Text 5"/>
          <p:cNvSpPr txBox="1"/>
          <p:nvPr/>
        </p:nvSpPr>
        <p:spPr>
          <a:xfrm>
            <a:off x="3291840" y="1426464"/>
            <a:ext cx="2926080" cy="786384"/>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Erratum, model card, licence and a sanitised public repository.</a:t>
            </a:r>
            <a:endParaRPr lang="en-US" sz="1300" dirty="0"/>
          </a:p>
        </p:txBody>
      </p:sp>
      <p:sp>
        <p:nvSpPr>
          <p:cNvPr id="8" name="Text 6"/>
          <p:cNvSpPr txBox="1"/>
          <p:nvPr/>
        </p:nvSpPr>
        <p:spPr>
          <a:xfrm>
            <a:off x="6355080" y="1426464"/>
            <a:ext cx="2240280" cy="786384"/>
          </a:xfrm>
          <a:prstGeom prst="rect">
            <a:avLst/>
          </a:prstGeom>
          <a:noFill/>
          <a:ln/>
        </p:spPr>
        <p:txBody>
          <a:bodyPr wrap="square" lIns="0" tIns="0" rIns="0" bIns="0" rtlCol="0" anchor="ctr"/>
          <a:lstStyle/>
          <a:p>
            <a:pPr indent="0" marL="0">
              <a:buNone/>
            </a:pPr>
            <a:r>
              <a:rPr lang="en-US" sz="1200" i="1" dirty="0">
                <a:solidFill>
                  <a:srgbClr val="5B6B77"/>
                </a:solidFill>
                <a:latin typeface="Times New Roman" pitchFamily="34" charset="0"/>
                <a:ea typeface="Times New Roman" pitchFamily="34" charset="-122"/>
                <a:cs typeface="Times New Roman" pitchFamily="34" charset="-120"/>
              </a:rPr>
              <a:t>Reproduces main tables within seed variance</a:t>
            </a:r>
            <a:endParaRPr lang="en-US" sz="1200" dirty="0"/>
          </a:p>
        </p:txBody>
      </p:sp>
      <p:sp>
        <p:nvSpPr>
          <p:cNvPr id="9" name="Objective row RO2"/>
          <p:cNvSpPr/>
          <p:nvPr/>
        </p:nvSpPr>
        <p:spPr>
          <a:xfrm>
            <a:off x="457200" y="2359152"/>
            <a:ext cx="8229600" cy="896112"/>
          </a:xfrm>
          <a:prstGeom prst="roundRect">
            <a:avLst>
              <a:gd name="adj" fmla="val 7143"/>
            </a:avLst>
          </a:prstGeom>
          <a:solidFill>
            <a:srgbClr val="FFFFFF"/>
          </a:solidFill>
          <a:ln w="12700">
            <a:solidFill>
              <a:srgbClr val="D3DEE4"/>
            </a:solidFill>
            <a:prstDash val="solid"/>
          </a:ln>
        </p:spPr>
      </p:sp>
      <p:sp>
        <p:nvSpPr>
          <p:cNvPr id="10" name="Objective badge RO2"/>
          <p:cNvSpPr/>
          <p:nvPr/>
        </p:nvSpPr>
        <p:spPr>
          <a:xfrm>
            <a:off x="566928" y="2560320"/>
            <a:ext cx="502920" cy="502920"/>
          </a:xfrm>
          <a:prstGeom prst="ellipse">
            <a:avLst/>
          </a:prstGeom>
          <a:solidFill>
            <a:srgbClr val="1B7F8C"/>
          </a:solidFill>
          <a:ln/>
        </p:spPr>
      </p:sp>
      <p:sp>
        <p:nvSpPr>
          <p:cNvPr id="11" name="Objective badge RO2 label"/>
          <p:cNvSpPr txBox="1"/>
          <p:nvPr/>
        </p:nvSpPr>
        <p:spPr>
          <a:xfrm>
            <a:off x="566928" y="2560320"/>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RO2</a:t>
            </a:r>
            <a:endParaRPr lang="en-US" sz="1200" dirty="0"/>
          </a:p>
        </p:txBody>
      </p:sp>
      <p:sp>
        <p:nvSpPr>
          <p:cNvPr id="12" name="Text 10"/>
          <p:cNvSpPr txBox="1"/>
          <p:nvPr/>
        </p:nvSpPr>
        <p:spPr>
          <a:xfrm>
            <a:off x="1188720" y="2414016"/>
            <a:ext cx="2011680" cy="786384"/>
          </a:xfrm>
          <a:prstGeom prst="rect">
            <a:avLst/>
          </a:prstGeom>
          <a:noFill/>
          <a:ln/>
        </p:spPr>
        <p:txBody>
          <a:bodyPr wrap="square" lIns="0" tIns="0" rIns="0" bIns="0" rtlCol="0" anchor="ctr"/>
          <a:lstStyle/>
          <a:p>
            <a:pPr indent="0" marL="0">
              <a:buNone/>
            </a:pPr>
            <a:r>
              <a:rPr lang="en-US" sz="1450" b="1" dirty="0">
                <a:solidFill>
                  <a:srgbClr val="0F2A3D"/>
                </a:solidFill>
                <a:latin typeface="Calibri" pitchFamily="34" charset="0"/>
                <a:ea typeface="Calibri" pitchFamily="34" charset="-122"/>
                <a:cs typeface="Calibri" pitchFamily="34" charset="-120"/>
              </a:rPr>
              <a:t>Capacity-controlled comparison</a:t>
            </a:r>
            <a:endParaRPr lang="en-US" sz="1450" dirty="0"/>
          </a:p>
        </p:txBody>
      </p:sp>
      <p:sp>
        <p:nvSpPr>
          <p:cNvPr id="13" name="Text 11"/>
          <p:cNvSpPr txBox="1"/>
          <p:nvPr/>
        </p:nvSpPr>
        <p:spPr>
          <a:xfrm>
            <a:off x="3291840" y="2414016"/>
            <a:ext cx="2926080" cy="786384"/>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Routing A vs registers, random, block routing, matched control and Swin.</a:t>
            </a:r>
            <a:endParaRPr lang="en-US" sz="1300" dirty="0"/>
          </a:p>
        </p:txBody>
      </p:sp>
      <p:sp>
        <p:nvSpPr>
          <p:cNvPr id="14" name="Text 12"/>
          <p:cNvSpPr txBox="1"/>
          <p:nvPr/>
        </p:nvSpPr>
        <p:spPr>
          <a:xfrm>
            <a:off x="6355080" y="2414016"/>
            <a:ext cx="2240280" cy="786384"/>
          </a:xfrm>
          <a:prstGeom prst="rect">
            <a:avLst/>
          </a:prstGeom>
          <a:noFill/>
          <a:ln/>
        </p:spPr>
        <p:txBody>
          <a:bodyPr wrap="square" lIns="0" tIns="0" rIns="0" bIns="0" rtlCol="0" anchor="ctr"/>
          <a:lstStyle/>
          <a:p>
            <a:pPr indent="0" marL="0">
              <a:buNone/>
            </a:pPr>
            <a:r>
              <a:rPr lang="en-US" sz="1200" i="1" dirty="0">
                <a:solidFill>
                  <a:srgbClr val="5B6B77"/>
                </a:solidFill>
                <a:latin typeface="Times New Roman" pitchFamily="34" charset="0"/>
                <a:ea typeface="Times New Roman" pitchFamily="34" charset="-122"/>
                <a:cs typeface="Times New Roman" pitchFamily="34" charset="-120"/>
              </a:rPr>
              <a:t>&gt;= 5 seeds after per-arm LR sweeps</a:t>
            </a:r>
            <a:endParaRPr lang="en-US" sz="1200" dirty="0"/>
          </a:p>
        </p:txBody>
      </p:sp>
      <p:sp>
        <p:nvSpPr>
          <p:cNvPr id="15" name="Objective row RO3"/>
          <p:cNvSpPr/>
          <p:nvPr/>
        </p:nvSpPr>
        <p:spPr>
          <a:xfrm>
            <a:off x="457200" y="3346704"/>
            <a:ext cx="8229600" cy="896112"/>
          </a:xfrm>
          <a:prstGeom prst="roundRect">
            <a:avLst>
              <a:gd name="adj" fmla="val 7143"/>
            </a:avLst>
          </a:prstGeom>
          <a:solidFill>
            <a:srgbClr val="EAF1F4"/>
          </a:solidFill>
          <a:ln/>
        </p:spPr>
      </p:sp>
      <p:sp>
        <p:nvSpPr>
          <p:cNvPr id="16" name="Objective badge RO3"/>
          <p:cNvSpPr/>
          <p:nvPr/>
        </p:nvSpPr>
        <p:spPr>
          <a:xfrm>
            <a:off x="566928" y="3547872"/>
            <a:ext cx="502920" cy="502920"/>
          </a:xfrm>
          <a:prstGeom prst="ellipse">
            <a:avLst/>
          </a:prstGeom>
          <a:solidFill>
            <a:srgbClr val="1B7F8C"/>
          </a:solidFill>
          <a:ln/>
        </p:spPr>
      </p:sp>
      <p:sp>
        <p:nvSpPr>
          <p:cNvPr id="17" name="Objective badge RO3 label"/>
          <p:cNvSpPr txBox="1"/>
          <p:nvPr/>
        </p:nvSpPr>
        <p:spPr>
          <a:xfrm>
            <a:off x="566928" y="3547872"/>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RO3</a:t>
            </a:r>
            <a:endParaRPr lang="en-US" sz="1200" dirty="0"/>
          </a:p>
        </p:txBody>
      </p:sp>
      <p:sp>
        <p:nvSpPr>
          <p:cNvPr id="18" name="Text 16"/>
          <p:cNvSpPr txBox="1"/>
          <p:nvPr/>
        </p:nvSpPr>
        <p:spPr>
          <a:xfrm>
            <a:off x="1188720" y="3401568"/>
            <a:ext cx="2011680" cy="786384"/>
          </a:xfrm>
          <a:prstGeom prst="rect">
            <a:avLst/>
          </a:prstGeom>
          <a:noFill/>
          <a:ln/>
        </p:spPr>
        <p:txBody>
          <a:bodyPr wrap="square" lIns="0" tIns="0" rIns="0" bIns="0" rtlCol="0" anchor="ctr"/>
          <a:lstStyle/>
          <a:p>
            <a:pPr indent="0" marL="0">
              <a:buNone/>
            </a:pPr>
            <a:r>
              <a:rPr lang="en-US" sz="1450" b="1" dirty="0">
                <a:solidFill>
                  <a:srgbClr val="0F2A3D"/>
                </a:solidFill>
                <a:latin typeface="Calibri" pitchFamily="34" charset="0"/>
                <a:ea typeface="Calibri" pitchFamily="34" charset="-122"/>
                <a:cs typeface="Calibri" pitchFamily="34" charset="-120"/>
              </a:rPr>
              <a:t>Scale and resolution</a:t>
            </a:r>
            <a:endParaRPr lang="en-US" sz="1450" dirty="0"/>
          </a:p>
        </p:txBody>
      </p:sp>
      <p:sp>
        <p:nvSpPr>
          <p:cNvPr id="19" name="Text 17"/>
          <p:cNvSpPr txBox="1"/>
          <p:nvPr/>
        </p:nvSpPr>
        <p:spPr>
          <a:xfrm>
            <a:off x="3291840" y="3401568"/>
            <a:ext cx="2926080" cy="786384"/>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Repeat on ImageNet-100 at 112x112 or higher with surviving arms.</a:t>
            </a:r>
            <a:endParaRPr lang="en-US" sz="1300" dirty="0"/>
          </a:p>
        </p:txBody>
      </p:sp>
      <p:sp>
        <p:nvSpPr>
          <p:cNvPr id="20" name="Text 18"/>
          <p:cNvSpPr txBox="1"/>
          <p:nvPr/>
        </p:nvSpPr>
        <p:spPr>
          <a:xfrm>
            <a:off x="6355080" y="3401568"/>
            <a:ext cx="2240280" cy="786384"/>
          </a:xfrm>
          <a:prstGeom prst="rect">
            <a:avLst/>
          </a:prstGeom>
          <a:noFill/>
          <a:ln/>
        </p:spPr>
        <p:txBody>
          <a:bodyPr wrap="square" lIns="0" tIns="0" rIns="0" bIns="0" rtlCol="0" anchor="ctr"/>
          <a:lstStyle/>
          <a:p>
            <a:pPr indent="0" marL="0">
              <a:buNone/>
            </a:pPr>
            <a:r>
              <a:rPr lang="en-US" sz="1200" i="1" dirty="0">
                <a:solidFill>
                  <a:srgbClr val="5B6B77"/>
                </a:solidFill>
                <a:latin typeface="Times New Roman" pitchFamily="34" charset="0"/>
                <a:ea typeface="Times New Roman" pitchFamily="34" charset="-122"/>
                <a:cs typeface="Times New Roman" pitchFamily="34" charset="-120"/>
              </a:rPr>
              <a:t>Tuned-rate contrast with intervals</a:t>
            </a:r>
            <a:endParaRPr lang="en-US" sz="1200" dirty="0"/>
          </a:p>
        </p:txBody>
      </p:sp>
      <p:sp>
        <p:nvSpPr>
          <p:cNvPr id="21" name="Objective row RO4"/>
          <p:cNvSpPr/>
          <p:nvPr/>
        </p:nvSpPr>
        <p:spPr>
          <a:xfrm>
            <a:off x="457200" y="4334256"/>
            <a:ext cx="8229600" cy="896112"/>
          </a:xfrm>
          <a:prstGeom prst="roundRect">
            <a:avLst>
              <a:gd name="adj" fmla="val 7143"/>
            </a:avLst>
          </a:prstGeom>
          <a:solidFill>
            <a:srgbClr val="FFFFFF"/>
          </a:solidFill>
          <a:ln w="12700">
            <a:solidFill>
              <a:srgbClr val="D3DEE4"/>
            </a:solidFill>
            <a:prstDash val="solid"/>
          </a:ln>
        </p:spPr>
      </p:sp>
      <p:sp>
        <p:nvSpPr>
          <p:cNvPr id="22" name="Objective badge RO4"/>
          <p:cNvSpPr/>
          <p:nvPr/>
        </p:nvSpPr>
        <p:spPr>
          <a:xfrm>
            <a:off x="566928" y="4535424"/>
            <a:ext cx="502920" cy="502920"/>
          </a:xfrm>
          <a:prstGeom prst="ellipse">
            <a:avLst/>
          </a:prstGeom>
          <a:solidFill>
            <a:srgbClr val="1B7F8C"/>
          </a:solidFill>
          <a:ln/>
        </p:spPr>
      </p:sp>
      <p:sp>
        <p:nvSpPr>
          <p:cNvPr id="23" name="Objective badge RO4 label"/>
          <p:cNvSpPr txBox="1"/>
          <p:nvPr/>
        </p:nvSpPr>
        <p:spPr>
          <a:xfrm>
            <a:off x="566928" y="4535424"/>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RO4</a:t>
            </a:r>
            <a:endParaRPr lang="en-US" sz="1200" dirty="0"/>
          </a:p>
        </p:txBody>
      </p:sp>
      <p:sp>
        <p:nvSpPr>
          <p:cNvPr id="24" name="Text 22"/>
          <p:cNvSpPr txBox="1"/>
          <p:nvPr/>
        </p:nvSpPr>
        <p:spPr>
          <a:xfrm>
            <a:off x="1188720" y="4389120"/>
            <a:ext cx="2011680" cy="786384"/>
          </a:xfrm>
          <a:prstGeom prst="rect">
            <a:avLst/>
          </a:prstGeom>
          <a:noFill/>
          <a:ln/>
        </p:spPr>
        <p:txBody>
          <a:bodyPr wrap="square" lIns="0" tIns="0" rIns="0" bIns="0" rtlCol="0" anchor="ctr"/>
          <a:lstStyle/>
          <a:p>
            <a:pPr indent="0" marL="0">
              <a:buNone/>
            </a:pPr>
            <a:r>
              <a:rPr lang="en-US" sz="1450" b="1" dirty="0">
                <a:solidFill>
                  <a:srgbClr val="0F2A3D"/>
                </a:solidFill>
                <a:latin typeface="Calibri" pitchFamily="34" charset="0"/>
                <a:ea typeface="Calibri" pitchFamily="34" charset="-122"/>
                <a:cs typeface="Calibri" pitchFamily="34" charset="-120"/>
              </a:rPr>
              <a:t>Quantitative region evaluation</a:t>
            </a:r>
            <a:endParaRPr lang="en-US" sz="1450" dirty="0"/>
          </a:p>
        </p:txBody>
      </p:sp>
      <p:sp>
        <p:nvSpPr>
          <p:cNvPr id="25" name="Text 23"/>
          <p:cNvSpPr txBox="1"/>
          <p:nvPr/>
        </p:nvSpPr>
        <p:spPr>
          <a:xfrm>
            <a:off x="3291840" y="4389120"/>
            <a:ext cx="2926080" cy="786384"/>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Score macro-regions against object masks versus grid and superpixel baselines.</a:t>
            </a:r>
            <a:endParaRPr lang="en-US" sz="1300" dirty="0"/>
          </a:p>
        </p:txBody>
      </p:sp>
      <p:sp>
        <p:nvSpPr>
          <p:cNvPr id="26" name="Text 24"/>
          <p:cNvSpPr txBox="1"/>
          <p:nvPr/>
        </p:nvSpPr>
        <p:spPr>
          <a:xfrm>
            <a:off x="6355080" y="4389120"/>
            <a:ext cx="2240280" cy="786384"/>
          </a:xfrm>
          <a:prstGeom prst="rect">
            <a:avLst/>
          </a:prstGeom>
          <a:noFill/>
          <a:ln/>
        </p:spPr>
        <p:txBody>
          <a:bodyPr wrap="square" lIns="0" tIns="0" rIns="0" bIns="0" rtlCol="0" anchor="ctr"/>
          <a:lstStyle/>
          <a:p>
            <a:pPr indent="0" marL="0">
              <a:buNone/>
            </a:pPr>
            <a:r>
              <a:rPr lang="en-US" sz="1200" i="1" dirty="0">
                <a:solidFill>
                  <a:srgbClr val="5B6B77"/>
                </a:solidFill>
                <a:latin typeface="Times New Roman" pitchFamily="34" charset="0"/>
                <a:ea typeface="Times New Roman" pitchFamily="34" charset="-122"/>
                <a:cs typeface="Times New Roman" pitchFamily="34" charset="-120"/>
              </a:rPr>
              <a:t>mIoU and purity; null result accepted</a:t>
            </a:r>
            <a:endParaRPr lang="en-US" sz="1200" dirty="0"/>
          </a:p>
        </p:txBody>
      </p:sp>
      <p:sp>
        <p:nvSpPr>
          <p:cNvPr id="27" name="Objective row RO5"/>
          <p:cNvSpPr/>
          <p:nvPr/>
        </p:nvSpPr>
        <p:spPr>
          <a:xfrm>
            <a:off x="457200" y="5321808"/>
            <a:ext cx="8229600" cy="896112"/>
          </a:xfrm>
          <a:prstGeom prst="roundRect">
            <a:avLst>
              <a:gd name="adj" fmla="val 7143"/>
            </a:avLst>
          </a:prstGeom>
          <a:solidFill>
            <a:srgbClr val="EAF1F4"/>
          </a:solidFill>
          <a:ln/>
        </p:spPr>
      </p:sp>
      <p:sp>
        <p:nvSpPr>
          <p:cNvPr id="28" name="Objective badge RO5"/>
          <p:cNvSpPr/>
          <p:nvPr/>
        </p:nvSpPr>
        <p:spPr>
          <a:xfrm>
            <a:off x="566928" y="5522976"/>
            <a:ext cx="502920" cy="502920"/>
          </a:xfrm>
          <a:prstGeom prst="ellipse">
            <a:avLst/>
          </a:prstGeom>
          <a:solidFill>
            <a:srgbClr val="F4A261"/>
          </a:solidFill>
          <a:ln/>
        </p:spPr>
      </p:sp>
      <p:sp>
        <p:nvSpPr>
          <p:cNvPr id="29" name="Objective badge RO5 label"/>
          <p:cNvSpPr txBox="1"/>
          <p:nvPr/>
        </p:nvSpPr>
        <p:spPr>
          <a:xfrm>
            <a:off x="566928" y="5522976"/>
            <a:ext cx="502920" cy="502920"/>
          </a:xfrm>
          <a:prstGeom prst="rect">
            <a:avLst/>
          </a:prstGeom>
          <a:noFill/>
          <a:ln/>
        </p:spPr>
        <p:txBody>
          <a:bodyPr wrap="square" lIns="0" tIns="0" rIns="0" bIns="0" rtlCol="0" anchor="ctr"/>
          <a:lstStyle/>
          <a:p>
            <a:pPr algn="ctr" indent="0" marL="0">
              <a:buNone/>
            </a:pPr>
            <a:r>
              <a:rPr lang="en-US" sz="1200" b="1" dirty="0">
                <a:solidFill>
                  <a:srgbClr val="0F2A3D"/>
                </a:solidFill>
                <a:latin typeface="Calibri" pitchFamily="34" charset="0"/>
                <a:ea typeface="Calibri" pitchFamily="34" charset="-122"/>
                <a:cs typeface="Calibri" pitchFamily="34" charset="-120"/>
              </a:rPr>
              <a:t>RO5</a:t>
            </a:r>
            <a:endParaRPr lang="en-US" sz="1200" dirty="0"/>
          </a:p>
        </p:txBody>
      </p:sp>
      <p:sp>
        <p:nvSpPr>
          <p:cNvPr id="30" name="Text 28"/>
          <p:cNvSpPr txBox="1"/>
          <p:nvPr/>
        </p:nvSpPr>
        <p:spPr>
          <a:xfrm>
            <a:off x="1188720" y="5376672"/>
            <a:ext cx="2011680" cy="786384"/>
          </a:xfrm>
          <a:prstGeom prst="rect">
            <a:avLst/>
          </a:prstGeom>
          <a:noFill/>
          <a:ln/>
        </p:spPr>
        <p:txBody>
          <a:bodyPr wrap="square" lIns="0" tIns="0" rIns="0" bIns="0" rtlCol="0" anchor="ctr"/>
          <a:lstStyle/>
          <a:p>
            <a:pPr indent="0" marL="0">
              <a:buNone/>
            </a:pPr>
            <a:r>
              <a:rPr lang="en-US" sz="1450" b="1" dirty="0">
                <a:solidFill>
                  <a:srgbClr val="0F2A3D"/>
                </a:solidFill>
                <a:latin typeface="Calibri" pitchFamily="34" charset="0"/>
                <a:ea typeface="Calibri" pitchFamily="34" charset="-122"/>
                <a:cs typeface="Calibri" pitchFamily="34" charset="-120"/>
              </a:rPr>
              <a:t>Protocol and dissemination</a:t>
            </a:r>
            <a:endParaRPr lang="en-US" sz="1450" dirty="0"/>
          </a:p>
        </p:txBody>
      </p:sp>
      <p:sp>
        <p:nvSpPr>
          <p:cNvPr id="31" name="Text 29"/>
          <p:cNvSpPr txBox="1"/>
          <p:nvPr/>
        </p:nvSpPr>
        <p:spPr>
          <a:xfrm>
            <a:off x="3291840" y="5376672"/>
            <a:ext cx="2926080" cy="786384"/>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OSF plan before final runs; validation split; public harness; two papers.</a:t>
            </a:r>
            <a:endParaRPr lang="en-US" sz="1300" dirty="0"/>
          </a:p>
        </p:txBody>
      </p:sp>
      <p:sp>
        <p:nvSpPr>
          <p:cNvPr id="32" name="Text 30"/>
          <p:cNvSpPr txBox="1"/>
          <p:nvPr/>
        </p:nvSpPr>
        <p:spPr>
          <a:xfrm>
            <a:off x="6355080" y="5376672"/>
            <a:ext cx="2240280" cy="786384"/>
          </a:xfrm>
          <a:prstGeom prst="rect">
            <a:avLst/>
          </a:prstGeom>
          <a:noFill/>
          <a:ln/>
        </p:spPr>
        <p:txBody>
          <a:bodyPr wrap="square" lIns="0" tIns="0" rIns="0" bIns="0" rtlCol="0" anchor="ctr"/>
          <a:lstStyle/>
          <a:p>
            <a:pPr indent="0" marL="0">
              <a:buNone/>
            </a:pPr>
            <a:r>
              <a:rPr lang="en-US" sz="1200" i="1" dirty="0">
                <a:solidFill>
                  <a:srgbClr val="5B6B77"/>
                </a:solidFill>
                <a:latin typeface="Times New Roman" pitchFamily="34" charset="0"/>
                <a:ea typeface="Times New Roman" pitchFamily="34" charset="-122"/>
                <a:cs typeface="Times New Roman" pitchFamily="34" charset="-120"/>
              </a:rPr>
              <a:t>Two submissions, audit paper first</a:t>
            </a:r>
            <a:endParaRPr lang="en-US" sz="12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Proposed Methodology</a:t>
            </a:r>
            <a:endParaRPr lang="en-US" sz="3200" dirty="0"/>
          </a:p>
        </p:txBody>
      </p:sp>
      <p:sp>
        <p:nvSpPr>
          <p:cNvPr id="3" name="Text 1"/>
          <p:cNvSpPr txBox="1"/>
          <p:nvPr/>
        </p:nvSpPr>
        <p:spPr>
          <a:xfrm>
            <a:off x="457200" y="1325880"/>
            <a:ext cx="4206240" cy="27432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Experimental arms (matched parameters and MACs)</a:t>
            </a:r>
            <a:endParaRPr lang="en-US" sz="1400" dirty="0"/>
          </a:p>
        </p:txBody>
      </p:sp>
      <p:sp>
        <p:nvSpPr>
          <p:cNvPr id="4" name="Arm card A"/>
          <p:cNvSpPr/>
          <p:nvPr/>
        </p:nvSpPr>
        <p:spPr>
          <a:xfrm>
            <a:off x="457200" y="1691640"/>
            <a:ext cx="2011680" cy="1417320"/>
          </a:xfrm>
          <a:prstGeom prst="roundRect">
            <a:avLst>
              <a:gd name="adj" fmla="val 4516"/>
            </a:avLst>
          </a:prstGeom>
          <a:solidFill>
            <a:srgbClr val="1B7F8C"/>
          </a:solidFill>
          <a:ln/>
        </p:spPr>
      </p:sp>
      <p:sp>
        <p:nvSpPr>
          <p:cNvPr id="5" name="Arm badge A"/>
          <p:cNvSpPr/>
          <p:nvPr/>
        </p:nvSpPr>
        <p:spPr>
          <a:xfrm>
            <a:off x="548640" y="1783080"/>
            <a:ext cx="457200" cy="457200"/>
          </a:xfrm>
          <a:prstGeom prst="ellipse">
            <a:avLst/>
          </a:prstGeom>
          <a:solidFill>
            <a:srgbClr val="FFFFFF"/>
          </a:solidFill>
          <a:ln/>
        </p:spPr>
      </p:sp>
      <p:sp>
        <p:nvSpPr>
          <p:cNvPr id="6" name="Arm badge A label"/>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300" b="1" dirty="0">
                <a:solidFill>
                  <a:srgbClr val="1B7F8C"/>
                </a:solidFill>
                <a:latin typeface="Calibri" pitchFamily="34" charset="0"/>
                <a:ea typeface="Calibri" pitchFamily="34" charset="-122"/>
                <a:cs typeface="Calibri" pitchFamily="34" charset="-120"/>
              </a:rPr>
              <a:t>A</a:t>
            </a:r>
            <a:endParaRPr lang="en-US" sz="1300" dirty="0"/>
          </a:p>
        </p:txBody>
      </p:sp>
      <p:sp>
        <p:nvSpPr>
          <p:cNvPr id="7" name="Text 5"/>
          <p:cNvSpPr txBox="1"/>
          <p:nvPr/>
        </p:nvSpPr>
        <p:spPr>
          <a:xfrm>
            <a:off x="1097280" y="1783080"/>
            <a:ext cx="1298448"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minor-project branch</a:t>
            </a:r>
            <a:endParaRPr lang="en-US" sz="1250" dirty="0"/>
          </a:p>
        </p:txBody>
      </p:sp>
      <p:sp>
        <p:nvSpPr>
          <p:cNvPr id="8" name="Text 6"/>
          <p:cNvSpPr txBox="1"/>
          <p:nvPr/>
        </p:nvSpPr>
        <p:spPr>
          <a:xfrm>
            <a:off x="566928" y="2350008"/>
            <a:ext cx="1792224" cy="713232"/>
          </a:xfrm>
          <a:prstGeom prst="rect">
            <a:avLst/>
          </a:prstGeom>
          <a:noFill/>
          <a:ln/>
        </p:spPr>
        <p:txBody>
          <a:bodyPr wrap="square" lIns="0" tIns="0" rIns="0" bIns="0" rtlCol="0" anchor="t"/>
          <a:lstStyle/>
          <a:p>
            <a:pPr indent="0" marL="0">
              <a:buNone/>
            </a:pPr>
            <a:r>
              <a:rPr lang="en-US" sz="1250" dirty="0">
                <a:solidFill>
                  <a:srgbClr val="FFFFFF"/>
                </a:solidFill>
                <a:latin typeface="Times New Roman" pitchFamily="34" charset="0"/>
                <a:ea typeface="Times New Roman" pitchFamily="34" charset="-122"/>
                <a:cs typeface="Times New Roman" pitchFamily="34" charset="-120"/>
              </a:rPr>
              <a:t>Learned top-3 routing, auxiliary loss on</a:t>
            </a:r>
            <a:endParaRPr lang="en-US" sz="1250" dirty="0"/>
          </a:p>
        </p:txBody>
      </p:sp>
      <p:sp>
        <p:nvSpPr>
          <p:cNvPr id="9" name="Arm card R"/>
          <p:cNvSpPr/>
          <p:nvPr/>
        </p:nvSpPr>
        <p:spPr>
          <a:xfrm>
            <a:off x="2560320" y="1691640"/>
            <a:ext cx="2011680" cy="1417320"/>
          </a:xfrm>
          <a:prstGeom prst="roundRect">
            <a:avLst>
              <a:gd name="adj" fmla="val 4516"/>
            </a:avLst>
          </a:prstGeom>
          <a:solidFill>
            <a:srgbClr val="EAF1F4"/>
          </a:solidFill>
          <a:ln/>
        </p:spPr>
      </p:sp>
      <p:sp>
        <p:nvSpPr>
          <p:cNvPr id="10" name="Arm badge R"/>
          <p:cNvSpPr/>
          <p:nvPr/>
        </p:nvSpPr>
        <p:spPr>
          <a:xfrm>
            <a:off x="2651760" y="1783080"/>
            <a:ext cx="457200" cy="457200"/>
          </a:xfrm>
          <a:prstGeom prst="ellipse">
            <a:avLst/>
          </a:prstGeom>
          <a:solidFill>
            <a:srgbClr val="1B7F8C"/>
          </a:solidFill>
          <a:ln/>
        </p:spPr>
      </p:sp>
      <p:sp>
        <p:nvSpPr>
          <p:cNvPr id="11" name="Arm badge R label"/>
          <p:cNvSpPr txBox="1"/>
          <p:nvPr/>
        </p:nvSpPr>
        <p:spPr>
          <a:xfrm>
            <a:off x="2651760" y="17830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12" name="Text 10"/>
          <p:cNvSpPr txBox="1"/>
          <p:nvPr/>
        </p:nvSpPr>
        <p:spPr>
          <a:xfrm>
            <a:off x="3200400" y="1783080"/>
            <a:ext cx="1298448" cy="457200"/>
          </a:xfrm>
          <a:prstGeom prst="rect">
            <a:avLst/>
          </a:prstGeom>
          <a:noFill/>
          <a:ln/>
        </p:spPr>
        <p:txBody>
          <a:bodyPr wrap="square" lIns="0" tIns="0" rIns="0" bIns="0" rtlCol="0" anchor="ctr"/>
          <a:lstStyle/>
          <a:p>
            <a:pPr indent="0" marL="0">
              <a:buNone/>
            </a:pPr>
            <a:r>
              <a:rPr lang="en-US" sz="1250" b="1" dirty="0">
                <a:solidFill>
                  <a:srgbClr val="0F2A3D"/>
                </a:solidFill>
                <a:latin typeface="Calibri" pitchFamily="34" charset="0"/>
                <a:ea typeface="Calibri" pitchFamily="34" charset="-122"/>
                <a:cs typeface="Calibri" pitchFamily="34" charset="-120"/>
              </a:rPr>
              <a:t>capacity control</a:t>
            </a:r>
            <a:endParaRPr lang="en-US" sz="1250" dirty="0"/>
          </a:p>
        </p:txBody>
      </p:sp>
      <p:sp>
        <p:nvSpPr>
          <p:cNvPr id="13" name="Text 11"/>
          <p:cNvSpPr txBox="1"/>
          <p:nvPr/>
        </p:nvSpPr>
        <p:spPr>
          <a:xfrm>
            <a:off x="2670048" y="2350008"/>
            <a:ext cx="1792224" cy="713232"/>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Input-independent learned slots (registers)</a:t>
            </a:r>
            <a:endParaRPr lang="en-US" sz="1250" dirty="0"/>
          </a:p>
        </p:txBody>
      </p:sp>
      <p:sp>
        <p:nvSpPr>
          <p:cNvPr id="14" name="Arm card X"/>
          <p:cNvSpPr/>
          <p:nvPr/>
        </p:nvSpPr>
        <p:spPr>
          <a:xfrm>
            <a:off x="457200" y="3200400"/>
            <a:ext cx="2011680" cy="1417320"/>
          </a:xfrm>
          <a:prstGeom prst="roundRect">
            <a:avLst>
              <a:gd name="adj" fmla="val 4516"/>
            </a:avLst>
          </a:prstGeom>
          <a:solidFill>
            <a:srgbClr val="EAF1F4"/>
          </a:solidFill>
          <a:ln/>
        </p:spPr>
      </p:sp>
      <p:sp>
        <p:nvSpPr>
          <p:cNvPr id="15" name="Arm badge X"/>
          <p:cNvSpPr/>
          <p:nvPr/>
        </p:nvSpPr>
        <p:spPr>
          <a:xfrm>
            <a:off x="548640" y="3291840"/>
            <a:ext cx="457200" cy="457200"/>
          </a:xfrm>
          <a:prstGeom prst="ellipse">
            <a:avLst/>
          </a:prstGeom>
          <a:solidFill>
            <a:srgbClr val="1B7F8C"/>
          </a:solidFill>
          <a:ln/>
        </p:spPr>
      </p:sp>
      <p:sp>
        <p:nvSpPr>
          <p:cNvPr id="16" name="Arm badge X label"/>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X</a:t>
            </a:r>
            <a:endParaRPr lang="en-US" sz="1300" dirty="0"/>
          </a:p>
        </p:txBody>
      </p:sp>
      <p:sp>
        <p:nvSpPr>
          <p:cNvPr id="17" name="Text 15"/>
          <p:cNvSpPr txBox="1"/>
          <p:nvPr/>
        </p:nvSpPr>
        <p:spPr>
          <a:xfrm>
            <a:off x="1097280" y="3291840"/>
            <a:ext cx="1298448" cy="457200"/>
          </a:xfrm>
          <a:prstGeom prst="rect">
            <a:avLst/>
          </a:prstGeom>
          <a:noFill/>
          <a:ln/>
        </p:spPr>
        <p:txBody>
          <a:bodyPr wrap="square" lIns="0" tIns="0" rIns="0" bIns="0" rtlCol="0" anchor="ctr"/>
          <a:lstStyle/>
          <a:p>
            <a:pPr indent="0" marL="0">
              <a:buNone/>
            </a:pPr>
            <a:r>
              <a:rPr lang="en-US" sz="1250" b="1" dirty="0">
                <a:solidFill>
                  <a:srgbClr val="0F2A3D"/>
                </a:solidFill>
                <a:latin typeface="Calibri" pitchFamily="34" charset="0"/>
                <a:ea typeface="Calibri" pitchFamily="34" charset="-122"/>
                <a:cs typeface="Calibri" pitchFamily="34" charset="-120"/>
              </a:rPr>
              <a:t>routing without learning</a:t>
            </a:r>
            <a:endParaRPr lang="en-US" sz="1250" dirty="0"/>
          </a:p>
        </p:txBody>
      </p:sp>
      <p:sp>
        <p:nvSpPr>
          <p:cNvPr id="18" name="Text 16"/>
          <p:cNvSpPr txBox="1"/>
          <p:nvPr/>
        </p:nvSpPr>
        <p:spPr>
          <a:xfrm>
            <a:off x="566928" y="3858768"/>
            <a:ext cx="1792224" cy="713232"/>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Frozen random router, top-3</a:t>
            </a:r>
            <a:endParaRPr lang="en-US" sz="1250" dirty="0"/>
          </a:p>
        </p:txBody>
      </p:sp>
      <p:sp>
        <p:nvSpPr>
          <p:cNvPr id="19" name="Arm card B2"/>
          <p:cNvSpPr/>
          <p:nvPr/>
        </p:nvSpPr>
        <p:spPr>
          <a:xfrm>
            <a:off x="2560320" y="3200400"/>
            <a:ext cx="2011680" cy="1417320"/>
          </a:xfrm>
          <a:prstGeom prst="roundRect">
            <a:avLst>
              <a:gd name="adj" fmla="val 4516"/>
            </a:avLst>
          </a:prstGeom>
          <a:solidFill>
            <a:srgbClr val="EAF1F4"/>
          </a:solidFill>
          <a:ln/>
        </p:spPr>
      </p:sp>
      <p:sp>
        <p:nvSpPr>
          <p:cNvPr id="20" name="Arm badge B2"/>
          <p:cNvSpPr/>
          <p:nvPr/>
        </p:nvSpPr>
        <p:spPr>
          <a:xfrm>
            <a:off x="2651760" y="3291840"/>
            <a:ext cx="457200" cy="457200"/>
          </a:xfrm>
          <a:prstGeom prst="ellipse">
            <a:avLst/>
          </a:prstGeom>
          <a:solidFill>
            <a:srgbClr val="1B7F8C"/>
          </a:solidFill>
          <a:ln/>
        </p:spPr>
      </p:sp>
      <p:sp>
        <p:nvSpPr>
          <p:cNvPr id="21" name="Arm badge B2 label"/>
          <p:cNvSpPr txBox="1"/>
          <p:nvPr/>
        </p:nvSpPr>
        <p:spPr>
          <a:xfrm>
            <a:off x="265176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B2</a:t>
            </a:r>
            <a:endParaRPr lang="en-US" sz="1300" dirty="0"/>
          </a:p>
        </p:txBody>
      </p:sp>
      <p:sp>
        <p:nvSpPr>
          <p:cNvPr id="22" name="Text 20"/>
          <p:cNvSpPr txBox="1"/>
          <p:nvPr/>
        </p:nvSpPr>
        <p:spPr>
          <a:xfrm>
            <a:off x="3200400" y="3291840"/>
            <a:ext cx="1298448" cy="457200"/>
          </a:xfrm>
          <a:prstGeom prst="rect">
            <a:avLst/>
          </a:prstGeom>
          <a:noFill/>
          <a:ln/>
        </p:spPr>
        <p:txBody>
          <a:bodyPr wrap="square" lIns="0" tIns="0" rIns="0" bIns="0" rtlCol="0" anchor="ctr"/>
          <a:lstStyle/>
          <a:p>
            <a:pPr indent="0" marL="0">
              <a:buNone/>
            </a:pPr>
            <a:r>
              <a:rPr lang="en-US" sz="1250" b="1" dirty="0">
                <a:solidFill>
                  <a:srgbClr val="0F2A3D"/>
                </a:solidFill>
                <a:latin typeface="Calibri" pitchFamily="34" charset="0"/>
                <a:ea typeface="Calibri" pitchFamily="34" charset="-122"/>
                <a:cs typeface="Calibri" pitchFamily="34" charset="-120"/>
              </a:rPr>
              <a:t>spatial-prior control</a:t>
            </a:r>
            <a:endParaRPr lang="en-US" sz="1250" dirty="0"/>
          </a:p>
        </p:txBody>
      </p:sp>
      <p:sp>
        <p:nvSpPr>
          <p:cNvPr id="23" name="Text 21"/>
          <p:cNvSpPr txBox="1"/>
          <p:nvPr/>
        </p:nvSpPr>
        <p:spPr>
          <a:xfrm>
            <a:off x="2670048" y="3858768"/>
            <a:ext cx="1792224" cy="713232"/>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Fixed block routing</a:t>
            </a:r>
            <a:endParaRPr lang="en-US" sz="1250" dirty="0"/>
          </a:p>
        </p:txBody>
      </p:sp>
      <p:sp>
        <p:nvSpPr>
          <p:cNvPr id="24" name="Arm card G"/>
          <p:cNvSpPr/>
          <p:nvPr/>
        </p:nvSpPr>
        <p:spPr>
          <a:xfrm>
            <a:off x="457200" y="4709160"/>
            <a:ext cx="2011680" cy="1417320"/>
          </a:xfrm>
          <a:prstGeom prst="roundRect">
            <a:avLst>
              <a:gd name="adj" fmla="val 4516"/>
            </a:avLst>
          </a:prstGeom>
          <a:solidFill>
            <a:srgbClr val="EAF1F4"/>
          </a:solidFill>
          <a:ln/>
        </p:spPr>
      </p:sp>
      <p:sp>
        <p:nvSpPr>
          <p:cNvPr id="25" name="Arm badge G"/>
          <p:cNvSpPr/>
          <p:nvPr/>
        </p:nvSpPr>
        <p:spPr>
          <a:xfrm>
            <a:off x="548640" y="4800600"/>
            <a:ext cx="457200" cy="457200"/>
          </a:xfrm>
          <a:prstGeom prst="ellipse">
            <a:avLst/>
          </a:prstGeom>
          <a:solidFill>
            <a:srgbClr val="1B7F8C"/>
          </a:solidFill>
          <a:ln/>
        </p:spPr>
      </p:sp>
      <p:sp>
        <p:nvSpPr>
          <p:cNvPr id="26" name="Arm badge G label"/>
          <p:cNvSpPr txBox="1"/>
          <p:nvPr/>
        </p:nvSpPr>
        <p:spPr>
          <a:xfrm>
            <a:off x="548640" y="4800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27" name="Text 25"/>
          <p:cNvSpPr txBox="1"/>
          <p:nvPr/>
        </p:nvSpPr>
        <p:spPr>
          <a:xfrm>
            <a:off x="1097280" y="4800600"/>
            <a:ext cx="1298448" cy="457200"/>
          </a:xfrm>
          <a:prstGeom prst="rect">
            <a:avLst/>
          </a:prstGeom>
          <a:noFill/>
          <a:ln/>
        </p:spPr>
        <p:txBody>
          <a:bodyPr wrap="square" lIns="0" tIns="0" rIns="0" bIns="0" rtlCol="0" anchor="ctr"/>
          <a:lstStyle/>
          <a:p>
            <a:pPr indent="0" marL="0">
              <a:buNone/>
            </a:pPr>
            <a:r>
              <a:rPr lang="en-US" sz="1250" b="1" dirty="0">
                <a:solidFill>
                  <a:srgbClr val="0F2A3D"/>
                </a:solidFill>
                <a:latin typeface="Calibri" pitchFamily="34" charset="0"/>
                <a:ea typeface="Calibri" pitchFamily="34" charset="-122"/>
                <a:cs typeface="Calibri" pitchFamily="34" charset="-120"/>
              </a:rPr>
              <a:t>compute-matched control</a:t>
            </a:r>
            <a:endParaRPr lang="en-US" sz="1250" dirty="0"/>
          </a:p>
        </p:txBody>
      </p:sp>
      <p:sp>
        <p:nvSpPr>
          <p:cNvPr id="28" name="Text 26"/>
          <p:cNvSpPr txBox="1"/>
          <p:nvPr/>
        </p:nvSpPr>
        <p:spPr>
          <a:xfrm>
            <a:off x="566928" y="5367528"/>
            <a:ext cx="1792224" cy="713232"/>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No branch, capacity spent in the backbone</a:t>
            </a:r>
            <a:endParaRPr lang="en-US" sz="1250" dirty="0"/>
          </a:p>
        </p:txBody>
      </p:sp>
      <p:sp>
        <p:nvSpPr>
          <p:cNvPr id="29" name="Arm card S"/>
          <p:cNvSpPr/>
          <p:nvPr/>
        </p:nvSpPr>
        <p:spPr>
          <a:xfrm>
            <a:off x="2560320" y="4709160"/>
            <a:ext cx="2011680" cy="1417320"/>
          </a:xfrm>
          <a:prstGeom prst="roundRect">
            <a:avLst>
              <a:gd name="adj" fmla="val 4516"/>
            </a:avLst>
          </a:prstGeom>
          <a:solidFill>
            <a:srgbClr val="EAF1F4"/>
          </a:solidFill>
          <a:ln/>
        </p:spPr>
      </p:sp>
      <p:sp>
        <p:nvSpPr>
          <p:cNvPr id="30" name="Arm badge S"/>
          <p:cNvSpPr/>
          <p:nvPr/>
        </p:nvSpPr>
        <p:spPr>
          <a:xfrm>
            <a:off x="2651760" y="4800600"/>
            <a:ext cx="457200" cy="457200"/>
          </a:xfrm>
          <a:prstGeom prst="ellipse">
            <a:avLst/>
          </a:prstGeom>
          <a:solidFill>
            <a:srgbClr val="1B7F8C"/>
          </a:solidFill>
          <a:ln/>
        </p:spPr>
      </p:sp>
      <p:sp>
        <p:nvSpPr>
          <p:cNvPr id="31" name="Arm badge S label"/>
          <p:cNvSpPr txBox="1"/>
          <p:nvPr/>
        </p:nvSpPr>
        <p:spPr>
          <a:xfrm>
            <a:off x="2651760" y="4800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a:t>
            </a:r>
            <a:endParaRPr lang="en-US" sz="1300" dirty="0"/>
          </a:p>
        </p:txBody>
      </p:sp>
      <p:sp>
        <p:nvSpPr>
          <p:cNvPr id="32" name="Text 30"/>
          <p:cNvSpPr txBox="1"/>
          <p:nvPr/>
        </p:nvSpPr>
        <p:spPr>
          <a:xfrm>
            <a:off x="3200400" y="4800600"/>
            <a:ext cx="1298448" cy="457200"/>
          </a:xfrm>
          <a:prstGeom prst="rect">
            <a:avLst/>
          </a:prstGeom>
          <a:noFill/>
          <a:ln/>
        </p:spPr>
        <p:txBody>
          <a:bodyPr wrap="square" lIns="0" tIns="0" rIns="0" bIns="0" rtlCol="0" anchor="ctr"/>
          <a:lstStyle/>
          <a:p>
            <a:pPr indent="0" marL="0">
              <a:buNone/>
            </a:pPr>
            <a:r>
              <a:rPr lang="en-US" sz="1250" b="1" dirty="0">
                <a:solidFill>
                  <a:srgbClr val="0F2A3D"/>
                </a:solidFill>
                <a:latin typeface="Calibri" pitchFamily="34" charset="0"/>
                <a:ea typeface="Calibri" pitchFamily="34" charset="-122"/>
                <a:cs typeface="Calibri" pitchFamily="34" charset="-120"/>
              </a:rPr>
              <a:t>backbone comparator</a:t>
            </a:r>
            <a:endParaRPr lang="en-US" sz="1250" dirty="0"/>
          </a:p>
        </p:txBody>
      </p:sp>
      <p:sp>
        <p:nvSpPr>
          <p:cNvPr id="33" name="Text 31"/>
          <p:cNvSpPr txBox="1"/>
          <p:nvPr/>
        </p:nvSpPr>
        <p:spPr>
          <a:xfrm>
            <a:off x="2670048" y="5367528"/>
            <a:ext cx="1792224" cy="713232"/>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MAC-matched Swin</a:t>
            </a:r>
            <a:endParaRPr lang="en-US" sz="1250" dirty="0"/>
          </a:p>
        </p:txBody>
      </p:sp>
      <p:sp>
        <p:nvSpPr>
          <p:cNvPr id="34" name="Text 32"/>
          <p:cNvSpPr txBox="1"/>
          <p:nvPr/>
        </p:nvSpPr>
        <p:spPr>
          <a:xfrm>
            <a:off x="4800600" y="1325880"/>
            <a:ext cx="3840480" cy="27432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Protocol</a:t>
            </a:r>
            <a:endParaRPr lang="en-US" sz="1400" dirty="0"/>
          </a:p>
        </p:txBody>
      </p:sp>
      <p:sp>
        <p:nvSpPr>
          <p:cNvPr id="35" name="Protocol row 1"/>
          <p:cNvSpPr/>
          <p:nvPr/>
        </p:nvSpPr>
        <p:spPr>
          <a:xfrm>
            <a:off x="4800600" y="1691640"/>
            <a:ext cx="3886200" cy="822960"/>
          </a:xfrm>
          <a:prstGeom prst="roundRect">
            <a:avLst>
              <a:gd name="adj" fmla="val 7778"/>
            </a:avLst>
          </a:prstGeom>
          <a:solidFill>
            <a:srgbClr val="FFFFFF"/>
          </a:solidFill>
          <a:ln w="12700">
            <a:solidFill>
              <a:srgbClr val="D3DEE4"/>
            </a:solidFill>
            <a:prstDash val="solid"/>
          </a:ln>
        </p:spPr>
      </p:sp>
      <p:sp>
        <p:nvSpPr>
          <p:cNvPr id="36" name="Protocol badge 1"/>
          <p:cNvSpPr/>
          <p:nvPr/>
        </p:nvSpPr>
        <p:spPr>
          <a:xfrm>
            <a:off x="4910328" y="1874520"/>
            <a:ext cx="457200" cy="457200"/>
          </a:xfrm>
          <a:prstGeom prst="ellipse">
            <a:avLst/>
          </a:prstGeom>
          <a:solidFill>
            <a:srgbClr val="F4A261"/>
          </a:solidFill>
          <a:ln/>
        </p:spPr>
      </p:sp>
      <p:sp>
        <p:nvSpPr>
          <p:cNvPr id="37" name="Protocol badge 1 label"/>
          <p:cNvSpPr txBox="1"/>
          <p:nvPr/>
        </p:nvSpPr>
        <p:spPr>
          <a:xfrm>
            <a:off x="4910328" y="1874520"/>
            <a:ext cx="457200" cy="45720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1</a:t>
            </a:r>
            <a:endParaRPr lang="en-US" sz="1300" dirty="0"/>
          </a:p>
        </p:txBody>
      </p:sp>
      <p:sp>
        <p:nvSpPr>
          <p:cNvPr id="38" name="Text 36"/>
          <p:cNvSpPr txBox="1"/>
          <p:nvPr/>
        </p:nvSpPr>
        <p:spPr>
          <a:xfrm>
            <a:off x="5486400" y="1728216"/>
            <a:ext cx="3108960" cy="749808"/>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Per-arm LR sweep (4 to 5 rates, 3+ seeds) on a held-out validation split</a:t>
            </a:r>
            <a:endParaRPr lang="en-US" sz="1300" dirty="0"/>
          </a:p>
        </p:txBody>
      </p:sp>
      <p:sp>
        <p:nvSpPr>
          <p:cNvPr id="39" name="Protocol row 2"/>
          <p:cNvSpPr/>
          <p:nvPr/>
        </p:nvSpPr>
        <p:spPr>
          <a:xfrm>
            <a:off x="4800600" y="2587752"/>
            <a:ext cx="3886200" cy="822960"/>
          </a:xfrm>
          <a:prstGeom prst="roundRect">
            <a:avLst>
              <a:gd name="adj" fmla="val 7778"/>
            </a:avLst>
          </a:prstGeom>
          <a:solidFill>
            <a:srgbClr val="FFFFFF"/>
          </a:solidFill>
          <a:ln w="12700">
            <a:solidFill>
              <a:srgbClr val="D3DEE4"/>
            </a:solidFill>
            <a:prstDash val="solid"/>
          </a:ln>
        </p:spPr>
      </p:sp>
      <p:sp>
        <p:nvSpPr>
          <p:cNvPr id="40" name="Protocol badge 2"/>
          <p:cNvSpPr/>
          <p:nvPr/>
        </p:nvSpPr>
        <p:spPr>
          <a:xfrm>
            <a:off x="4910328" y="2770632"/>
            <a:ext cx="457200" cy="457200"/>
          </a:xfrm>
          <a:prstGeom prst="ellipse">
            <a:avLst/>
          </a:prstGeom>
          <a:solidFill>
            <a:srgbClr val="F4A261"/>
          </a:solidFill>
          <a:ln/>
        </p:spPr>
      </p:sp>
      <p:sp>
        <p:nvSpPr>
          <p:cNvPr id="41" name="Protocol badge 2 label"/>
          <p:cNvSpPr txBox="1"/>
          <p:nvPr/>
        </p:nvSpPr>
        <p:spPr>
          <a:xfrm>
            <a:off x="4910328" y="2770632"/>
            <a:ext cx="457200" cy="45720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2</a:t>
            </a:r>
            <a:endParaRPr lang="en-US" sz="1300" dirty="0"/>
          </a:p>
        </p:txBody>
      </p:sp>
      <p:sp>
        <p:nvSpPr>
          <p:cNvPr id="42" name="Text 40"/>
          <p:cNvSpPr txBox="1"/>
          <p:nvPr/>
        </p:nvSpPr>
        <p:spPr>
          <a:xfrm>
            <a:off x="5486400" y="2624328"/>
            <a:ext cx="3108960" cy="749808"/>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Final: 5+ seeds, last epoch, test set used once</a:t>
            </a:r>
            <a:endParaRPr lang="en-US" sz="1300" dirty="0"/>
          </a:p>
        </p:txBody>
      </p:sp>
      <p:sp>
        <p:nvSpPr>
          <p:cNvPr id="43" name="Protocol row 3"/>
          <p:cNvSpPr/>
          <p:nvPr/>
        </p:nvSpPr>
        <p:spPr>
          <a:xfrm>
            <a:off x="4800600" y="3483864"/>
            <a:ext cx="3886200" cy="822960"/>
          </a:xfrm>
          <a:prstGeom prst="roundRect">
            <a:avLst>
              <a:gd name="adj" fmla="val 7778"/>
            </a:avLst>
          </a:prstGeom>
          <a:solidFill>
            <a:srgbClr val="FFFFFF"/>
          </a:solidFill>
          <a:ln w="12700">
            <a:solidFill>
              <a:srgbClr val="D3DEE4"/>
            </a:solidFill>
            <a:prstDash val="solid"/>
          </a:ln>
        </p:spPr>
      </p:sp>
      <p:sp>
        <p:nvSpPr>
          <p:cNvPr id="44" name="Protocol badge 3"/>
          <p:cNvSpPr/>
          <p:nvPr/>
        </p:nvSpPr>
        <p:spPr>
          <a:xfrm>
            <a:off x="4910328" y="3666744"/>
            <a:ext cx="457200" cy="457200"/>
          </a:xfrm>
          <a:prstGeom prst="ellipse">
            <a:avLst/>
          </a:prstGeom>
          <a:solidFill>
            <a:srgbClr val="F4A261"/>
          </a:solidFill>
          <a:ln/>
        </p:spPr>
      </p:sp>
      <p:sp>
        <p:nvSpPr>
          <p:cNvPr id="45" name="Protocol badge 3 label"/>
          <p:cNvSpPr txBox="1"/>
          <p:nvPr/>
        </p:nvSpPr>
        <p:spPr>
          <a:xfrm>
            <a:off x="4910328" y="3666744"/>
            <a:ext cx="457200" cy="45720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3</a:t>
            </a:r>
            <a:endParaRPr lang="en-US" sz="1300" dirty="0"/>
          </a:p>
        </p:txBody>
      </p:sp>
      <p:sp>
        <p:nvSpPr>
          <p:cNvPr id="46" name="Text 44"/>
          <p:cNvSpPr txBox="1"/>
          <p:nvPr/>
        </p:nvSpPr>
        <p:spPr>
          <a:xfrm>
            <a:off x="5486400" y="3520440"/>
            <a:ext cx="3108960" cy="749808"/>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MACs verified with a FLOP counter; GPU-hours logged</a:t>
            </a:r>
            <a:endParaRPr lang="en-US" sz="1300" dirty="0"/>
          </a:p>
        </p:txBody>
      </p:sp>
      <p:sp>
        <p:nvSpPr>
          <p:cNvPr id="47" name="Protocol row 4"/>
          <p:cNvSpPr/>
          <p:nvPr/>
        </p:nvSpPr>
        <p:spPr>
          <a:xfrm>
            <a:off x="4800600" y="4379976"/>
            <a:ext cx="3886200" cy="822960"/>
          </a:xfrm>
          <a:prstGeom prst="roundRect">
            <a:avLst>
              <a:gd name="adj" fmla="val 7778"/>
            </a:avLst>
          </a:prstGeom>
          <a:solidFill>
            <a:srgbClr val="FFFFFF"/>
          </a:solidFill>
          <a:ln w="12700">
            <a:solidFill>
              <a:srgbClr val="D3DEE4"/>
            </a:solidFill>
            <a:prstDash val="solid"/>
          </a:ln>
        </p:spPr>
      </p:sp>
      <p:sp>
        <p:nvSpPr>
          <p:cNvPr id="48" name="Protocol badge 4"/>
          <p:cNvSpPr/>
          <p:nvPr/>
        </p:nvSpPr>
        <p:spPr>
          <a:xfrm>
            <a:off x="4910328" y="4562856"/>
            <a:ext cx="457200" cy="457200"/>
          </a:xfrm>
          <a:prstGeom prst="ellipse">
            <a:avLst/>
          </a:prstGeom>
          <a:solidFill>
            <a:srgbClr val="F4A261"/>
          </a:solidFill>
          <a:ln/>
        </p:spPr>
      </p:sp>
      <p:sp>
        <p:nvSpPr>
          <p:cNvPr id="49" name="Protocol badge 4 label"/>
          <p:cNvSpPr txBox="1"/>
          <p:nvPr/>
        </p:nvSpPr>
        <p:spPr>
          <a:xfrm>
            <a:off x="4910328" y="4562856"/>
            <a:ext cx="457200" cy="45720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4</a:t>
            </a:r>
            <a:endParaRPr lang="en-US" sz="1300" dirty="0"/>
          </a:p>
        </p:txBody>
      </p:sp>
      <p:sp>
        <p:nvSpPr>
          <p:cNvPr id="50" name="Text 48"/>
          <p:cNvSpPr txBox="1"/>
          <p:nvPr/>
        </p:nvSpPr>
        <p:spPr>
          <a:xfrm>
            <a:off x="5486400" y="4416552"/>
            <a:ext cx="3108960" cy="749808"/>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Welch + Holm, TOST equivalence at 0.5 points</a:t>
            </a:r>
            <a:endParaRPr lang="en-US" sz="1300" dirty="0"/>
          </a:p>
        </p:txBody>
      </p:sp>
      <p:sp>
        <p:nvSpPr>
          <p:cNvPr id="51" name="Protocol row 5"/>
          <p:cNvSpPr/>
          <p:nvPr/>
        </p:nvSpPr>
        <p:spPr>
          <a:xfrm>
            <a:off x="4800600" y="5276088"/>
            <a:ext cx="3886200" cy="822960"/>
          </a:xfrm>
          <a:prstGeom prst="roundRect">
            <a:avLst>
              <a:gd name="adj" fmla="val 7778"/>
            </a:avLst>
          </a:prstGeom>
          <a:solidFill>
            <a:srgbClr val="FFFFFF"/>
          </a:solidFill>
          <a:ln w="12700">
            <a:solidFill>
              <a:srgbClr val="D3DEE4"/>
            </a:solidFill>
            <a:prstDash val="solid"/>
          </a:ln>
        </p:spPr>
      </p:sp>
      <p:sp>
        <p:nvSpPr>
          <p:cNvPr id="52" name="Protocol badge 5"/>
          <p:cNvSpPr/>
          <p:nvPr/>
        </p:nvSpPr>
        <p:spPr>
          <a:xfrm>
            <a:off x="4910328" y="5458968"/>
            <a:ext cx="457200" cy="457200"/>
          </a:xfrm>
          <a:prstGeom prst="ellipse">
            <a:avLst/>
          </a:prstGeom>
          <a:solidFill>
            <a:srgbClr val="F4A261"/>
          </a:solidFill>
          <a:ln/>
        </p:spPr>
      </p:sp>
      <p:sp>
        <p:nvSpPr>
          <p:cNvPr id="53" name="Protocol badge 5 label"/>
          <p:cNvSpPr txBox="1"/>
          <p:nvPr/>
        </p:nvSpPr>
        <p:spPr>
          <a:xfrm>
            <a:off x="4910328" y="5458968"/>
            <a:ext cx="457200" cy="457200"/>
          </a:xfrm>
          <a:prstGeom prst="rect">
            <a:avLst/>
          </a:prstGeom>
          <a:noFill/>
          <a:ln/>
        </p:spPr>
        <p:txBody>
          <a:bodyPr wrap="square" lIns="0" tIns="0" rIns="0" bIns="0" rtlCol="0" anchor="ctr"/>
          <a:lstStyle/>
          <a:p>
            <a:pPr algn="ctr" indent="0" marL="0">
              <a:buNone/>
            </a:pPr>
            <a:r>
              <a:rPr lang="en-US" sz="1300" b="1" dirty="0">
                <a:solidFill>
                  <a:srgbClr val="0F2A3D"/>
                </a:solidFill>
                <a:latin typeface="Calibri" pitchFamily="34" charset="0"/>
                <a:ea typeface="Calibri" pitchFamily="34" charset="-122"/>
                <a:cs typeface="Calibri" pitchFamily="34" charset="-120"/>
              </a:rPr>
              <a:t>5</a:t>
            </a:r>
            <a:endParaRPr lang="en-US" sz="1300" dirty="0"/>
          </a:p>
        </p:txBody>
      </p:sp>
      <p:sp>
        <p:nvSpPr>
          <p:cNvPr id="54" name="Text 52"/>
          <p:cNvSpPr txBox="1"/>
          <p:nvPr/>
        </p:nvSpPr>
        <p:spPr>
          <a:xfrm>
            <a:off x="5486400" y="5312664"/>
            <a:ext cx="3108960" cy="749808"/>
          </a:xfrm>
          <a:prstGeom prst="rect">
            <a:avLst/>
          </a:prstGeom>
          <a:noFill/>
          <a:ln/>
        </p:spPr>
        <p:txBody>
          <a:bodyPr wrap="square" lIns="0" tIns="0" rIns="0" bIns="0" rtlCol="0" anchor="ct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Plan registered on OSF before final runs</a:t>
            </a:r>
            <a:endParaRPr lang="en-US" sz="13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Sustainable Development Goals</a:t>
            </a:r>
            <a:endParaRPr lang="en-US" sz="3200" dirty="0"/>
          </a:p>
        </p:txBody>
      </p:sp>
      <p:sp>
        <p:nvSpPr>
          <p:cNvPr id="3" name="SDG card SDG 9"/>
          <p:cNvSpPr/>
          <p:nvPr/>
        </p:nvSpPr>
        <p:spPr>
          <a:xfrm>
            <a:off x="457200" y="1371600"/>
            <a:ext cx="2651760" cy="4846320"/>
          </a:xfrm>
          <a:prstGeom prst="roundRect">
            <a:avLst>
              <a:gd name="adj" fmla="val 2414"/>
            </a:avLst>
          </a:prstGeom>
          <a:solidFill>
            <a:srgbClr val="FFFFFF"/>
          </a:solidFill>
          <a:ln w="12700">
            <a:solidFill>
              <a:srgbClr val="D3DEE4"/>
            </a:solidFill>
            <a:prstDash val="solid"/>
          </a:ln>
        </p:spPr>
      </p:sp>
      <p:pic>
        <p:nvPicPr>
          <p:cNvPr id="4" name="SDG 9 tile" descr="SDG 9: Industry, Innovation and Infrastructure (primary)">    </p:cNvPr>
          <p:cNvPicPr>
            <a:picLocks noChangeAspect="1"/>
          </p:cNvPicPr>
          <p:nvPr/>
        </p:nvPicPr>
        <p:blipFill>
          <a:blip r:embed="rId1"/>
          <a:stretch>
            <a:fillRect/>
          </a:stretch>
        </p:blipFill>
        <p:spPr>
          <a:xfrm>
            <a:off x="914400" y="1554480"/>
            <a:ext cx="1737360" cy="1687721"/>
          </a:xfrm>
          <a:prstGeom prst="rect">
            <a:avLst/>
          </a:prstGeom>
        </p:spPr>
      </p:pic>
      <p:sp>
        <p:nvSpPr>
          <p:cNvPr id="5" name="Text 2"/>
          <p:cNvSpPr txBox="1"/>
          <p:nvPr/>
        </p:nvSpPr>
        <p:spPr>
          <a:xfrm>
            <a:off x="640080" y="3429000"/>
            <a:ext cx="228600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9 (primary)</a:t>
            </a:r>
            <a:endParaRPr lang="en-US" sz="1600" dirty="0"/>
          </a:p>
        </p:txBody>
      </p:sp>
      <p:sp>
        <p:nvSpPr>
          <p:cNvPr id="6" name="Text 3"/>
          <p:cNvSpPr txBox="1"/>
          <p:nvPr/>
        </p:nvSpPr>
        <p:spPr>
          <a:xfrm>
            <a:off x="640080" y="3840480"/>
            <a:ext cx="2286000" cy="2286000"/>
          </a:xfrm>
          <a:prstGeom prst="rect">
            <a:avLst/>
          </a:prstGeom>
          <a:noFill/>
          <a:ln/>
        </p:spPr>
        <p:txBody>
          <a:bodyPr wrap="square" lIns="0" tIns="0" rIns="0" bIns="0" rtlCol="0" anchor="t"/>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Open, licensed, reproducible harness and a capacity-controlled benchmark protocol (Target 9.5).</a:t>
            </a:r>
            <a:endParaRPr lang="en-US" sz="1600" dirty="0"/>
          </a:p>
        </p:txBody>
      </p:sp>
      <p:sp>
        <p:nvSpPr>
          <p:cNvPr id="7" name="SDG card SDG 12"/>
          <p:cNvSpPr/>
          <p:nvPr/>
        </p:nvSpPr>
        <p:spPr>
          <a:xfrm>
            <a:off x="3246120" y="1371600"/>
            <a:ext cx="2651760" cy="4846320"/>
          </a:xfrm>
          <a:prstGeom prst="roundRect">
            <a:avLst>
              <a:gd name="adj" fmla="val 2414"/>
            </a:avLst>
          </a:prstGeom>
          <a:solidFill>
            <a:srgbClr val="FFFFFF"/>
          </a:solidFill>
          <a:ln w="12700">
            <a:solidFill>
              <a:srgbClr val="D3DEE4"/>
            </a:solidFill>
            <a:prstDash val="solid"/>
          </a:ln>
        </p:spPr>
      </p:sp>
      <p:pic>
        <p:nvPicPr>
          <p:cNvPr id="8" name="SDG 12 tile" descr="SDG 12: Responsible Consumption and Production">    </p:cNvPr>
          <p:cNvPicPr>
            <a:picLocks noChangeAspect="1"/>
          </p:cNvPicPr>
          <p:nvPr/>
        </p:nvPicPr>
        <p:blipFill>
          <a:blip r:embed="rId2"/>
          <a:stretch>
            <a:fillRect/>
          </a:stretch>
        </p:blipFill>
        <p:spPr>
          <a:xfrm>
            <a:off x="3703320" y="1554480"/>
            <a:ext cx="1737360" cy="1687721"/>
          </a:xfrm>
          <a:prstGeom prst="rect">
            <a:avLst/>
          </a:prstGeom>
        </p:spPr>
      </p:pic>
      <p:sp>
        <p:nvSpPr>
          <p:cNvPr id="9" name="Text 5"/>
          <p:cNvSpPr txBox="1"/>
          <p:nvPr/>
        </p:nvSpPr>
        <p:spPr>
          <a:xfrm>
            <a:off x="3429000" y="3429000"/>
            <a:ext cx="228600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12 (supporting)</a:t>
            </a:r>
            <a:endParaRPr lang="en-US" sz="1600" dirty="0"/>
          </a:p>
        </p:txBody>
      </p:sp>
      <p:sp>
        <p:nvSpPr>
          <p:cNvPr id="10" name="Text 6"/>
          <p:cNvSpPr txBox="1"/>
          <p:nvPr/>
        </p:nvSpPr>
        <p:spPr>
          <a:xfrm>
            <a:off x="3429000" y="3840480"/>
            <a:ext cx="2286000" cy="2286000"/>
          </a:xfrm>
          <a:prstGeom prst="rect">
            <a:avLst/>
          </a:prstGeom>
          <a:noFill/>
          <a:ln/>
        </p:spPr>
        <p:txBody>
          <a:bodyPr wrap="square" lIns="0" tIns="0" rIns="0" bIns="0" rtlCol="0" anchor="t"/>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Fair-comparison protocol and published null results prevent wasted GPU runs; GPU-hours and MACs reported.</a:t>
            </a:r>
            <a:endParaRPr lang="en-US" sz="1600" dirty="0"/>
          </a:p>
        </p:txBody>
      </p:sp>
      <p:sp>
        <p:nvSpPr>
          <p:cNvPr id="11" name="SDG card SDG 13"/>
          <p:cNvSpPr/>
          <p:nvPr/>
        </p:nvSpPr>
        <p:spPr>
          <a:xfrm>
            <a:off x="6035040" y="1371600"/>
            <a:ext cx="2651760" cy="4846320"/>
          </a:xfrm>
          <a:prstGeom prst="roundRect">
            <a:avLst>
              <a:gd name="adj" fmla="val 2414"/>
            </a:avLst>
          </a:prstGeom>
          <a:solidFill>
            <a:srgbClr val="FFFFFF"/>
          </a:solidFill>
          <a:ln w="12700">
            <a:solidFill>
              <a:srgbClr val="D3DEE4"/>
            </a:solidFill>
            <a:prstDash val="solid"/>
          </a:ln>
        </p:spPr>
      </p:sp>
      <p:pic>
        <p:nvPicPr>
          <p:cNvPr id="12" name="SDG 13 tile" descr="SDG 13: Climate Action">    </p:cNvPr>
          <p:cNvPicPr>
            <a:picLocks noChangeAspect="1"/>
          </p:cNvPicPr>
          <p:nvPr/>
        </p:nvPicPr>
        <p:blipFill>
          <a:blip r:embed="rId3"/>
          <a:stretch>
            <a:fillRect/>
          </a:stretch>
        </p:blipFill>
        <p:spPr>
          <a:xfrm>
            <a:off x="6492240" y="1554480"/>
            <a:ext cx="1737360" cy="1687721"/>
          </a:xfrm>
          <a:prstGeom prst="rect">
            <a:avLst/>
          </a:prstGeom>
        </p:spPr>
      </p:pic>
      <p:sp>
        <p:nvSpPr>
          <p:cNvPr id="13" name="Text 8"/>
          <p:cNvSpPr txBox="1"/>
          <p:nvPr/>
        </p:nvSpPr>
        <p:spPr>
          <a:xfrm>
            <a:off x="6217920" y="3429000"/>
            <a:ext cx="2286000" cy="320040"/>
          </a:xfrm>
          <a:prstGeom prst="rect">
            <a:avLst/>
          </a:prstGeom>
          <a:noFill/>
          <a:ln/>
        </p:spPr>
        <p:txBody>
          <a:bodyPr wrap="square" lIns="0" tIns="0" rIns="0" bIns="0" rtlCol="0" anchor="t"/>
          <a:lstStyle/>
          <a:p>
            <a:pPr indent="0" marL="0">
              <a:buNone/>
            </a:pPr>
            <a:r>
              <a:rPr lang="en-US" sz="1600" b="1" dirty="0">
                <a:solidFill>
                  <a:srgbClr val="0F2A3D"/>
                </a:solidFill>
                <a:latin typeface="Calibri" pitchFamily="34" charset="0"/>
                <a:ea typeface="Calibri" pitchFamily="34" charset="-122"/>
                <a:cs typeface="Calibri" pitchFamily="34" charset="-120"/>
              </a:rPr>
              <a:t>SDG 13 (supporting)</a:t>
            </a:r>
            <a:endParaRPr lang="en-US" sz="1600" dirty="0"/>
          </a:p>
        </p:txBody>
      </p:sp>
      <p:sp>
        <p:nvSpPr>
          <p:cNvPr id="14" name="Text 9"/>
          <p:cNvSpPr txBox="1"/>
          <p:nvPr/>
        </p:nvSpPr>
        <p:spPr>
          <a:xfrm>
            <a:off x="6217920" y="3840480"/>
            <a:ext cx="2286000" cy="2286000"/>
          </a:xfrm>
          <a:prstGeom prst="rect">
            <a:avLst/>
          </a:prstGeom>
          <a:noFill/>
          <a:ln/>
        </p:spPr>
        <p:txBody>
          <a:bodyPr wrap="square" lIns="0" tIns="0" rIns="0" bIns="0" rtlCol="0" anchor="t"/>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Efficiency-aware reporting makes compute cost visible. Indirect contribution, no emissions claim.</a:t>
            </a:r>
            <a:endParaRPr lang="en-US" sz="16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Plan of Action (Gantt Chart)</a:t>
            </a:r>
            <a:endParaRPr lang="en-US" sz="3200" dirty="0"/>
          </a:p>
        </p:txBody>
      </p:sp>
      <p:sp>
        <p:nvSpPr>
          <p:cNvPr id="3" name="Month Nov"/>
          <p:cNvSpPr/>
          <p:nvPr/>
        </p:nvSpPr>
        <p:spPr>
          <a:xfrm>
            <a:off x="2834640" y="1325880"/>
            <a:ext cx="828136" cy="292608"/>
          </a:xfrm>
          <a:prstGeom prst="rect">
            <a:avLst/>
          </a:prstGeom>
          <a:solidFill>
            <a:srgbClr val="0F2A3D"/>
          </a:solidFill>
          <a:ln/>
        </p:spPr>
      </p:sp>
      <p:sp>
        <p:nvSpPr>
          <p:cNvPr id="4" name="Text 2"/>
          <p:cNvSpPr txBox="1"/>
          <p:nvPr/>
        </p:nvSpPr>
        <p:spPr>
          <a:xfrm>
            <a:off x="2834640" y="1325880"/>
            <a:ext cx="828136"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Nov</a:t>
            </a:r>
            <a:endParaRPr lang="en-US" sz="1150" dirty="0"/>
          </a:p>
        </p:txBody>
      </p:sp>
      <p:sp>
        <p:nvSpPr>
          <p:cNvPr id="5" name="Gridline Nov"/>
          <p:cNvSpPr/>
          <p:nvPr/>
        </p:nvSpPr>
        <p:spPr>
          <a:xfrm>
            <a:off x="2834640" y="2240280"/>
            <a:ext cx="0" cy="3291840"/>
          </a:xfrm>
          <a:prstGeom prst="line">
            <a:avLst/>
          </a:prstGeom>
          <a:noFill/>
          <a:ln w="6350">
            <a:solidFill>
              <a:srgbClr val="D3DEE4"/>
            </a:solidFill>
            <a:prstDash val="solid"/>
          </a:ln>
        </p:spPr>
      </p:sp>
      <p:sp>
        <p:nvSpPr>
          <p:cNvPr id="6" name="Month Dec"/>
          <p:cNvSpPr/>
          <p:nvPr/>
        </p:nvSpPr>
        <p:spPr>
          <a:xfrm>
            <a:off x="3662776" y="1325880"/>
            <a:ext cx="855740" cy="292608"/>
          </a:xfrm>
          <a:prstGeom prst="rect">
            <a:avLst/>
          </a:prstGeom>
          <a:solidFill>
            <a:srgbClr val="2A4A5E"/>
          </a:solidFill>
          <a:ln/>
        </p:spPr>
      </p:sp>
      <p:sp>
        <p:nvSpPr>
          <p:cNvPr id="7" name="Text 5"/>
          <p:cNvSpPr txBox="1"/>
          <p:nvPr/>
        </p:nvSpPr>
        <p:spPr>
          <a:xfrm>
            <a:off x="3662776" y="1325880"/>
            <a:ext cx="85574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Dec</a:t>
            </a:r>
            <a:endParaRPr lang="en-US" sz="1150" dirty="0"/>
          </a:p>
        </p:txBody>
      </p:sp>
      <p:sp>
        <p:nvSpPr>
          <p:cNvPr id="8" name="Gridline Dec"/>
          <p:cNvSpPr/>
          <p:nvPr/>
        </p:nvSpPr>
        <p:spPr>
          <a:xfrm>
            <a:off x="3662776" y="2240280"/>
            <a:ext cx="0" cy="3291840"/>
          </a:xfrm>
          <a:prstGeom prst="line">
            <a:avLst/>
          </a:prstGeom>
          <a:noFill/>
          <a:ln w="6350">
            <a:solidFill>
              <a:srgbClr val="D3DEE4"/>
            </a:solidFill>
            <a:prstDash val="solid"/>
          </a:ln>
        </p:spPr>
      </p:sp>
      <p:sp>
        <p:nvSpPr>
          <p:cNvPr id="9" name="Month Jan"/>
          <p:cNvSpPr/>
          <p:nvPr/>
        </p:nvSpPr>
        <p:spPr>
          <a:xfrm>
            <a:off x="4518516" y="1325880"/>
            <a:ext cx="855740" cy="292608"/>
          </a:xfrm>
          <a:prstGeom prst="rect">
            <a:avLst/>
          </a:prstGeom>
          <a:solidFill>
            <a:srgbClr val="0F2A3D"/>
          </a:solidFill>
          <a:ln/>
        </p:spPr>
      </p:sp>
      <p:sp>
        <p:nvSpPr>
          <p:cNvPr id="10" name="Text 8"/>
          <p:cNvSpPr txBox="1"/>
          <p:nvPr/>
        </p:nvSpPr>
        <p:spPr>
          <a:xfrm>
            <a:off x="4518516" y="1325880"/>
            <a:ext cx="85574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Jan</a:t>
            </a:r>
            <a:endParaRPr lang="en-US" sz="1150" dirty="0"/>
          </a:p>
        </p:txBody>
      </p:sp>
      <p:sp>
        <p:nvSpPr>
          <p:cNvPr id="11" name="Gridline Jan"/>
          <p:cNvSpPr/>
          <p:nvPr/>
        </p:nvSpPr>
        <p:spPr>
          <a:xfrm>
            <a:off x="4518516" y="2240280"/>
            <a:ext cx="0" cy="3291840"/>
          </a:xfrm>
          <a:prstGeom prst="line">
            <a:avLst/>
          </a:prstGeom>
          <a:noFill/>
          <a:ln w="6350">
            <a:solidFill>
              <a:srgbClr val="D3DEE4"/>
            </a:solidFill>
            <a:prstDash val="solid"/>
          </a:ln>
        </p:spPr>
      </p:sp>
      <p:sp>
        <p:nvSpPr>
          <p:cNvPr id="12" name="Month Feb"/>
          <p:cNvSpPr/>
          <p:nvPr/>
        </p:nvSpPr>
        <p:spPr>
          <a:xfrm>
            <a:off x="5374257" y="1325880"/>
            <a:ext cx="772927" cy="292608"/>
          </a:xfrm>
          <a:prstGeom prst="rect">
            <a:avLst/>
          </a:prstGeom>
          <a:solidFill>
            <a:srgbClr val="2A4A5E"/>
          </a:solidFill>
          <a:ln/>
        </p:spPr>
      </p:sp>
      <p:sp>
        <p:nvSpPr>
          <p:cNvPr id="13" name="Text 11"/>
          <p:cNvSpPr txBox="1"/>
          <p:nvPr/>
        </p:nvSpPr>
        <p:spPr>
          <a:xfrm>
            <a:off x="5374257" y="1325880"/>
            <a:ext cx="772927"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Feb</a:t>
            </a:r>
            <a:endParaRPr lang="en-US" sz="1150" dirty="0"/>
          </a:p>
        </p:txBody>
      </p:sp>
      <p:sp>
        <p:nvSpPr>
          <p:cNvPr id="14" name="Gridline Feb"/>
          <p:cNvSpPr/>
          <p:nvPr/>
        </p:nvSpPr>
        <p:spPr>
          <a:xfrm>
            <a:off x="5374257" y="2240280"/>
            <a:ext cx="0" cy="3291840"/>
          </a:xfrm>
          <a:prstGeom prst="line">
            <a:avLst/>
          </a:prstGeom>
          <a:noFill/>
          <a:ln w="6350">
            <a:solidFill>
              <a:srgbClr val="D3DEE4"/>
            </a:solidFill>
            <a:prstDash val="solid"/>
          </a:ln>
        </p:spPr>
      </p:sp>
      <p:sp>
        <p:nvSpPr>
          <p:cNvPr id="15" name="Month Mar"/>
          <p:cNvSpPr/>
          <p:nvPr/>
        </p:nvSpPr>
        <p:spPr>
          <a:xfrm>
            <a:off x="6147183" y="1325880"/>
            <a:ext cx="855740" cy="292608"/>
          </a:xfrm>
          <a:prstGeom prst="rect">
            <a:avLst/>
          </a:prstGeom>
          <a:solidFill>
            <a:srgbClr val="0F2A3D"/>
          </a:solidFill>
          <a:ln/>
        </p:spPr>
      </p:sp>
      <p:sp>
        <p:nvSpPr>
          <p:cNvPr id="16" name="Text 14"/>
          <p:cNvSpPr txBox="1"/>
          <p:nvPr/>
        </p:nvSpPr>
        <p:spPr>
          <a:xfrm>
            <a:off x="6147183" y="1325880"/>
            <a:ext cx="85574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Mar</a:t>
            </a:r>
            <a:endParaRPr lang="en-US" sz="1150" dirty="0"/>
          </a:p>
        </p:txBody>
      </p:sp>
      <p:sp>
        <p:nvSpPr>
          <p:cNvPr id="17" name="Gridline Mar"/>
          <p:cNvSpPr/>
          <p:nvPr/>
        </p:nvSpPr>
        <p:spPr>
          <a:xfrm>
            <a:off x="6147183" y="2240280"/>
            <a:ext cx="0" cy="3291840"/>
          </a:xfrm>
          <a:prstGeom prst="line">
            <a:avLst/>
          </a:prstGeom>
          <a:noFill/>
          <a:ln w="6350">
            <a:solidFill>
              <a:srgbClr val="D3DEE4"/>
            </a:solidFill>
            <a:prstDash val="solid"/>
          </a:ln>
        </p:spPr>
      </p:sp>
      <p:sp>
        <p:nvSpPr>
          <p:cNvPr id="18" name="Month Apr"/>
          <p:cNvSpPr/>
          <p:nvPr/>
        </p:nvSpPr>
        <p:spPr>
          <a:xfrm>
            <a:off x="7002924" y="1325880"/>
            <a:ext cx="828136" cy="292608"/>
          </a:xfrm>
          <a:prstGeom prst="rect">
            <a:avLst/>
          </a:prstGeom>
          <a:solidFill>
            <a:srgbClr val="2A4A5E"/>
          </a:solidFill>
          <a:ln/>
        </p:spPr>
      </p:sp>
      <p:sp>
        <p:nvSpPr>
          <p:cNvPr id="19" name="Text 17"/>
          <p:cNvSpPr txBox="1"/>
          <p:nvPr/>
        </p:nvSpPr>
        <p:spPr>
          <a:xfrm>
            <a:off x="7002924" y="1325880"/>
            <a:ext cx="828136"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Apr</a:t>
            </a:r>
            <a:endParaRPr lang="en-US" sz="1150" dirty="0"/>
          </a:p>
        </p:txBody>
      </p:sp>
      <p:sp>
        <p:nvSpPr>
          <p:cNvPr id="20" name="Gridline Apr"/>
          <p:cNvSpPr/>
          <p:nvPr/>
        </p:nvSpPr>
        <p:spPr>
          <a:xfrm>
            <a:off x="7002924" y="2240280"/>
            <a:ext cx="0" cy="3291840"/>
          </a:xfrm>
          <a:prstGeom prst="line">
            <a:avLst/>
          </a:prstGeom>
          <a:noFill/>
          <a:ln w="6350">
            <a:solidFill>
              <a:srgbClr val="D3DEE4"/>
            </a:solidFill>
            <a:prstDash val="solid"/>
          </a:ln>
        </p:spPr>
      </p:sp>
      <p:sp>
        <p:nvSpPr>
          <p:cNvPr id="21" name="Month May"/>
          <p:cNvSpPr/>
          <p:nvPr/>
        </p:nvSpPr>
        <p:spPr>
          <a:xfrm>
            <a:off x="7831060" y="1325880"/>
            <a:ext cx="855740" cy="292608"/>
          </a:xfrm>
          <a:prstGeom prst="rect">
            <a:avLst/>
          </a:prstGeom>
          <a:solidFill>
            <a:srgbClr val="0F2A3D"/>
          </a:solidFill>
          <a:ln/>
        </p:spPr>
      </p:sp>
      <p:sp>
        <p:nvSpPr>
          <p:cNvPr id="22" name="Text 20"/>
          <p:cNvSpPr txBox="1"/>
          <p:nvPr/>
        </p:nvSpPr>
        <p:spPr>
          <a:xfrm>
            <a:off x="7831060" y="1325880"/>
            <a:ext cx="85574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May</a:t>
            </a:r>
            <a:endParaRPr lang="en-US" sz="1150" dirty="0"/>
          </a:p>
        </p:txBody>
      </p:sp>
      <p:sp>
        <p:nvSpPr>
          <p:cNvPr id="23" name="Gridline May"/>
          <p:cNvSpPr/>
          <p:nvPr/>
        </p:nvSpPr>
        <p:spPr>
          <a:xfrm>
            <a:off x="7831060" y="2240280"/>
            <a:ext cx="0" cy="3291840"/>
          </a:xfrm>
          <a:prstGeom prst="line">
            <a:avLst/>
          </a:prstGeom>
          <a:noFill/>
          <a:ln w="6350">
            <a:solidFill>
              <a:srgbClr val="D3DEE4"/>
            </a:solidFill>
            <a:prstDash val="solid"/>
          </a:ln>
        </p:spPr>
      </p:sp>
      <p:sp>
        <p:nvSpPr>
          <p:cNvPr id="24" name="Band Review 0"/>
          <p:cNvSpPr/>
          <p:nvPr/>
        </p:nvSpPr>
        <p:spPr>
          <a:xfrm>
            <a:off x="2972663" y="2240280"/>
            <a:ext cx="110418" cy="3291840"/>
          </a:xfrm>
          <a:prstGeom prst="rect">
            <a:avLst/>
          </a:prstGeom>
          <a:solidFill>
            <a:srgbClr val="F4A261">
              <a:alpha val="30000"/>
            </a:srgbClr>
          </a:solidFill>
          <a:ln/>
        </p:spPr>
      </p:sp>
      <p:sp>
        <p:nvSpPr>
          <p:cNvPr id="25" name="Band Changes window"/>
          <p:cNvSpPr/>
          <p:nvPr/>
        </p:nvSpPr>
        <p:spPr>
          <a:xfrm>
            <a:off x="4656539" y="2240280"/>
            <a:ext cx="193232" cy="3291840"/>
          </a:xfrm>
          <a:prstGeom prst="rect">
            <a:avLst/>
          </a:prstGeom>
          <a:solidFill>
            <a:srgbClr val="F4A261">
              <a:alpha val="30000"/>
            </a:srgbClr>
          </a:solidFill>
          <a:ln/>
        </p:spPr>
      </p:sp>
      <p:sp>
        <p:nvSpPr>
          <p:cNvPr id="26" name="Band Review I"/>
          <p:cNvSpPr/>
          <p:nvPr/>
        </p:nvSpPr>
        <p:spPr>
          <a:xfrm>
            <a:off x="5125816" y="2240280"/>
            <a:ext cx="193232" cy="3291840"/>
          </a:xfrm>
          <a:prstGeom prst="rect">
            <a:avLst/>
          </a:prstGeom>
          <a:solidFill>
            <a:srgbClr val="F4A261">
              <a:alpha val="30000"/>
            </a:srgbClr>
          </a:solidFill>
          <a:ln/>
        </p:spPr>
      </p:sp>
      <p:sp>
        <p:nvSpPr>
          <p:cNvPr id="27" name="Band Review II"/>
          <p:cNvSpPr/>
          <p:nvPr/>
        </p:nvSpPr>
        <p:spPr>
          <a:xfrm>
            <a:off x="6174788" y="2240280"/>
            <a:ext cx="193232" cy="3291840"/>
          </a:xfrm>
          <a:prstGeom prst="rect">
            <a:avLst/>
          </a:prstGeom>
          <a:solidFill>
            <a:srgbClr val="F4A261">
              <a:alpha val="30000"/>
            </a:srgbClr>
          </a:solidFill>
          <a:ln/>
        </p:spPr>
      </p:sp>
      <p:sp>
        <p:nvSpPr>
          <p:cNvPr id="28" name="Band Review III"/>
          <p:cNvSpPr/>
          <p:nvPr/>
        </p:nvSpPr>
        <p:spPr>
          <a:xfrm>
            <a:off x="7527410" y="2240280"/>
            <a:ext cx="110418" cy="3291840"/>
          </a:xfrm>
          <a:prstGeom prst="rect">
            <a:avLst/>
          </a:prstGeom>
          <a:solidFill>
            <a:srgbClr val="F4A261">
              <a:alpha val="30000"/>
            </a:srgbClr>
          </a:solidFill>
          <a:ln/>
        </p:spPr>
      </p:sp>
      <p:sp>
        <p:nvSpPr>
          <p:cNvPr id="29" name="Band Report"/>
          <p:cNvSpPr/>
          <p:nvPr/>
        </p:nvSpPr>
        <p:spPr>
          <a:xfrm>
            <a:off x="7748246" y="2240280"/>
            <a:ext cx="220836" cy="3291840"/>
          </a:xfrm>
          <a:prstGeom prst="rect">
            <a:avLst/>
          </a:prstGeom>
          <a:solidFill>
            <a:srgbClr val="F4A261">
              <a:alpha val="30000"/>
            </a:srgbClr>
          </a:solidFill>
          <a:ln/>
        </p:spPr>
      </p:sp>
      <p:sp>
        <p:nvSpPr>
          <p:cNvPr id="30" name="Band Viva"/>
          <p:cNvSpPr/>
          <p:nvPr/>
        </p:nvSpPr>
        <p:spPr>
          <a:xfrm>
            <a:off x="7996687" y="2240280"/>
            <a:ext cx="220836" cy="3291840"/>
          </a:xfrm>
          <a:prstGeom prst="rect">
            <a:avLst/>
          </a:prstGeom>
          <a:solidFill>
            <a:srgbClr val="F4A261">
              <a:alpha val="30000"/>
            </a:srgbClr>
          </a:solidFill>
          <a:ln/>
        </p:spPr>
      </p:sp>
      <p:sp>
        <p:nvSpPr>
          <p:cNvPr id="31" name="Milestone Review 0"/>
          <p:cNvSpPr/>
          <p:nvPr/>
        </p:nvSpPr>
        <p:spPr>
          <a:xfrm>
            <a:off x="2808416" y="1682496"/>
            <a:ext cx="438912" cy="210312"/>
          </a:xfrm>
          <a:prstGeom prst="roundRect">
            <a:avLst>
              <a:gd name="adj" fmla="val 30435"/>
            </a:avLst>
          </a:prstGeom>
          <a:solidFill>
            <a:srgbClr val="F4A261"/>
          </a:solidFill>
          <a:ln/>
        </p:spPr>
      </p:sp>
      <p:sp>
        <p:nvSpPr>
          <p:cNvPr id="32" name="Text 30"/>
          <p:cNvSpPr txBox="1"/>
          <p:nvPr/>
        </p:nvSpPr>
        <p:spPr>
          <a:xfrm>
            <a:off x="2808416" y="1682496"/>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R0</a:t>
            </a:r>
            <a:endParaRPr lang="en-US" sz="1000" dirty="0"/>
          </a:p>
        </p:txBody>
      </p:sp>
      <p:sp>
        <p:nvSpPr>
          <p:cNvPr id="33" name="Milestone Changes window"/>
          <p:cNvSpPr/>
          <p:nvPr/>
        </p:nvSpPr>
        <p:spPr>
          <a:xfrm>
            <a:off x="4533699" y="1929384"/>
            <a:ext cx="438912" cy="210312"/>
          </a:xfrm>
          <a:prstGeom prst="roundRect">
            <a:avLst>
              <a:gd name="adj" fmla="val 30435"/>
            </a:avLst>
          </a:prstGeom>
          <a:solidFill>
            <a:srgbClr val="F4A261"/>
          </a:solidFill>
          <a:ln/>
        </p:spPr>
      </p:sp>
      <p:sp>
        <p:nvSpPr>
          <p:cNvPr id="34" name="Text 32"/>
          <p:cNvSpPr txBox="1"/>
          <p:nvPr/>
        </p:nvSpPr>
        <p:spPr>
          <a:xfrm>
            <a:off x="4533699" y="1929384"/>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Chg</a:t>
            </a:r>
            <a:endParaRPr lang="en-US" sz="1000" dirty="0"/>
          </a:p>
        </p:txBody>
      </p:sp>
      <p:sp>
        <p:nvSpPr>
          <p:cNvPr id="35" name="Milestone Review I"/>
          <p:cNvSpPr/>
          <p:nvPr/>
        </p:nvSpPr>
        <p:spPr>
          <a:xfrm>
            <a:off x="5002976" y="1682496"/>
            <a:ext cx="438912" cy="210312"/>
          </a:xfrm>
          <a:prstGeom prst="roundRect">
            <a:avLst>
              <a:gd name="adj" fmla="val 30435"/>
            </a:avLst>
          </a:prstGeom>
          <a:solidFill>
            <a:srgbClr val="F4A261"/>
          </a:solidFill>
          <a:ln/>
        </p:spPr>
      </p:sp>
      <p:sp>
        <p:nvSpPr>
          <p:cNvPr id="36" name="Text 34"/>
          <p:cNvSpPr txBox="1"/>
          <p:nvPr/>
        </p:nvSpPr>
        <p:spPr>
          <a:xfrm>
            <a:off x="5002976" y="1682496"/>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a:t>
            </a:r>
            <a:endParaRPr lang="en-US" sz="1000" dirty="0"/>
          </a:p>
        </p:txBody>
      </p:sp>
      <p:sp>
        <p:nvSpPr>
          <p:cNvPr id="37" name="Milestone Review II"/>
          <p:cNvSpPr/>
          <p:nvPr/>
        </p:nvSpPr>
        <p:spPr>
          <a:xfrm>
            <a:off x="6051948" y="1929384"/>
            <a:ext cx="438912" cy="210312"/>
          </a:xfrm>
          <a:prstGeom prst="roundRect">
            <a:avLst>
              <a:gd name="adj" fmla="val 30435"/>
            </a:avLst>
          </a:prstGeom>
          <a:solidFill>
            <a:srgbClr val="F4A261"/>
          </a:solidFill>
          <a:ln/>
        </p:spPr>
      </p:sp>
      <p:sp>
        <p:nvSpPr>
          <p:cNvPr id="38" name="Text 36"/>
          <p:cNvSpPr txBox="1"/>
          <p:nvPr/>
        </p:nvSpPr>
        <p:spPr>
          <a:xfrm>
            <a:off x="6051948" y="1929384"/>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R-II</a:t>
            </a:r>
            <a:endParaRPr lang="en-US" sz="1000" dirty="0"/>
          </a:p>
        </p:txBody>
      </p:sp>
      <p:sp>
        <p:nvSpPr>
          <p:cNvPr id="39" name="Milestone Review III"/>
          <p:cNvSpPr/>
          <p:nvPr/>
        </p:nvSpPr>
        <p:spPr>
          <a:xfrm>
            <a:off x="7363163" y="1682496"/>
            <a:ext cx="438912" cy="210312"/>
          </a:xfrm>
          <a:prstGeom prst="roundRect">
            <a:avLst>
              <a:gd name="adj" fmla="val 30435"/>
            </a:avLst>
          </a:prstGeom>
          <a:solidFill>
            <a:srgbClr val="F4A261"/>
          </a:solidFill>
          <a:ln/>
        </p:spPr>
      </p:sp>
      <p:sp>
        <p:nvSpPr>
          <p:cNvPr id="40" name="Text 38"/>
          <p:cNvSpPr txBox="1"/>
          <p:nvPr/>
        </p:nvSpPr>
        <p:spPr>
          <a:xfrm>
            <a:off x="7363163" y="1682496"/>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R-III</a:t>
            </a:r>
            <a:endParaRPr lang="en-US" sz="1000" dirty="0"/>
          </a:p>
        </p:txBody>
      </p:sp>
      <p:sp>
        <p:nvSpPr>
          <p:cNvPr id="41" name="Milestone Report"/>
          <p:cNvSpPr/>
          <p:nvPr/>
        </p:nvSpPr>
        <p:spPr>
          <a:xfrm>
            <a:off x="7639208" y="1929384"/>
            <a:ext cx="438912" cy="210312"/>
          </a:xfrm>
          <a:prstGeom prst="roundRect">
            <a:avLst>
              <a:gd name="adj" fmla="val 30435"/>
            </a:avLst>
          </a:prstGeom>
          <a:solidFill>
            <a:srgbClr val="F4A261"/>
          </a:solidFill>
          <a:ln/>
        </p:spPr>
      </p:sp>
      <p:sp>
        <p:nvSpPr>
          <p:cNvPr id="42" name="Text 40"/>
          <p:cNvSpPr txBox="1"/>
          <p:nvPr/>
        </p:nvSpPr>
        <p:spPr>
          <a:xfrm>
            <a:off x="7639208" y="1929384"/>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Rpt</a:t>
            </a:r>
            <a:endParaRPr lang="en-US" sz="1000" dirty="0"/>
          </a:p>
        </p:txBody>
      </p:sp>
      <p:sp>
        <p:nvSpPr>
          <p:cNvPr id="43" name="Milestone Viva"/>
          <p:cNvSpPr/>
          <p:nvPr/>
        </p:nvSpPr>
        <p:spPr>
          <a:xfrm>
            <a:off x="7887649" y="1682496"/>
            <a:ext cx="438912" cy="210312"/>
          </a:xfrm>
          <a:prstGeom prst="roundRect">
            <a:avLst>
              <a:gd name="adj" fmla="val 30435"/>
            </a:avLst>
          </a:prstGeom>
          <a:solidFill>
            <a:srgbClr val="F4A261"/>
          </a:solidFill>
          <a:ln/>
        </p:spPr>
      </p:sp>
      <p:sp>
        <p:nvSpPr>
          <p:cNvPr id="44" name="Text 42"/>
          <p:cNvSpPr txBox="1"/>
          <p:nvPr/>
        </p:nvSpPr>
        <p:spPr>
          <a:xfrm>
            <a:off x="7887649" y="1682496"/>
            <a:ext cx="438912" cy="210312"/>
          </a:xfrm>
          <a:prstGeom prst="rect">
            <a:avLst/>
          </a:prstGeom>
          <a:noFill/>
          <a:ln/>
        </p:spPr>
        <p:txBody>
          <a:bodyPr wrap="square" lIns="0" tIns="0" rIns="0" bIns="0" rtlCol="0" anchor="ctr"/>
          <a:lstStyle/>
          <a:p>
            <a:pPr algn="ctr" indent="0" marL="0">
              <a:buNone/>
            </a:pPr>
            <a:r>
              <a:rPr lang="en-US" sz="1000" b="1" dirty="0">
                <a:solidFill>
                  <a:srgbClr val="0F2A3D"/>
                </a:solidFill>
                <a:latin typeface="Calibri" pitchFamily="34" charset="0"/>
                <a:ea typeface="Calibri" pitchFamily="34" charset="-122"/>
                <a:cs typeface="Calibri" pitchFamily="34" charset="-120"/>
              </a:rPr>
              <a:t>Viva</a:t>
            </a:r>
            <a:endParaRPr lang="en-US" sz="1000" dirty="0"/>
          </a:p>
        </p:txBody>
      </p:sp>
      <p:sp>
        <p:nvSpPr>
          <p:cNvPr id="45" name="Row tint WP1"/>
          <p:cNvSpPr/>
          <p:nvPr/>
        </p:nvSpPr>
        <p:spPr>
          <a:xfrm>
            <a:off x="457200" y="2286000"/>
            <a:ext cx="8229600" cy="457200"/>
          </a:xfrm>
          <a:prstGeom prst="rect">
            <a:avLst/>
          </a:prstGeom>
          <a:solidFill>
            <a:srgbClr val="EAF1F4">
              <a:alpha val="50000"/>
            </a:srgbClr>
          </a:solidFill>
          <a:ln/>
        </p:spPr>
      </p:sp>
      <p:sp>
        <p:nvSpPr>
          <p:cNvPr id="46" name="Row tint WP3"/>
          <p:cNvSpPr/>
          <p:nvPr/>
        </p:nvSpPr>
        <p:spPr>
          <a:xfrm>
            <a:off x="457200" y="3200400"/>
            <a:ext cx="8229600" cy="457200"/>
          </a:xfrm>
          <a:prstGeom prst="rect">
            <a:avLst/>
          </a:prstGeom>
          <a:solidFill>
            <a:srgbClr val="EAF1F4">
              <a:alpha val="50000"/>
            </a:srgbClr>
          </a:solidFill>
          <a:ln/>
        </p:spPr>
      </p:sp>
      <p:sp>
        <p:nvSpPr>
          <p:cNvPr id="47" name="Row tint WP5"/>
          <p:cNvSpPr/>
          <p:nvPr/>
        </p:nvSpPr>
        <p:spPr>
          <a:xfrm>
            <a:off x="457200" y="4114800"/>
            <a:ext cx="8229600" cy="457200"/>
          </a:xfrm>
          <a:prstGeom prst="rect">
            <a:avLst/>
          </a:prstGeom>
          <a:solidFill>
            <a:srgbClr val="EAF1F4">
              <a:alpha val="50000"/>
            </a:srgbClr>
          </a:solidFill>
          <a:ln/>
        </p:spPr>
      </p:sp>
      <p:sp>
        <p:nvSpPr>
          <p:cNvPr id="48" name="Row tint WP7"/>
          <p:cNvSpPr/>
          <p:nvPr/>
        </p:nvSpPr>
        <p:spPr>
          <a:xfrm>
            <a:off x="457200" y="5029200"/>
            <a:ext cx="8229600" cy="457200"/>
          </a:xfrm>
          <a:prstGeom prst="rect">
            <a:avLst/>
          </a:prstGeom>
          <a:solidFill>
            <a:srgbClr val="EAF1F4">
              <a:alpha val="50000"/>
            </a:srgbClr>
          </a:solidFill>
          <a:ln/>
        </p:spPr>
      </p:sp>
      <p:sp>
        <p:nvSpPr>
          <p:cNvPr id="49" name="Text 47"/>
          <p:cNvSpPr txBox="1"/>
          <p:nvPr/>
        </p:nvSpPr>
        <p:spPr>
          <a:xfrm>
            <a:off x="502920" y="22860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WP1 </a:t>
            </a:r>
            <a:pPr indent="0" marL="0">
              <a:buNone/>
            </a:pPr>
            <a:r>
              <a:rPr lang="en-US" sz="1100" dirty="0">
                <a:solidFill>
                  <a:srgbClr val="1A1A1A"/>
                </a:solidFill>
                <a:latin typeface="Times New Roman" pitchFamily="34" charset="0"/>
                <a:ea typeface="Times New Roman" pitchFamily="34" charset="-122"/>
                <a:cs typeface="Times New Roman" pitchFamily="34" charset="-120"/>
              </a:rPr>
              <a:t>Corrected release and erratum</a:t>
            </a:r>
            <a:endParaRPr lang="en-US" sz="1100" dirty="0"/>
          </a:p>
        </p:txBody>
      </p:sp>
      <p:sp>
        <p:nvSpPr>
          <p:cNvPr id="50" name="Bar WP1"/>
          <p:cNvSpPr/>
          <p:nvPr/>
        </p:nvSpPr>
        <p:spPr>
          <a:xfrm>
            <a:off x="3110685" y="2377440"/>
            <a:ext cx="1076577" cy="274320"/>
          </a:xfrm>
          <a:prstGeom prst="roundRect">
            <a:avLst>
              <a:gd name="adj" fmla="val 16667"/>
            </a:avLst>
          </a:prstGeom>
          <a:solidFill>
            <a:srgbClr val="1B7F8C"/>
          </a:solidFill>
          <a:ln/>
        </p:spPr>
      </p:sp>
      <p:sp>
        <p:nvSpPr>
          <p:cNvPr id="51" name="Text 49"/>
          <p:cNvSpPr txBox="1"/>
          <p:nvPr/>
        </p:nvSpPr>
        <p:spPr>
          <a:xfrm>
            <a:off x="3110685" y="2377440"/>
            <a:ext cx="1076577"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RO1</a:t>
            </a:r>
            <a:endParaRPr lang="en-US" sz="1050" dirty="0"/>
          </a:p>
        </p:txBody>
      </p:sp>
      <p:sp>
        <p:nvSpPr>
          <p:cNvPr id="52" name="Text 50"/>
          <p:cNvSpPr txBox="1"/>
          <p:nvPr/>
        </p:nvSpPr>
        <p:spPr>
          <a:xfrm>
            <a:off x="502920" y="27432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WP2 </a:t>
            </a:r>
            <a:pPr indent="0" marL="0">
              <a:buNone/>
            </a:pPr>
            <a:r>
              <a:rPr lang="en-US" sz="1100" dirty="0">
                <a:solidFill>
                  <a:srgbClr val="1A1A1A"/>
                </a:solidFill>
                <a:latin typeface="Times New Roman" pitchFamily="34" charset="0"/>
                <a:ea typeface="Times New Roman" pitchFamily="34" charset="-122"/>
                <a:cs typeface="Times New Roman" pitchFamily="34" charset="-120"/>
              </a:rPr>
              <a:t>OSF study plan and registration</a:t>
            </a:r>
            <a:endParaRPr lang="en-US" sz="1100" dirty="0"/>
          </a:p>
        </p:txBody>
      </p:sp>
      <p:sp>
        <p:nvSpPr>
          <p:cNvPr id="53" name="Bar WP2"/>
          <p:cNvSpPr/>
          <p:nvPr/>
        </p:nvSpPr>
        <p:spPr>
          <a:xfrm>
            <a:off x="3110685" y="2834640"/>
            <a:ext cx="800531" cy="274320"/>
          </a:xfrm>
          <a:prstGeom prst="roundRect">
            <a:avLst>
              <a:gd name="adj" fmla="val 16667"/>
            </a:avLst>
          </a:prstGeom>
          <a:solidFill>
            <a:srgbClr val="F4A261"/>
          </a:solidFill>
          <a:ln/>
        </p:spPr>
      </p:sp>
      <p:sp>
        <p:nvSpPr>
          <p:cNvPr id="54" name="Text 52"/>
          <p:cNvSpPr txBox="1"/>
          <p:nvPr/>
        </p:nvSpPr>
        <p:spPr>
          <a:xfrm>
            <a:off x="3110685" y="2834640"/>
            <a:ext cx="800531" cy="274320"/>
          </a:xfrm>
          <a:prstGeom prst="rect">
            <a:avLst/>
          </a:prstGeom>
          <a:noFill/>
          <a:ln/>
        </p:spPr>
        <p:txBody>
          <a:bodyPr wrap="square" lIns="0" tIns="0" rIns="0" bIns="0" rtlCol="0" anchor="ctr"/>
          <a:lstStyle/>
          <a:p>
            <a:pPr algn="ctr" indent="0" marL="0">
              <a:buNone/>
            </a:pPr>
            <a:r>
              <a:rPr lang="en-US" sz="1050" b="1" dirty="0">
                <a:solidFill>
                  <a:srgbClr val="0F2A3D"/>
                </a:solidFill>
                <a:latin typeface="Calibri" pitchFamily="34" charset="0"/>
                <a:ea typeface="Calibri" pitchFamily="34" charset="-122"/>
                <a:cs typeface="Calibri" pitchFamily="34" charset="-120"/>
              </a:rPr>
              <a:t>RO5</a:t>
            </a:r>
            <a:endParaRPr lang="en-US" sz="1050" dirty="0"/>
          </a:p>
        </p:txBody>
      </p:sp>
      <p:sp>
        <p:nvSpPr>
          <p:cNvPr id="55" name="Text 53"/>
          <p:cNvSpPr txBox="1"/>
          <p:nvPr/>
        </p:nvSpPr>
        <p:spPr>
          <a:xfrm>
            <a:off x="502920" y="32004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WP3 </a:t>
            </a:r>
            <a:pPr indent="0" marL="0">
              <a:buNone/>
            </a:pPr>
            <a:r>
              <a:rPr lang="en-US" sz="1100" dirty="0">
                <a:solidFill>
                  <a:srgbClr val="1A1A1A"/>
                </a:solidFill>
                <a:latin typeface="Times New Roman" pitchFamily="34" charset="0"/>
                <a:ea typeface="Times New Roman" pitchFamily="34" charset="-122"/>
                <a:cs typeface="Times New Roman" pitchFamily="34" charset="-120"/>
              </a:rPr>
              <a:t>Capacity controls, small data sets</a:t>
            </a:r>
            <a:endParaRPr lang="en-US" sz="1100" dirty="0"/>
          </a:p>
        </p:txBody>
      </p:sp>
      <p:sp>
        <p:nvSpPr>
          <p:cNvPr id="56" name="Bar WP3"/>
          <p:cNvSpPr/>
          <p:nvPr/>
        </p:nvSpPr>
        <p:spPr>
          <a:xfrm>
            <a:off x="3662776" y="3291840"/>
            <a:ext cx="1821899" cy="274320"/>
          </a:xfrm>
          <a:prstGeom prst="roundRect">
            <a:avLst>
              <a:gd name="adj" fmla="val 16667"/>
            </a:avLst>
          </a:prstGeom>
          <a:solidFill>
            <a:srgbClr val="1B7F8C"/>
          </a:solidFill>
          <a:ln/>
        </p:spPr>
      </p:sp>
      <p:sp>
        <p:nvSpPr>
          <p:cNvPr id="57" name="Text 55"/>
          <p:cNvSpPr txBox="1"/>
          <p:nvPr/>
        </p:nvSpPr>
        <p:spPr>
          <a:xfrm>
            <a:off x="3662776" y="3291840"/>
            <a:ext cx="1821899"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RO2</a:t>
            </a:r>
            <a:endParaRPr lang="en-US" sz="1050" dirty="0"/>
          </a:p>
        </p:txBody>
      </p:sp>
      <p:sp>
        <p:nvSpPr>
          <p:cNvPr id="58" name="Text 56"/>
          <p:cNvSpPr txBox="1"/>
          <p:nvPr/>
        </p:nvSpPr>
        <p:spPr>
          <a:xfrm>
            <a:off x="502920" y="36576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WP4 </a:t>
            </a:r>
            <a:pPr indent="0" marL="0">
              <a:buNone/>
            </a:pPr>
            <a:r>
              <a:rPr lang="en-US" sz="1100" dirty="0">
                <a:solidFill>
                  <a:srgbClr val="1A1A1A"/>
                </a:solidFill>
                <a:latin typeface="Times New Roman" pitchFamily="34" charset="0"/>
                <a:ea typeface="Times New Roman" pitchFamily="34" charset="-122"/>
                <a:cs typeface="Times New Roman" pitchFamily="34" charset="-120"/>
              </a:rPr>
              <a:t>ImageNet-100 scale runs</a:t>
            </a:r>
            <a:endParaRPr lang="en-US" sz="1100" dirty="0"/>
          </a:p>
        </p:txBody>
      </p:sp>
      <p:sp>
        <p:nvSpPr>
          <p:cNvPr id="59" name="Bar WP4"/>
          <p:cNvSpPr/>
          <p:nvPr/>
        </p:nvSpPr>
        <p:spPr>
          <a:xfrm>
            <a:off x="4904980" y="3749040"/>
            <a:ext cx="1490645" cy="274320"/>
          </a:xfrm>
          <a:prstGeom prst="roundRect">
            <a:avLst>
              <a:gd name="adj" fmla="val 16667"/>
            </a:avLst>
          </a:prstGeom>
          <a:solidFill>
            <a:srgbClr val="1B7F8C"/>
          </a:solidFill>
          <a:ln/>
        </p:spPr>
      </p:sp>
      <p:sp>
        <p:nvSpPr>
          <p:cNvPr id="60" name="Text 58"/>
          <p:cNvSpPr txBox="1"/>
          <p:nvPr/>
        </p:nvSpPr>
        <p:spPr>
          <a:xfrm>
            <a:off x="4904980" y="3749040"/>
            <a:ext cx="1490645"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RO3</a:t>
            </a:r>
            <a:endParaRPr lang="en-US" sz="1050" dirty="0"/>
          </a:p>
        </p:txBody>
      </p:sp>
      <p:sp>
        <p:nvSpPr>
          <p:cNvPr id="61" name="Text 59"/>
          <p:cNvSpPr txBox="1"/>
          <p:nvPr/>
        </p:nvSpPr>
        <p:spPr>
          <a:xfrm>
            <a:off x="502920" y="41148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WP5 </a:t>
            </a:r>
            <a:pPr indent="0" marL="0">
              <a:buNone/>
            </a:pPr>
            <a:r>
              <a:rPr lang="en-US" sz="1100" dirty="0">
                <a:solidFill>
                  <a:srgbClr val="1A1A1A"/>
                </a:solidFill>
                <a:latin typeface="Times New Roman" pitchFamily="34" charset="0"/>
                <a:ea typeface="Times New Roman" pitchFamily="34" charset="-122"/>
                <a:cs typeface="Times New Roman" pitchFamily="34" charset="-120"/>
              </a:rPr>
              <a:t>Quantitative region evaluation</a:t>
            </a:r>
            <a:endParaRPr lang="en-US" sz="1100" dirty="0"/>
          </a:p>
        </p:txBody>
      </p:sp>
      <p:sp>
        <p:nvSpPr>
          <p:cNvPr id="62" name="Bar WP5"/>
          <p:cNvSpPr/>
          <p:nvPr/>
        </p:nvSpPr>
        <p:spPr>
          <a:xfrm>
            <a:off x="5374257" y="4206240"/>
            <a:ext cx="1601063" cy="274320"/>
          </a:xfrm>
          <a:prstGeom prst="roundRect">
            <a:avLst>
              <a:gd name="adj" fmla="val 16667"/>
            </a:avLst>
          </a:prstGeom>
          <a:solidFill>
            <a:srgbClr val="1B7F8C"/>
          </a:solidFill>
          <a:ln/>
        </p:spPr>
      </p:sp>
      <p:sp>
        <p:nvSpPr>
          <p:cNvPr id="63" name="Text 61"/>
          <p:cNvSpPr txBox="1"/>
          <p:nvPr/>
        </p:nvSpPr>
        <p:spPr>
          <a:xfrm>
            <a:off x="5374257" y="4206240"/>
            <a:ext cx="1601063"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RO4</a:t>
            </a:r>
            <a:endParaRPr lang="en-US" sz="1050" dirty="0"/>
          </a:p>
        </p:txBody>
      </p:sp>
      <p:sp>
        <p:nvSpPr>
          <p:cNvPr id="64" name="Text 62"/>
          <p:cNvSpPr txBox="1"/>
          <p:nvPr/>
        </p:nvSpPr>
        <p:spPr>
          <a:xfrm>
            <a:off x="502920" y="45720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WP6 </a:t>
            </a:r>
            <a:pPr indent="0" marL="0">
              <a:buNone/>
            </a:pPr>
            <a:r>
              <a:rPr lang="en-US" sz="1100" dirty="0">
                <a:solidFill>
                  <a:srgbClr val="1A1A1A"/>
                </a:solidFill>
                <a:latin typeface="Times New Roman" pitchFamily="34" charset="0"/>
                <a:ea typeface="Times New Roman" pitchFamily="34" charset="-122"/>
                <a:cs typeface="Times New Roman" pitchFamily="34" charset="-120"/>
              </a:rPr>
              <a:t>Analysis, writing, submissions</a:t>
            </a:r>
            <a:endParaRPr lang="en-US" sz="1100" dirty="0"/>
          </a:p>
        </p:txBody>
      </p:sp>
      <p:sp>
        <p:nvSpPr>
          <p:cNvPr id="65" name="Bar WP6"/>
          <p:cNvSpPr/>
          <p:nvPr/>
        </p:nvSpPr>
        <p:spPr>
          <a:xfrm>
            <a:off x="6147183" y="4663440"/>
            <a:ext cx="1380226" cy="274320"/>
          </a:xfrm>
          <a:prstGeom prst="roundRect">
            <a:avLst>
              <a:gd name="adj" fmla="val 16667"/>
            </a:avLst>
          </a:prstGeom>
          <a:solidFill>
            <a:srgbClr val="F4A261"/>
          </a:solidFill>
          <a:ln/>
        </p:spPr>
      </p:sp>
      <p:sp>
        <p:nvSpPr>
          <p:cNvPr id="66" name="Text 64"/>
          <p:cNvSpPr txBox="1"/>
          <p:nvPr/>
        </p:nvSpPr>
        <p:spPr>
          <a:xfrm>
            <a:off x="6147183" y="4663440"/>
            <a:ext cx="1380226" cy="274320"/>
          </a:xfrm>
          <a:prstGeom prst="rect">
            <a:avLst/>
          </a:prstGeom>
          <a:noFill/>
          <a:ln/>
        </p:spPr>
        <p:txBody>
          <a:bodyPr wrap="square" lIns="0" tIns="0" rIns="0" bIns="0" rtlCol="0" anchor="ctr"/>
          <a:lstStyle/>
          <a:p>
            <a:pPr algn="ctr" indent="0" marL="0">
              <a:buNone/>
            </a:pPr>
            <a:r>
              <a:rPr lang="en-US" sz="1050" b="1" dirty="0">
                <a:solidFill>
                  <a:srgbClr val="0F2A3D"/>
                </a:solidFill>
                <a:latin typeface="Calibri" pitchFamily="34" charset="0"/>
                <a:ea typeface="Calibri" pitchFamily="34" charset="-122"/>
                <a:cs typeface="Calibri" pitchFamily="34" charset="-120"/>
              </a:rPr>
              <a:t>RO5</a:t>
            </a:r>
            <a:endParaRPr lang="en-US" sz="1050" dirty="0"/>
          </a:p>
        </p:txBody>
      </p:sp>
      <p:sp>
        <p:nvSpPr>
          <p:cNvPr id="67" name="Text 65"/>
          <p:cNvSpPr txBox="1"/>
          <p:nvPr/>
        </p:nvSpPr>
        <p:spPr>
          <a:xfrm>
            <a:off x="502920" y="5029200"/>
            <a:ext cx="2286000" cy="457200"/>
          </a:xfrm>
          <a:prstGeom prst="rect">
            <a:avLst/>
          </a:prstGeom>
          <a:noFill/>
          <a:ln/>
        </p:spPr>
        <p:txBody>
          <a:bodyPr wrap="square" lIns="0" tIns="0" rIns="0" bIns="0" rtlCol="0" anchor="ctr"/>
          <a:lstStyle/>
          <a:p>
            <a:pPr indent="0" marL="0">
              <a:buNone/>
            </a:pPr>
            <a:r>
              <a:rPr lang="en-US" sz="1100" b="1" dirty="0">
                <a:solidFill>
                  <a:srgbClr val="1B7F8C"/>
                </a:solidFill>
                <a:latin typeface="Times New Roman" pitchFamily="34" charset="0"/>
                <a:ea typeface="Times New Roman" pitchFamily="34" charset="-122"/>
                <a:cs typeface="Times New Roman" pitchFamily="34" charset="-120"/>
              </a:rPr>
              <a:t>WP7 </a:t>
            </a:r>
            <a:pPr indent="0" marL="0">
              <a:buNone/>
            </a:pPr>
            <a:r>
              <a:rPr lang="en-US" sz="1100" dirty="0">
                <a:solidFill>
                  <a:srgbClr val="1A1A1A"/>
                </a:solidFill>
                <a:latin typeface="Times New Roman" pitchFamily="34" charset="0"/>
                <a:ea typeface="Times New Roman" pitchFamily="34" charset="-122"/>
                <a:cs typeface="Times New Roman" pitchFamily="34" charset="-120"/>
              </a:rPr>
              <a:t>Final report and viva preparation</a:t>
            </a:r>
            <a:endParaRPr lang="en-US" sz="1100" dirty="0"/>
          </a:p>
        </p:txBody>
      </p:sp>
      <p:sp>
        <p:nvSpPr>
          <p:cNvPr id="68" name="Bar WP7"/>
          <p:cNvSpPr/>
          <p:nvPr/>
        </p:nvSpPr>
        <p:spPr>
          <a:xfrm>
            <a:off x="7555014" y="5120640"/>
            <a:ext cx="662509" cy="274320"/>
          </a:xfrm>
          <a:prstGeom prst="roundRect">
            <a:avLst>
              <a:gd name="adj" fmla="val 16667"/>
            </a:avLst>
          </a:prstGeom>
          <a:solidFill>
            <a:srgbClr val="5B6B77"/>
          </a:solidFill>
          <a:ln/>
        </p:spPr>
      </p:sp>
      <p:sp>
        <p:nvSpPr>
          <p:cNvPr id="69" name="Text 67"/>
          <p:cNvSpPr txBox="1"/>
          <p:nvPr/>
        </p:nvSpPr>
        <p:spPr>
          <a:xfrm>
            <a:off x="7555014" y="5120640"/>
            <a:ext cx="662509"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All</a:t>
            </a:r>
            <a:endParaRPr lang="en-US" sz="1050" dirty="0"/>
          </a:p>
        </p:txBody>
      </p:sp>
      <p:sp>
        <p:nvSpPr>
          <p:cNvPr id="70" name="Text 68"/>
          <p:cNvSpPr txBox="1"/>
          <p:nvPr/>
        </p:nvSpPr>
        <p:spPr>
          <a:xfrm>
            <a:off x="457200" y="5577840"/>
            <a:ext cx="8229600" cy="411480"/>
          </a:xfrm>
          <a:prstGeom prst="rect">
            <a:avLst/>
          </a:prstGeom>
          <a:noFill/>
          <a:ln/>
        </p:spPr>
        <p:txBody>
          <a:bodyPr wrap="square" lIns="0" tIns="0" rIns="0" bIns="0" rtlCol="0" anchor="t"/>
          <a:lstStyle/>
          <a:p>
            <a:pPr indent="0" marL="0">
              <a:buNone/>
            </a:pPr>
            <a:r>
              <a:rPr lang="en-US" sz="1100" dirty="0">
                <a:solidFill>
                  <a:srgbClr val="5B6B77"/>
                </a:solidFill>
                <a:latin typeface="Times New Roman" pitchFamily="34" charset="0"/>
                <a:ea typeface="Times New Roman" pitchFamily="34" charset="-122"/>
                <a:cs typeface="Times New Roman" pitchFamily="34" charset="-120"/>
              </a:rPr>
              <a:t>R0, R-I, R-II, R-III: project reviews (shaded).  Chg: title and course change window.  Rpt: report submission.  Viva: viva voce.  Bars show the objective served.</a:t>
            </a:r>
            <a:endParaRPr lang="en-US" sz="1100" dirty="0"/>
          </a:p>
        </p:txBody>
      </p:sp>
      <p:sp>
        <p:nvSpPr>
          <p:cNvPr id="71" name="Text 69"/>
          <p:cNvSpPr txBox="1"/>
          <p:nvPr/>
        </p:nvSpPr>
        <p:spPr>
          <a:xfrm>
            <a:off x="457200" y="5989320"/>
            <a:ext cx="8229600" cy="274320"/>
          </a:xfrm>
          <a:prstGeom prst="rect">
            <a:avLst/>
          </a:prstGeom>
          <a:noFill/>
          <a:ln/>
        </p:spPr>
        <p:txBody>
          <a:bodyPr wrap="square" lIns="0" tIns="0" rIns="0" bIns="0" rtlCol="0" anchor="t"/>
          <a:lstStyle/>
          <a:p>
            <a:pPr indent="0" marL="0">
              <a:buNone/>
            </a:pPr>
            <a:r>
              <a:rPr lang="en-US" sz="1250" b="1" dirty="0">
                <a:solidFill>
                  <a:srgbClr val="0F2A3D"/>
                </a:solidFill>
                <a:latin typeface="Times New Roman" pitchFamily="34" charset="0"/>
                <a:ea typeface="Times New Roman" pitchFamily="34" charset="-122"/>
                <a:cs typeface="Times New Roman" pitchFamily="34" charset="-120"/>
              </a:rPr>
              <a:t>Publication window Dec 2026 to Apr 2027: Paper 1 (audit) in Dec to Jan; Paper 2 in Apr.</a:t>
            </a:r>
            <a:endParaRPr lang="en-US" sz="125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Deliverables, TRL and Publication</a:t>
            </a:r>
            <a:endParaRPr lang="en-US" sz="3200" dirty="0"/>
          </a:p>
        </p:txBody>
      </p:sp>
      <p:graphicFrame>
        <p:nvGraphicFramePr>
          <p:cNvPr id="18" name="Deliverables table"/>
          <p:cNvGraphicFramePr>
            <a:graphicFrameLocks noGrp="1"/>
          </p:cNvGraphicFramePr>
          <p:nvPr>
            <p:extLst>
              <p:ext uri="{D42A27DB-BD31-4B8C-83A1-F6EECF244321}">
                <p14:modId xmlns:p14="http://schemas.microsoft.com/office/powerpoint/2010/main" val="1579011935"/>
              </p:ext>
            </p:extLst>
          </p:nvPr>
        </p:nvGraphicFramePr>
        <p:xfrm>
          <a:off x="457200" y="1371600"/>
          <a:ext cx="5029200" cy="914400"/>
        </p:xfrm>
        <a:graphic>
          <a:graphicData uri="http://schemas.openxmlformats.org/drawingml/2006/table">
            <a:tbl>
              <a:tblPr/>
              <a:tblGrid>
                <a:gridCol w="502920"/>
                <a:gridCol w="3429000"/>
                <a:gridCol w="1097280"/>
              </a:tblGrid>
              <a:tr h="365760">
                <a:tc>
                  <a:txBody>
                    <a:bodyPr/>
                    <a:lstStyle/>
                    <a:p>
                      <a:pPr indent="0" marL="0">
                        <a:buNone/>
                      </a:pP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Deliverable</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Due</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D1</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Corrected CET-ViT release: erratum, model card, licence, public repository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Dec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D2</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Paper 1: compute-matched audit (existing draft v13), submitted after co-author review</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Dec 2026 to Jan 2027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D3</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OSF-registered study plan for RO2 to RO4</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Dec 2026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D4</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Capacity-control results on CIFAR-100 and Tiny-ImageNet</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Feb 2027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D5</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ImageNet-100 and region-evaluation results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Mar 2027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D6</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Paper 2: capacity-controlled grouping study, submitted</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Apr 2027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D7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Final report and viva material</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Apr to May 2027</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4" name="TRL panel"/>
          <p:cNvSpPr/>
          <p:nvPr/>
        </p:nvSpPr>
        <p:spPr>
          <a:xfrm>
            <a:off x="5669280" y="1371600"/>
            <a:ext cx="3017520" cy="4846320"/>
          </a:xfrm>
          <a:prstGeom prst="roundRect">
            <a:avLst>
              <a:gd name="adj" fmla="val 2121"/>
            </a:avLst>
          </a:prstGeom>
          <a:solidFill>
            <a:srgbClr val="EAF1F4"/>
          </a:solidFill>
          <a:ln/>
        </p:spPr>
      </p:sp>
      <p:sp>
        <p:nvSpPr>
          <p:cNvPr id="5" name="Text 2"/>
          <p:cNvSpPr txBox="1"/>
          <p:nvPr/>
        </p:nvSpPr>
        <p:spPr>
          <a:xfrm>
            <a:off x="5852160" y="1508760"/>
            <a:ext cx="2697480" cy="27432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Technology Readiness Level</a:t>
            </a:r>
            <a:endParaRPr lang="en-US" sz="1400" dirty="0"/>
          </a:p>
        </p:txBody>
      </p:sp>
      <p:sp>
        <p:nvSpPr>
          <p:cNvPr id="6" name="TRL 1"/>
          <p:cNvSpPr/>
          <p:nvPr/>
        </p:nvSpPr>
        <p:spPr>
          <a:xfrm>
            <a:off x="5852160" y="1920240"/>
            <a:ext cx="265176" cy="411480"/>
          </a:xfrm>
          <a:prstGeom prst="roundRect">
            <a:avLst>
              <a:gd name="adj" fmla="val 13793"/>
            </a:avLst>
          </a:prstGeom>
          <a:solidFill>
            <a:srgbClr val="FFFFFF"/>
          </a:solidFill>
          <a:ln w="9525">
            <a:solidFill>
              <a:srgbClr val="D3DEE4"/>
            </a:solidFill>
            <a:prstDash val="solid"/>
          </a:ln>
        </p:spPr>
      </p:sp>
      <p:sp>
        <p:nvSpPr>
          <p:cNvPr id="7" name="Text 4"/>
          <p:cNvSpPr txBox="1"/>
          <p:nvPr/>
        </p:nvSpPr>
        <p:spPr>
          <a:xfrm>
            <a:off x="585216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1</a:t>
            </a:r>
            <a:endParaRPr lang="en-US" sz="1100" dirty="0"/>
          </a:p>
        </p:txBody>
      </p:sp>
      <p:sp>
        <p:nvSpPr>
          <p:cNvPr id="8" name="TRL 2"/>
          <p:cNvSpPr/>
          <p:nvPr/>
        </p:nvSpPr>
        <p:spPr>
          <a:xfrm>
            <a:off x="6149340" y="1920240"/>
            <a:ext cx="265176" cy="411480"/>
          </a:xfrm>
          <a:prstGeom prst="roundRect">
            <a:avLst>
              <a:gd name="adj" fmla="val 13793"/>
            </a:avLst>
          </a:prstGeom>
          <a:solidFill>
            <a:srgbClr val="FFFFFF"/>
          </a:solidFill>
          <a:ln w="9525">
            <a:solidFill>
              <a:srgbClr val="D3DEE4"/>
            </a:solidFill>
            <a:prstDash val="solid"/>
          </a:ln>
        </p:spPr>
      </p:sp>
      <p:sp>
        <p:nvSpPr>
          <p:cNvPr id="9" name="Text 6"/>
          <p:cNvSpPr txBox="1"/>
          <p:nvPr/>
        </p:nvSpPr>
        <p:spPr>
          <a:xfrm>
            <a:off x="614934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2</a:t>
            </a:r>
            <a:endParaRPr lang="en-US" sz="1100" dirty="0"/>
          </a:p>
        </p:txBody>
      </p:sp>
      <p:sp>
        <p:nvSpPr>
          <p:cNvPr id="10" name="TRL 3"/>
          <p:cNvSpPr/>
          <p:nvPr/>
        </p:nvSpPr>
        <p:spPr>
          <a:xfrm>
            <a:off x="6446520" y="1920240"/>
            <a:ext cx="265176" cy="411480"/>
          </a:xfrm>
          <a:prstGeom prst="roundRect">
            <a:avLst>
              <a:gd name="adj" fmla="val 13793"/>
            </a:avLst>
          </a:prstGeom>
          <a:solidFill>
            <a:srgbClr val="1B7F8C"/>
          </a:solidFill>
          <a:ln w="9525">
            <a:solidFill>
              <a:srgbClr val="D3DEE4"/>
            </a:solidFill>
            <a:prstDash val="solid"/>
          </a:ln>
        </p:spPr>
      </p:sp>
      <p:sp>
        <p:nvSpPr>
          <p:cNvPr id="11" name="Text 8"/>
          <p:cNvSpPr txBox="1"/>
          <p:nvPr/>
        </p:nvSpPr>
        <p:spPr>
          <a:xfrm>
            <a:off x="6446520" y="1920240"/>
            <a:ext cx="265176"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RL 4"/>
          <p:cNvSpPr/>
          <p:nvPr/>
        </p:nvSpPr>
        <p:spPr>
          <a:xfrm>
            <a:off x="6743700" y="1920240"/>
            <a:ext cx="265176" cy="411480"/>
          </a:xfrm>
          <a:prstGeom prst="roundRect">
            <a:avLst>
              <a:gd name="adj" fmla="val 13793"/>
            </a:avLst>
          </a:prstGeom>
          <a:solidFill>
            <a:srgbClr val="F4A261"/>
          </a:solidFill>
          <a:ln w="9525">
            <a:solidFill>
              <a:srgbClr val="D3DEE4"/>
            </a:solidFill>
            <a:prstDash val="solid"/>
          </a:ln>
        </p:spPr>
      </p:sp>
      <p:sp>
        <p:nvSpPr>
          <p:cNvPr id="13" name="Text 10"/>
          <p:cNvSpPr txBox="1"/>
          <p:nvPr/>
        </p:nvSpPr>
        <p:spPr>
          <a:xfrm>
            <a:off x="674370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4</a:t>
            </a:r>
            <a:endParaRPr lang="en-US" sz="1100" dirty="0"/>
          </a:p>
        </p:txBody>
      </p:sp>
      <p:sp>
        <p:nvSpPr>
          <p:cNvPr id="14" name="TRL 5"/>
          <p:cNvSpPr/>
          <p:nvPr/>
        </p:nvSpPr>
        <p:spPr>
          <a:xfrm>
            <a:off x="7040880" y="1920240"/>
            <a:ext cx="265176" cy="411480"/>
          </a:xfrm>
          <a:prstGeom prst="roundRect">
            <a:avLst>
              <a:gd name="adj" fmla="val 13793"/>
            </a:avLst>
          </a:prstGeom>
          <a:solidFill>
            <a:srgbClr val="FFFFFF"/>
          </a:solidFill>
          <a:ln w="9525">
            <a:solidFill>
              <a:srgbClr val="D3DEE4"/>
            </a:solidFill>
            <a:prstDash val="solid"/>
          </a:ln>
        </p:spPr>
      </p:sp>
      <p:sp>
        <p:nvSpPr>
          <p:cNvPr id="15" name="Text 12"/>
          <p:cNvSpPr txBox="1"/>
          <p:nvPr/>
        </p:nvSpPr>
        <p:spPr>
          <a:xfrm>
            <a:off x="704088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5</a:t>
            </a:r>
            <a:endParaRPr lang="en-US" sz="1100" dirty="0"/>
          </a:p>
        </p:txBody>
      </p:sp>
      <p:sp>
        <p:nvSpPr>
          <p:cNvPr id="16" name="TRL 6"/>
          <p:cNvSpPr/>
          <p:nvPr/>
        </p:nvSpPr>
        <p:spPr>
          <a:xfrm>
            <a:off x="7338060" y="1920240"/>
            <a:ext cx="265176" cy="411480"/>
          </a:xfrm>
          <a:prstGeom prst="roundRect">
            <a:avLst>
              <a:gd name="adj" fmla="val 13793"/>
            </a:avLst>
          </a:prstGeom>
          <a:solidFill>
            <a:srgbClr val="FFFFFF"/>
          </a:solidFill>
          <a:ln w="9525">
            <a:solidFill>
              <a:srgbClr val="D3DEE4"/>
            </a:solidFill>
            <a:prstDash val="solid"/>
          </a:ln>
        </p:spPr>
      </p:sp>
      <p:sp>
        <p:nvSpPr>
          <p:cNvPr id="17" name="Text 14"/>
          <p:cNvSpPr txBox="1"/>
          <p:nvPr/>
        </p:nvSpPr>
        <p:spPr>
          <a:xfrm>
            <a:off x="733806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6</a:t>
            </a:r>
            <a:endParaRPr lang="en-US" sz="1100" dirty="0"/>
          </a:p>
        </p:txBody>
      </p:sp>
      <p:sp>
        <p:nvSpPr>
          <p:cNvPr id="18" name="TRL 7"/>
          <p:cNvSpPr/>
          <p:nvPr/>
        </p:nvSpPr>
        <p:spPr>
          <a:xfrm>
            <a:off x="7635240" y="1920240"/>
            <a:ext cx="265176" cy="411480"/>
          </a:xfrm>
          <a:prstGeom prst="roundRect">
            <a:avLst>
              <a:gd name="adj" fmla="val 13793"/>
            </a:avLst>
          </a:prstGeom>
          <a:solidFill>
            <a:srgbClr val="FFFFFF"/>
          </a:solidFill>
          <a:ln w="9525">
            <a:solidFill>
              <a:srgbClr val="D3DEE4"/>
            </a:solidFill>
            <a:prstDash val="solid"/>
          </a:ln>
        </p:spPr>
      </p:sp>
      <p:sp>
        <p:nvSpPr>
          <p:cNvPr id="19" name="Text 16"/>
          <p:cNvSpPr txBox="1"/>
          <p:nvPr/>
        </p:nvSpPr>
        <p:spPr>
          <a:xfrm>
            <a:off x="763524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7</a:t>
            </a:r>
            <a:endParaRPr lang="en-US" sz="1100" dirty="0"/>
          </a:p>
        </p:txBody>
      </p:sp>
      <p:sp>
        <p:nvSpPr>
          <p:cNvPr id="20" name="TRL 8"/>
          <p:cNvSpPr/>
          <p:nvPr/>
        </p:nvSpPr>
        <p:spPr>
          <a:xfrm>
            <a:off x="7932420" y="1920240"/>
            <a:ext cx="265176" cy="411480"/>
          </a:xfrm>
          <a:prstGeom prst="roundRect">
            <a:avLst>
              <a:gd name="adj" fmla="val 13793"/>
            </a:avLst>
          </a:prstGeom>
          <a:solidFill>
            <a:srgbClr val="FFFFFF"/>
          </a:solidFill>
          <a:ln w="9525">
            <a:solidFill>
              <a:srgbClr val="D3DEE4"/>
            </a:solidFill>
            <a:prstDash val="solid"/>
          </a:ln>
        </p:spPr>
      </p:sp>
      <p:sp>
        <p:nvSpPr>
          <p:cNvPr id="21" name="Text 18"/>
          <p:cNvSpPr txBox="1"/>
          <p:nvPr/>
        </p:nvSpPr>
        <p:spPr>
          <a:xfrm>
            <a:off x="793242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8</a:t>
            </a:r>
            <a:endParaRPr lang="en-US" sz="1100" dirty="0"/>
          </a:p>
        </p:txBody>
      </p:sp>
      <p:sp>
        <p:nvSpPr>
          <p:cNvPr id="22" name="TRL 9"/>
          <p:cNvSpPr/>
          <p:nvPr/>
        </p:nvSpPr>
        <p:spPr>
          <a:xfrm>
            <a:off x="8229600" y="1920240"/>
            <a:ext cx="265176" cy="411480"/>
          </a:xfrm>
          <a:prstGeom prst="roundRect">
            <a:avLst>
              <a:gd name="adj" fmla="val 13793"/>
            </a:avLst>
          </a:prstGeom>
          <a:solidFill>
            <a:srgbClr val="FFFFFF"/>
          </a:solidFill>
          <a:ln w="9525">
            <a:solidFill>
              <a:srgbClr val="D3DEE4"/>
            </a:solidFill>
            <a:prstDash val="solid"/>
          </a:ln>
        </p:spPr>
      </p:sp>
      <p:sp>
        <p:nvSpPr>
          <p:cNvPr id="23" name="Text 20"/>
          <p:cNvSpPr txBox="1"/>
          <p:nvPr/>
        </p:nvSpPr>
        <p:spPr>
          <a:xfrm>
            <a:off x="8229600" y="1920240"/>
            <a:ext cx="265176" cy="411480"/>
          </a:xfrm>
          <a:prstGeom prst="rect">
            <a:avLst/>
          </a:prstGeom>
          <a:noFill/>
          <a:ln/>
        </p:spPr>
        <p:txBody>
          <a:bodyPr wrap="square" lIns="0" tIns="0" rIns="0" bIns="0" rtlCol="0" anchor="ctr"/>
          <a:lstStyle/>
          <a:p>
            <a:pPr algn="ctr" indent="0" marL="0">
              <a:buNone/>
            </a:pPr>
            <a:r>
              <a:rPr lang="en-US" sz="1100" b="1" dirty="0">
                <a:solidFill>
                  <a:srgbClr val="1A1A1A"/>
                </a:solidFill>
                <a:latin typeface="Calibri" pitchFamily="34" charset="0"/>
                <a:ea typeface="Calibri" pitchFamily="34" charset="-122"/>
                <a:cs typeface="Calibri" pitchFamily="34" charset="-120"/>
              </a:rPr>
              <a:t>9</a:t>
            </a:r>
            <a:endParaRPr lang="en-US" sz="1100" dirty="0"/>
          </a:p>
        </p:txBody>
      </p:sp>
      <p:sp>
        <p:nvSpPr>
          <p:cNvPr id="24" name="Text 21"/>
          <p:cNvSpPr txBox="1"/>
          <p:nvPr/>
        </p:nvSpPr>
        <p:spPr>
          <a:xfrm>
            <a:off x="5852160" y="2514600"/>
            <a:ext cx="2697480" cy="1463040"/>
          </a:xfrm>
          <a:prstGeom prst="rect">
            <a:avLst/>
          </a:prstGeom>
          <a:noFill/>
          <a:ln/>
        </p:spPr>
        <p:txBody>
          <a:bodyPr wrap="square" lIns="0" tIns="0" rIns="0" bIns="0" rtlCol="0" anchor="t"/>
          <a:lstStyle/>
          <a:p>
            <a:pPr indent="0" marL="0">
              <a:buNone/>
            </a:pPr>
            <a:r>
              <a:rPr lang="en-US" sz="1300" b="1" dirty="0">
                <a:solidFill>
                  <a:srgbClr val="1B7F8C"/>
                </a:solidFill>
                <a:latin typeface="Times New Roman" pitchFamily="34" charset="0"/>
                <a:ea typeface="Times New Roman" pitchFamily="34" charset="-122"/>
                <a:cs typeface="Times New Roman" pitchFamily="34" charset="-120"/>
              </a:rPr>
              <a:t>Now: TRL 3. </a:t>
            </a:r>
            <a:pPr indent="0" marL="0">
              <a:buNone/>
            </a:pPr>
            <a:r>
              <a:rPr lang="en-US" sz="1300" dirty="0">
                <a:solidFill>
                  <a:srgbClr val="1A1A1A"/>
                </a:solidFill>
                <a:latin typeface="Times New Roman" pitchFamily="34" charset="0"/>
                <a:ea typeface="Times New Roman" pitchFamily="34" charset="-122"/>
                <a:cs typeface="Times New Roman" pitchFamily="34" charset="-120"/>
              </a:rPr>
              <a:t>Proof of concept at CIFAR scale.</a:t>
            </a:r>
            <a:endParaRPr lang="en-US" sz="1300" dirty="0"/>
          </a:p>
          <a:p>
            <a:pPr indent="0" marL="0">
              <a:buNone/>
            </a:pPr>
            <a:r>
              <a:rPr lang="en-US" sz="1300" b="1" dirty="0">
                <a:solidFill>
                  <a:srgbClr val="B5651D"/>
                </a:solidFill>
                <a:latin typeface="Times New Roman" pitchFamily="34" charset="0"/>
                <a:ea typeface="Times New Roman" pitchFamily="34" charset="-122"/>
                <a:cs typeface="Times New Roman" pitchFamily="34" charset="-120"/>
              </a:rPr>
              <a:t>Target: TRL 4. </a:t>
            </a:r>
            <a:pPr indent="0" marL="0">
              <a:buNone/>
            </a:pPr>
            <a:r>
              <a:rPr lang="en-US" sz="1300" dirty="0">
                <a:solidFill>
                  <a:srgbClr val="1A1A1A"/>
                </a:solidFill>
                <a:latin typeface="Times New Roman" pitchFamily="34" charset="0"/>
                <a:ea typeface="Times New Roman" pitchFamily="34" charset="-122"/>
                <a:cs typeface="Times New Roman" pitchFamily="34" charset="-120"/>
              </a:rPr>
              <a:t>Validated in the lab: reproducible, controlled, multi-data-set harness.</a:t>
            </a:r>
            <a:endParaRPr lang="en-US" sz="1300" dirty="0"/>
          </a:p>
        </p:txBody>
      </p:sp>
      <p:sp>
        <p:nvSpPr>
          <p:cNvPr id="25" name="Text 22"/>
          <p:cNvSpPr txBox="1"/>
          <p:nvPr/>
        </p:nvSpPr>
        <p:spPr>
          <a:xfrm>
            <a:off x="5852160" y="4114800"/>
            <a:ext cx="2697480" cy="274320"/>
          </a:xfrm>
          <a:prstGeom prst="rect">
            <a:avLst/>
          </a:prstGeom>
          <a:noFill/>
          <a:ln/>
        </p:spPr>
        <p:txBody>
          <a:bodyPr wrap="square" lIns="0" tIns="0" rIns="0" bIns="0" rtlCol="0" anchor="t"/>
          <a:lstStyle/>
          <a:p>
            <a:pPr indent="0" marL="0">
              <a:buNone/>
            </a:pPr>
            <a:r>
              <a:rPr lang="en-US" sz="1400" b="1" dirty="0">
                <a:solidFill>
                  <a:srgbClr val="0F2A3D"/>
                </a:solidFill>
                <a:latin typeface="Calibri" pitchFamily="34" charset="0"/>
                <a:ea typeface="Calibri" pitchFamily="34" charset="-122"/>
                <a:cs typeface="Calibri" pitchFamily="34" charset="-120"/>
              </a:rPr>
              <a:t>Publication</a:t>
            </a:r>
            <a:endParaRPr lang="en-US" sz="1400" dirty="0"/>
          </a:p>
        </p:txBody>
      </p:sp>
      <p:sp>
        <p:nvSpPr>
          <p:cNvPr id="26" name="Text 23"/>
          <p:cNvSpPr txBox="1"/>
          <p:nvPr/>
        </p:nvSpPr>
        <p:spPr>
          <a:xfrm>
            <a:off x="5852160" y="4434840"/>
            <a:ext cx="2697480" cy="16916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Two manuscripts; venues matched to SRM's approved list, with a conference fallback so publication lands within the academic year.</a:t>
            </a:r>
            <a:endParaRPr lang="en-US" sz="130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Risks and Mitigation</a:t>
            </a:r>
            <a:endParaRPr lang="en-US" sz="3200" dirty="0"/>
          </a:p>
        </p:txBody>
      </p:sp>
      <p:graphicFrame>
        <p:nvGraphicFramePr>
          <p:cNvPr id="19" name="Risk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554480"/>
                <a:gridCol w="3291840"/>
                <a:gridCol w="33832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could go wrong</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Mitigation</a:t>
                      </a:r>
                      <a:endParaRPr lang="en-US" sz="1200" dirty="0">
                        <a:latin typeface="Calibri" charset="0"/>
                        <a:ea typeface="Calibri" charset="0"/>
                        <a:cs typeface="Calibri"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0F2A3D"/>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Compute</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The audit averaged about 1 H100-hour per run. RO2 needs roughly 200 runs, and ImageNet-100 is extra.</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Cut ImageNet-100 to arms A, best control and G; confirm available GPU budget at Review I.</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Publication timing</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Journal review can outlast the academic year, and publication is mandatory.</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Submit Paper 1 in Dec 2026; keep a conference fallback; check venues against SRM's approved list.</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Null result</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Grouping may show no benefit over controls.</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Registered plan makes a null or equivalence result publishable; it is the honest answer to RQ1.</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Correction of published work</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The IEEE paper needs corrections that involve co-authors and the guide.</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Share the erratum draft with the guide and co-authors before Review 0.</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FFFFFF"/>
                    </a:solidFill>
                  </a:tcPr>
                </a:tc>
              </a:tr>
              <a:tr h="841248">
                <a:tc>
                  <a:txBody>
                    <a:bodyPr/>
                    <a:lstStyle/>
                    <a:p>
                      <a:pPr indent="0" marL="0">
                        <a:buNone/>
                      </a:pPr>
                      <a:r>
                        <a:rPr lang="en-US" sz="1200" b="1" dirty="0">
                          <a:solidFill>
                            <a:srgbClr val="0F2A3D"/>
                          </a:solidFill>
                          <a:latin typeface="Times New Roman" pitchFamily="34" charset="0"/>
                          <a:ea typeface="Times New Roman" pitchFamily="34" charset="-122"/>
                          <a:cs typeface="Times New Roman" pitchFamily="34" charset="-120"/>
                        </a:rPr>
                        <a:t>Release hygiene</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Private repository holds an email in git metadata and an undecided licence.</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c>
                  <a:txBody>
                    <a:bodyP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Sanitise, choose a licence and release only the cleaned pack.</a:t>
                      </a:r>
                      <a:endParaRPr lang="en-US" sz="1200" dirty="0">
                        <a:latin typeface="Times New Roman" charset="0"/>
                        <a:ea typeface="Times New Roman" charset="0"/>
                        <a:cs typeface="Times New Roman" charset="0"/>
                      </a:endParaRPr>
                    </a:p>
                  </a:txBody>
                  <a:tcPr marL="73152" marR="73152" marT="36576" marB="36576" anchor="ctr">
                    <a:lnL w="6350" cap="flat" cmpd="sng" algn="ctr">
                      <a:solidFill>
                        <a:srgbClr val="D3DEE4"/>
                      </a:solidFill>
                      <a:prstDash val="solid"/>
                      <a:round/>
                      <a:headEnd type="none" w="med" len="med"/>
                      <a:tailEnd type="none" w="med" len="med"/>
                    </a:lnL>
                    <a:lnR w="6350" cap="flat" cmpd="sng" algn="ctr">
                      <a:solidFill>
                        <a:srgbClr val="D3DEE4"/>
                      </a:solidFill>
                      <a:prstDash val="solid"/>
                      <a:round/>
                      <a:headEnd type="none" w="med" len="med"/>
                      <a:tailEnd type="none" w="med" len="med"/>
                    </a:lnR>
                    <a:lnT w="6350" cap="flat" cmpd="sng" algn="ctr">
                      <a:solidFill>
                        <a:srgbClr val="D3DEE4"/>
                      </a:solidFill>
                      <a:prstDash val="solid"/>
                      <a:round/>
                      <a:headEnd type="none" w="med" len="med"/>
                      <a:tailEnd type="none" w="med" len="med"/>
                    </a:lnT>
                    <a:lnB w="6350" cap="flat" cmpd="sng" algn="ctr">
                      <a:solidFill>
                        <a:srgbClr val="D3DEE4"/>
                      </a:solidFill>
                      <a:prstDash val="solid"/>
                      <a:round/>
                      <a:headEnd type="none" w="med" len="med"/>
                      <a:tailEnd type="none" w="med" len="med"/>
                    </a:lnB>
                    <a:solidFill>
                      <a:srgbClr val="EAF1F4"/>
                    </a:solidFill>
                  </a:tcPr>
                </a:tc>
              </a:tr>
            </a:tbl>
          </a:graphicData>
        </a:graphic>
      </p:graphicFrame>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2" type="title" hasCustomPrompt="1"/>
          </p:nvPr>
        </p:nvSpPr>
        <p:spPr>
          <a:xfrm>
            <a:off x="2194560" y="274320"/>
            <a:ext cx="4937760" cy="1143000"/>
          </a:xfrm>
          <a:prstGeom prst="rect">
            <a:avLst/>
          </a:prstGeom>
          <a:noFill/>
          <a:ln/>
        </p:spPr>
        <p:txBody>
          <a:bodyPr wrap="square" lIns="0" tIns="0" rIns="0" bIns="0" rtlCol="0" anchor="ctr">
            <a:normAutofit/>
          </a:bodyPr>
          <a:lstStyle/>
          <a:p>
            <a:pPr algn="ctr" indent="0" marL="0">
              <a:buNone/>
            </a:pPr>
            <a:r>
              <a:rPr lang="en-US" sz="3200" dirty="0">
                <a:solidFill>
                  <a:schemeClr val="tx1"/>
                </a:solidFill>
                <a:latin typeface="Calibri" pitchFamily="34" charset="0"/>
                <a:ea typeface="Calibri" pitchFamily="34" charset="-122"/>
                <a:cs typeface="Calibri" pitchFamily="34" charset="-120"/>
              </a:rPr>
              <a:t>Team and Next Steps</a:t>
            </a:r>
            <a:endParaRPr lang="en-US" sz="3200" dirty="0"/>
          </a:p>
        </p:txBody>
      </p:sp>
      <p:sp>
        <p:nvSpPr>
          <p:cNvPr id="3" name="Role card Dhruv Jyoti Das"/>
          <p:cNvSpPr/>
          <p:nvPr/>
        </p:nvSpPr>
        <p:spPr>
          <a:xfrm>
            <a:off x="457200" y="1371600"/>
            <a:ext cx="2651760" cy="4846320"/>
          </a:xfrm>
          <a:prstGeom prst="roundRect">
            <a:avLst>
              <a:gd name="adj" fmla="val 2414"/>
            </a:avLst>
          </a:prstGeom>
          <a:solidFill>
            <a:srgbClr val="FFFFFF"/>
          </a:solidFill>
          <a:ln w="12700">
            <a:solidFill>
              <a:srgbClr val="D3DEE4"/>
            </a:solidFill>
            <a:prstDash val="solid"/>
          </a:ln>
        </p:spPr>
      </p:sp>
      <p:sp>
        <p:nvSpPr>
          <p:cNvPr id="4" name="Role badge Dhruv Jyoti Das"/>
          <p:cNvSpPr/>
          <p:nvPr/>
        </p:nvSpPr>
        <p:spPr>
          <a:xfrm>
            <a:off x="640080" y="1554480"/>
            <a:ext cx="594360" cy="594360"/>
          </a:xfrm>
          <a:prstGeom prst="ellipse">
            <a:avLst/>
          </a:prstGeom>
          <a:solidFill>
            <a:srgbClr val="1B7F8C"/>
          </a:solidFill>
          <a:ln/>
        </p:spPr>
      </p:sp>
      <p:sp>
        <p:nvSpPr>
          <p:cNvPr id="5" name="Role badge Dhruv Jyoti Das label"/>
          <p:cNvSpPr txBox="1"/>
          <p:nvPr/>
        </p:nvSpPr>
        <p:spPr>
          <a:xfrm>
            <a:off x="640080" y="155448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DJ</a:t>
            </a:r>
            <a:endParaRPr lang="en-US" sz="1600" dirty="0"/>
          </a:p>
        </p:txBody>
      </p:sp>
      <p:sp>
        <p:nvSpPr>
          <p:cNvPr id="6" name="Text 4"/>
          <p:cNvSpPr txBox="1"/>
          <p:nvPr/>
        </p:nvSpPr>
        <p:spPr>
          <a:xfrm>
            <a:off x="1371600" y="1554480"/>
            <a:ext cx="1645920" cy="59436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Dhruv Jyoti Das</a:t>
            </a:r>
            <a:endParaRPr lang="en-US" sz="1500" dirty="0"/>
          </a:p>
        </p:txBody>
      </p:sp>
      <p:sp>
        <p:nvSpPr>
          <p:cNvPr id="7" name="Text 5"/>
          <p:cNvSpPr txBox="1"/>
          <p:nvPr/>
        </p:nvSpPr>
        <p:spPr>
          <a:xfrm>
            <a:off x="640080" y="2377440"/>
            <a:ext cx="228600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Model arms and control implementations (R, X, B2, G)</a:t>
            </a:r>
            <a:endParaRPr lang="en-US" sz="1600" dirty="0"/>
          </a:p>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Training harness, LR sweeps, statistics and OSF plan</a:t>
            </a:r>
            <a:endParaRPr lang="en-US" sz="1600" dirty="0"/>
          </a:p>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Corrected release and Paper 1 (audit)</a:t>
            </a:r>
            <a:endParaRPr lang="en-US" sz="1600" dirty="0"/>
          </a:p>
        </p:txBody>
      </p:sp>
      <p:sp>
        <p:nvSpPr>
          <p:cNvPr id="8" name="Role card Raghav Sharma"/>
          <p:cNvSpPr/>
          <p:nvPr/>
        </p:nvSpPr>
        <p:spPr>
          <a:xfrm>
            <a:off x="3246120" y="1371600"/>
            <a:ext cx="2651760" cy="4846320"/>
          </a:xfrm>
          <a:prstGeom prst="roundRect">
            <a:avLst>
              <a:gd name="adj" fmla="val 2414"/>
            </a:avLst>
          </a:prstGeom>
          <a:solidFill>
            <a:srgbClr val="FFFFFF"/>
          </a:solidFill>
          <a:ln w="12700">
            <a:solidFill>
              <a:srgbClr val="D3DEE4"/>
            </a:solidFill>
            <a:prstDash val="solid"/>
          </a:ln>
        </p:spPr>
      </p:sp>
      <p:sp>
        <p:nvSpPr>
          <p:cNvPr id="9" name="Role badge Raghav Sharma"/>
          <p:cNvSpPr/>
          <p:nvPr/>
        </p:nvSpPr>
        <p:spPr>
          <a:xfrm>
            <a:off x="3429000" y="1554480"/>
            <a:ext cx="594360" cy="594360"/>
          </a:xfrm>
          <a:prstGeom prst="ellipse">
            <a:avLst/>
          </a:prstGeom>
          <a:solidFill>
            <a:srgbClr val="F4A261"/>
          </a:solidFill>
          <a:ln/>
        </p:spPr>
      </p:sp>
      <p:sp>
        <p:nvSpPr>
          <p:cNvPr id="10" name="Role badge Raghav Sharma label"/>
          <p:cNvSpPr txBox="1"/>
          <p:nvPr/>
        </p:nvSpPr>
        <p:spPr>
          <a:xfrm>
            <a:off x="3429000" y="1554480"/>
            <a:ext cx="594360" cy="594360"/>
          </a:xfrm>
          <a:prstGeom prst="rect">
            <a:avLst/>
          </a:prstGeom>
          <a:noFill/>
          <a:ln/>
        </p:spPr>
        <p:txBody>
          <a:bodyPr wrap="square" lIns="0" tIns="0" rIns="0" bIns="0" rtlCol="0" anchor="ctr"/>
          <a:lstStyle/>
          <a:p>
            <a:pPr algn="ctr" indent="0" marL="0">
              <a:buNone/>
            </a:pPr>
            <a:r>
              <a:rPr lang="en-US" sz="1600" b="1" dirty="0">
                <a:solidFill>
                  <a:srgbClr val="0F2A3D"/>
                </a:solidFill>
                <a:latin typeface="Calibri" pitchFamily="34" charset="0"/>
                <a:ea typeface="Calibri" pitchFamily="34" charset="-122"/>
                <a:cs typeface="Calibri" pitchFamily="34" charset="-120"/>
              </a:rPr>
              <a:t>RS</a:t>
            </a:r>
            <a:endParaRPr lang="en-US" sz="1600" dirty="0"/>
          </a:p>
        </p:txBody>
      </p:sp>
      <p:sp>
        <p:nvSpPr>
          <p:cNvPr id="11" name="Text 9"/>
          <p:cNvSpPr txBox="1"/>
          <p:nvPr/>
        </p:nvSpPr>
        <p:spPr>
          <a:xfrm>
            <a:off x="4160520" y="1554480"/>
            <a:ext cx="1645920" cy="594360"/>
          </a:xfrm>
          <a:prstGeom prst="rect">
            <a:avLst/>
          </a:prstGeom>
          <a:noFill/>
          <a:ln/>
        </p:spPr>
        <p:txBody>
          <a:bodyPr wrap="square" lIns="0" tIns="0" rIns="0" bIns="0" rtlCol="0" anchor="ctr"/>
          <a:lstStyle/>
          <a:p>
            <a:pPr indent="0" marL="0">
              <a:buNone/>
            </a:pPr>
            <a:r>
              <a:rPr lang="en-US" sz="1500" b="1" dirty="0">
                <a:solidFill>
                  <a:srgbClr val="0F2A3D"/>
                </a:solidFill>
                <a:latin typeface="Calibri" pitchFamily="34" charset="0"/>
                <a:ea typeface="Calibri" pitchFamily="34" charset="-122"/>
                <a:cs typeface="Calibri" pitchFamily="34" charset="-120"/>
              </a:rPr>
              <a:t>Raghav Sharma</a:t>
            </a:r>
            <a:endParaRPr lang="en-US" sz="1500" dirty="0"/>
          </a:p>
        </p:txBody>
      </p:sp>
      <p:sp>
        <p:nvSpPr>
          <p:cNvPr id="12" name="Text 10"/>
          <p:cNvSpPr txBox="1"/>
          <p:nvPr/>
        </p:nvSpPr>
        <p:spPr>
          <a:xfrm>
            <a:off x="3429000" y="2377440"/>
            <a:ext cx="2286000" cy="3749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ImageNet-100 data pipeline and Swin/ToMe baselines</a:t>
            </a:r>
            <a:endParaRPr lang="en-US" sz="1600" dirty="0"/>
          </a:p>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Region-evaluation pipeline (masks, mIoU, purity)</a:t>
            </a:r>
            <a:endParaRPr lang="en-US" sz="1600" dirty="0"/>
          </a:p>
          <a:p>
            <a:pPr marL="342900" indent="-342900">
              <a:spcAft>
                <a:spcPts val="1000"/>
              </a:spcAft>
              <a:buSzPct val="100000"/>
              <a:buChar char="•"/>
            </a:pPr>
            <a:r>
              <a:rPr lang="en-US" sz="1600" dirty="0">
                <a:solidFill>
                  <a:srgbClr val="1A1A1A"/>
                </a:solidFill>
                <a:latin typeface="Times New Roman" pitchFamily="34" charset="0"/>
                <a:ea typeface="Times New Roman" pitchFamily="34" charset="-122"/>
                <a:cs typeface="Times New Roman" pitchFamily="34" charset="-120"/>
              </a:rPr>
              <a:t>Literature table upkeep and Paper 2 sections</a:t>
            </a:r>
            <a:endParaRPr lang="en-US" sz="1600" dirty="0"/>
          </a:p>
        </p:txBody>
      </p:sp>
      <p:sp>
        <p:nvSpPr>
          <p:cNvPr id="13" name="Next steps panel"/>
          <p:cNvSpPr/>
          <p:nvPr/>
        </p:nvSpPr>
        <p:spPr>
          <a:xfrm>
            <a:off x="6035040" y="1371600"/>
            <a:ext cx="2651760" cy="4846320"/>
          </a:xfrm>
          <a:prstGeom prst="roundRect">
            <a:avLst>
              <a:gd name="adj" fmla="val 2414"/>
            </a:avLst>
          </a:prstGeom>
          <a:solidFill>
            <a:srgbClr val="0F2A3D"/>
          </a:solidFill>
          <a:ln/>
        </p:spPr>
      </p:sp>
      <p:sp>
        <p:nvSpPr>
          <p:cNvPr id="14" name="Text 12"/>
          <p:cNvSpPr txBox="1"/>
          <p:nvPr/>
        </p:nvSpPr>
        <p:spPr>
          <a:xfrm>
            <a:off x="6217920" y="1554480"/>
            <a:ext cx="2286000" cy="274320"/>
          </a:xfrm>
          <a:prstGeom prst="rect">
            <a:avLst/>
          </a:prstGeom>
          <a:noFill/>
          <a:ln/>
        </p:spPr>
        <p:txBody>
          <a:bodyPr wrap="square" lIns="0" tIns="0" rIns="0" bIns="0" rtlCol="0" anchor="t"/>
          <a:lstStyle/>
          <a:p>
            <a:pPr indent="0" marL="0">
              <a:buNone/>
            </a:pPr>
            <a:r>
              <a:rPr lang="en-US" sz="1200" b="1" spc="300" kern="0" dirty="0">
                <a:solidFill>
                  <a:srgbClr val="F4A261"/>
                </a:solidFill>
                <a:latin typeface="Calibri" pitchFamily="34" charset="0"/>
                <a:ea typeface="Calibri" pitchFamily="34" charset="-122"/>
                <a:cs typeface="Calibri" pitchFamily="34" charset="-120"/>
              </a:rPr>
              <a:t>NEXT 30 DAYS</a:t>
            </a:r>
            <a:endParaRPr lang="en-US" sz="1200" dirty="0"/>
          </a:p>
        </p:txBody>
      </p:sp>
      <p:sp>
        <p:nvSpPr>
          <p:cNvPr id="15" name="Text 13"/>
          <p:cNvSpPr txBox="1"/>
          <p:nvPr/>
        </p:nvSpPr>
        <p:spPr>
          <a:xfrm>
            <a:off x="6217920" y="1965960"/>
            <a:ext cx="2331720" cy="4114800"/>
          </a:xfrm>
          <a:prstGeom prst="rect">
            <a:avLst/>
          </a:prstGeom>
          <a:noFill/>
          <a:ln/>
        </p:spPr>
        <p:txBody>
          <a:bodyPr wrap="square" lIns="0" tIns="0" rIns="0" bIns="0" rtlCol="0" anchor="t"/>
          <a:lstStyle/>
          <a:p>
            <a:pPr marL="342900" indent="-342900">
              <a:spcAft>
                <a:spcPts val="900"/>
              </a:spcAft>
              <a:buSzPct val="100000"/>
              <a:buChar char="•"/>
            </a:pPr>
            <a:r>
              <a:rPr lang="en-US" sz="1550" dirty="0">
                <a:solidFill>
                  <a:srgbClr val="FFFFFF"/>
                </a:solidFill>
                <a:latin typeface="Times New Roman" pitchFamily="34" charset="0"/>
                <a:ea typeface="Times New Roman" pitchFamily="34" charset="-122"/>
                <a:cs typeface="Times New Roman" pitchFamily="34" charset="-120"/>
              </a:rPr>
              <a:t>Share erratum draft with guide and co-authors</a:t>
            </a:r>
            <a:endParaRPr lang="en-US" sz="1550" dirty="0"/>
          </a:p>
          <a:p>
            <a:pPr marL="342900" indent="-342900">
              <a:spcAft>
                <a:spcPts val="900"/>
              </a:spcAft>
              <a:buSzPct val="100000"/>
              <a:buChar char="•"/>
            </a:pPr>
            <a:r>
              <a:rPr lang="en-US" sz="1550" dirty="0">
                <a:solidFill>
                  <a:srgbClr val="FFFFFF"/>
                </a:solidFill>
                <a:latin typeface="Times New Roman" pitchFamily="34" charset="0"/>
                <a:ea typeface="Times New Roman" pitchFamily="34" charset="-122"/>
                <a:cs typeface="Times New Roman" pitchFamily="34" charset="-120"/>
              </a:rPr>
              <a:t>Sanitise repository, choose licence</a:t>
            </a:r>
            <a:endParaRPr lang="en-US" sz="1550" dirty="0"/>
          </a:p>
          <a:p>
            <a:pPr marL="342900" indent="-342900">
              <a:spcAft>
                <a:spcPts val="900"/>
              </a:spcAft>
              <a:buSzPct val="100000"/>
              <a:buChar char="•"/>
            </a:pPr>
            <a:r>
              <a:rPr lang="en-US" sz="1550" dirty="0">
                <a:solidFill>
                  <a:srgbClr val="FFFFFF"/>
                </a:solidFill>
                <a:latin typeface="Times New Roman" pitchFamily="34" charset="0"/>
                <a:ea typeface="Times New Roman" pitchFamily="34" charset="-122"/>
                <a:cs typeface="Times New Roman" pitchFamily="34" charset="-120"/>
              </a:rPr>
              <a:t>Draft and register the OSF plan</a:t>
            </a:r>
            <a:endParaRPr lang="en-US" sz="1550" dirty="0"/>
          </a:p>
          <a:p>
            <a:pPr marL="342900" indent="-342900">
              <a:spcAft>
                <a:spcPts val="900"/>
              </a:spcAft>
              <a:buSzPct val="100000"/>
              <a:buChar char="•"/>
            </a:pPr>
            <a:r>
              <a:rPr lang="en-US" sz="1550" dirty="0">
                <a:solidFill>
                  <a:srgbClr val="FFFFFF"/>
                </a:solidFill>
                <a:latin typeface="Times New Roman" pitchFamily="34" charset="0"/>
                <a:ea typeface="Times New Roman" pitchFamily="34" charset="-122"/>
                <a:cs typeface="Times New Roman" pitchFamily="34" charset="-120"/>
              </a:rPr>
              <a:t>Implement arms R and X; verify matched MACs</a:t>
            </a:r>
            <a:endParaRPr lang="en-US" sz="1550" dirty="0"/>
          </a:p>
          <a:p>
            <a:pPr marL="342900" indent="-342900">
              <a:spcAft>
                <a:spcPts val="900"/>
              </a:spcAft>
              <a:buSzPct val="100000"/>
              <a:buChar char="•"/>
            </a:pPr>
            <a:r>
              <a:rPr lang="en-US" sz="1550" dirty="0">
                <a:solidFill>
                  <a:srgbClr val="FFFFFF"/>
                </a:solidFill>
                <a:latin typeface="Times New Roman" pitchFamily="34" charset="0"/>
                <a:ea typeface="Times New Roman" pitchFamily="34" charset="-122"/>
                <a:cs typeface="Times New Roman" pitchFamily="34" charset="-120"/>
              </a:rPr>
              <a:t>Pilot LR sweep on CIFAR-100</a:t>
            </a:r>
            <a:endParaRPr lang="en-US" sz="1550" dirty="0"/>
          </a:p>
        </p:txBody>
      </p:sp>
      <p:sp>
        <p:nvSpPr>
          <p:cNvPr id="25" name="Slide Number Placeholder 0"/>
          <p:cNvSpPr>
            <a:spLocks noGrp="1"/>
          </p:cNvSpPr>
          <p:nvPr>
            <p:ph type="sldNum" sz="quarter" idx="4294967295"/>
          </p:nvPr>
        </p:nvSpPr>
        <p:spPr>
          <a:xfrm>
            <a:off x="6492240" y="6355080"/>
            <a:ext cx="219456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758952" y="1892808"/>
            <a:ext cx="7772400" cy="1600200"/>
          </a:xfrm>
          <a:prstGeom prst="rect">
            <a:avLst/>
          </a:prstGeom>
          <a:noFill/>
          <a:ln/>
        </p:spPr>
        <p:txBody>
          <a:bodyPr wrap="square" lIns="0" tIns="0" rIns="0" bIns="0" rtlCol="0" anchor="ctr"/>
          <a:lstStyle/>
          <a:p>
            <a:pPr algn="ctr" indent="0" marL="0">
              <a:buNone/>
            </a:pPr>
            <a:r>
              <a:rPr lang="en-US" sz="2800" b="1" dirty="0">
                <a:solidFill>
                  <a:schemeClr val="tx1"/>
                </a:solidFill>
                <a:latin typeface="Times New Roman" pitchFamily="34" charset="0"/>
                <a:ea typeface="Times New Roman" pitchFamily="34" charset="-122"/>
                <a:cs typeface="Times New Roman" pitchFamily="34" charset="-120"/>
              </a:rPr>
              <a:t>Thank You</a:t>
            </a:r>
            <a:endParaRPr lang="en-US" sz="2800" dirty="0"/>
          </a:p>
        </p:txBody>
      </p:sp>
      <p:sp>
        <p:nvSpPr>
          <p:cNvPr id="3" name="Text 1"/>
          <p:cNvSpPr txBox="1"/>
          <p:nvPr/>
        </p:nvSpPr>
        <p:spPr>
          <a:xfrm>
            <a:off x="1097280" y="3931920"/>
            <a:ext cx="6949440" cy="822960"/>
          </a:xfrm>
          <a:prstGeom prst="rect">
            <a:avLst/>
          </a:prstGeom>
          <a:noFill/>
          <a:ln/>
        </p:spPr>
        <p:txBody>
          <a:bodyPr wrap="square" lIns="0" tIns="0" rIns="0" bIns="0" rtlCol="0" anchor="t"/>
          <a:lstStyle/>
          <a:p>
            <a:pPr algn="ctr" indent="0" marL="0">
              <a:buNone/>
            </a:pPr>
            <a:r>
              <a:rPr lang="en-US" sz="1800" dirty="0">
                <a:solidFill>
                  <a:srgbClr val="1A1A1A"/>
                </a:solidFill>
                <a:latin typeface="Times New Roman" pitchFamily="34" charset="0"/>
                <a:ea typeface="Times New Roman" pitchFamily="34" charset="-122"/>
                <a:cs typeface="Times New Roman" pitchFamily="34" charset="-120"/>
              </a:rPr>
              <a:t>Request: approve the extension of the minor project to a research-oriented major project, with the guide's recommendation.</a:t>
            </a:r>
            <a:endParaRPr lang="en-US" sz="1800" dirty="0"/>
          </a:p>
        </p:txBody>
      </p:sp>
      <p:sp>
        <p:nvSpPr>
          <p:cNvPr id="4" name="Text 2"/>
          <p:cNvSpPr txBox="1"/>
          <p:nvPr/>
        </p:nvSpPr>
        <p:spPr>
          <a:xfrm>
            <a:off x="1097280" y="5029200"/>
            <a:ext cx="6949440" cy="731520"/>
          </a:xfrm>
          <a:prstGeom prst="rect">
            <a:avLst/>
          </a:prstGeom>
          <a:noFill/>
          <a:ln/>
        </p:spPr>
        <p:txBody>
          <a:bodyPr wrap="square" lIns="0" tIns="0" rIns="0" bIns="0" rtlCol="0" anchor="t"/>
          <a:lstStyle/>
          <a:p>
            <a:pPr algn="ctr" indent="0" marL="0">
              <a:buNone/>
            </a:pPr>
            <a:r>
              <a:rPr lang="en-US" sz="1400" dirty="0">
                <a:solidFill>
                  <a:srgbClr val="666666"/>
                </a:solidFill>
                <a:latin typeface="Times New Roman" pitchFamily="34" charset="0"/>
                <a:ea typeface="Times New Roman" pitchFamily="34" charset="-122"/>
                <a:cs typeface="Times New Roman" pitchFamily="34" charset="-120"/>
              </a:rPr>
              <a:t>Dhruv Jyoti Das  |  dd4708@srmist.edu.in</a:t>
            </a:r>
            <a:endParaRPr lang="en-US" sz="1400" dirty="0"/>
          </a:p>
          <a:p>
            <a:pPr algn="ctr" indent="0" marL="0">
              <a:buNone/>
            </a:pPr>
            <a:r>
              <a:rPr lang="en-US" sz="1400" dirty="0">
                <a:solidFill>
                  <a:srgbClr val="666666"/>
                </a:solidFill>
                <a:latin typeface="Times New Roman" pitchFamily="34" charset="0"/>
                <a:ea typeface="Times New Roman" pitchFamily="34" charset="-122"/>
                <a:cs typeface="Times New Roman" pitchFamily="34" charset="-120"/>
              </a:rPr>
              <a:t>Raghav Sharma  |  rs2701@srmist.edu.in</a:t>
            </a:r>
            <a:endParaRPr lang="en-US" sz="1400" dirty="0"/>
          </a:p>
        </p:txBody>
      </p:sp>
    </p:spTree>
  </p:cSld>
  <p:clrMapOvr>
    <a:masterClrMapping/>
  </p:clrMapOvr>
</p:sld>
</file>

<file path=ppt/theme/theme1.xml><?xml version="1.0" encoding="utf-8"?>
<a:theme xmlns:a="http://schemas.openxmlformats.org/drawingml/2006/main" name="SRM CTECH Major Project">
  <a:themeElements>
    <a:clrScheme name="SRM CTECH Major Project">
      <a:dk1>
        <a:srgbClr val="000000"/>
      </a:dk1>
      <a:lt1>
        <a:srgbClr val="FFFFFF"/>
      </a:lt1>
      <a:dk2>
        <a:srgbClr val="0F2A3D"/>
      </a:dk2>
      <a:lt2>
        <a:srgbClr val="EAF1F4"/>
      </a:lt2>
      <a:accent1>
        <a:srgbClr val="1B7F8C"/>
      </a:accent1>
      <a:accent2>
        <a:srgbClr val="F4A261"/>
      </a:accent2>
      <a:accent3>
        <a:srgbClr val="5B6B77"/>
      </a:accent3>
      <a:accent4>
        <a:srgbClr val="C8553D"/>
      </a:accent4>
      <a:accent5>
        <a:srgbClr val="3E8E5A"/>
      </a:accent5>
      <a:accent6>
        <a:srgbClr val="7A8CC2"/>
      </a:accent6>
      <a:hlink>
        <a:srgbClr val="1B7F8C"/>
      </a:hlink>
      <a:folHlink>
        <a:srgbClr val="5B6B77"/>
      </a:folHlink>
    </a:clrScheme>
    <a:fontScheme name="SRM CTECH Major Projec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SRM Institute of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CET-ViT: A Capacity-Controlled Study of Learned Token Grouping in Vision Transformers</dc:title>
  <dc:subject>PptxGenJS Presentation</dc:subject>
  <dc:creator>Dhruv Jyoti Das, Raghav Sharma</dc:creator>
  <cp:lastModifiedBy>Dhruv Jyoti Das, Raghav Sharma</cp:lastModifiedBy>
  <cp:revision>1</cp:revision>
  <dcterms:created xsi:type="dcterms:W3CDTF">2026-10-31T04:16:21Z</dcterms:created>
  <dcterms:modified xsi:type="dcterms:W3CDTF">2026-10-31T04:16:21Z</dcterms:modified>
</cp:coreProperties>
</file>